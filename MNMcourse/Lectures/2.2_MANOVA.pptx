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7" r:id="rId2"/>
    <p:sldId id="259" r:id="rId3"/>
    <p:sldId id="258" r:id="rId4"/>
    <p:sldId id="260" r:id="rId5"/>
    <p:sldId id="262" r:id="rId6"/>
    <p:sldId id="263" r:id="rId7"/>
    <p:sldId id="294" r:id="rId8"/>
    <p:sldId id="271" r:id="rId9"/>
    <p:sldId id="264" r:id="rId10"/>
    <p:sldId id="265" r:id="rId11"/>
    <p:sldId id="266" r:id="rId12"/>
    <p:sldId id="279" r:id="rId13"/>
    <p:sldId id="280" r:id="rId14"/>
    <p:sldId id="281" r:id="rId15"/>
    <p:sldId id="299" r:id="rId16"/>
    <p:sldId id="301" r:id="rId17"/>
    <p:sldId id="303" r:id="rId18"/>
    <p:sldId id="304" r:id="rId19"/>
    <p:sldId id="305" r:id="rId20"/>
    <p:sldId id="306" r:id="rId21"/>
    <p:sldId id="314" r:id="rId22"/>
    <p:sldId id="310" r:id="rId23"/>
    <p:sldId id="292" r:id="rId24"/>
    <p:sldId id="295" r:id="rId25"/>
    <p:sldId id="319" r:id="rId26"/>
    <p:sldId id="320" r:id="rId27"/>
    <p:sldId id="317" r:id="rId28"/>
    <p:sldId id="321" r:id="rId29"/>
    <p:sldId id="322" r:id="rId30"/>
    <p:sldId id="323" r:id="rId31"/>
    <p:sldId id="324" r:id="rId32"/>
    <p:sldId id="325" r:id="rId33"/>
    <p:sldId id="326" r:id="rId34"/>
    <p:sldId id="327" r:id="rId35"/>
    <p:sldId id="328" r:id="rId36"/>
    <p:sldId id="329" r:id="rId37"/>
    <p:sldId id="330" r:id="rId38"/>
    <p:sldId id="286"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160A724-FEE1-45F4-887B-036FB0EC92D6}">
          <p14:sldIdLst>
            <p14:sldId id="257"/>
            <p14:sldId id="259"/>
            <p14:sldId id="258"/>
            <p14:sldId id="260"/>
            <p14:sldId id="262"/>
            <p14:sldId id="263"/>
            <p14:sldId id="294"/>
            <p14:sldId id="271"/>
            <p14:sldId id="264"/>
            <p14:sldId id="265"/>
            <p14:sldId id="266"/>
            <p14:sldId id="279"/>
            <p14:sldId id="280"/>
            <p14:sldId id="281"/>
            <p14:sldId id="299"/>
            <p14:sldId id="301"/>
            <p14:sldId id="303"/>
            <p14:sldId id="304"/>
            <p14:sldId id="305"/>
            <p14:sldId id="306"/>
            <p14:sldId id="314"/>
            <p14:sldId id="310"/>
            <p14:sldId id="292"/>
            <p14:sldId id="295"/>
            <p14:sldId id="319"/>
            <p14:sldId id="320"/>
            <p14:sldId id="317"/>
            <p14:sldId id="321"/>
            <p14:sldId id="322"/>
            <p14:sldId id="323"/>
            <p14:sldId id="324"/>
            <p14:sldId id="325"/>
            <p14:sldId id="326"/>
            <p14:sldId id="327"/>
            <p14:sldId id="328"/>
            <p14:sldId id="329"/>
            <p14:sldId id="330"/>
            <p14:sldId id="28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54B1"/>
    <a:srgbClr val="008000"/>
    <a:srgbClr val="0000FF"/>
    <a:srgbClr val="C5000B"/>
    <a:srgbClr val="F3ECDE"/>
    <a:srgbClr val="EFDD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97" autoAdjust="0"/>
    <p:restoredTop sz="94582"/>
  </p:normalViewPr>
  <p:slideViewPr>
    <p:cSldViewPr>
      <p:cViewPr varScale="1">
        <p:scale>
          <a:sx n="120" d="100"/>
          <a:sy n="120" d="100"/>
        </p:scale>
        <p:origin x="1112" y="176"/>
      </p:cViewPr>
      <p:guideLst>
        <p:guide orient="horz" pos="2160"/>
        <p:guide pos="2880"/>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D69776-3308-42E2-BDAA-A19BBBC19DAA}" type="datetimeFigureOut">
              <a:rPr lang="en-US" smtClean="0"/>
              <a:t>5/16/26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F44461-F7B9-43B2-850D-DAC107CFEEF8}" type="slidenum">
              <a:rPr lang="en-US" smtClean="0"/>
              <a:t>‹#›</a:t>
            </a:fld>
            <a:endParaRPr lang="en-US"/>
          </a:p>
        </p:txBody>
      </p:sp>
    </p:spTree>
    <p:extLst>
      <p:ext uri="{BB962C8B-B14F-4D97-AF65-F5344CB8AC3E}">
        <p14:creationId xmlns:p14="http://schemas.microsoft.com/office/powerpoint/2010/main" val="1269494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32F44461-F7B9-43B2-850D-DAC107CFEEF8}" type="slidenum">
              <a:rPr lang="en-US" smtClean="0"/>
              <a:t>9</a:t>
            </a:fld>
            <a:endParaRPr lang="en-US"/>
          </a:p>
        </p:txBody>
      </p:sp>
    </p:spTree>
    <p:extLst>
      <p:ext uri="{BB962C8B-B14F-4D97-AF65-F5344CB8AC3E}">
        <p14:creationId xmlns:p14="http://schemas.microsoft.com/office/powerpoint/2010/main" val="2972192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F44461-F7B9-43B2-850D-DAC107CFEEF8}" type="slidenum">
              <a:rPr lang="en-US" smtClean="0"/>
              <a:t>24</a:t>
            </a:fld>
            <a:endParaRPr lang="en-US"/>
          </a:p>
        </p:txBody>
      </p:sp>
    </p:spTree>
    <p:extLst>
      <p:ext uri="{BB962C8B-B14F-4D97-AF65-F5344CB8AC3E}">
        <p14:creationId xmlns:p14="http://schemas.microsoft.com/office/powerpoint/2010/main" val="1060738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734BECC-4861-496D-AC38-8EAB21AF9371}" type="datetimeFigureOut">
              <a:rPr lang="en-US" smtClean="0"/>
              <a:t>5/16/26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1016901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34BECC-4861-496D-AC38-8EAB21AF9371}" type="datetimeFigureOut">
              <a:rPr lang="en-US" smtClean="0"/>
              <a:t>5/16/26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3436912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34BECC-4861-496D-AC38-8EAB21AF9371}" type="datetimeFigureOut">
              <a:rPr lang="en-US" smtClean="0"/>
              <a:t>5/16/26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3270265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734BECC-4861-496D-AC38-8EAB21AF9371}" type="datetimeFigureOut">
              <a:rPr lang="en-US" smtClean="0"/>
              <a:t>5/16/26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3156506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734BECC-4861-496D-AC38-8EAB21AF9371}" type="datetimeFigureOut">
              <a:rPr lang="en-US" smtClean="0"/>
              <a:t>5/16/26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421771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734BECC-4861-496D-AC38-8EAB21AF9371}" type="datetimeFigureOut">
              <a:rPr lang="en-US" smtClean="0"/>
              <a:t>5/16/26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260685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34BECC-4861-496D-AC38-8EAB21AF9371}" type="datetimeFigureOut">
              <a:rPr lang="en-US" smtClean="0"/>
              <a:t>5/16/26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2694859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34BECC-4861-496D-AC38-8EAB21AF9371}" type="datetimeFigureOut">
              <a:rPr lang="en-US" smtClean="0"/>
              <a:t>5/16/26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978271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34BECC-4861-496D-AC38-8EAB21AF9371}" type="datetimeFigureOut">
              <a:rPr lang="en-US" smtClean="0"/>
              <a:t>5/16/26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1647893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34BECC-4861-496D-AC38-8EAB21AF9371}" type="datetimeFigureOut">
              <a:rPr lang="en-US" smtClean="0"/>
              <a:t>5/16/26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632187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34BECC-4861-496D-AC38-8EAB21AF9371}" type="datetimeFigureOut">
              <a:rPr lang="en-US" smtClean="0"/>
              <a:t>5/16/26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1385416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34BECC-4861-496D-AC38-8EAB21AF9371}" type="datetimeFigureOut">
              <a:rPr lang="en-US" smtClean="0"/>
              <a:t>5/16/26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083AE-4417-4CAD-90FB-F162DFE12975}" type="slidenum">
              <a:rPr lang="en-US" smtClean="0"/>
              <a:t>‹#›</a:t>
            </a:fld>
            <a:endParaRPr lang="en-US"/>
          </a:p>
        </p:txBody>
      </p:sp>
    </p:spTree>
    <p:extLst>
      <p:ext uri="{BB962C8B-B14F-4D97-AF65-F5344CB8AC3E}">
        <p14:creationId xmlns:p14="http://schemas.microsoft.com/office/powerpoint/2010/main" val="827404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tiff"/><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7.emf"/><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6.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0.png"/><Relationship Id="rId4" Type="http://schemas.openxmlformats.org/officeDocument/2006/relationships/image" Target="../media/image90.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67.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24.emf"/><Relationship Id="rId7" Type="http://schemas.openxmlformats.org/officeDocument/2006/relationships/image" Target="../media/image26.e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25.emf"/><Relationship Id="rId4" Type="http://schemas.openxmlformats.org/officeDocument/2006/relationships/oleObject" Target="../embeddings/oleObject4.bin"/><Relationship Id="rId9" Type="http://schemas.openxmlformats.org/officeDocument/2006/relationships/image" Target="../media/image27.e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29.emf"/><Relationship Id="rId3" Type="http://schemas.openxmlformats.org/officeDocument/2006/relationships/image" Target="../media/image24.emf"/><Relationship Id="rId7" Type="http://schemas.openxmlformats.org/officeDocument/2006/relationships/image" Target="../media/image26.emf"/><Relationship Id="rId12" Type="http://schemas.openxmlformats.org/officeDocument/2006/relationships/oleObject" Target="../embeddings/oleObject12.bin"/><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11" Type="http://schemas.openxmlformats.org/officeDocument/2006/relationships/image" Target="../media/image28.emf"/><Relationship Id="rId5" Type="http://schemas.openxmlformats.org/officeDocument/2006/relationships/image" Target="../media/image25.e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27.e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35.emf"/><Relationship Id="rId3" Type="http://schemas.openxmlformats.org/officeDocument/2006/relationships/image" Target="../media/image30.emf"/><Relationship Id="rId7" Type="http://schemas.openxmlformats.org/officeDocument/2006/relationships/image" Target="../media/image32.emf"/><Relationship Id="rId12" Type="http://schemas.openxmlformats.org/officeDocument/2006/relationships/oleObject" Target="../embeddings/oleObject18.bin"/><Relationship Id="rId17" Type="http://schemas.openxmlformats.org/officeDocument/2006/relationships/image" Target="../media/image37.emf"/><Relationship Id="rId2" Type="http://schemas.openxmlformats.org/officeDocument/2006/relationships/oleObject" Target="../embeddings/oleObject13.bin"/><Relationship Id="rId16" Type="http://schemas.openxmlformats.org/officeDocument/2006/relationships/oleObject" Target="../embeddings/oleObject20.bin"/><Relationship Id="rId1" Type="http://schemas.openxmlformats.org/officeDocument/2006/relationships/slideLayout" Target="../slideLayouts/slideLayout7.xml"/><Relationship Id="rId6" Type="http://schemas.openxmlformats.org/officeDocument/2006/relationships/oleObject" Target="../embeddings/oleObject15.bin"/><Relationship Id="rId11" Type="http://schemas.openxmlformats.org/officeDocument/2006/relationships/image" Target="../media/image34.emf"/><Relationship Id="rId5" Type="http://schemas.openxmlformats.org/officeDocument/2006/relationships/image" Target="../media/image31.emf"/><Relationship Id="rId15" Type="http://schemas.openxmlformats.org/officeDocument/2006/relationships/image" Target="../media/image36.e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33.emf"/><Relationship Id="rId14" Type="http://schemas.openxmlformats.org/officeDocument/2006/relationships/oleObject" Target="../embeddings/oleObject19.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38.emf"/><Relationship Id="rId7" Type="http://schemas.openxmlformats.org/officeDocument/2006/relationships/image" Target="../media/image40.emf"/><Relationship Id="rId2" Type="http://schemas.openxmlformats.org/officeDocument/2006/relationships/oleObject" Target="../embeddings/oleObject21.bin"/><Relationship Id="rId1" Type="http://schemas.openxmlformats.org/officeDocument/2006/relationships/slideLayout" Target="../slideLayouts/slideLayout7.xml"/><Relationship Id="rId6" Type="http://schemas.openxmlformats.org/officeDocument/2006/relationships/oleObject" Target="../embeddings/oleObject23.bin"/><Relationship Id="rId11" Type="http://schemas.openxmlformats.org/officeDocument/2006/relationships/image" Target="../media/image37.emf"/><Relationship Id="rId5" Type="http://schemas.openxmlformats.org/officeDocument/2006/relationships/image" Target="../media/image39.emf"/><Relationship Id="rId10" Type="http://schemas.openxmlformats.org/officeDocument/2006/relationships/oleObject" Target="../embeddings/oleObject20.bin"/><Relationship Id="rId4" Type="http://schemas.openxmlformats.org/officeDocument/2006/relationships/oleObject" Target="../embeddings/oleObject22.bin"/><Relationship Id="rId9" Type="http://schemas.openxmlformats.org/officeDocument/2006/relationships/image" Target="../media/image41.emf"/></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45.emf"/><Relationship Id="rId7" Type="http://schemas.openxmlformats.org/officeDocument/2006/relationships/image" Target="../media/image40.emf"/><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6.bin"/><Relationship Id="rId5" Type="http://schemas.openxmlformats.org/officeDocument/2006/relationships/image" Target="../media/image38.emf"/><Relationship Id="rId4" Type="http://schemas.openxmlformats.org/officeDocument/2006/relationships/oleObject" Target="../embeddings/oleObject21.bin"/><Relationship Id="rId9" Type="http://schemas.openxmlformats.org/officeDocument/2006/relationships/image" Target="../media/image46.e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45.emf"/><Relationship Id="rId7" Type="http://schemas.openxmlformats.org/officeDocument/2006/relationships/image" Target="../media/image40.emf"/><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6.bin"/><Relationship Id="rId11" Type="http://schemas.openxmlformats.org/officeDocument/2006/relationships/image" Target="../media/image47.emf"/><Relationship Id="rId5" Type="http://schemas.openxmlformats.org/officeDocument/2006/relationships/image" Target="../media/image38.emf"/><Relationship Id="rId10" Type="http://schemas.openxmlformats.org/officeDocument/2006/relationships/oleObject" Target="../embeddings/oleObject28.bin"/><Relationship Id="rId4" Type="http://schemas.openxmlformats.org/officeDocument/2006/relationships/oleObject" Target="../embeddings/oleObject21.bin"/><Relationship Id="rId9" Type="http://schemas.openxmlformats.org/officeDocument/2006/relationships/image" Target="../media/image46.e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46.emf"/><Relationship Id="rId7" Type="http://schemas.openxmlformats.org/officeDocument/2006/relationships/image" Target="../media/image48.emf"/><Relationship Id="rId2" Type="http://schemas.openxmlformats.org/officeDocument/2006/relationships/oleObject" Target="../embeddings/oleObject29.bin"/><Relationship Id="rId1" Type="http://schemas.openxmlformats.org/officeDocument/2006/relationships/slideLayout" Target="../slideLayouts/slideLayout7.xml"/><Relationship Id="rId6" Type="http://schemas.openxmlformats.org/officeDocument/2006/relationships/oleObject" Target="../embeddings/oleObject31.bin"/><Relationship Id="rId5" Type="http://schemas.openxmlformats.org/officeDocument/2006/relationships/image" Target="../media/image47.emf"/><Relationship Id="rId4" Type="http://schemas.openxmlformats.org/officeDocument/2006/relationships/oleObject" Target="../embeddings/oleObject30.bin"/><Relationship Id="rId9" Type="http://schemas.openxmlformats.org/officeDocument/2006/relationships/image" Target="../media/image49.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oleObject" Target="../embeddings/oleObject33.bin"/><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oleObject" Target="../embeddings/oleObject33.bin"/><Relationship Id="rId1" Type="http://schemas.openxmlformats.org/officeDocument/2006/relationships/slideLayout" Target="../slideLayouts/slideLayout7.xml"/><Relationship Id="rId5" Type="http://schemas.openxmlformats.org/officeDocument/2006/relationships/image" Target="../media/image51.emf"/><Relationship Id="rId4" Type="http://schemas.openxmlformats.org/officeDocument/2006/relationships/oleObject" Target="../embeddings/oleObject34.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57.emf"/><Relationship Id="rId3" Type="http://schemas.openxmlformats.org/officeDocument/2006/relationships/image" Target="../media/image52.emf"/><Relationship Id="rId7" Type="http://schemas.openxmlformats.org/officeDocument/2006/relationships/image" Target="../media/image54.emf"/><Relationship Id="rId12" Type="http://schemas.openxmlformats.org/officeDocument/2006/relationships/oleObject" Target="../embeddings/oleObject40.bin"/><Relationship Id="rId2" Type="http://schemas.openxmlformats.org/officeDocument/2006/relationships/oleObject" Target="../embeddings/oleObject35.bin"/><Relationship Id="rId1" Type="http://schemas.openxmlformats.org/officeDocument/2006/relationships/slideLayout" Target="../slideLayouts/slideLayout7.xml"/><Relationship Id="rId6" Type="http://schemas.openxmlformats.org/officeDocument/2006/relationships/oleObject" Target="../embeddings/oleObject37.bin"/><Relationship Id="rId11" Type="http://schemas.openxmlformats.org/officeDocument/2006/relationships/image" Target="../media/image56.emf"/><Relationship Id="rId5" Type="http://schemas.openxmlformats.org/officeDocument/2006/relationships/image" Target="../media/image53.e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55.emf"/><Relationship Id="rId14" Type="http://schemas.openxmlformats.org/officeDocument/2006/relationships/image" Target="../media/image44.png"/></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57.emf"/><Relationship Id="rId18" Type="http://schemas.openxmlformats.org/officeDocument/2006/relationships/image" Target="../media/image65.png"/><Relationship Id="rId3" Type="http://schemas.openxmlformats.org/officeDocument/2006/relationships/image" Target="../media/image52.emf"/><Relationship Id="rId21" Type="http://schemas.openxmlformats.org/officeDocument/2006/relationships/image" Target="../media/image70.png"/><Relationship Id="rId7" Type="http://schemas.openxmlformats.org/officeDocument/2006/relationships/image" Target="../media/image54.emf"/><Relationship Id="rId12" Type="http://schemas.openxmlformats.org/officeDocument/2006/relationships/oleObject" Target="../embeddings/oleObject46.bin"/><Relationship Id="rId17" Type="http://schemas.openxmlformats.org/officeDocument/2006/relationships/image" Target="../media/image64.png"/><Relationship Id="rId2" Type="http://schemas.openxmlformats.org/officeDocument/2006/relationships/oleObject" Target="../embeddings/oleObject41.bin"/><Relationship Id="rId16" Type="http://schemas.openxmlformats.org/officeDocument/2006/relationships/image" Target="../media/image63.png"/><Relationship Id="rId20"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oleObject" Target="../embeddings/oleObject43.bin"/><Relationship Id="rId11" Type="http://schemas.openxmlformats.org/officeDocument/2006/relationships/image" Target="../media/image56.emf"/><Relationship Id="rId5" Type="http://schemas.openxmlformats.org/officeDocument/2006/relationships/image" Target="../media/image53.emf"/><Relationship Id="rId15" Type="http://schemas.openxmlformats.org/officeDocument/2006/relationships/image" Target="../media/image62.png"/><Relationship Id="rId10" Type="http://schemas.openxmlformats.org/officeDocument/2006/relationships/oleObject" Target="../embeddings/oleObject45.bin"/><Relationship Id="rId19" Type="http://schemas.openxmlformats.org/officeDocument/2006/relationships/image" Target="../media/image68.png"/><Relationship Id="rId4" Type="http://schemas.openxmlformats.org/officeDocument/2006/relationships/oleObject" Target="../embeddings/oleObject42.bin"/><Relationship Id="rId9" Type="http://schemas.openxmlformats.org/officeDocument/2006/relationships/image" Target="../media/image55.emf"/><Relationship Id="rId22" Type="http://schemas.openxmlformats.org/officeDocument/2006/relationships/image" Target="../media/image71.png"/></Relationships>
</file>

<file path=ppt/slides/_rels/slide34.xml.rels><?xml version="1.0" encoding="UTF-8" standalone="yes"?>
<Relationships xmlns="http://schemas.openxmlformats.org/package/2006/relationships"><Relationship Id="rId8" Type="http://schemas.openxmlformats.org/officeDocument/2006/relationships/image" Target="../media/image53.emf"/><Relationship Id="rId13" Type="http://schemas.openxmlformats.org/officeDocument/2006/relationships/oleObject" Target="../embeddings/oleObject45.bin"/><Relationship Id="rId3" Type="http://schemas.openxmlformats.org/officeDocument/2006/relationships/image" Target="../media/image52.emf"/><Relationship Id="rId7" Type="http://schemas.openxmlformats.org/officeDocument/2006/relationships/oleObject" Target="../embeddings/oleObject42.bin"/><Relationship Id="rId12" Type="http://schemas.openxmlformats.org/officeDocument/2006/relationships/image" Target="../media/image55.emf"/><Relationship Id="rId2" Type="http://schemas.openxmlformats.org/officeDocument/2006/relationships/oleObject" Target="../embeddings/oleObject47.bin"/><Relationship Id="rId1" Type="http://schemas.openxmlformats.org/officeDocument/2006/relationships/slideLayout" Target="../slideLayouts/slideLayout7.xml"/><Relationship Id="rId6" Type="http://schemas.openxmlformats.org/officeDocument/2006/relationships/oleObject" Target="../embeddings/oleObject41.bin"/><Relationship Id="rId11" Type="http://schemas.openxmlformats.org/officeDocument/2006/relationships/oleObject" Target="../embeddings/oleObject44.bin"/><Relationship Id="rId5" Type="http://schemas.openxmlformats.org/officeDocument/2006/relationships/image" Target="../media/image57.emf"/><Relationship Id="rId15" Type="http://schemas.openxmlformats.org/officeDocument/2006/relationships/oleObject" Target="../embeddings/oleObject46.bin"/><Relationship Id="rId10" Type="http://schemas.openxmlformats.org/officeDocument/2006/relationships/image" Target="../media/image54.emf"/><Relationship Id="rId4" Type="http://schemas.openxmlformats.org/officeDocument/2006/relationships/oleObject" Target="../embeddings/oleObject48.bin"/><Relationship Id="rId9" Type="http://schemas.openxmlformats.org/officeDocument/2006/relationships/oleObject" Target="../embeddings/oleObject43.bin"/><Relationship Id="rId14" Type="http://schemas.openxmlformats.org/officeDocument/2006/relationships/image" Target="../media/image56.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59.emf"/><Relationship Id="rId3" Type="http://schemas.openxmlformats.org/officeDocument/2006/relationships/image" Target="../media/image58.emf"/><Relationship Id="rId7" Type="http://schemas.openxmlformats.org/officeDocument/2006/relationships/image" Target="../media/image55.emf"/><Relationship Id="rId12" Type="http://schemas.openxmlformats.org/officeDocument/2006/relationships/oleObject" Target="../embeddings/oleObject54.bin"/><Relationship Id="rId2" Type="http://schemas.openxmlformats.org/officeDocument/2006/relationships/oleObject" Target="../embeddings/oleObject49.bin"/><Relationship Id="rId16" Type="http://schemas.openxmlformats.org/officeDocument/2006/relationships/oleObject" Target="../embeddings/oleObject56.bin"/><Relationship Id="rId1" Type="http://schemas.openxmlformats.org/officeDocument/2006/relationships/slideLayout" Target="../slideLayouts/slideLayout7.xml"/><Relationship Id="rId6" Type="http://schemas.openxmlformats.org/officeDocument/2006/relationships/oleObject" Target="../embeddings/oleObject51.bin"/><Relationship Id="rId11" Type="http://schemas.openxmlformats.org/officeDocument/2006/relationships/image" Target="../media/image57.emf"/><Relationship Id="rId5" Type="http://schemas.openxmlformats.org/officeDocument/2006/relationships/image" Target="../media/image54.emf"/><Relationship Id="rId15" Type="http://schemas.openxmlformats.org/officeDocument/2006/relationships/image" Target="../media/image52.e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56.emf"/><Relationship Id="rId14" Type="http://schemas.openxmlformats.org/officeDocument/2006/relationships/oleObject" Target="../embeddings/oleObject55.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oleObject" Target="../embeddings/oleObject64.bin"/><Relationship Id="rId3" Type="http://schemas.openxmlformats.org/officeDocument/2006/relationships/image" Target="../media/image56.emf"/><Relationship Id="rId7" Type="http://schemas.openxmlformats.org/officeDocument/2006/relationships/image" Target="../media/image52.emf"/><Relationship Id="rId12" Type="http://schemas.openxmlformats.org/officeDocument/2006/relationships/image" Target="../media/image60.emf"/><Relationship Id="rId2" Type="http://schemas.openxmlformats.org/officeDocument/2006/relationships/oleObject" Target="../embeddings/oleObject57.bin"/><Relationship Id="rId1" Type="http://schemas.openxmlformats.org/officeDocument/2006/relationships/slideLayout" Target="../slideLayouts/slideLayout7.xml"/><Relationship Id="rId6" Type="http://schemas.openxmlformats.org/officeDocument/2006/relationships/oleObject" Target="../embeddings/oleObject59.bin"/><Relationship Id="rId11" Type="http://schemas.openxmlformats.org/officeDocument/2006/relationships/oleObject" Target="../embeddings/oleObject63.bin"/><Relationship Id="rId5" Type="http://schemas.openxmlformats.org/officeDocument/2006/relationships/image" Target="../media/image57.emf"/><Relationship Id="rId10" Type="http://schemas.openxmlformats.org/officeDocument/2006/relationships/oleObject" Target="../embeddings/oleObject62.bin"/><Relationship Id="rId4" Type="http://schemas.openxmlformats.org/officeDocument/2006/relationships/oleObject" Target="../embeddings/oleObject58.bin"/><Relationship Id="rId9" Type="http://schemas.openxmlformats.org/officeDocument/2006/relationships/oleObject" Target="../embeddings/oleObject61.bin"/><Relationship Id="rId14" Type="http://schemas.openxmlformats.org/officeDocument/2006/relationships/image" Target="../media/image61.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8.bin"/><Relationship Id="rId13" Type="http://schemas.openxmlformats.org/officeDocument/2006/relationships/image" Target="../media/image57.emf"/><Relationship Id="rId3" Type="http://schemas.openxmlformats.org/officeDocument/2006/relationships/image" Target="../media/image52.emf"/><Relationship Id="rId7" Type="http://schemas.openxmlformats.org/officeDocument/2006/relationships/image" Target="../media/image54.emf"/><Relationship Id="rId12" Type="http://schemas.openxmlformats.org/officeDocument/2006/relationships/oleObject" Target="../embeddings/oleObject70.bin"/><Relationship Id="rId2" Type="http://schemas.openxmlformats.org/officeDocument/2006/relationships/oleObject" Target="../embeddings/oleObject65.bin"/><Relationship Id="rId1" Type="http://schemas.openxmlformats.org/officeDocument/2006/relationships/slideLayout" Target="../slideLayouts/slideLayout7.xml"/><Relationship Id="rId6" Type="http://schemas.openxmlformats.org/officeDocument/2006/relationships/oleObject" Target="../embeddings/oleObject67.bin"/><Relationship Id="rId11" Type="http://schemas.openxmlformats.org/officeDocument/2006/relationships/image" Target="../media/image56.emf"/><Relationship Id="rId5" Type="http://schemas.openxmlformats.org/officeDocument/2006/relationships/image" Target="../media/image53.emf"/><Relationship Id="rId15" Type="http://schemas.openxmlformats.org/officeDocument/2006/relationships/oleObject" Target="../embeddings/oleObject72.bin"/><Relationship Id="rId10" Type="http://schemas.openxmlformats.org/officeDocument/2006/relationships/oleObject" Target="../embeddings/oleObject69.bin"/><Relationship Id="rId4" Type="http://schemas.openxmlformats.org/officeDocument/2006/relationships/oleObject" Target="../embeddings/oleObject66.bin"/><Relationship Id="rId9" Type="http://schemas.openxmlformats.org/officeDocument/2006/relationships/image" Target="../media/image55.emf"/><Relationship Id="rId14" Type="http://schemas.openxmlformats.org/officeDocument/2006/relationships/oleObject" Target="../embeddings/oleObject71.bin"/></Relationships>
</file>

<file path=ppt/slides/_rels/slide3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p:cNvSpPr>
            <a:spLocks noGrp="1"/>
          </p:cNvSpPr>
          <p:nvPr>
            <p:ph type="ctrTitle"/>
          </p:nvPr>
        </p:nvSpPr>
        <p:spPr>
          <a:xfrm>
            <a:off x="522260" y="1270110"/>
            <a:ext cx="8237464" cy="3133729"/>
          </a:xfrm>
        </p:spPr>
        <p:txBody>
          <a:bodyPr>
            <a:normAutofit/>
          </a:bodyPr>
          <a:lstStyle/>
          <a:p>
            <a:r>
              <a:rPr lang="en-US" dirty="0"/>
              <a:t>Inferential Methods:</a:t>
            </a:r>
            <a:br>
              <a:rPr lang="en-US" dirty="0"/>
            </a:br>
            <a:r>
              <a:rPr lang="en-US" dirty="0"/>
              <a:t>MANOVA</a:t>
            </a:r>
            <a:br>
              <a:rPr lang="en-US" dirty="0"/>
            </a:br>
            <a:r>
              <a:rPr lang="en-US" sz="2800" dirty="0"/>
              <a:t>(and GLMs put in context)</a:t>
            </a:r>
          </a:p>
        </p:txBody>
      </p:sp>
      <p:grpSp>
        <p:nvGrpSpPr>
          <p:cNvPr id="6" name="Group 5"/>
          <p:cNvGrpSpPr/>
          <p:nvPr/>
        </p:nvGrpSpPr>
        <p:grpSpPr>
          <a:xfrm>
            <a:off x="2971800" y="6386405"/>
            <a:ext cx="3048000" cy="418807"/>
            <a:chOff x="2362200" y="6145529"/>
            <a:chExt cx="4131945" cy="629920"/>
          </a:xfrm>
        </p:grpSpPr>
        <p:pic>
          <p:nvPicPr>
            <p:cNvPr id="9" name="Imagem 2"/>
            <p:cNvPicPr/>
            <p:nvPr/>
          </p:nvPicPr>
          <p:blipFill>
            <a:blip r:embed="rId2" cstate="print">
              <a:extLst>
                <a:ext uri="{28A0092B-C50C-407E-A947-70E740481C1C}">
                  <a14:useLocalDpi xmlns:a14="http://schemas.microsoft.com/office/drawing/2010/main" val="0"/>
                </a:ext>
              </a:extLst>
            </a:blip>
            <a:stretch>
              <a:fillRect/>
            </a:stretch>
          </p:blipFill>
          <p:spPr>
            <a:xfrm>
              <a:off x="2362200" y="6145529"/>
              <a:ext cx="1257300" cy="629920"/>
            </a:xfrm>
            <a:prstGeom prst="rect">
              <a:avLst/>
            </a:prstGeom>
          </p:spPr>
        </p:pic>
        <p:pic>
          <p:nvPicPr>
            <p:cNvPr id="10" name="Imagem 3"/>
            <p:cNvPicPr/>
            <p:nvPr/>
          </p:nvPicPr>
          <p:blipFill rotWithShape="1">
            <a:blip r:embed="rId3" cstate="print">
              <a:extLst>
                <a:ext uri="{28A0092B-C50C-407E-A947-70E740481C1C}">
                  <a14:useLocalDpi xmlns:a14="http://schemas.microsoft.com/office/drawing/2010/main" val="0"/>
                </a:ext>
              </a:extLst>
            </a:blip>
            <a:srcRect r="42619" b="21855"/>
            <a:stretch/>
          </p:blipFill>
          <p:spPr>
            <a:xfrm>
              <a:off x="3810000" y="6167119"/>
              <a:ext cx="1171575" cy="586740"/>
            </a:xfrm>
            <a:prstGeom prst="rect">
              <a:avLst/>
            </a:prstGeom>
          </p:spPr>
        </p:pic>
        <p:pic>
          <p:nvPicPr>
            <p:cNvPr id="11" name="Imagem 4"/>
            <p:cNvPicPr/>
            <p:nvPr/>
          </p:nvPicPr>
          <p:blipFill>
            <a:blip r:embed="rId4" cstate="print">
              <a:extLst>
                <a:ext uri="{28A0092B-C50C-407E-A947-70E740481C1C}">
                  <a14:useLocalDpi xmlns:a14="http://schemas.microsoft.com/office/drawing/2010/main" val="0"/>
                </a:ext>
              </a:extLst>
            </a:blip>
            <a:stretch>
              <a:fillRect/>
            </a:stretch>
          </p:blipFill>
          <p:spPr>
            <a:xfrm>
              <a:off x="5181600" y="6190296"/>
              <a:ext cx="1312545" cy="540385"/>
            </a:xfrm>
            <a:prstGeom prst="rect">
              <a:avLst/>
            </a:prstGeom>
          </p:spPr>
        </p:pic>
      </p:grpSp>
      <p:sp>
        <p:nvSpPr>
          <p:cNvPr id="12" name="Subtitle 4"/>
          <p:cNvSpPr>
            <a:spLocks noGrp="1"/>
          </p:cNvSpPr>
          <p:nvPr>
            <p:ph type="subTitle" idx="1"/>
          </p:nvPr>
        </p:nvSpPr>
        <p:spPr>
          <a:xfrm>
            <a:off x="1371600" y="5077076"/>
            <a:ext cx="6400800" cy="866524"/>
          </a:xfrm>
        </p:spPr>
        <p:txBody>
          <a:bodyPr>
            <a:noAutofit/>
          </a:bodyPr>
          <a:lstStyle/>
          <a:p>
            <a:pPr>
              <a:spcBef>
                <a:spcPts val="0"/>
              </a:spcBef>
            </a:pPr>
            <a:r>
              <a:rPr lang="en-US" sz="1800" dirty="0"/>
              <a:t>Advanced Course</a:t>
            </a:r>
          </a:p>
          <a:p>
            <a:pPr>
              <a:spcBef>
                <a:spcPts val="0"/>
              </a:spcBef>
            </a:pPr>
            <a:r>
              <a:rPr lang="en-US" sz="1800" dirty="0"/>
              <a:t>Multivariate Statistics for Ecology and Evolution</a:t>
            </a:r>
          </a:p>
          <a:p>
            <a:pPr>
              <a:spcBef>
                <a:spcPts val="0"/>
              </a:spcBef>
            </a:pPr>
            <a:r>
              <a:rPr lang="en-US" sz="1800" dirty="0"/>
              <a:t>CIBIO</a:t>
            </a:r>
            <a:r>
              <a:rPr lang="en-US" sz="1800"/>
              <a:t>, 20-24 January 2020</a:t>
            </a:r>
            <a:endParaRPr lang="en-US" sz="1800" dirty="0"/>
          </a:p>
          <a:p>
            <a:pPr>
              <a:spcBef>
                <a:spcPts val="0"/>
              </a:spcBef>
            </a:pPr>
            <a:r>
              <a:rPr lang="en-US" sz="1800" dirty="0" err="1"/>
              <a:t>Antigoni</a:t>
            </a:r>
            <a:r>
              <a:rPr lang="en-US" sz="1800" dirty="0"/>
              <a:t> Kaliontzopoulou</a:t>
            </a:r>
          </a:p>
        </p:txBody>
      </p:sp>
    </p:spTree>
    <p:extLst>
      <p:ext uri="{BB962C8B-B14F-4D97-AF65-F5344CB8AC3E}">
        <p14:creationId xmlns:p14="http://schemas.microsoft.com/office/powerpoint/2010/main" val="1202366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609600"/>
            <a:ext cx="8686799" cy="28623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Are males and females different in morphology?</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Does the ecological niche differ between my species?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Does growth depend on climate?</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Are species A and B different in physiology when taking their body size into account?</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a:t>
            </a:r>
          </a:p>
        </p:txBody>
      </p:sp>
      <p:graphicFrame>
        <p:nvGraphicFramePr>
          <p:cNvPr id="4" name="Table 3"/>
          <p:cNvGraphicFramePr>
            <a:graphicFrameLocks noGrp="1"/>
          </p:cNvGraphicFramePr>
          <p:nvPr>
            <p:extLst>
              <p:ext uri="{D42A27DB-BD31-4B8C-83A1-F6EECF244321}">
                <p14:modId xmlns:p14="http://schemas.microsoft.com/office/powerpoint/2010/main" val="503875080"/>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Asking questions</a:t>
                      </a:r>
                      <a:r>
                        <a:rPr lang="en-US" baseline="0" dirty="0">
                          <a:solidFill>
                            <a:schemeClr val="tx2">
                              <a:lumMod val="75000"/>
                            </a:schemeClr>
                          </a:solidFill>
                        </a:rPr>
                        <a:t> to data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2" name="TextBox 1"/>
          <p:cNvSpPr txBox="1"/>
          <p:nvPr/>
        </p:nvSpPr>
        <p:spPr>
          <a:xfrm>
            <a:off x="2743200" y="3810000"/>
            <a:ext cx="3698898" cy="830997"/>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none" rtlCol="0">
            <a:spAutoFit/>
          </a:bodyPr>
          <a:lstStyle/>
          <a:p>
            <a:r>
              <a:rPr lang="en-US" sz="2400" dirty="0">
                <a:solidFill>
                  <a:schemeClr val="accent1">
                    <a:lumMod val="75000"/>
                  </a:schemeClr>
                </a:solidFill>
              </a:rPr>
              <a:t>There is a </a:t>
            </a:r>
            <a:r>
              <a:rPr lang="en-US" sz="2400" b="1" i="1" dirty="0">
                <a:solidFill>
                  <a:schemeClr val="accent1">
                    <a:lumMod val="75000"/>
                  </a:schemeClr>
                </a:solidFill>
              </a:rPr>
              <a:t>hypothesis </a:t>
            </a:r>
            <a:r>
              <a:rPr lang="en-US" sz="2400" dirty="0">
                <a:solidFill>
                  <a:schemeClr val="accent1">
                    <a:lumMod val="75000"/>
                  </a:schemeClr>
                </a:solidFill>
              </a:rPr>
              <a:t>to </a:t>
            </a:r>
            <a:r>
              <a:rPr lang="en-US" sz="2400" b="1" i="1" dirty="0">
                <a:solidFill>
                  <a:schemeClr val="accent1">
                    <a:lumMod val="75000"/>
                  </a:schemeClr>
                </a:solidFill>
              </a:rPr>
              <a:t>test</a:t>
            </a:r>
          </a:p>
          <a:p>
            <a:r>
              <a:rPr lang="en-US" sz="2400" dirty="0">
                <a:solidFill>
                  <a:schemeClr val="accent1">
                    <a:lumMod val="75000"/>
                  </a:schemeClr>
                </a:solidFill>
              </a:rPr>
              <a:t>We are making an </a:t>
            </a:r>
            <a:r>
              <a:rPr lang="en-US" sz="2400" b="1" i="1" dirty="0">
                <a:solidFill>
                  <a:schemeClr val="accent1">
                    <a:lumMod val="75000"/>
                  </a:schemeClr>
                </a:solidFill>
              </a:rPr>
              <a:t>inference</a:t>
            </a:r>
            <a:endParaRPr lang="en-US" sz="2400" dirty="0">
              <a:solidFill>
                <a:schemeClr val="accent1">
                  <a:lumMod val="75000"/>
                </a:schemeClr>
              </a:solidFill>
            </a:endParaRPr>
          </a:p>
        </p:txBody>
      </p:sp>
    </p:spTree>
    <p:extLst>
      <p:ext uri="{BB962C8B-B14F-4D97-AF65-F5344CB8AC3E}">
        <p14:creationId xmlns:p14="http://schemas.microsoft.com/office/powerpoint/2010/main" val="3246041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609600"/>
            <a:ext cx="8686799" cy="47089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Types of GLMs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GLMs in matrix format</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Design matrices for groups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Testing for group differences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One-way MANOVA</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Post-hoc comparisons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Factorial MANOVA</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Types of Sums of Squares</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947459613"/>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Outline</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288292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826813131"/>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Some thoughts</a:t>
                      </a:r>
                      <a:r>
                        <a:rPr lang="en-US" baseline="0" dirty="0">
                          <a:solidFill>
                            <a:schemeClr val="tx2">
                              <a:lumMod val="75000"/>
                            </a:schemeClr>
                          </a:solidFill>
                        </a:rPr>
                        <a:t> </a:t>
                      </a:r>
                      <a:r>
                        <a:rPr lang="en-US" dirty="0">
                          <a:solidFill>
                            <a:schemeClr val="tx2">
                              <a:lumMod val="75000"/>
                            </a:schemeClr>
                          </a:solidFill>
                        </a:rPr>
                        <a:t>on nomenclature</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4</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pic>
        <p:nvPicPr>
          <p:cNvPr id="1026" name="Picture 2" descr="http://www.toonpool.com/user/28813/files/splitting_1681065.jpg"/>
          <p:cNvPicPr>
            <a:picLocks noChangeAspect="1" noChangeArrowheads="1"/>
          </p:cNvPicPr>
          <p:nvPr/>
        </p:nvPicPr>
        <p:blipFill rotWithShape="1">
          <a:blip r:embed="rId2">
            <a:extLst>
              <a:ext uri="{28A0092B-C50C-407E-A947-70E740481C1C}">
                <a14:useLocalDpi xmlns:a14="http://schemas.microsoft.com/office/drawing/2010/main" val="0"/>
              </a:ext>
            </a:extLst>
          </a:blip>
          <a:srcRect l="8879" r="6694" b="8430"/>
          <a:stretch/>
        </p:blipFill>
        <p:spPr bwMode="auto">
          <a:xfrm>
            <a:off x="2366761" y="3264878"/>
            <a:ext cx="4449035" cy="321375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30847" b="30352"/>
          <a:stretch/>
        </p:blipFill>
        <p:spPr>
          <a:xfrm>
            <a:off x="138797" y="799182"/>
            <a:ext cx="8904961" cy="2172618"/>
          </a:xfrm>
          <a:prstGeom prst="rect">
            <a:avLst/>
          </a:prstGeom>
        </p:spPr>
      </p:pic>
    </p:spTree>
    <p:extLst>
      <p:ext uri="{BB962C8B-B14F-4D97-AF65-F5344CB8AC3E}">
        <p14:creationId xmlns:p14="http://schemas.microsoft.com/office/powerpoint/2010/main" val="54702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1" presetClass="entr" presetSubtype="1" fill="hold" nodeType="afterEffect">
                                  <p:stCondLst>
                                    <p:cond delay="500"/>
                                  </p:stCondLst>
                                  <p:childTnLst>
                                    <p:set>
                                      <p:cBhvr>
                                        <p:cTn id="10" dur="1" fill="hold">
                                          <p:stCondLst>
                                            <p:cond delay="0"/>
                                          </p:stCondLst>
                                        </p:cTn>
                                        <p:tgtEl>
                                          <p:spTgt spid="1026"/>
                                        </p:tgtEl>
                                        <p:attrNameLst>
                                          <p:attrName>style.visibility</p:attrName>
                                        </p:attrNameLst>
                                      </p:cBhvr>
                                      <p:to>
                                        <p:strVal val="visible"/>
                                      </p:to>
                                    </p:set>
                                    <p:animEffect transition="in" filter="wheel(1)">
                                      <p:cBhvr>
                                        <p:cTn id="11"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827627030"/>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lumMod val="75000"/>
                            </a:schemeClr>
                          </a:solidFill>
                        </a:rPr>
                        <a:t>Some thoughts</a:t>
                      </a:r>
                      <a:r>
                        <a:rPr lang="en-US" baseline="0" dirty="0">
                          <a:solidFill>
                            <a:schemeClr val="tx2">
                              <a:lumMod val="75000"/>
                            </a:schemeClr>
                          </a:solidFill>
                        </a:rPr>
                        <a:t> </a:t>
                      </a:r>
                      <a:r>
                        <a:rPr lang="en-US" dirty="0">
                          <a:solidFill>
                            <a:schemeClr val="tx2">
                              <a:lumMod val="75000"/>
                            </a:schemeClr>
                          </a:solidFill>
                        </a:rPr>
                        <a:t>on nomenclature</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5</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66055382"/>
                  </p:ext>
                </p:extLst>
              </p:nvPr>
            </p:nvGraphicFramePr>
            <p:xfrm>
              <a:off x="0" y="380999"/>
              <a:ext cx="9144000" cy="6512636"/>
            </p:xfrm>
            <a:graphic>
              <a:graphicData uri="http://schemas.openxmlformats.org/drawingml/2006/table">
                <a:tbl>
                  <a:tblPr firstRow="1" bandRow="1">
                    <a:tableStyleId>{69CF1AB2-1976-4502-BF36-3FF5EA218861}</a:tableStyleId>
                  </a:tblPr>
                  <a:tblGrid>
                    <a:gridCol w="2977662">
                      <a:extLst>
                        <a:ext uri="{9D8B030D-6E8A-4147-A177-3AD203B41FA5}">
                          <a16:colId xmlns:a16="http://schemas.microsoft.com/office/drawing/2014/main" val="20000"/>
                        </a:ext>
                      </a:extLst>
                    </a:gridCol>
                    <a:gridCol w="6166338">
                      <a:extLst>
                        <a:ext uri="{9D8B030D-6E8A-4147-A177-3AD203B41FA5}">
                          <a16:colId xmlns:a16="http://schemas.microsoft.com/office/drawing/2014/main" val="20001"/>
                        </a:ext>
                      </a:extLst>
                    </a:gridCol>
                  </a:tblGrid>
                  <a:tr h="1849196">
                    <a:tc>
                      <a:txBody>
                        <a:bodyPr/>
                        <a:lstStyle/>
                        <a:p>
                          <a:r>
                            <a:rPr lang="en-US" b="0" dirty="0">
                              <a:solidFill>
                                <a:schemeClr val="tx1">
                                  <a:lumMod val="75000"/>
                                  <a:lumOff val="25000"/>
                                </a:schemeClr>
                              </a:solidFill>
                            </a:rPr>
                            <a:t>Simple regression</a:t>
                          </a:r>
                        </a:p>
                        <a:p>
                          <a:r>
                            <a:rPr lang="en-US" b="0" dirty="0">
                              <a:solidFill>
                                <a:schemeClr val="tx1">
                                  <a:lumMod val="75000"/>
                                  <a:lumOff val="25000"/>
                                </a:schemeClr>
                              </a:solidFill>
                            </a:rPr>
                            <a:t>Ordinary regression</a:t>
                          </a:r>
                        </a:p>
                        <a:p>
                          <a:r>
                            <a:rPr lang="en-US" b="0" dirty="0">
                              <a:solidFill>
                                <a:schemeClr val="tx1">
                                  <a:lumMod val="75000"/>
                                  <a:lumOff val="25000"/>
                                </a:schemeClr>
                              </a:solidFill>
                            </a:rPr>
                            <a:t>Least-squares regression</a:t>
                          </a:r>
                        </a:p>
                        <a:p>
                          <a:r>
                            <a:rPr lang="en-US" b="0" dirty="0">
                              <a:solidFill>
                                <a:schemeClr val="tx1">
                                  <a:lumMod val="75000"/>
                                  <a:lumOff val="25000"/>
                                </a:schemeClr>
                              </a:solidFill>
                            </a:rPr>
                            <a:t>… regression</a:t>
                          </a:r>
                        </a:p>
                        <a:p>
                          <a:r>
                            <a:rPr lang="en-US" b="0" dirty="0">
                              <a:solidFill>
                                <a:schemeClr val="tx1">
                                  <a:lumMod val="75000"/>
                                  <a:lumOff val="25000"/>
                                </a:schemeClr>
                              </a:solidFill>
                            </a:rPr>
                            <a:t>ANOVA</a:t>
                          </a:r>
                        </a:p>
                        <a:p>
                          <a:r>
                            <a:rPr lang="en-US" b="0" dirty="0">
                              <a:solidFill>
                                <a:schemeClr val="tx1">
                                  <a:lumMod val="75000"/>
                                  <a:lumOff val="25000"/>
                                </a:schemeClr>
                              </a:solidFill>
                            </a:rPr>
                            <a:t>ANCOVA</a:t>
                          </a:r>
                        </a:p>
                      </a:txBody>
                      <a:tcPr anchor="ctr"/>
                    </a:tc>
                    <a:tc>
                      <a:txBody>
                        <a:bodyPr/>
                        <a:lstStyle/>
                        <a:p>
                          <a:r>
                            <a:rPr lang="en-US" b="0" dirty="0">
                              <a:solidFill>
                                <a:schemeClr val="tx1">
                                  <a:lumMod val="75000"/>
                                  <a:lumOff val="25000"/>
                                </a:schemeClr>
                              </a:solidFill>
                            </a:rPr>
                            <a:t>Special cases of GLM</a:t>
                          </a:r>
                        </a:p>
                        <a:p>
                          <a:r>
                            <a:rPr lang="en-US" b="0" dirty="0">
                              <a:solidFill>
                                <a:schemeClr val="tx1">
                                  <a:lumMod val="75000"/>
                                  <a:lumOff val="25000"/>
                                </a:schemeClr>
                              </a:solidFill>
                            </a:rPr>
                            <a:t>In essence they are all the same thing:</a:t>
                          </a:r>
                        </a:p>
                        <a:p>
                          <a:pPr/>
                          <a14:m>
                            <m:oMathPara xmlns:m="http://schemas.openxmlformats.org/officeDocument/2006/math">
                              <m:oMathParaPr>
                                <m:jc m:val="centerGroup"/>
                              </m:oMathParaPr>
                              <m:oMath xmlns:m="http://schemas.openxmlformats.org/officeDocument/2006/math">
                                <m:r>
                                  <a:rPr lang="en-US" b="0" i="1" smtClean="0">
                                    <a:solidFill>
                                      <a:schemeClr val="tx1">
                                        <a:lumMod val="75000"/>
                                        <a:lumOff val="25000"/>
                                      </a:schemeClr>
                                    </a:solidFill>
                                    <a:latin typeface="Cambria Math"/>
                                  </a:rPr>
                                  <m:t>𝑌</m:t>
                                </m:r>
                                <m:r>
                                  <a:rPr lang="en-US" b="0" i="1" smtClean="0">
                                    <a:solidFill>
                                      <a:schemeClr val="tx1">
                                        <a:lumMod val="75000"/>
                                        <a:lumOff val="25000"/>
                                      </a:schemeClr>
                                    </a:solidFill>
                                    <a:latin typeface="Cambria Math"/>
                                  </a:rPr>
                                  <m:t>= </m:t>
                                </m:r>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ea typeface="Cambria Math"/>
                                      </a:rPr>
                                      <m:t>𝛽</m:t>
                                    </m:r>
                                  </m:e>
                                  <m:sub>
                                    <m:r>
                                      <a:rPr lang="en-US" b="0" i="1" smtClean="0">
                                        <a:solidFill>
                                          <a:schemeClr val="tx1">
                                            <a:lumMod val="75000"/>
                                            <a:lumOff val="25000"/>
                                          </a:schemeClr>
                                        </a:solidFill>
                                        <a:latin typeface="Cambria Math"/>
                                      </a:rPr>
                                      <m:t>0</m:t>
                                    </m:r>
                                  </m:sub>
                                </m:sSub>
                                <m:r>
                                  <a:rPr lang="en-US" b="0" i="1" smtClean="0">
                                    <a:solidFill>
                                      <a:schemeClr val="tx1">
                                        <a:lumMod val="75000"/>
                                        <a:lumOff val="25000"/>
                                      </a:schemeClr>
                                    </a:solidFill>
                                    <a:latin typeface="Cambria Math"/>
                                  </a:rPr>
                                  <m:t>+</m:t>
                                </m:r>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ea typeface="Cambria Math"/>
                                      </a:rPr>
                                      <m:t>𝛽</m:t>
                                    </m:r>
                                  </m:e>
                                  <m:sub>
                                    <m:r>
                                      <a:rPr lang="en-US" b="0" i="1" smtClean="0">
                                        <a:solidFill>
                                          <a:schemeClr val="tx1">
                                            <a:lumMod val="75000"/>
                                            <a:lumOff val="25000"/>
                                          </a:schemeClr>
                                        </a:solidFill>
                                        <a:latin typeface="Cambria Math"/>
                                      </a:rPr>
                                      <m:t>1</m:t>
                                    </m:r>
                                  </m:sub>
                                </m:sSub>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𝑋</m:t>
                                    </m:r>
                                  </m:e>
                                  <m:sub>
                                    <m:r>
                                      <a:rPr lang="en-US" b="0" i="1" smtClean="0">
                                        <a:solidFill>
                                          <a:schemeClr val="tx1">
                                            <a:lumMod val="75000"/>
                                            <a:lumOff val="25000"/>
                                          </a:schemeClr>
                                        </a:solidFill>
                                        <a:latin typeface="Cambria Math"/>
                                      </a:rPr>
                                      <m:t>1</m:t>
                                    </m:r>
                                  </m:sub>
                                </m:sSub>
                                <m:r>
                                  <a:rPr lang="en-US" b="0" i="1" smtClean="0">
                                    <a:solidFill>
                                      <a:schemeClr val="tx1">
                                        <a:lumMod val="75000"/>
                                        <a:lumOff val="25000"/>
                                      </a:schemeClr>
                                    </a:solidFill>
                                    <a:latin typeface="Cambria Math"/>
                                  </a:rPr>
                                  <m:t>+</m:t>
                                </m:r>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ea typeface="Cambria Math"/>
                                      </a:rPr>
                                      <m:t>𝛽</m:t>
                                    </m:r>
                                  </m:e>
                                  <m:sub>
                                    <m:r>
                                      <a:rPr lang="en-US" b="0" i="1" smtClean="0">
                                        <a:solidFill>
                                          <a:schemeClr val="tx1">
                                            <a:lumMod val="75000"/>
                                            <a:lumOff val="25000"/>
                                          </a:schemeClr>
                                        </a:solidFill>
                                        <a:latin typeface="Cambria Math"/>
                                      </a:rPr>
                                      <m:t>2</m:t>
                                    </m:r>
                                  </m:sub>
                                </m:sSub>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𝑋</m:t>
                                    </m:r>
                                  </m:e>
                                  <m:sub>
                                    <m:r>
                                      <a:rPr lang="en-US" b="0" i="1" smtClean="0">
                                        <a:solidFill>
                                          <a:schemeClr val="tx1">
                                            <a:lumMod val="75000"/>
                                            <a:lumOff val="25000"/>
                                          </a:schemeClr>
                                        </a:solidFill>
                                        <a:latin typeface="Cambria Math"/>
                                      </a:rPr>
                                      <m:t>2</m:t>
                                    </m:r>
                                  </m:sub>
                                </m:sSub>
                                <m:r>
                                  <a:rPr lang="en-US" b="0" i="1" smtClean="0">
                                    <a:solidFill>
                                      <a:schemeClr val="tx1">
                                        <a:lumMod val="75000"/>
                                        <a:lumOff val="25000"/>
                                      </a:schemeClr>
                                    </a:solidFill>
                                    <a:latin typeface="Cambria Math"/>
                                  </a:rPr>
                                  <m:t>+…+</m:t>
                                </m:r>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ea typeface="Cambria Math"/>
                                      </a:rPr>
                                      <m:t>𝛽</m:t>
                                    </m:r>
                                  </m:e>
                                  <m:sub>
                                    <m:r>
                                      <a:rPr lang="en-US" b="0" i="1" smtClean="0">
                                        <a:solidFill>
                                          <a:schemeClr val="tx1">
                                            <a:lumMod val="75000"/>
                                            <a:lumOff val="25000"/>
                                          </a:schemeClr>
                                        </a:solidFill>
                                        <a:latin typeface="Cambria Math"/>
                                        <a:ea typeface="Cambria Math"/>
                                      </a:rPr>
                                      <m:t>𝑛</m:t>
                                    </m:r>
                                  </m:sub>
                                </m:sSub>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𝑋</m:t>
                                    </m:r>
                                  </m:e>
                                  <m:sub>
                                    <m:r>
                                      <a:rPr lang="en-US" b="0" i="1" smtClean="0">
                                        <a:solidFill>
                                          <a:schemeClr val="tx1">
                                            <a:lumMod val="75000"/>
                                            <a:lumOff val="25000"/>
                                          </a:schemeClr>
                                        </a:solidFill>
                                        <a:latin typeface="Cambria Math"/>
                                      </a:rPr>
                                      <m:t>𝑛</m:t>
                                    </m:r>
                                  </m:sub>
                                </m:sSub>
                                <m:r>
                                  <a:rPr lang="en-US" b="0" i="1" smtClean="0">
                                    <a:solidFill>
                                      <a:schemeClr val="tx1">
                                        <a:lumMod val="75000"/>
                                        <a:lumOff val="25000"/>
                                      </a:schemeClr>
                                    </a:solidFill>
                                    <a:latin typeface="Cambria Math"/>
                                  </a:rPr>
                                  <m:t>+</m:t>
                                </m:r>
                                <m:r>
                                  <a:rPr lang="en-US" b="0" i="1" smtClean="0">
                                    <a:solidFill>
                                      <a:schemeClr val="tx1">
                                        <a:lumMod val="75000"/>
                                        <a:lumOff val="25000"/>
                                      </a:schemeClr>
                                    </a:solidFill>
                                    <a:latin typeface="Cambria Math"/>
                                    <a:ea typeface="Cambria Math"/>
                                  </a:rPr>
                                  <m:t>𝜀</m:t>
                                </m:r>
                              </m:oMath>
                            </m:oMathPara>
                          </a14:m>
                          <a:endParaRPr lang="en-US" b="0" dirty="0">
                            <a:solidFill>
                              <a:schemeClr val="tx1">
                                <a:lumMod val="75000"/>
                                <a:lumOff val="25000"/>
                              </a:schemeClr>
                            </a:solidFill>
                            <a:ea typeface="Cambria Math"/>
                          </a:endParaRPr>
                        </a:p>
                        <a:p>
                          <a:endParaRPr lang="en-US" b="0" dirty="0">
                            <a:solidFill>
                              <a:schemeClr val="tx1">
                                <a:lumMod val="75000"/>
                                <a:lumOff val="25000"/>
                              </a:schemeClr>
                            </a:solidFill>
                          </a:endParaRPr>
                        </a:p>
                        <a:p>
                          <a:r>
                            <a:rPr lang="en-US" b="0" dirty="0">
                              <a:solidFill>
                                <a:schemeClr val="tx1">
                                  <a:lumMod val="75000"/>
                                  <a:lumOff val="25000"/>
                                </a:schemeClr>
                              </a:solidFill>
                            </a:rPr>
                            <a:t>Or, in matrix form:</a:t>
                          </a:r>
                        </a:p>
                        <a:p>
                          <a:pPr/>
                          <a14:m>
                            <m:oMathPara xmlns:m="http://schemas.openxmlformats.org/officeDocument/2006/math">
                              <m:oMathParaPr>
                                <m:jc m:val="centerGroup"/>
                              </m:oMathParaPr>
                              <m:oMath xmlns:m="http://schemas.openxmlformats.org/officeDocument/2006/math">
                                <m:r>
                                  <a:rPr lang="en-US" sz="2400" b="1" i="0" smtClean="0">
                                    <a:solidFill>
                                      <a:schemeClr val="tx1">
                                        <a:lumMod val="75000"/>
                                        <a:lumOff val="25000"/>
                                      </a:schemeClr>
                                    </a:solidFill>
                                    <a:latin typeface="Cambria Math"/>
                                  </a:rPr>
                                  <m:t>𝐘</m:t>
                                </m:r>
                                <m:r>
                                  <a:rPr lang="en-US" sz="2400" b="1" i="0" smtClean="0">
                                    <a:solidFill>
                                      <a:schemeClr val="tx1">
                                        <a:lumMod val="75000"/>
                                        <a:lumOff val="25000"/>
                                      </a:schemeClr>
                                    </a:solidFill>
                                    <a:latin typeface="Cambria Math"/>
                                  </a:rPr>
                                  <m:t>= </m:t>
                                </m:r>
                                <m:r>
                                  <a:rPr lang="en-US" sz="2400" b="1" i="0" smtClean="0">
                                    <a:solidFill>
                                      <a:schemeClr val="tx1">
                                        <a:lumMod val="75000"/>
                                        <a:lumOff val="25000"/>
                                      </a:schemeClr>
                                    </a:solidFill>
                                    <a:latin typeface="Cambria Math"/>
                                    <a:ea typeface="Cambria Math"/>
                                  </a:rPr>
                                  <m:t>𝐗</m:t>
                                </m:r>
                                <m:r>
                                  <a:rPr lang="en-US" sz="2400" b="1" i="0" smtClean="0">
                                    <a:solidFill>
                                      <a:schemeClr val="tx1">
                                        <a:lumMod val="75000"/>
                                        <a:lumOff val="25000"/>
                                      </a:schemeClr>
                                    </a:solidFill>
                                    <a:latin typeface="Cambria Math"/>
                                    <a:ea typeface="Cambria Math"/>
                                  </a:rPr>
                                  <m:t>𝛃</m:t>
                                </m:r>
                                <m:r>
                                  <a:rPr lang="en-US" sz="2400" b="1" i="1" smtClean="0">
                                    <a:solidFill>
                                      <a:schemeClr val="tx1">
                                        <a:lumMod val="75000"/>
                                        <a:lumOff val="25000"/>
                                      </a:schemeClr>
                                    </a:solidFill>
                                    <a:latin typeface="Cambria Math"/>
                                    <a:ea typeface="Cambria Math"/>
                                  </a:rPr>
                                  <m:t>+</m:t>
                                </m:r>
                                <m:r>
                                  <a:rPr lang="en-US" sz="2400" b="1" i="0" smtClean="0">
                                    <a:solidFill>
                                      <a:schemeClr val="tx1">
                                        <a:lumMod val="75000"/>
                                        <a:lumOff val="25000"/>
                                      </a:schemeClr>
                                    </a:solidFill>
                                    <a:latin typeface="Cambria Math"/>
                                    <a:ea typeface="Cambria Math"/>
                                  </a:rPr>
                                  <m:t>𝐄</m:t>
                                </m:r>
                              </m:oMath>
                            </m:oMathPara>
                          </a14:m>
                          <a:endParaRPr lang="en-US" sz="2400" b="1" i="0" dirty="0">
                            <a:solidFill>
                              <a:schemeClr val="tx1">
                                <a:lumMod val="75000"/>
                                <a:lumOff val="25000"/>
                              </a:schemeClr>
                            </a:solidFill>
                          </a:endParaRPr>
                        </a:p>
                      </a:txBody>
                      <a:tcPr anchor="ctr"/>
                    </a:tc>
                    <a:extLst>
                      <a:ext uri="{0D108BD9-81ED-4DB2-BD59-A6C34878D82A}">
                        <a16:rowId xmlns:a16="http://schemas.microsoft.com/office/drawing/2014/main" val="10000"/>
                      </a:ext>
                    </a:extLst>
                  </a:tr>
                  <a:tr h="1005840">
                    <a:tc>
                      <a:txBody>
                        <a:bodyPr/>
                        <a:lstStyle/>
                        <a:p>
                          <a:r>
                            <a:rPr lang="en-US" dirty="0">
                              <a:solidFill>
                                <a:schemeClr val="tx1">
                                  <a:lumMod val="75000"/>
                                  <a:lumOff val="25000"/>
                                </a:schemeClr>
                              </a:solidFill>
                            </a:rPr>
                            <a:t>Ordinary Least-Squares</a:t>
                          </a:r>
                        </a:p>
                        <a:p>
                          <a:r>
                            <a:rPr lang="en-US" dirty="0">
                              <a:solidFill>
                                <a:schemeClr val="tx1">
                                  <a:lumMod val="75000"/>
                                  <a:lumOff val="25000"/>
                                </a:schemeClr>
                              </a:solidFill>
                            </a:rPr>
                            <a:t>Reduced Axis (etc.)</a:t>
                          </a:r>
                        </a:p>
                        <a:p>
                          <a:r>
                            <a:rPr lang="en-US" dirty="0">
                              <a:solidFill>
                                <a:schemeClr val="tx1">
                                  <a:lumMod val="75000"/>
                                  <a:lumOff val="25000"/>
                                </a:schemeClr>
                              </a:solidFill>
                            </a:rPr>
                            <a:t>Partial, Weighted, Total</a:t>
                          </a:r>
                        </a:p>
                      </a:txBody>
                      <a:tcPr anchor="ctr"/>
                    </a:tc>
                    <a:tc>
                      <a:txBody>
                        <a:bodyPr/>
                        <a:lstStyle/>
                        <a:p>
                          <a:r>
                            <a:rPr lang="en-US" b="0" dirty="0">
                              <a:solidFill>
                                <a:schemeClr val="tx1">
                                  <a:lumMod val="75000"/>
                                  <a:lumOff val="25000"/>
                                </a:schemeClr>
                              </a:solidFill>
                            </a:rPr>
                            <a:t>Methods of estimation</a:t>
                          </a:r>
                        </a:p>
                      </a:txBody>
                      <a:tcPr anchor="ctr"/>
                    </a:tc>
                    <a:extLst>
                      <a:ext uri="{0D108BD9-81ED-4DB2-BD59-A6C34878D82A}">
                        <a16:rowId xmlns:a16="http://schemas.microsoft.com/office/drawing/2014/main" val="10001"/>
                      </a:ext>
                    </a:extLst>
                  </a:tr>
                  <a:tr h="1005840">
                    <a:tc>
                      <a:txBody>
                        <a:bodyPr/>
                        <a:lstStyle/>
                        <a:p>
                          <a:r>
                            <a:rPr lang="en-US" dirty="0">
                              <a:solidFill>
                                <a:schemeClr val="tx1">
                                  <a:lumMod val="75000"/>
                                  <a:lumOff val="25000"/>
                                </a:schemeClr>
                              </a:solidFill>
                            </a:rPr>
                            <a:t>Logistic</a:t>
                          </a:r>
                        </a:p>
                        <a:p>
                          <a:r>
                            <a:rPr lang="en-US" dirty="0">
                              <a:solidFill>
                                <a:schemeClr val="tx1">
                                  <a:lumMod val="75000"/>
                                  <a:lumOff val="25000"/>
                                </a:schemeClr>
                              </a:solidFill>
                            </a:rPr>
                            <a:t>Poisson</a:t>
                          </a:r>
                        </a:p>
                        <a:p>
                          <a:r>
                            <a:rPr lang="en-US" dirty="0">
                              <a:solidFill>
                                <a:schemeClr val="tx1">
                                  <a:lumMod val="75000"/>
                                  <a:lumOff val="25000"/>
                                </a:schemeClr>
                              </a:solidFill>
                            </a:rPr>
                            <a:t>Logit, </a:t>
                          </a:r>
                          <a:r>
                            <a:rPr lang="en-US" dirty="0" err="1">
                              <a:solidFill>
                                <a:schemeClr val="tx1">
                                  <a:lumMod val="75000"/>
                                  <a:lumOff val="25000"/>
                                </a:schemeClr>
                              </a:solidFill>
                            </a:rPr>
                            <a:t>Probit</a:t>
                          </a:r>
                          <a:r>
                            <a:rPr lang="en-US" dirty="0">
                              <a:solidFill>
                                <a:schemeClr val="tx1">
                                  <a:lumMod val="75000"/>
                                  <a:lumOff val="25000"/>
                                </a:schemeClr>
                              </a:solidFill>
                            </a:rPr>
                            <a:t>, etc.</a:t>
                          </a:r>
                        </a:p>
                      </a:txBody>
                      <a:tcPr anchor="ctr"/>
                    </a:tc>
                    <a:tc>
                      <a:txBody>
                        <a:bodyPr/>
                        <a:lstStyle/>
                        <a:p>
                          <a:r>
                            <a:rPr lang="en-US" b="0" dirty="0">
                              <a:solidFill>
                                <a:schemeClr val="tx1">
                                  <a:lumMod val="75000"/>
                                  <a:lumOff val="25000"/>
                                </a:schemeClr>
                              </a:solidFill>
                            </a:rPr>
                            <a:t>Transformations </a:t>
                          </a:r>
                          <a:r>
                            <a:rPr lang="en-US" b="0" baseline="0" dirty="0">
                              <a:solidFill>
                                <a:schemeClr val="tx1">
                                  <a:lumMod val="75000"/>
                                  <a:lumOff val="25000"/>
                                </a:schemeClr>
                              </a:solidFill>
                            </a:rPr>
                            <a:t>to deal with Y that is not continuous, normally distributed</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2"/>
                      </a:ext>
                    </a:extLst>
                  </a:tr>
                  <a:tr h="1005840">
                    <a:tc>
                      <a:txBody>
                        <a:bodyPr/>
                        <a:lstStyle/>
                        <a:p>
                          <a:r>
                            <a:rPr lang="en-US" b="1" dirty="0">
                              <a:solidFill>
                                <a:schemeClr val="tx1">
                                  <a:lumMod val="75000"/>
                                  <a:lumOff val="25000"/>
                                </a:schemeClr>
                              </a:solidFill>
                            </a:rPr>
                            <a:t>Linear</a:t>
                          </a:r>
                        </a:p>
                        <a:p>
                          <a:r>
                            <a:rPr lang="en-US" dirty="0">
                              <a:solidFill>
                                <a:schemeClr val="tx1">
                                  <a:lumMod val="75000"/>
                                  <a:lumOff val="25000"/>
                                </a:schemeClr>
                              </a:solidFill>
                            </a:rPr>
                            <a:t>Polynomial </a:t>
                          </a:r>
                        </a:p>
                        <a:p>
                          <a:r>
                            <a:rPr lang="en-US" dirty="0">
                              <a:solidFill>
                                <a:schemeClr val="tx1">
                                  <a:lumMod val="75000"/>
                                  <a:lumOff val="25000"/>
                                </a:schemeClr>
                              </a:solidFill>
                            </a:rPr>
                            <a:t>Multinomial</a:t>
                          </a:r>
                        </a:p>
                      </a:txBody>
                      <a:tcPr anchor="ctr"/>
                    </a:tc>
                    <a:tc>
                      <a:txBody>
                        <a:bodyPr/>
                        <a:lstStyle/>
                        <a:p>
                          <a:r>
                            <a:rPr lang="en-US" b="0" dirty="0">
                              <a:solidFill>
                                <a:schemeClr val="tx1">
                                  <a:lumMod val="75000"/>
                                  <a:lumOff val="25000"/>
                                </a:schemeClr>
                              </a:solidFill>
                            </a:rPr>
                            <a:t>Different types of relationships between Y and X</a:t>
                          </a:r>
                        </a:p>
                      </a:txBody>
                      <a:tcPr anchor="ctr"/>
                    </a:tc>
                    <a:extLst>
                      <a:ext uri="{0D108BD9-81ED-4DB2-BD59-A6C34878D82A}">
                        <a16:rowId xmlns:a16="http://schemas.microsoft.com/office/drawing/2014/main" val="10003"/>
                      </a:ext>
                    </a:extLst>
                  </a:tr>
                  <a:tr h="822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75000"/>
                                  <a:lumOff val="25000"/>
                                </a:schemeClr>
                              </a:solidFill>
                            </a:rPr>
                            <a:t>Generalized Least-Squares</a:t>
                          </a:r>
                        </a:p>
                      </a:txBody>
                      <a:tcPr anchor="ctr"/>
                    </a:tc>
                    <a:tc>
                      <a:txBody>
                        <a:bodyPr/>
                        <a:lstStyle/>
                        <a:p>
                          <a:r>
                            <a:rPr lang="en-US" sz="1800" dirty="0">
                              <a:solidFill>
                                <a:schemeClr val="tx1">
                                  <a:lumMod val="75000"/>
                                  <a:lumOff val="25000"/>
                                </a:schemeClr>
                              </a:solidFill>
                            </a:rPr>
                            <a:t>More general approach considering different error structures</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4"/>
                      </a:ext>
                    </a:extLst>
                  </a:tr>
                  <a:tr h="822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75000"/>
                                  <a:lumOff val="25000"/>
                                </a:schemeClr>
                              </a:solidFill>
                            </a:rPr>
                            <a:t>Generalized Linear Models</a:t>
                          </a:r>
                        </a:p>
                      </a:txBody>
                      <a:tcPr anchor="ctr"/>
                    </a:tc>
                    <a:tc>
                      <a:txBody>
                        <a:bodyPr/>
                        <a:lstStyle/>
                        <a:p>
                          <a:r>
                            <a:rPr lang="en-US" sz="1800" dirty="0">
                              <a:solidFill>
                                <a:schemeClr val="tx1">
                                  <a:lumMod val="75000"/>
                                  <a:lumOff val="25000"/>
                                </a:schemeClr>
                              </a:solidFill>
                            </a:rPr>
                            <a:t>More general approach considering different types of effects and Sums of Squares</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66055382"/>
                  </p:ext>
                </p:extLst>
              </p:nvPr>
            </p:nvGraphicFramePr>
            <p:xfrm>
              <a:off x="0" y="380999"/>
              <a:ext cx="9144000" cy="6512636"/>
            </p:xfrm>
            <a:graphic>
              <a:graphicData uri="http://schemas.openxmlformats.org/drawingml/2006/table">
                <a:tbl>
                  <a:tblPr firstRow="1" bandRow="1">
                    <a:tableStyleId>{69CF1AB2-1976-4502-BF36-3FF5EA218861}</a:tableStyleId>
                  </a:tblPr>
                  <a:tblGrid>
                    <a:gridCol w="2977662">
                      <a:extLst>
                        <a:ext uri="{9D8B030D-6E8A-4147-A177-3AD203B41FA5}">
                          <a16:colId xmlns:a16="http://schemas.microsoft.com/office/drawing/2014/main" val="20000"/>
                        </a:ext>
                      </a:extLst>
                    </a:gridCol>
                    <a:gridCol w="6166338">
                      <a:extLst>
                        <a:ext uri="{9D8B030D-6E8A-4147-A177-3AD203B41FA5}">
                          <a16:colId xmlns:a16="http://schemas.microsoft.com/office/drawing/2014/main" val="20001"/>
                        </a:ext>
                      </a:extLst>
                    </a:gridCol>
                  </a:tblGrid>
                  <a:tr h="1849196">
                    <a:tc>
                      <a:txBody>
                        <a:bodyPr/>
                        <a:lstStyle/>
                        <a:p>
                          <a:r>
                            <a:rPr lang="en-US" b="0" dirty="0">
                              <a:solidFill>
                                <a:schemeClr val="tx1">
                                  <a:lumMod val="75000"/>
                                  <a:lumOff val="25000"/>
                                </a:schemeClr>
                              </a:solidFill>
                            </a:rPr>
                            <a:t>Simple regression</a:t>
                          </a:r>
                        </a:p>
                        <a:p>
                          <a:r>
                            <a:rPr lang="en-US" b="0" dirty="0">
                              <a:solidFill>
                                <a:schemeClr val="tx1">
                                  <a:lumMod val="75000"/>
                                  <a:lumOff val="25000"/>
                                </a:schemeClr>
                              </a:solidFill>
                            </a:rPr>
                            <a:t>Ordinary regression</a:t>
                          </a:r>
                        </a:p>
                        <a:p>
                          <a:r>
                            <a:rPr lang="en-US" b="0" dirty="0">
                              <a:solidFill>
                                <a:schemeClr val="tx1">
                                  <a:lumMod val="75000"/>
                                  <a:lumOff val="25000"/>
                                </a:schemeClr>
                              </a:solidFill>
                            </a:rPr>
                            <a:t>Least-squares regression</a:t>
                          </a:r>
                        </a:p>
                        <a:p>
                          <a:r>
                            <a:rPr lang="en-US" b="0" dirty="0">
                              <a:solidFill>
                                <a:schemeClr val="tx1">
                                  <a:lumMod val="75000"/>
                                  <a:lumOff val="25000"/>
                                </a:schemeClr>
                              </a:solidFill>
                            </a:rPr>
                            <a:t>… regression</a:t>
                          </a:r>
                        </a:p>
                        <a:p>
                          <a:r>
                            <a:rPr lang="en-US" b="0" dirty="0">
                              <a:solidFill>
                                <a:schemeClr val="tx1">
                                  <a:lumMod val="75000"/>
                                  <a:lumOff val="25000"/>
                                </a:schemeClr>
                              </a:solidFill>
                            </a:rPr>
                            <a:t>ANOVA</a:t>
                          </a:r>
                        </a:p>
                        <a:p>
                          <a:r>
                            <a:rPr lang="en-US" b="0" dirty="0">
                              <a:solidFill>
                                <a:schemeClr val="tx1">
                                  <a:lumMod val="75000"/>
                                  <a:lumOff val="25000"/>
                                </a:schemeClr>
                              </a:solidFill>
                            </a:rPr>
                            <a:t>ANCOVA</a:t>
                          </a:r>
                        </a:p>
                      </a:txBody>
                      <a:tcPr anchor="ctr"/>
                    </a:tc>
                    <a:tc>
                      <a:txBody>
                        <a:bodyPr/>
                        <a:lstStyle/>
                        <a:p>
                          <a:endParaRPr lang="en-ES"/>
                        </a:p>
                      </a:txBody>
                      <a:tcPr anchor="ctr">
                        <a:blipFill>
                          <a:blip r:embed="rId2"/>
                          <a:stretch>
                            <a:fillRect l="-48354" t="-685" r="-412" b="-252740"/>
                          </a:stretch>
                        </a:blipFill>
                      </a:tcPr>
                    </a:tc>
                    <a:extLst>
                      <a:ext uri="{0D108BD9-81ED-4DB2-BD59-A6C34878D82A}">
                        <a16:rowId xmlns:a16="http://schemas.microsoft.com/office/drawing/2014/main" val="10000"/>
                      </a:ext>
                    </a:extLst>
                  </a:tr>
                  <a:tr h="1005840">
                    <a:tc>
                      <a:txBody>
                        <a:bodyPr/>
                        <a:lstStyle/>
                        <a:p>
                          <a:r>
                            <a:rPr lang="en-US" dirty="0">
                              <a:solidFill>
                                <a:schemeClr val="tx1">
                                  <a:lumMod val="75000"/>
                                  <a:lumOff val="25000"/>
                                </a:schemeClr>
                              </a:solidFill>
                            </a:rPr>
                            <a:t>Ordinary Least-Squares</a:t>
                          </a:r>
                        </a:p>
                        <a:p>
                          <a:r>
                            <a:rPr lang="en-US" dirty="0">
                              <a:solidFill>
                                <a:schemeClr val="tx1">
                                  <a:lumMod val="75000"/>
                                  <a:lumOff val="25000"/>
                                </a:schemeClr>
                              </a:solidFill>
                            </a:rPr>
                            <a:t>Reduced Axis (etc.)</a:t>
                          </a:r>
                        </a:p>
                        <a:p>
                          <a:r>
                            <a:rPr lang="en-US" dirty="0">
                              <a:solidFill>
                                <a:schemeClr val="tx1">
                                  <a:lumMod val="75000"/>
                                  <a:lumOff val="25000"/>
                                </a:schemeClr>
                              </a:solidFill>
                            </a:rPr>
                            <a:t>Partial, Weighted, Total</a:t>
                          </a:r>
                        </a:p>
                      </a:txBody>
                      <a:tcPr anchor="ctr"/>
                    </a:tc>
                    <a:tc>
                      <a:txBody>
                        <a:bodyPr/>
                        <a:lstStyle/>
                        <a:p>
                          <a:r>
                            <a:rPr lang="en-US" b="0" dirty="0">
                              <a:solidFill>
                                <a:schemeClr val="tx1">
                                  <a:lumMod val="75000"/>
                                  <a:lumOff val="25000"/>
                                </a:schemeClr>
                              </a:solidFill>
                            </a:rPr>
                            <a:t>Methods of estimation</a:t>
                          </a:r>
                        </a:p>
                      </a:txBody>
                      <a:tcPr anchor="ctr"/>
                    </a:tc>
                    <a:extLst>
                      <a:ext uri="{0D108BD9-81ED-4DB2-BD59-A6C34878D82A}">
                        <a16:rowId xmlns:a16="http://schemas.microsoft.com/office/drawing/2014/main" val="10001"/>
                      </a:ext>
                    </a:extLst>
                  </a:tr>
                  <a:tr h="1005840">
                    <a:tc>
                      <a:txBody>
                        <a:bodyPr/>
                        <a:lstStyle/>
                        <a:p>
                          <a:r>
                            <a:rPr lang="en-US" dirty="0">
                              <a:solidFill>
                                <a:schemeClr val="tx1">
                                  <a:lumMod val="75000"/>
                                  <a:lumOff val="25000"/>
                                </a:schemeClr>
                              </a:solidFill>
                            </a:rPr>
                            <a:t>Logistic</a:t>
                          </a:r>
                        </a:p>
                        <a:p>
                          <a:r>
                            <a:rPr lang="en-US" dirty="0">
                              <a:solidFill>
                                <a:schemeClr val="tx1">
                                  <a:lumMod val="75000"/>
                                  <a:lumOff val="25000"/>
                                </a:schemeClr>
                              </a:solidFill>
                            </a:rPr>
                            <a:t>Poisson</a:t>
                          </a:r>
                        </a:p>
                        <a:p>
                          <a:r>
                            <a:rPr lang="en-US" dirty="0">
                              <a:solidFill>
                                <a:schemeClr val="tx1">
                                  <a:lumMod val="75000"/>
                                  <a:lumOff val="25000"/>
                                </a:schemeClr>
                              </a:solidFill>
                            </a:rPr>
                            <a:t>Logit, </a:t>
                          </a:r>
                          <a:r>
                            <a:rPr lang="en-US" dirty="0" err="1">
                              <a:solidFill>
                                <a:schemeClr val="tx1">
                                  <a:lumMod val="75000"/>
                                  <a:lumOff val="25000"/>
                                </a:schemeClr>
                              </a:solidFill>
                            </a:rPr>
                            <a:t>Probit</a:t>
                          </a:r>
                          <a:r>
                            <a:rPr lang="en-US" dirty="0">
                              <a:solidFill>
                                <a:schemeClr val="tx1">
                                  <a:lumMod val="75000"/>
                                  <a:lumOff val="25000"/>
                                </a:schemeClr>
                              </a:solidFill>
                            </a:rPr>
                            <a:t>, etc.</a:t>
                          </a:r>
                        </a:p>
                      </a:txBody>
                      <a:tcPr anchor="ctr"/>
                    </a:tc>
                    <a:tc>
                      <a:txBody>
                        <a:bodyPr/>
                        <a:lstStyle/>
                        <a:p>
                          <a:r>
                            <a:rPr lang="en-US" b="0" dirty="0">
                              <a:solidFill>
                                <a:schemeClr val="tx1">
                                  <a:lumMod val="75000"/>
                                  <a:lumOff val="25000"/>
                                </a:schemeClr>
                              </a:solidFill>
                            </a:rPr>
                            <a:t>Transformations </a:t>
                          </a:r>
                          <a:r>
                            <a:rPr lang="en-US" b="0" baseline="0" dirty="0">
                              <a:solidFill>
                                <a:schemeClr val="tx1">
                                  <a:lumMod val="75000"/>
                                  <a:lumOff val="25000"/>
                                </a:schemeClr>
                              </a:solidFill>
                            </a:rPr>
                            <a:t>to deal with Y that is not continuous, normally distributed</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2"/>
                      </a:ext>
                    </a:extLst>
                  </a:tr>
                  <a:tr h="1005840">
                    <a:tc>
                      <a:txBody>
                        <a:bodyPr/>
                        <a:lstStyle/>
                        <a:p>
                          <a:r>
                            <a:rPr lang="en-US" b="1" dirty="0">
                              <a:solidFill>
                                <a:schemeClr val="tx1">
                                  <a:lumMod val="75000"/>
                                  <a:lumOff val="25000"/>
                                </a:schemeClr>
                              </a:solidFill>
                            </a:rPr>
                            <a:t>Linear</a:t>
                          </a:r>
                        </a:p>
                        <a:p>
                          <a:r>
                            <a:rPr lang="en-US" dirty="0">
                              <a:solidFill>
                                <a:schemeClr val="tx1">
                                  <a:lumMod val="75000"/>
                                  <a:lumOff val="25000"/>
                                </a:schemeClr>
                              </a:solidFill>
                            </a:rPr>
                            <a:t>Polynomial </a:t>
                          </a:r>
                        </a:p>
                        <a:p>
                          <a:r>
                            <a:rPr lang="en-US" dirty="0">
                              <a:solidFill>
                                <a:schemeClr val="tx1">
                                  <a:lumMod val="75000"/>
                                  <a:lumOff val="25000"/>
                                </a:schemeClr>
                              </a:solidFill>
                            </a:rPr>
                            <a:t>Multinomial</a:t>
                          </a:r>
                        </a:p>
                      </a:txBody>
                      <a:tcPr anchor="ctr"/>
                    </a:tc>
                    <a:tc>
                      <a:txBody>
                        <a:bodyPr/>
                        <a:lstStyle/>
                        <a:p>
                          <a:r>
                            <a:rPr lang="en-US" b="0" dirty="0">
                              <a:solidFill>
                                <a:schemeClr val="tx1">
                                  <a:lumMod val="75000"/>
                                  <a:lumOff val="25000"/>
                                </a:schemeClr>
                              </a:solidFill>
                            </a:rPr>
                            <a:t>Different types of relationships between Y and X</a:t>
                          </a:r>
                        </a:p>
                      </a:txBody>
                      <a:tcPr anchor="ctr"/>
                    </a:tc>
                    <a:extLst>
                      <a:ext uri="{0D108BD9-81ED-4DB2-BD59-A6C34878D82A}">
                        <a16:rowId xmlns:a16="http://schemas.microsoft.com/office/drawing/2014/main" val="10003"/>
                      </a:ext>
                    </a:extLst>
                  </a:tr>
                  <a:tr h="822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75000"/>
                                  <a:lumOff val="25000"/>
                                </a:schemeClr>
                              </a:solidFill>
                            </a:rPr>
                            <a:t>Generalized Least-Squares</a:t>
                          </a:r>
                        </a:p>
                      </a:txBody>
                      <a:tcPr anchor="ctr"/>
                    </a:tc>
                    <a:tc>
                      <a:txBody>
                        <a:bodyPr/>
                        <a:lstStyle/>
                        <a:p>
                          <a:r>
                            <a:rPr lang="en-US" sz="1800" dirty="0">
                              <a:solidFill>
                                <a:schemeClr val="tx1">
                                  <a:lumMod val="75000"/>
                                  <a:lumOff val="25000"/>
                                </a:schemeClr>
                              </a:solidFill>
                            </a:rPr>
                            <a:t>More general approach considering different error structures</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4"/>
                      </a:ext>
                    </a:extLst>
                  </a:tr>
                  <a:tr h="822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75000"/>
                                  <a:lumOff val="25000"/>
                                </a:schemeClr>
                              </a:solidFill>
                            </a:rPr>
                            <a:t>Generalized Linear Models</a:t>
                          </a:r>
                        </a:p>
                      </a:txBody>
                      <a:tcPr anchor="ctr"/>
                    </a:tc>
                    <a:tc>
                      <a:txBody>
                        <a:bodyPr/>
                        <a:lstStyle/>
                        <a:p>
                          <a:r>
                            <a:rPr lang="en-US" sz="1800" dirty="0">
                              <a:solidFill>
                                <a:schemeClr val="tx1">
                                  <a:lumMod val="75000"/>
                                  <a:lumOff val="25000"/>
                                </a:schemeClr>
                              </a:solidFill>
                            </a:rPr>
                            <a:t>More general approach considering different types of effects and Sums of Squares</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386988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304800" y="609600"/>
                <a:ext cx="8610599" cy="553998"/>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sz="2000" i="1" smtClean="0">
                          <a:solidFill>
                            <a:schemeClr val="tx1">
                              <a:lumMod val="75000"/>
                              <a:lumOff val="25000"/>
                            </a:schemeClr>
                          </a:solidFill>
                          <a:latin typeface="Cambria Math"/>
                        </a:rPr>
                        <m:t>𝑌</m:t>
                      </m:r>
                      <m:r>
                        <a:rPr lang="en-US" sz="2000" i="1" smtClean="0">
                          <a:solidFill>
                            <a:schemeClr val="tx1">
                              <a:lumMod val="75000"/>
                              <a:lumOff val="25000"/>
                            </a:schemeClr>
                          </a:solidFill>
                          <a:latin typeface="Cambria Math"/>
                        </a:rPr>
                        <m:t>= </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0</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1</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1</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2</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2</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ea typeface="Cambria Math"/>
                            </a:rPr>
                            <m:t>𝑛</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𝑛</m:t>
                          </m:r>
                        </m:sub>
                      </m:sSub>
                      <m:r>
                        <a:rPr lang="en-US" sz="2000" i="1">
                          <a:solidFill>
                            <a:schemeClr val="tx1">
                              <a:lumMod val="75000"/>
                              <a:lumOff val="25000"/>
                            </a:schemeClr>
                          </a:solidFill>
                          <a:latin typeface="Cambria Math"/>
                        </a:rPr>
                        <m:t>+</m:t>
                      </m:r>
                      <m:r>
                        <a:rPr lang="en-US" sz="2000" i="1">
                          <a:solidFill>
                            <a:schemeClr val="tx1">
                              <a:lumMod val="75000"/>
                              <a:lumOff val="25000"/>
                            </a:schemeClr>
                          </a:solidFill>
                          <a:latin typeface="Cambria Math"/>
                          <a:ea typeface="Cambria Math"/>
                        </a:rPr>
                        <m:t>𝜀</m:t>
                      </m:r>
                    </m:oMath>
                  </m:oMathPara>
                </a14:m>
                <a:endParaRPr lang="en-US" sz="2000" dirty="0">
                  <a:solidFill>
                    <a:schemeClr val="tx1">
                      <a:lumMod val="75000"/>
                      <a:lumOff val="25000"/>
                    </a:schemeClr>
                  </a:solidFill>
                  <a:ea typeface="Cambria Math"/>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04800" y="609600"/>
                <a:ext cx="8610599" cy="553998"/>
              </a:xfrm>
              <a:prstGeom prst="rect">
                <a:avLst/>
              </a:prstGeom>
              <a:blipFill rotWithShape="0">
                <a:blip r:embed="rId3"/>
                <a:stretch>
                  <a:fillRect/>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345810323"/>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General Linear Models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6</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831" name="Object 830"/>
          <p:cNvGraphicFramePr>
            <a:graphicFrameLocks noChangeAspect="1"/>
          </p:cNvGraphicFramePr>
          <p:nvPr>
            <p:extLst>
              <p:ext uri="{D42A27DB-BD31-4B8C-83A1-F6EECF244321}">
                <p14:modId xmlns:p14="http://schemas.microsoft.com/office/powerpoint/2010/main" val="659096425"/>
              </p:ext>
            </p:extLst>
          </p:nvPr>
        </p:nvGraphicFramePr>
        <p:xfrm>
          <a:off x="3078699" y="1423987"/>
          <a:ext cx="2833687" cy="1019175"/>
        </p:xfrm>
        <a:graphic>
          <a:graphicData uri="http://schemas.openxmlformats.org/presentationml/2006/ole">
            <mc:AlternateContent xmlns:mc="http://schemas.openxmlformats.org/markup-compatibility/2006">
              <mc:Choice xmlns:v="urn:schemas-microsoft-com:vml" Requires="v">
                <p:oleObj name="Equation" r:id="rId4" imgW="952500" imgH="342900" progId="Equation.3">
                  <p:embed/>
                </p:oleObj>
              </mc:Choice>
              <mc:Fallback>
                <p:oleObj name="Equation" r:id="rId4" imgW="952500" imgH="342900" progId="Equation.3">
                  <p:embed/>
                  <p:pic>
                    <p:nvPicPr>
                      <p:cNvPr id="0" name=""/>
                      <p:cNvPicPr/>
                      <p:nvPr/>
                    </p:nvPicPr>
                    <p:blipFill>
                      <a:blip r:embed="rId5"/>
                      <a:stretch>
                        <a:fillRect/>
                      </a:stretch>
                    </p:blipFill>
                    <p:spPr>
                      <a:xfrm>
                        <a:off x="3078699" y="1423987"/>
                        <a:ext cx="2833687" cy="1019175"/>
                      </a:xfrm>
                      <a:prstGeom prst="rect">
                        <a:avLst/>
                      </a:prstGeom>
                    </p:spPr>
                  </p:pic>
                </p:oleObj>
              </mc:Fallback>
            </mc:AlternateContent>
          </a:graphicData>
        </a:graphic>
      </p:graphicFrame>
      <p:sp>
        <p:nvSpPr>
          <p:cNvPr id="832" name="TextBox 831"/>
          <p:cNvSpPr txBox="1"/>
          <p:nvPr/>
        </p:nvSpPr>
        <p:spPr>
          <a:xfrm>
            <a:off x="332405" y="2558756"/>
            <a:ext cx="2577222" cy="830997"/>
          </a:xfrm>
          <a:prstGeom prst="rect">
            <a:avLst/>
          </a:prstGeom>
          <a:noFill/>
        </p:spPr>
        <p:txBody>
          <a:bodyPr wrap="square" rtlCol="0">
            <a:spAutoFit/>
          </a:bodyPr>
          <a:lstStyle/>
          <a:p>
            <a:pPr algn="r"/>
            <a:r>
              <a:rPr lang="en-US" sz="1600" b="1" dirty="0">
                <a:solidFill>
                  <a:srgbClr val="6954B1"/>
                </a:solidFill>
              </a:rPr>
              <a:t>Matrix</a:t>
            </a:r>
            <a:r>
              <a:rPr lang="en-US" sz="1600" dirty="0">
                <a:solidFill>
                  <a:srgbClr val="0000FF"/>
                </a:solidFill>
              </a:rPr>
              <a:t> </a:t>
            </a:r>
            <a:r>
              <a:rPr lang="en-US" sz="1600" dirty="0"/>
              <a:t>of measured values</a:t>
            </a:r>
          </a:p>
          <a:p>
            <a:pPr algn="r"/>
            <a:endParaRPr lang="en-US" sz="1600" dirty="0"/>
          </a:p>
          <a:p>
            <a:pPr algn="r"/>
            <a:endParaRPr lang="en-US" sz="1600" dirty="0"/>
          </a:p>
        </p:txBody>
      </p:sp>
      <p:sp>
        <p:nvSpPr>
          <p:cNvPr id="833" name="TextBox 832"/>
          <p:cNvSpPr txBox="1"/>
          <p:nvPr/>
        </p:nvSpPr>
        <p:spPr>
          <a:xfrm>
            <a:off x="2261561" y="3402683"/>
            <a:ext cx="1677800" cy="1323439"/>
          </a:xfrm>
          <a:prstGeom prst="rect">
            <a:avLst/>
          </a:prstGeom>
          <a:noFill/>
        </p:spPr>
        <p:txBody>
          <a:bodyPr wrap="square" rtlCol="0">
            <a:spAutoFit/>
          </a:bodyPr>
          <a:lstStyle/>
          <a:p>
            <a:pPr algn="ctr"/>
            <a:r>
              <a:rPr lang="en-US" sz="1600" dirty="0"/>
              <a:t>Model design matrix </a:t>
            </a:r>
            <a:r>
              <a:rPr lang="en-US" sz="1600" i="1" dirty="0"/>
              <a:t>n</a:t>
            </a:r>
            <a:r>
              <a:rPr lang="en-US" sz="1600" dirty="0"/>
              <a:t> subjects and </a:t>
            </a:r>
            <a:r>
              <a:rPr lang="en-US" sz="1600" i="1" dirty="0"/>
              <a:t>k</a:t>
            </a:r>
            <a:r>
              <a:rPr lang="en-US" sz="1600" dirty="0"/>
              <a:t> parameters</a:t>
            </a:r>
          </a:p>
          <a:p>
            <a:pPr algn="ctr"/>
            <a:endParaRPr lang="en-US" sz="1600" dirty="0"/>
          </a:p>
          <a:p>
            <a:pPr algn="ctr"/>
            <a:endParaRPr lang="en-US" sz="1600" dirty="0"/>
          </a:p>
        </p:txBody>
      </p:sp>
      <p:sp>
        <p:nvSpPr>
          <p:cNvPr id="834" name="TextBox 833"/>
          <p:cNvSpPr txBox="1"/>
          <p:nvPr/>
        </p:nvSpPr>
        <p:spPr>
          <a:xfrm>
            <a:off x="5486400" y="3428774"/>
            <a:ext cx="2647525" cy="1077218"/>
          </a:xfrm>
          <a:prstGeom prst="rect">
            <a:avLst/>
          </a:prstGeom>
          <a:noFill/>
        </p:spPr>
        <p:txBody>
          <a:bodyPr wrap="square" rtlCol="0">
            <a:spAutoFit/>
          </a:bodyPr>
          <a:lstStyle/>
          <a:p>
            <a:pPr algn="ctr"/>
            <a:r>
              <a:rPr lang="en-US" sz="1600" dirty="0"/>
              <a:t>Model coefficients for </a:t>
            </a:r>
            <a:r>
              <a:rPr lang="en-US" sz="1600" i="1" dirty="0"/>
              <a:t>k</a:t>
            </a:r>
            <a:r>
              <a:rPr lang="en-US" sz="1600" dirty="0"/>
              <a:t> parameters, </a:t>
            </a:r>
            <a:r>
              <a:rPr lang="en-US" sz="1600" b="1" i="1" dirty="0">
                <a:solidFill>
                  <a:srgbClr val="6954B1"/>
                </a:solidFill>
              </a:rPr>
              <a:t>p</a:t>
            </a:r>
            <a:r>
              <a:rPr lang="en-US" sz="1600" b="1" dirty="0">
                <a:solidFill>
                  <a:srgbClr val="6954B1"/>
                </a:solidFill>
              </a:rPr>
              <a:t> times</a:t>
            </a:r>
          </a:p>
          <a:p>
            <a:pPr algn="ctr"/>
            <a:endParaRPr lang="en-US" sz="1600" dirty="0"/>
          </a:p>
          <a:p>
            <a:pPr algn="ctr"/>
            <a:endParaRPr lang="en-US" sz="1600" dirty="0"/>
          </a:p>
        </p:txBody>
      </p:sp>
      <p:sp>
        <p:nvSpPr>
          <p:cNvPr id="835" name="TextBox 834"/>
          <p:cNvSpPr txBox="1"/>
          <p:nvPr/>
        </p:nvSpPr>
        <p:spPr>
          <a:xfrm>
            <a:off x="6169127" y="2556557"/>
            <a:ext cx="2670073" cy="830997"/>
          </a:xfrm>
          <a:prstGeom prst="rect">
            <a:avLst/>
          </a:prstGeom>
          <a:noFill/>
        </p:spPr>
        <p:txBody>
          <a:bodyPr wrap="square" rtlCol="0">
            <a:spAutoFit/>
          </a:bodyPr>
          <a:lstStyle/>
          <a:p>
            <a:r>
              <a:rPr lang="en-US" sz="1600" b="1" dirty="0">
                <a:solidFill>
                  <a:srgbClr val="6954B1"/>
                </a:solidFill>
              </a:rPr>
              <a:t>Matrix</a:t>
            </a:r>
            <a:r>
              <a:rPr lang="en-US" sz="1600" dirty="0">
                <a:solidFill>
                  <a:srgbClr val="0000FF"/>
                </a:solidFill>
              </a:rPr>
              <a:t> </a:t>
            </a:r>
            <a:r>
              <a:rPr lang="en-US" sz="1600" dirty="0"/>
              <a:t>of unexplained values </a:t>
            </a:r>
          </a:p>
          <a:p>
            <a:endParaRPr lang="en-US" sz="1600" dirty="0"/>
          </a:p>
          <a:p>
            <a:endParaRPr lang="en-US" sz="1600" dirty="0"/>
          </a:p>
        </p:txBody>
      </p:sp>
      <p:cxnSp>
        <p:nvCxnSpPr>
          <p:cNvPr id="836" name="Straight Arrow Connector 835"/>
          <p:cNvCxnSpPr/>
          <p:nvPr/>
        </p:nvCxnSpPr>
        <p:spPr>
          <a:xfrm flipV="1">
            <a:off x="2439025" y="1934171"/>
            <a:ext cx="770023" cy="59876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37" name="Straight Arrow Connector 836"/>
          <p:cNvCxnSpPr/>
          <p:nvPr/>
        </p:nvCxnSpPr>
        <p:spPr>
          <a:xfrm flipV="1">
            <a:off x="3254637" y="2036888"/>
            <a:ext cx="810023" cy="131989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38" name="Straight Arrow Connector 837"/>
          <p:cNvCxnSpPr/>
          <p:nvPr/>
        </p:nvCxnSpPr>
        <p:spPr>
          <a:xfrm flipH="1" flipV="1">
            <a:off x="4969683" y="2048761"/>
            <a:ext cx="810478" cy="131989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39" name="Straight Arrow Connector 838"/>
          <p:cNvCxnSpPr/>
          <p:nvPr/>
        </p:nvCxnSpPr>
        <p:spPr>
          <a:xfrm flipH="1" flipV="1">
            <a:off x="5829118" y="2010762"/>
            <a:ext cx="880024" cy="52217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840" name="Object 839"/>
          <p:cNvGraphicFramePr>
            <a:graphicFrameLocks noChangeAspect="1"/>
          </p:cNvGraphicFramePr>
          <p:nvPr>
            <p:extLst>
              <p:ext uri="{D42A27DB-BD31-4B8C-83A1-F6EECF244321}">
                <p14:modId xmlns:p14="http://schemas.microsoft.com/office/powerpoint/2010/main" val="712963749"/>
              </p:ext>
            </p:extLst>
          </p:nvPr>
        </p:nvGraphicFramePr>
        <p:xfrm>
          <a:off x="3000911" y="4772025"/>
          <a:ext cx="3249613" cy="942975"/>
        </p:xfrm>
        <a:graphic>
          <a:graphicData uri="http://schemas.openxmlformats.org/presentationml/2006/ole">
            <mc:AlternateContent xmlns:mc="http://schemas.openxmlformats.org/markup-compatibility/2006">
              <mc:Choice xmlns:v="urn:schemas-microsoft-com:vml" Requires="v">
                <p:oleObj name="Equation" r:id="rId6" imgW="1092200" imgH="317500" progId="Equation.3">
                  <p:embed/>
                </p:oleObj>
              </mc:Choice>
              <mc:Fallback>
                <p:oleObj name="Equation" r:id="rId6" imgW="1092200" imgH="317500" progId="Equation.3">
                  <p:embed/>
                  <p:pic>
                    <p:nvPicPr>
                      <p:cNvPr id="0" name=""/>
                      <p:cNvPicPr/>
                      <p:nvPr/>
                    </p:nvPicPr>
                    <p:blipFill>
                      <a:blip r:embed="rId7"/>
                      <a:stretch>
                        <a:fillRect/>
                      </a:stretch>
                    </p:blipFill>
                    <p:spPr>
                      <a:xfrm>
                        <a:off x="3000911" y="4772025"/>
                        <a:ext cx="3249613" cy="942975"/>
                      </a:xfrm>
                      <a:prstGeom prst="rect">
                        <a:avLst/>
                      </a:prstGeom>
                    </p:spPr>
                  </p:pic>
                </p:oleObj>
              </mc:Fallback>
            </mc:AlternateContent>
          </a:graphicData>
        </a:graphic>
      </p:graphicFrame>
    </p:spTree>
    <p:extLst>
      <p:ext uri="{BB962C8B-B14F-4D97-AF65-F5344CB8AC3E}">
        <p14:creationId xmlns:p14="http://schemas.microsoft.com/office/powerpoint/2010/main" val="152757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304800" y="609600"/>
                <a:ext cx="8610599" cy="5878532"/>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sz="3600" b="1">
                          <a:solidFill>
                            <a:schemeClr val="tx1">
                              <a:lumMod val="75000"/>
                              <a:lumOff val="25000"/>
                            </a:schemeClr>
                          </a:solidFill>
                          <a:latin typeface="Cambria Math"/>
                        </a:rPr>
                        <m:t>𝐘</m:t>
                      </m:r>
                      <m:r>
                        <a:rPr lang="en-US" sz="3600" b="1">
                          <a:solidFill>
                            <a:schemeClr val="tx1">
                              <a:lumMod val="75000"/>
                              <a:lumOff val="25000"/>
                            </a:schemeClr>
                          </a:solidFill>
                          <a:latin typeface="Cambria Math"/>
                        </a:rPr>
                        <m:t>= </m:t>
                      </m:r>
                      <m:r>
                        <a:rPr lang="en-US" sz="3600" b="1">
                          <a:solidFill>
                            <a:schemeClr val="tx1">
                              <a:lumMod val="75000"/>
                              <a:lumOff val="25000"/>
                            </a:schemeClr>
                          </a:solidFill>
                          <a:latin typeface="Cambria Math"/>
                          <a:ea typeface="Cambria Math"/>
                        </a:rPr>
                        <m:t>𝐗</m:t>
                      </m:r>
                      <m:r>
                        <a:rPr lang="en-US" sz="3600" b="1">
                          <a:solidFill>
                            <a:schemeClr val="tx1">
                              <a:lumMod val="75000"/>
                              <a:lumOff val="25000"/>
                            </a:schemeClr>
                          </a:solidFill>
                          <a:latin typeface="Cambria Math"/>
                          <a:ea typeface="Cambria Math"/>
                        </a:rPr>
                        <m:t>𝛃</m:t>
                      </m:r>
                      <m:r>
                        <a:rPr lang="en-US" sz="3600" b="1" i="1">
                          <a:solidFill>
                            <a:schemeClr val="tx1">
                              <a:lumMod val="75000"/>
                              <a:lumOff val="25000"/>
                            </a:schemeClr>
                          </a:solidFill>
                          <a:latin typeface="Cambria Math"/>
                          <a:ea typeface="Cambria Math"/>
                        </a:rPr>
                        <m:t>+</m:t>
                      </m:r>
                      <m:r>
                        <a:rPr lang="en-US" sz="3600" b="1">
                          <a:solidFill>
                            <a:schemeClr val="tx1">
                              <a:lumMod val="75000"/>
                              <a:lumOff val="25000"/>
                            </a:schemeClr>
                          </a:solidFill>
                          <a:latin typeface="Cambria Math"/>
                          <a:ea typeface="Cambria Math"/>
                        </a:rPr>
                        <m:t>𝐄</m:t>
                      </m:r>
                    </m:oMath>
                  </m:oMathPara>
                </a14:m>
                <a:endParaRPr lang="en-US" sz="3600" b="1"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buFont typeface="Arial" panose="020B0604020202020204" pitchFamily="34" charset="0"/>
                  <a:buChar char="•"/>
                </a:pPr>
                <a:r>
                  <a:rPr lang="en-US" sz="2000" b="1" dirty="0">
                    <a:solidFill>
                      <a:schemeClr val="tx1">
                        <a:lumMod val="75000"/>
                        <a:lumOff val="25000"/>
                      </a:schemeClr>
                    </a:solidFill>
                  </a:rPr>
                  <a:t>ANOVA</a:t>
                </a:r>
                <a:r>
                  <a:rPr lang="en-US" sz="2000" dirty="0">
                    <a:solidFill>
                      <a:schemeClr val="tx1">
                        <a:lumMod val="75000"/>
                        <a:lumOff val="25000"/>
                      </a:schemeClr>
                    </a:solidFill>
                  </a:rPr>
                  <a:t>: categorical X</a:t>
                </a:r>
              </a:p>
              <a:p>
                <a:pPr lvl="1"/>
                <a:r>
                  <a:rPr lang="en-US" sz="2000" dirty="0">
                    <a:solidFill>
                      <a:schemeClr val="tx1">
                        <a:lumMod val="75000"/>
                        <a:lumOff val="25000"/>
                      </a:schemeClr>
                    </a:solidFill>
                  </a:rPr>
                  <a:t>        </a:t>
                </a:r>
                <a:r>
                  <a:rPr lang="en-US" dirty="0">
                    <a:solidFill>
                      <a:schemeClr val="tx1">
                        <a:lumMod val="75000"/>
                        <a:lumOff val="25000"/>
                      </a:schemeClr>
                    </a:solidFill>
                  </a:rPr>
                  <a:t>H</a:t>
                </a:r>
                <a:r>
                  <a:rPr lang="en-US" baseline="-25000" dirty="0">
                    <a:solidFill>
                      <a:schemeClr val="tx1">
                        <a:lumMod val="75000"/>
                        <a:lumOff val="25000"/>
                      </a:schemeClr>
                    </a:solidFill>
                  </a:rPr>
                  <a:t>0</a:t>
                </a:r>
                <a:r>
                  <a:rPr lang="en-US" dirty="0">
                    <a:solidFill>
                      <a:schemeClr val="tx1">
                        <a:lumMod val="75000"/>
                        <a:lumOff val="25000"/>
                      </a:schemeClr>
                    </a:solidFill>
                  </a:rPr>
                  <a:t>: no difference among groups</a:t>
                </a:r>
              </a:p>
              <a:p>
                <a:pPr lvl="1"/>
                <a:r>
                  <a:rPr lang="en-US" dirty="0">
                    <a:solidFill>
                      <a:schemeClr val="tx1">
                        <a:lumMod val="75000"/>
                        <a:lumOff val="25000"/>
                      </a:schemeClr>
                    </a:solidFill>
                  </a:rPr>
                  <a:t> 	represented by X</a:t>
                </a:r>
              </a:p>
              <a:p>
                <a:pPr marL="285750" indent="-285750">
                  <a:buFont typeface="Arial" panose="020B0604020202020204" pitchFamily="34" charset="0"/>
                  <a:buChar char="•"/>
                </a:pPr>
                <a:endParaRPr lang="en-US" sz="2000" b="1" dirty="0">
                  <a:solidFill>
                    <a:schemeClr val="tx1">
                      <a:lumMod val="75000"/>
                      <a:lumOff val="25000"/>
                    </a:schemeClr>
                  </a:solidFill>
                </a:endParaRPr>
              </a:p>
              <a:p>
                <a:pPr marL="285750" indent="-285750">
                  <a:buFont typeface="Arial" panose="020B0604020202020204" pitchFamily="34" charset="0"/>
                  <a:buChar char="•"/>
                </a:pPr>
                <a:endParaRPr lang="en-US" sz="2000" b="1" dirty="0">
                  <a:solidFill>
                    <a:schemeClr val="tx1">
                      <a:lumMod val="75000"/>
                      <a:lumOff val="25000"/>
                    </a:schemeClr>
                  </a:solidFill>
                </a:endParaRPr>
              </a:p>
              <a:p>
                <a:pPr marL="285750" indent="-285750">
                  <a:buFont typeface="Arial" panose="020B0604020202020204" pitchFamily="34" charset="0"/>
                  <a:buChar char="•"/>
                </a:pPr>
                <a:endParaRPr lang="en-US" sz="2000" b="1" dirty="0">
                  <a:solidFill>
                    <a:schemeClr val="tx1">
                      <a:lumMod val="75000"/>
                      <a:lumOff val="25000"/>
                    </a:schemeClr>
                  </a:solidFill>
                </a:endParaRPr>
              </a:p>
              <a:p>
                <a:pPr marL="285750" indent="-285750">
                  <a:buFont typeface="Arial" panose="020B0604020202020204" pitchFamily="34" charset="0"/>
                  <a:buChar char="•"/>
                </a:pPr>
                <a:r>
                  <a:rPr lang="en-US" sz="2000" b="1" dirty="0">
                    <a:solidFill>
                      <a:schemeClr val="tx1">
                        <a:lumMod val="75000"/>
                        <a:lumOff val="25000"/>
                      </a:schemeClr>
                    </a:solidFill>
                  </a:rPr>
                  <a:t>Regression</a:t>
                </a:r>
                <a:r>
                  <a:rPr lang="en-US" sz="2000" dirty="0">
                    <a:solidFill>
                      <a:schemeClr val="tx1">
                        <a:lumMod val="75000"/>
                        <a:lumOff val="25000"/>
                      </a:schemeClr>
                    </a:solidFill>
                  </a:rPr>
                  <a:t>: continuous X</a:t>
                </a:r>
              </a:p>
              <a:p>
                <a:r>
                  <a:rPr lang="en-US" sz="2000" dirty="0">
                    <a:solidFill>
                      <a:schemeClr val="tx1">
                        <a:lumMod val="75000"/>
                        <a:lumOff val="25000"/>
                      </a:schemeClr>
                    </a:solidFill>
                  </a:rPr>
                  <a:t>	</a:t>
                </a:r>
                <a:r>
                  <a:rPr lang="en-US" dirty="0">
                    <a:solidFill>
                      <a:schemeClr val="tx1">
                        <a:lumMod val="75000"/>
                        <a:lumOff val="25000"/>
                      </a:schemeClr>
                    </a:solidFill>
                  </a:rPr>
                  <a:t>H</a:t>
                </a:r>
                <a:r>
                  <a:rPr lang="en-US" baseline="-25000" dirty="0">
                    <a:solidFill>
                      <a:schemeClr val="tx1">
                        <a:lumMod val="75000"/>
                        <a:lumOff val="25000"/>
                      </a:schemeClr>
                    </a:solidFill>
                  </a:rPr>
                  <a:t>0</a:t>
                </a:r>
                <a:r>
                  <a:rPr lang="en-US" dirty="0">
                    <a:solidFill>
                      <a:schemeClr val="tx1">
                        <a:lumMod val="75000"/>
                        <a:lumOff val="25000"/>
                      </a:schemeClr>
                    </a:solidFill>
                  </a:rPr>
                  <a:t>: no relationship between X and Y</a:t>
                </a: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buFont typeface="Arial" panose="020B0604020202020204" pitchFamily="34" charset="0"/>
                  <a:buChar char="•"/>
                </a:pPr>
                <a:r>
                  <a:rPr lang="en-US" sz="2000" b="1" dirty="0">
                    <a:solidFill>
                      <a:schemeClr val="tx1">
                        <a:lumMod val="75000"/>
                        <a:lumOff val="25000"/>
                      </a:schemeClr>
                    </a:solidFill>
                  </a:rPr>
                  <a:t>ANCOVA</a:t>
                </a:r>
                <a:r>
                  <a:rPr lang="en-US" sz="2000" dirty="0">
                    <a:solidFill>
                      <a:schemeClr val="tx1">
                        <a:lumMod val="75000"/>
                        <a:lumOff val="25000"/>
                      </a:schemeClr>
                    </a:solidFill>
                  </a:rPr>
                  <a:t>: a combination of both</a:t>
                </a:r>
              </a:p>
              <a:p>
                <a:r>
                  <a:rPr lang="en-US" dirty="0">
                    <a:solidFill>
                      <a:schemeClr val="tx1">
                        <a:lumMod val="75000"/>
                        <a:lumOff val="25000"/>
                      </a:schemeClr>
                    </a:solidFill>
                  </a:rPr>
                  <a:t>	H</a:t>
                </a:r>
                <a:r>
                  <a:rPr lang="en-US" baseline="-25000" dirty="0">
                    <a:solidFill>
                      <a:schemeClr val="tx1">
                        <a:lumMod val="75000"/>
                        <a:lumOff val="25000"/>
                      </a:schemeClr>
                    </a:solidFill>
                  </a:rPr>
                  <a:t>0</a:t>
                </a:r>
                <a:r>
                  <a:rPr lang="en-US" dirty="0">
                    <a:solidFill>
                      <a:schemeClr val="tx1">
                        <a:lumMod val="75000"/>
                        <a:lumOff val="25000"/>
                      </a:schemeClr>
                    </a:solidFill>
                  </a:rPr>
                  <a:t>: no difference among groups 	</a:t>
                </a:r>
              </a:p>
              <a:p>
                <a:r>
                  <a:rPr lang="en-US" dirty="0">
                    <a:solidFill>
                      <a:schemeClr val="tx1">
                        <a:lumMod val="75000"/>
                        <a:lumOff val="25000"/>
                      </a:schemeClr>
                    </a:solidFill>
                  </a:rPr>
                  <a:t>	represented by X</a:t>
                </a:r>
                <a:r>
                  <a:rPr lang="en-US" baseline="-25000" dirty="0">
                    <a:solidFill>
                      <a:schemeClr val="tx1">
                        <a:lumMod val="75000"/>
                        <a:lumOff val="25000"/>
                      </a:schemeClr>
                    </a:solidFill>
                  </a:rPr>
                  <a:t>1</a:t>
                </a:r>
                <a:r>
                  <a:rPr lang="en-US" dirty="0">
                    <a:solidFill>
                      <a:schemeClr val="tx1">
                        <a:lumMod val="75000"/>
                        <a:lumOff val="25000"/>
                      </a:schemeClr>
                    </a:solidFill>
                  </a:rPr>
                  <a:t>, while accounting for</a:t>
                </a:r>
              </a:p>
              <a:p>
                <a:r>
                  <a:rPr lang="en-US" dirty="0">
                    <a:solidFill>
                      <a:schemeClr val="tx1">
                        <a:lumMod val="75000"/>
                        <a:lumOff val="25000"/>
                      </a:schemeClr>
                    </a:solidFill>
                  </a:rPr>
                  <a:t> 	the relationship between X</a:t>
                </a:r>
                <a:r>
                  <a:rPr lang="en-US" baseline="-25000" dirty="0">
                    <a:solidFill>
                      <a:schemeClr val="tx1">
                        <a:lumMod val="75000"/>
                        <a:lumOff val="25000"/>
                      </a:schemeClr>
                    </a:solidFill>
                  </a:rPr>
                  <a:t>2</a:t>
                </a:r>
                <a:r>
                  <a:rPr lang="en-US" dirty="0">
                    <a:solidFill>
                      <a:schemeClr val="tx1">
                        <a:lumMod val="75000"/>
                        <a:lumOff val="25000"/>
                      </a:schemeClr>
                    </a:solidFill>
                  </a:rPr>
                  <a:t> and Y</a:t>
                </a:r>
              </a:p>
            </p:txBody>
          </p:sp>
        </mc:Choice>
        <mc:Fallback xmlns="">
          <p:sp>
            <p:nvSpPr>
              <p:cNvPr id="5" name="TextBox 4"/>
              <p:cNvSpPr txBox="1">
                <a:spLocks noRot="1" noChangeAspect="1" noMove="1" noResize="1" noEditPoints="1" noAdjustHandles="1" noChangeArrowheads="1" noChangeShapeType="1" noTextEdit="1"/>
              </p:cNvSpPr>
              <p:nvPr/>
            </p:nvSpPr>
            <p:spPr>
              <a:xfrm>
                <a:off x="304800" y="609600"/>
                <a:ext cx="8610599" cy="5878532"/>
              </a:xfrm>
              <a:prstGeom prst="rect">
                <a:avLst/>
              </a:prstGeom>
              <a:blipFill rotWithShape="0">
                <a:blip r:embed="rId2"/>
                <a:stretch>
                  <a:fillRect l="-637" b="-726"/>
                </a:stretch>
              </a:blipFill>
            </p:spPr>
            <p:txBody>
              <a:bodyPr/>
              <a:lstStyle/>
              <a:p>
                <a:r>
                  <a:rPr lang="en-US">
                    <a:noFill/>
                  </a:rPr>
                  <a:t> </a:t>
                </a:r>
              </a:p>
            </p:txBody>
          </p:sp>
        </mc:Fallback>
      </mc:AlternateContent>
      <p:graphicFrame>
        <p:nvGraphicFramePr>
          <p:cNvPr id="4" name="Table 3"/>
          <p:cNvGraphicFramePr>
            <a:graphicFrameLocks noGrp="1"/>
          </p:cNvGraphicFramePr>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General Linear Models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7</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pSp>
        <p:nvGrpSpPr>
          <p:cNvPr id="6" name="Group 93"/>
          <p:cNvGrpSpPr>
            <a:grpSpLocks/>
          </p:cNvGrpSpPr>
          <p:nvPr/>
        </p:nvGrpSpPr>
        <p:grpSpPr bwMode="auto">
          <a:xfrm>
            <a:off x="5961603" y="1719028"/>
            <a:ext cx="2365041" cy="1399343"/>
            <a:chOff x="1549" y="2343"/>
            <a:chExt cx="3295" cy="1499"/>
          </a:xfrm>
        </p:grpSpPr>
        <p:sp>
          <p:nvSpPr>
            <p:cNvPr id="7" name="Rectangle 30"/>
            <p:cNvSpPr>
              <a:spLocks noChangeArrowheads="1"/>
            </p:cNvSpPr>
            <p:nvPr/>
          </p:nvSpPr>
          <p:spPr bwMode="auto">
            <a:xfrm>
              <a:off x="1737" y="2343"/>
              <a:ext cx="3106" cy="1454"/>
            </a:xfrm>
            <a:prstGeom prst="rect">
              <a:avLst/>
            </a:prstGeom>
            <a:noFill/>
            <a:ln w="1746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 name="Line 32"/>
            <p:cNvSpPr>
              <a:spLocks noChangeShapeType="1"/>
            </p:cNvSpPr>
            <p:nvPr/>
          </p:nvSpPr>
          <p:spPr bwMode="auto">
            <a:xfrm>
              <a:off x="1737" y="3797"/>
              <a:ext cx="3106"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Line 33"/>
            <p:cNvSpPr>
              <a:spLocks noChangeShapeType="1"/>
            </p:cNvSpPr>
            <p:nvPr/>
          </p:nvSpPr>
          <p:spPr bwMode="auto">
            <a:xfrm>
              <a:off x="1737" y="3797"/>
              <a:ext cx="1" cy="4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35"/>
            <p:cNvSpPr>
              <a:spLocks noChangeShapeType="1"/>
            </p:cNvSpPr>
            <p:nvPr/>
          </p:nvSpPr>
          <p:spPr bwMode="auto">
            <a:xfrm>
              <a:off x="2512" y="3797"/>
              <a:ext cx="1" cy="4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Line 37"/>
            <p:cNvSpPr>
              <a:spLocks noChangeShapeType="1"/>
            </p:cNvSpPr>
            <p:nvPr/>
          </p:nvSpPr>
          <p:spPr bwMode="auto">
            <a:xfrm>
              <a:off x="2357"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38"/>
            <p:cNvSpPr>
              <a:spLocks noChangeShapeType="1"/>
            </p:cNvSpPr>
            <p:nvPr/>
          </p:nvSpPr>
          <p:spPr bwMode="auto">
            <a:xfrm>
              <a:off x="2202"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Line 39"/>
            <p:cNvSpPr>
              <a:spLocks noChangeShapeType="1"/>
            </p:cNvSpPr>
            <p:nvPr/>
          </p:nvSpPr>
          <p:spPr bwMode="auto">
            <a:xfrm>
              <a:off x="2047"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Line 40"/>
            <p:cNvSpPr>
              <a:spLocks noChangeShapeType="1"/>
            </p:cNvSpPr>
            <p:nvPr/>
          </p:nvSpPr>
          <p:spPr bwMode="auto">
            <a:xfrm>
              <a:off x="1892"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Line 41"/>
            <p:cNvSpPr>
              <a:spLocks noChangeShapeType="1"/>
            </p:cNvSpPr>
            <p:nvPr/>
          </p:nvSpPr>
          <p:spPr bwMode="auto">
            <a:xfrm>
              <a:off x="3288" y="3797"/>
              <a:ext cx="1" cy="4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43"/>
            <p:cNvSpPr>
              <a:spLocks noChangeShapeType="1"/>
            </p:cNvSpPr>
            <p:nvPr/>
          </p:nvSpPr>
          <p:spPr bwMode="auto">
            <a:xfrm>
              <a:off x="3132"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Line 44"/>
            <p:cNvSpPr>
              <a:spLocks noChangeShapeType="1"/>
            </p:cNvSpPr>
            <p:nvPr/>
          </p:nvSpPr>
          <p:spPr bwMode="auto">
            <a:xfrm>
              <a:off x="2977"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45"/>
            <p:cNvSpPr>
              <a:spLocks noChangeShapeType="1"/>
            </p:cNvSpPr>
            <p:nvPr/>
          </p:nvSpPr>
          <p:spPr bwMode="auto">
            <a:xfrm>
              <a:off x="2822"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46"/>
            <p:cNvSpPr>
              <a:spLocks noChangeShapeType="1"/>
            </p:cNvSpPr>
            <p:nvPr/>
          </p:nvSpPr>
          <p:spPr bwMode="auto">
            <a:xfrm>
              <a:off x="2667"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47"/>
            <p:cNvSpPr>
              <a:spLocks noChangeShapeType="1"/>
            </p:cNvSpPr>
            <p:nvPr/>
          </p:nvSpPr>
          <p:spPr bwMode="auto">
            <a:xfrm>
              <a:off x="4068" y="3797"/>
              <a:ext cx="1" cy="4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49"/>
            <p:cNvSpPr>
              <a:spLocks noChangeShapeType="1"/>
            </p:cNvSpPr>
            <p:nvPr/>
          </p:nvSpPr>
          <p:spPr bwMode="auto">
            <a:xfrm>
              <a:off x="3913"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50"/>
            <p:cNvSpPr>
              <a:spLocks noChangeShapeType="1"/>
            </p:cNvSpPr>
            <p:nvPr/>
          </p:nvSpPr>
          <p:spPr bwMode="auto">
            <a:xfrm>
              <a:off x="3758"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51"/>
            <p:cNvSpPr>
              <a:spLocks noChangeShapeType="1"/>
            </p:cNvSpPr>
            <p:nvPr/>
          </p:nvSpPr>
          <p:spPr bwMode="auto">
            <a:xfrm>
              <a:off x="3603"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52"/>
            <p:cNvSpPr>
              <a:spLocks noChangeShapeType="1"/>
            </p:cNvSpPr>
            <p:nvPr/>
          </p:nvSpPr>
          <p:spPr bwMode="auto">
            <a:xfrm>
              <a:off x="3448"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53"/>
            <p:cNvSpPr>
              <a:spLocks noChangeShapeType="1"/>
            </p:cNvSpPr>
            <p:nvPr/>
          </p:nvSpPr>
          <p:spPr bwMode="auto">
            <a:xfrm>
              <a:off x="4843" y="3797"/>
              <a:ext cx="1" cy="4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55"/>
            <p:cNvSpPr>
              <a:spLocks noChangeShapeType="1"/>
            </p:cNvSpPr>
            <p:nvPr/>
          </p:nvSpPr>
          <p:spPr bwMode="auto">
            <a:xfrm>
              <a:off x="4688"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56"/>
            <p:cNvSpPr>
              <a:spLocks noChangeShapeType="1"/>
            </p:cNvSpPr>
            <p:nvPr/>
          </p:nvSpPr>
          <p:spPr bwMode="auto">
            <a:xfrm>
              <a:off x="4533"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57"/>
            <p:cNvSpPr>
              <a:spLocks noChangeShapeType="1"/>
            </p:cNvSpPr>
            <p:nvPr/>
          </p:nvSpPr>
          <p:spPr bwMode="auto">
            <a:xfrm>
              <a:off x="4378"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58"/>
            <p:cNvSpPr>
              <a:spLocks noChangeShapeType="1"/>
            </p:cNvSpPr>
            <p:nvPr/>
          </p:nvSpPr>
          <p:spPr bwMode="auto">
            <a:xfrm>
              <a:off x="4223"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59"/>
            <p:cNvSpPr>
              <a:spLocks noChangeShapeType="1"/>
            </p:cNvSpPr>
            <p:nvPr/>
          </p:nvSpPr>
          <p:spPr bwMode="auto">
            <a:xfrm flipV="1">
              <a:off x="1737" y="2343"/>
              <a:ext cx="1" cy="1454"/>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60"/>
            <p:cNvSpPr>
              <a:spLocks noChangeShapeType="1"/>
            </p:cNvSpPr>
            <p:nvPr/>
          </p:nvSpPr>
          <p:spPr bwMode="auto">
            <a:xfrm>
              <a:off x="1737" y="3797"/>
              <a:ext cx="1"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61"/>
            <p:cNvSpPr>
              <a:spLocks noChangeShapeType="1"/>
            </p:cNvSpPr>
            <p:nvPr/>
          </p:nvSpPr>
          <p:spPr bwMode="auto">
            <a:xfrm>
              <a:off x="1737" y="3436"/>
              <a:ext cx="1"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Rectangle 62"/>
            <p:cNvSpPr>
              <a:spLocks noChangeArrowheads="1"/>
            </p:cNvSpPr>
            <p:nvPr/>
          </p:nvSpPr>
          <p:spPr bwMode="auto">
            <a:xfrm>
              <a:off x="1549" y="3565"/>
              <a:ext cx="77"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lang="en-US" sz="1200" b="0">
                  <a:solidFill>
                    <a:srgbClr val="FFFFFF"/>
                  </a:solidFill>
                </a:rPr>
                <a:t>1</a:t>
              </a:r>
              <a:endParaRPr lang="en-US" sz="1200"/>
            </a:p>
          </p:txBody>
        </p:sp>
        <p:sp>
          <p:nvSpPr>
            <p:cNvPr id="40" name="Line 63"/>
            <p:cNvSpPr>
              <a:spLocks noChangeShapeType="1"/>
            </p:cNvSpPr>
            <p:nvPr/>
          </p:nvSpPr>
          <p:spPr bwMode="auto">
            <a:xfrm>
              <a:off x="1737" y="3070"/>
              <a:ext cx="1"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Rectangle 64"/>
            <p:cNvSpPr>
              <a:spLocks noChangeArrowheads="1"/>
            </p:cNvSpPr>
            <p:nvPr/>
          </p:nvSpPr>
          <p:spPr bwMode="auto">
            <a:xfrm>
              <a:off x="1549" y="3198"/>
              <a:ext cx="7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lang="en-US" sz="1200" b="0">
                  <a:solidFill>
                    <a:srgbClr val="FFFFFF"/>
                  </a:solidFill>
                </a:rPr>
                <a:t>2</a:t>
              </a:r>
              <a:endParaRPr lang="en-US" sz="1200"/>
            </a:p>
          </p:txBody>
        </p:sp>
        <p:sp>
          <p:nvSpPr>
            <p:cNvPr id="42" name="Line 65"/>
            <p:cNvSpPr>
              <a:spLocks noChangeShapeType="1"/>
            </p:cNvSpPr>
            <p:nvPr/>
          </p:nvSpPr>
          <p:spPr bwMode="auto">
            <a:xfrm>
              <a:off x="1737" y="2709"/>
              <a:ext cx="1"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Rectangle 66"/>
            <p:cNvSpPr>
              <a:spLocks noChangeArrowheads="1"/>
            </p:cNvSpPr>
            <p:nvPr/>
          </p:nvSpPr>
          <p:spPr bwMode="auto">
            <a:xfrm>
              <a:off x="1549" y="2837"/>
              <a:ext cx="77"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lang="en-US" sz="1200" b="0">
                  <a:solidFill>
                    <a:srgbClr val="FFFFFF"/>
                  </a:solidFill>
                </a:rPr>
                <a:t>3</a:t>
              </a:r>
              <a:endParaRPr lang="en-US" sz="1200"/>
            </a:p>
          </p:txBody>
        </p:sp>
        <p:sp>
          <p:nvSpPr>
            <p:cNvPr id="44" name="Line 67"/>
            <p:cNvSpPr>
              <a:spLocks noChangeShapeType="1"/>
            </p:cNvSpPr>
            <p:nvPr/>
          </p:nvSpPr>
          <p:spPr bwMode="auto">
            <a:xfrm>
              <a:off x="1737" y="2343"/>
              <a:ext cx="1"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Rectangle 68"/>
            <p:cNvSpPr>
              <a:spLocks noChangeArrowheads="1"/>
            </p:cNvSpPr>
            <p:nvPr/>
          </p:nvSpPr>
          <p:spPr bwMode="auto">
            <a:xfrm>
              <a:off x="1549" y="2470"/>
              <a:ext cx="7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lang="en-US" sz="1200" b="0">
                  <a:solidFill>
                    <a:srgbClr val="FFFFFF"/>
                  </a:solidFill>
                </a:rPr>
                <a:t>4</a:t>
              </a:r>
              <a:endParaRPr lang="en-US" sz="1200"/>
            </a:p>
          </p:txBody>
        </p:sp>
        <p:sp>
          <p:nvSpPr>
            <p:cNvPr id="46" name="Line 69"/>
            <p:cNvSpPr>
              <a:spLocks noChangeShapeType="1"/>
            </p:cNvSpPr>
            <p:nvPr/>
          </p:nvSpPr>
          <p:spPr bwMode="auto">
            <a:xfrm>
              <a:off x="1754" y="3620"/>
              <a:ext cx="2370" cy="1"/>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70"/>
            <p:cNvSpPr>
              <a:spLocks noChangeShapeType="1"/>
            </p:cNvSpPr>
            <p:nvPr/>
          </p:nvSpPr>
          <p:spPr bwMode="auto">
            <a:xfrm flipV="1">
              <a:off x="2911" y="3508"/>
              <a:ext cx="1" cy="217"/>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71"/>
            <p:cNvSpPr>
              <a:spLocks noChangeShapeType="1"/>
            </p:cNvSpPr>
            <p:nvPr/>
          </p:nvSpPr>
          <p:spPr bwMode="auto">
            <a:xfrm>
              <a:off x="2280" y="3669"/>
              <a:ext cx="1168"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72"/>
            <p:cNvSpPr>
              <a:spLocks noChangeShapeType="1"/>
            </p:cNvSpPr>
            <p:nvPr/>
          </p:nvSpPr>
          <p:spPr bwMode="auto">
            <a:xfrm flipV="1">
              <a:off x="3448" y="3564"/>
              <a:ext cx="1" cy="10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Line 73"/>
            <p:cNvSpPr>
              <a:spLocks noChangeShapeType="1"/>
            </p:cNvSpPr>
            <p:nvPr/>
          </p:nvSpPr>
          <p:spPr bwMode="auto">
            <a:xfrm>
              <a:off x="2280" y="3564"/>
              <a:ext cx="1168"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74"/>
            <p:cNvSpPr>
              <a:spLocks noChangeShapeType="1"/>
            </p:cNvSpPr>
            <p:nvPr/>
          </p:nvSpPr>
          <p:spPr bwMode="auto">
            <a:xfrm flipV="1">
              <a:off x="2280" y="3564"/>
              <a:ext cx="1" cy="10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75"/>
            <p:cNvSpPr>
              <a:spLocks noChangeShapeType="1"/>
            </p:cNvSpPr>
            <p:nvPr/>
          </p:nvSpPr>
          <p:spPr bwMode="auto">
            <a:xfrm>
              <a:off x="1737" y="3253"/>
              <a:ext cx="1611" cy="1"/>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76"/>
            <p:cNvSpPr>
              <a:spLocks noChangeShapeType="1"/>
            </p:cNvSpPr>
            <p:nvPr/>
          </p:nvSpPr>
          <p:spPr bwMode="auto">
            <a:xfrm flipV="1">
              <a:off x="2446" y="3142"/>
              <a:ext cx="1" cy="2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77"/>
            <p:cNvSpPr>
              <a:spLocks noChangeShapeType="1"/>
            </p:cNvSpPr>
            <p:nvPr/>
          </p:nvSpPr>
          <p:spPr bwMode="auto">
            <a:xfrm>
              <a:off x="2031" y="3309"/>
              <a:ext cx="764"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78"/>
            <p:cNvSpPr>
              <a:spLocks noChangeShapeType="1"/>
            </p:cNvSpPr>
            <p:nvPr/>
          </p:nvSpPr>
          <p:spPr bwMode="auto">
            <a:xfrm flipV="1">
              <a:off x="2795" y="3198"/>
              <a:ext cx="1" cy="11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79"/>
            <p:cNvSpPr>
              <a:spLocks noChangeShapeType="1"/>
            </p:cNvSpPr>
            <p:nvPr/>
          </p:nvSpPr>
          <p:spPr bwMode="auto">
            <a:xfrm>
              <a:off x="2031" y="3198"/>
              <a:ext cx="764"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80"/>
            <p:cNvSpPr>
              <a:spLocks noChangeShapeType="1"/>
            </p:cNvSpPr>
            <p:nvPr/>
          </p:nvSpPr>
          <p:spPr bwMode="auto">
            <a:xfrm flipV="1">
              <a:off x="2031" y="3198"/>
              <a:ext cx="1" cy="11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81"/>
            <p:cNvSpPr>
              <a:spLocks noChangeShapeType="1"/>
            </p:cNvSpPr>
            <p:nvPr/>
          </p:nvSpPr>
          <p:spPr bwMode="auto">
            <a:xfrm>
              <a:off x="1920" y="2887"/>
              <a:ext cx="2591" cy="1"/>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82"/>
            <p:cNvSpPr>
              <a:spLocks noChangeShapeType="1"/>
            </p:cNvSpPr>
            <p:nvPr/>
          </p:nvSpPr>
          <p:spPr bwMode="auto">
            <a:xfrm flipV="1">
              <a:off x="3432" y="2781"/>
              <a:ext cx="1" cy="217"/>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83"/>
            <p:cNvSpPr>
              <a:spLocks noChangeShapeType="1"/>
            </p:cNvSpPr>
            <p:nvPr/>
          </p:nvSpPr>
          <p:spPr bwMode="auto">
            <a:xfrm>
              <a:off x="3132" y="2942"/>
              <a:ext cx="709"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84"/>
            <p:cNvSpPr>
              <a:spLocks noChangeShapeType="1"/>
            </p:cNvSpPr>
            <p:nvPr/>
          </p:nvSpPr>
          <p:spPr bwMode="auto">
            <a:xfrm flipV="1">
              <a:off x="3841" y="2837"/>
              <a:ext cx="1" cy="10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85"/>
            <p:cNvSpPr>
              <a:spLocks noChangeShapeType="1"/>
            </p:cNvSpPr>
            <p:nvPr/>
          </p:nvSpPr>
          <p:spPr bwMode="auto">
            <a:xfrm>
              <a:off x="3132" y="2837"/>
              <a:ext cx="709"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86"/>
            <p:cNvSpPr>
              <a:spLocks noChangeShapeType="1"/>
            </p:cNvSpPr>
            <p:nvPr/>
          </p:nvSpPr>
          <p:spPr bwMode="auto">
            <a:xfrm flipV="1">
              <a:off x="3132" y="2837"/>
              <a:ext cx="1" cy="10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87"/>
            <p:cNvSpPr>
              <a:spLocks noChangeShapeType="1"/>
            </p:cNvSpPr>
            <p:nvPr/>
          </p:nvSpPr>
          <p:spPr bwMode="auto">
            <a:xfrm>
              <a:off x="1931" y="2526"/>
              <a:ext cx="2912" cy="1"/>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88"/>
            <p:cNvSpPr>
              <a:spLocks noChangeShapeType="1"/>
            </p:cNvSpPr>
            <p:nvPr/>
          </p:nvSpPr>
          <p:spPr bwMode="auto">
            <a:xfrm flipV="1">
              <a:off x="3033" y="2415"/>
              <a:ext cx="1" cy="217"/>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89"/>
            <p:cNvSpPr>
              <a:spLocks noChangeShapeType="1"/>
            </p:cNvSpPr>
            <p:nvPr/>
          </p:nvSpPr>
          <p:spPr bwMode="auto">
            <a:xfrm>
              <a:off x="2490" y="2582"/>
              <a:ext cx="1030"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90"/>
            <p:cNvSpPr>
              <a:spLocks noChangeShapeType="1"/>
            </p:cNvSpPr>
            <p:nvPr/>
          </p:nvSpPr>
          <p:spPr bwMode="auto">
            <a:xfrm flipV="1">
              <a:off x="3520" y="2471"/>
              <a:ext cx="1" cy="11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91"/>
            <p:cNvSpPr>
              <a:spLocks noChangeShapeType="1"/>
            </p:cNvSpPr>
            <p:nvPr/>
          </p:nvSpPr>
          <p:spPr bwMode="auto">
            <a:xfrm>
              <a:off x="2490" y="2471"/>
              <a:ext cx="1030"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92"/>
            <p:cNvSpPr>
              <a:spLocks noChangeShapeType="1"/>
            </p:cNvSpPr>
            <p:nvPr/>
          </p:nvSpPr>
          <p:spPr bwMode="auto">
            <a:xfrm flipV="1">
              <a:off x="2498" y="2468"/>
              <a:ext cx="1" cy="11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0" name="Group 829"/>
          <p:cNvGrpSpPr>
            <a:grpSpLocks/>
          </p:cNvGrpSpPr>
          <p:nvPr/>
        </p:nvGrpSpPr>
        <p:grpSpPr bwMode="auto">
          <a:xfrm>
            <a:off x="6077680" y="3418860"/>
            <a:ext cx="2256034" cy="1464024"/>
            <a:chOff x="2188" y="2208"/>
            <a:chExt cx="1960" cy="1280"/>
          </a:xfrm>
        </p:grpSpPr>
        <p:sp>
          <p:nvSpPr>
            <p:cNvPr id="71" name="Rectangle 453"/>
            <p:cNvSpPr>
              <a:spLocks noChangeArrowheads="1"/>
            </p:cNvSpPr>
            <p:nvPr/>
          </p:nvSpPr>
          <p:spPr bwMode="auto">
            <a:xfrm>
              <a:off x="2226" y="2222"/>
              <a:ext cx="1908" cy="122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 name="Line 459"/>
            <p:cNvSpPr>
              <a:spLocks noChangeShapeType="1"/>
            </p:cNvSpPr>
            <p:nvPr/>
          </p:nvSpPr>
          <p:spPr bwMode="auto">
            <a:xfrm>
              <a:off x="2226" y="3451"/>
              <a:ext cx="190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460"/>
            <p:cNvSpPr>
              <a:spLocks noChangeShapeType="1"/>
            </p:cNvSpPr>
            <p:nvPr/>
          </p:nvSpPr>
          <p:spPr bwMode="auto">
            <a:xfrm>
              <a:off x="2226" y="3451"/>
              <a:ext cx="1" cy="3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Line 462"/>
            <p:cNvSpPr>
              <a:spLocks noChangeShapeType="1"/>
            </p:cNvSpPr>
            <p:nvPr/>
          </p:nvSpPr>
          <p:spPr bwMode="auto">
            <a:xfrm>
              <a:off x="2701" y="3451"/>
              <a:ext cx="1" cy="3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464"/>
            <p:cNvSpPr>
              <a:spLocks noChangeShapeType="1"/>
            </p:cNvSpPr>
            <p:nvPr/>
          </p:nvSpPr>
          <p:spPr bwMode="auto">
            <a:xfrm>
              <a:off x="2608"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465"/>
            <p:cNvSpPr>
              <a:spLocks noChangeShapeType="1"/>
            </p:cNvSpPr>
            <p:nvPr/>
          </p:nvSpPr>
          <p:spPr bwMode="auto">
            <a:xfrm>
              <a:off x="2510"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466"/>
            <p:cNvSpPr>
              <a:spLocks noChangeShapeType="1"/>
            </p:cNvSpPr>
            <p:nvPr/>
          </p:nvSpPr>
          <p:spPr bwMode="auto">
            <a:xfrm>
              <a:off x="2417"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467"/>
            <p:cNvSpPr>
              <a:spLocks noChangeShapeType="1"/>
            </p:cNvSpPr>
            <p:nvPr/>
          </p:nvSpPr>
          <p:spPr bwMode="auto">
            <a:xfrm>
              <a:off x="2319"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468"/>
            <p:cNvSpPr>
              <a:spLocks noChangeShapeType="1"/>
            </p:cNvSpPr>
            <p:nvPr/>
          </p:nvSpPr>
          <p:spPr bwMode="auto">
            <a:xfrm>
              <a:off x="3182" y="3451"/>
              <a:ext cx="1" cy="3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Line 470"/>
            <p:cNvSpPr>
              <a:spLocks noChangeShapeType="1"/>
            </p:cNvSpPr>
            <p:nvPr/>
          </p:nvSpPr>
          <p:spPr bwMode="auto">
            <a:xfrm>
              <a:off x="3084"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Line 471"/>
            <p:cNvSpPr>
              <a:spLocks noChangeShapeType="1"/>
            </p:cNvSpPr>
            <p:nvPr/>
          </p:nvSpPr>
          <p:spPr bwMode="auto">
            <a:xfrm>
              <a:off x="2991"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 name="Line 472"/>
            <p:cNvSpPr>
              <a:spLocks noChangeShapeType="1"/>
            </p:cNvSpPr>
            <p:nvPr/>
          </p:nvSpPr>
          <p:spPr bwMode="auto">
            <a:xfrm>
              <a:off x="2893"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Line 473"/>
            <p:cNvSpPr>
              <a:spLocks noChangeShapeType="1"/>
            </p:cNvSpPr>
            <p:nvPr/>
          </p:nvSpPr>
          <p:spPr bwMode="auto">
            <a:xfrm>
              <a:off x="2799"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 name="Line 474"/>
            <p:cNvSpPr>
              <a:spLocks noChangeShapeType="1"/>
            </p:cNvSpPr>
            <p:nvPr/>
          </p:nvSpPr>
          <p:spPr bwMode="auto">
            <a:xfrm>
              <a:off x="3658" y="3451"/>
              <a:ext cx="1" cy="3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476"/>
            <p:cNvSpPr>
              <a:spLocks noChangeShapeType="1"/>
            </p:cNvSpPr>
            <p:nvPr/>
          </p:nvSpPr>
          <p:spPr bwMode="auto">
            <a:xfrm>
              <a:off x="3560"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477"/>
            <p:cNvSpPr>
              <a:spLocks noChangeShapeType="1"/>
            </p:cNvSpPr>
            <p:nvPr/>
          </p:nvSpPr>
          <p:spPr bwMode="auto">
            <a:xfrm>
              <a:off x="3467"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478"/>
            <p:cNvSpPr>
              <a:spLocks noChangeShapeType="1"/>
            </p:cNvSpPr>
            <p:nvPr/>
          </p:nvSpPr>
          <p:spPr bwMode="auto">
            <a:xfrm>
              <a:off x="3369"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 name="Line 479"/>
            <p:cNvSpPr>
              <a:spLocks noChangeShapeType="1"/>
            </p:cNvSpPr>
            <p:nvPr/>
          </p:nvSpPr>
          <p:spPr bwMode="auto">
            <a:xfrm>
              <a:off x="3275"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 name="Line 480"/>
            <p:cNvSpPr>
              <a:spLocks noChangeShapeType="1"/>
            </p:cNvSpPr>
            <p:nvPr/>
          </p:nvSpPr>
          <p:spPr bwMode="auto">
            <a:xfrm>
              <a:off x="4134" y="3451"/>
              <a:ext cx="1" cy="3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 name="Line 482"/>
            <p:cNvSpPr>
              <a:spLocks noChangeShapeType="1"/>
            </p:cNvSpPr>
            <p:nvPr/>
          </p:nvSpPr>
          <p:spPr bwMode="auto">
            <a:xfrm>
              <a:off x="4041"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483"/>
            <p:cNvSpPr>
              <a:spLocks noChangeShapeType="1"/>
            </p:cNvSpPr>
            <p:nvPr/>
          </p:nvSpPr>
          <p:spPr bwMode="auto">
            <a:xfrm>
              <a:off x="3943"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484"/>
            <p:cNvSpPr>
              <a:spLocks noChangeShapeType="1"/>
            </p:cNvSpPr>
            <p:nvPr/>
          </p:nvSpPr>
          <p:spPr bwMode="auto">
            <a:xfrm>
              <a:off x="3849"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Line 485"/>
            <p:cNvSpPr>
              <a:spLocks noChangeShapeType="1"/>
            </p:cNvSpPr>
            <p:nvPr/>
          </p:nvSpPr>
          <p:spPr bwMode="auto">
            <a:xfrm>
              <a:off x="3751"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487"/>
            <p:cNvSpPr>
              <a:spLocks noChangeShapeType="1"/>
            </p:cNvSpPr>
            <p:nvPr/>
          </p:nvSpPr>
          <p:spPr bwMode="auto">
            <a:xfrm flipV="1">
              <a:off x="2226" y="2222"/>
              <a:ext cx="1" cy="122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488"/>
            <p:cNvSpPr>
              <a:spLocks noChangeShapeType="1"/>
            </p:cNvSpPr>
            <p:nvPr/>
          </p:nvSpPr>
          <p:spPr bwMode="auto">
            <a:xfrm flipH="1">
              <a:off x="2188" y="3451"/>
              <a:ext cx="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490"/>
            <p:cNvSpPr>
              <a:spLocks noChangeShapeType="1"/>
            </p:cNvSpPr>
            <p:nvPr/>
          </p:nvSpPr>
          <p:spPr bwMode="auto">
            <a:xfrm flipH="1">
              <a:off x="2188" y="3146"/>
              <a:ext cx="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 name="Line 492"/>
            <p:cNvSpPr>
              <a:spLocks noChangeShapeType="1"/>
            </p:cNvSpPr>
            <p:nvPr/>
          </p:nvSpPr>
          <p:spPr bwMode="auto">
            <a:xfrm flipH="1">
              <a:off x="2207" y="3207"/>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 name="Line 493"/>
            <p:cNvSpPr>
              <a:spLocks noChangeShapeType="1"/>
            </p:cNvSpPr>
            <p:nvPr/>
          </p:nvSpPr>
          <p:spPr bwMode="auto">
            <a:xfrm flipH="1">
              <a:off x="2207" y="3268"/>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 name="Line 494"/>
            <p:cNvSpPr>
              <a:spLocks noChangeShapeType="1"/>
            </p:cNvSpPr>
            <p:nvPr/>
          </p:nvSpPr>
          <p:spPr bwMode="auto">
            <a:xfrm flipH="1">
              <a:off x="2207" y="3329"/>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 name="Line 495"/>
            <p:cNvSpPr>
              <a:spLocks noChangeShapeType="1"/>
            </p:cNvSpPr>
            <p:nvPr/>
          </p:nvSpPr>
          <p:spPr bwMode="auto">
            <a:xfrm flipH="1">
              <a:off x="2207" y="3390"/>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 name="Line 496"/>
            <p:cNvSpPr>
              <a:spLocks noChangeShapeType="1"/>
            </p:cNvSpPr>
            <p:nvPr/>
          </p:nvSpPr>
          <p:spPr bwMode="auto">
            <a:xfrm flipH="1">
              <a:off x="2188" y="2837"/>
              <a:ext cx="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 name="Line 498"/>
            <p:cNvSpPr>
              <a:spLocks noChangeShapeType="1"/>
            </p:cNvSpPr>
            <p:nvPr/>
          </p:nvSpPr>
          <p:spPr bwMode="auto">
            <a:xfrm flipH="1">
              <a:off x="2207" y="2898"/>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 name="Line 499"/>
            <p:cNvSpPr>
              <a:spLocks noChangeShapeType="1"/>
            </p:cNvSpPr>
            <p:nvPr/>
          </p:nvSpPr>
          <p:spPr bwMode="auto">
            <a:xfrm flipH="1">
              <a:off x="2207" y="2958"/>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 name="Line 500"/>
            <p:cNvSpPr>
              <a:spLocks noChangeShapeType="1"/>
            </p:cNvSpPr>
            <p:nvPr/>
          </p:nvSpPr>
          <p:spPr bwMode="auto">
            <a:xfrm flipH="1">
              <a:off x="2207" y="3024"/>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 name="Line 501"/>
            <p:cNvSpPr>
              <a:spLocks noChangeShapeType="1"/>
            </p:cNvSpPr>
            <p:nvPr/>
          </p:nvSpPr>
          <p:spPr bwMode="auto">
            <a:xfrm flipH="1">
              <a:off x="2207" y="3085"/>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 name="Line 502"/>
            <p:cNvSpPr>
              <a:spLocks noChangeShapeType="1"/>
            </p:cNvSpPr>
            <p:nvPr/>
          </p:nvSpPr>
          <p:spPr bwMode="auto">
            <a:xfrm flipH="1">
              <a:off x="2188" y="2532"/>
              <a:ext cx="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Line 504"/>
            <p:cNvSpPr>
              <a:spLocks noChangeShapeType="1"/>
            </p:cNvSpPr>
            <p:nvPr/>
          </p:nvSpPr>
          <p:spPr bwMode="auto">
            <a:xfrm flipH="1">
              <a:off x="2207" y="2593"/>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 name="Line 505"/>
            <p:cNvSpPr>
              <a:spLocks noChangeShapeType="1"/>
            </p:cNvSpPr>
            <p:nvPr/>
          </p:nvSpPr>
          <p:spPr bwMode="auto">
            <a:xfrm flipH="1">
              <a:off x="2207" y="2654"/>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Line 506"/>
            <p:cNvSpPr>
              <a:spLocks noChangeShapeType="1"/>
            </p:cNvSpPr>
            <p:nvPr/>
          </p:nvSpPr>
          <p:spPr bwMode="auto">
            <a:xfrm flipH="1">
              <a:off x="2207" y="2715"/>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 name="Line 507"/>
            <p:cNvSpPr>
              <a:spLocks noChangeShapeType="1"/>
            </p:cNvSpPr>
            <p:nvPr/>
          </p:nvSpPr>
          <p:spPr bwMode="auto">
            <a:xfrm flipH="1">
              <a:off x="2207" y="2776"/>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Line 508"/>
            <p:cNvSpPr>
              <a:spLocks noChangeShapeType="1"/>
            </p:cNvSpPr>
            <p:nvPr/>
          </p:nvSpPr>
          <p:spPr bwMode="auto">
            <a:xfrm flipH="1">
              <a:off x="2188" y="2222"/>
              <a:ext cx="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510"/>
            <p:cNvSpPr>
              <a:spLocks noChangeShapeType="1"/>
            </p:cNvSpPr>
            <p:nvPr/>
          </p:nvSpPr>
          <p:spPr bwMode="auto">
            <a:xfrm flipH="1">
              <a:off x="2207" y="2283"/>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 name="Line 511"/>
            <p:cNvSpPr>
              <a:spLocks noChangeShapeType="1"/>
            </p:cNvSpPr>
            <p:nvPr/>
          </p:nvSpPr>
          <p:spPr bwMode="auto">
            <a:xfrm flipH="1">
              <a:off x="2207" y="2344"/>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 name="Line 512"/>
            <p:cNvSpPr>
              <a:spLocks noChangeShapeType="1"/>
            </p:cNvSpPr>
            <p:nvPr/>
          </p:nvSpPr>
          <p:spPr bwMode="auto">
            <a:xfrm flipH="1">
              <a:off x="2207" y="2405"/>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 name="Line 513"/>
            <p:cNvSpPr>
              <a:spLocks noChangeShapeType="1"/>
            </p:cNvSpPr>
            <p:nvPr/>
          </p:nvSpPr>
          <p:spPr bwMode="auto">
            <a:xfrm flipH="1">
              <a:off x="2207" y="2466"/>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 name="Line 514"/>
            <p:cNvSpPr>
              <a:spLocks noChangeShapeType="1"/>
            </p:cNvSpPr>
            <p:nvPr/>
          </p:nvSpPr>
          <p:spPr bwMode="auto">
            <a:xfrm flipV="1">
              <a:off x="2226" y="3338"/>
              <a:ext cx="1" cy="1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 name="Line 515"/>
            <p:cNvSpPr>
              <a:spLocks noChangeShapeType="1"/>
            </p:cNvSpPr>
            <p:nvPr/>
          </p:nvSpPr>
          <p:spPr bwMode="auto">
            <a:xfrm flipV="1">
              <a:off x="2310" y="3301"/>
              <a:ext cx="1" cy="14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 name="Line 516"/>
            <p:cNvSpPr>
              <a:spLocks noChangeShapeType="1"/>
            </p:cNvSpPr>
            <p:nvPr/>
          </p:nvSpPr>
          <p:spPr bwMode="auto">
            <a:xfrm flipV="1">
              <a:off x="2338" y="3287"/>
              <a:ext cx="1" cy="16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 name="Line 517"/>
            <p:cNvSpPr>
              <a:spLocks noChangeShapeType="1"/>
            </p:cNvSpPr>
            <p:nvPr/>
          </p:nvSpPr>
          <p:spPr bwMode="auto">
            <a:xfrm flipV="1">
              <a:off x="2403" y="3249"/>
              <a:ext cx="1" cy="3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 name="Line 518"/>
            <p:cNvSpPr>
              <a:spLocks noChangeShapeType="1"/>
            </p:cNvSpPr>
            <p:nvPr/>
          </p:nvSpPr>
          <p:spPr bwMode="auto">
            <a:xfrm flipV="1">
              <a:off x="2482" y="3207"/>
              <a:ext cx="1" cy="4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 name="Line 519"/>
            <p:cNvSpPr>
              <a:spLocks noChangeShapeType="1"/>
            </p:cNvSpPr>
            <p:nvPr/>
          </p:nvSpPr>
          <p:spPr bwMode="auto">
            <a:xfrm flipV="1">
              <a:off x="2482" y="3207"/>
              <a:ext cx="1" cy="5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520"/>
            <p:cNvSpPr>
              <a:spLocks noChangeShapeType="1"/>
            </p:cNvSpPr>
            <p:nvPr/>
          </p:nvSpPr>
          <p:spPr bwMode="auto">
            <a:xfrm flipV="1">
              <a:off x="2515" y="3188"/>
              <a:ext cx="1" cy="13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 name="Line 521"/>
            <p:cNvSpPr>
              <a:spLocks noChangeShapeType="1"/>
            </p:cNvSpPr>
            <p:nvPr/>
          </p:nvSpPr>
          <p:spPr bwMode="auto">
            <a:xfrm flipV="1">
              <a:off x="2543" y="3052"/>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522"/>
            <p:cNvSpPr>
              <a:spLocks noChangeShapeType="1"/>
            </p:cNvSpPr>
            <p:nvPr/>
          </p:nvSpPr>
          <p:spPr bwMode="auto">
            <a:xfrm flipV="1">
              <a:off x="2571" y="3160"/>
              <a:ext cx="1" cy="8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 name="Line 523"/>
            <p:cNvSpPr>
              <a:spLocks noChangeShapeType="1"/>
            </p:cNvSpPr>
            <p:nvPr/>
          </p:nvSpPr>
          <p:spPr bwMode="auto">
            <a:xfrm flipV="1">
              <a:off x="2692" y="3024"/>
              <a:ext cx="1" cy="7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8" name="Line 524"/>
            <p:cNvSpPr>
              <a:spLocks noChangeShapeType="1"/>
            </p:cNvSpPr>
            <p:nvPr/>
          </p:nvSpPr>
          <p:spPr bwMode="auto">
            <a:xfrm flipV="1">
              <a:off x="2734" y="3071"/>
              <a:ext cx="1" cy="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9" name="Line 525"/>
            <p:cNvSpPr>
              <a:spLocks noChangeShapeType="1"/>
            </p:cNvSpPr>
            <p:nvPr/>
          </p:nvSpPr>
          <p:spPr bwMode="auto">
            <a:xfrm flipV="1">
              <a:off x="2776" y="3010"/>
              <a:ext cx="1" cy="4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 name="Line 526"/>
            <p:cNvSpPr>
              <a:spLocks noChangeShapeType="1"/>
            </p:cNvSpPr>
            <p:nvPr/>
          </p:nvSpPr>
          <p:spPr bwMode="auto">
            <a:xfrm flipV="1">
              <a:off x="2785" y="3029"/>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 name="Line 527"/>
            <p:cNvSpPr>
              <a:spLocks noChangeShapeType="1"/>
            </p:cNvSpPr>
            <p:nvPr/>
          </p:nvSpPr>
          <p:spPr bwMode="auto">
            <a:xfrm flipV="1">
              <a:off x="2785" y="2926"/>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 name="Line 528"/>
            <p:cNvSpPr>
              <a:spLocks noChangeShapeType="1"/>
            </p:cNvSpPr>
            <p:nvPr/>
          </p:nvSpPr>
          <p:spPr bwMode="auto">
            <a:xfrm flipV="1">
              <a:off x="2809" y="3005"/>
              <a:ext cx="1" cy="2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 name="Line 529"/>
            <p:cNvSpPr>
              <a:spLocks noChangeShapeType="1"/>
            </p:cNvSpPr>
            <p:nvPr/>
          </p:nvSpPr>
          <p:spPr bwMode="auto">
            <a:xfrm flipV="1">
              <a:off x="2827" y="2851"/>
              <a:ext cx="1" cy="17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 name="Line 530"/>
            <p:cNvSpPr>
              <a:spLocks noChangeShapeType="1"/>
            </p:cNvSpPr>
            <p:nvPr/>
          </p:nvSpPr>
          <p:spPr bwMode="auto">
            <a:xfrm flipV="1">
              <a:off x="2832" y="3019"/>
              <a:ext cx="1" cy="14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 name="Line 531"/>
            <p:cNvSpPr>
              <a:spLocks noChangeShapeType="1"/>
            </p:cNvSpPr>
            <p:nvPr/>
          </p:nvSpPr>
          <p:spPr bwMode="auto">
            <a:xfrm flipV="1">
              <a:off x="2846" y="2958"/>
              <a:ext cx="1" cy="5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 name="Line 532"/>
            <p:cNvSpPr>
              <a:spLocks noChangeShapeType="1"/>
            </p:cNvSpPr>
            <p:nvPr/>
          </p:nvSpPr>
          <p:spPr bwMode="auto">
            <a:xfrm flipV="1">
              <a:off x="2855" y="3010"/>
              <a:ext cx="1" cy="2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 name="Line 533"/>
            <p:cNvSpPr>
              <a:spLocks noChangeShapeType="1"/>
            </p:cNvSpPr>
            <p:nvPr/>
          </p:nvSpPr>
          <p:spPr bwMode="auto">
            <a:xfrm flipV="1">
              <a:off x="2860" y="2982"/>
              <a:ext cx="1" cy="2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 name="Line 534"/>
            <p:cNvSpPr>
              <a:spLocks noChangeShapeType="1"/>
            </p:cNvSpPr>
            <p:nvPr/>
          </p:nvSpPr>
          <p:spPr bwMode="auto">
            <a:xfrm flipV="1">
              <a:off x="2869" y="2879"/>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9" name="Line 535"/>
            <p:cNvSpPr>
              <a:spLocks noChangeShapeType="1"/>
            </p:cNvSpPr>
            <p:nvPr/>
          </p:nvSpPr>
          <p:spPr bwMode="auto">
            <a:xfrm flipV="1">
              <a:off x="2874" y="2977"/>
              <a:ext cx="1" cy="2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Line 536"/>
            <p:cNvSpPr>
              <a:spLocks noChangeShapeType="1"/>
            </p:cNvSpPr>
            <p:nvPr/>
          </p:nvSpPr>
          <p:spPr bwMode="auto">
            <a:xfrm flipV="1">
              <a:off x="2902" y="2987"/>
              <a:ext cx="1" cy="13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Line 537"/>
            <p:cNvSpPr>
              <a:spLocks noChangeShapeType="1"/>
            </p:cNvSpPr>
            <p:nvPr/>
          </p:nvSpPr>
          <p:spPr bwMode="auto">
            <a:xfrm flipV="1">
              <a:off x="2911" y="2912"/>
              <a:ext cx="1" cy="7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 name="Line 538"/>
            <p:cNvSpPr>
              <a:spLocks noChangeShapeType="1"/>
            </p:cNvSpPr>
            <p:nvPr/>
          </p:nvSpPr>
          <p:spPr bwMode="auto">
            <a:xfrm flipV="1">
              <a:off x="2921" y="2977"/>
              <a:ext cx="1" cy="24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 name="Line 539"/>
            <p:cNvSpPr>
              <a:spLocks noChangeShapeType="1"/>
            </p:cNvSpPr>
            <p:nvPr/>
          </p:nvSpPr>
          <p:spPr bwMode="auto">
            <a:xfrm flipV="1">
              <a:off x="2925" y="2973"/>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 name="Line 540"/>
            <p:cNvSpPr>
              <a:spLocks noChangeShapeType="1"/>
            </p:cNvSpPr>
            <p:nvPr/>
          </p:nvSpPr>
          <p:spPr bwMode="auto">
            <a:xfrm flipV="1">
              <a:off x="2939" y="2963"/>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 name="Line 541"/>
            <p:cNvSpPr>
              <a:spLocks noChangeShapeType="1"/>
            </p:cNvSpPr>
            <p:nvPr/>
          </p:nvSpPr>
          <p:spPr bwMode="auto">
            <a:xfrm flipV="1">
              <a:off x="2958" y="2954"/>
              <a:ext cx="1" cy="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 name="Line 542"/>
            <p:cNvSpPr>
              <a:spLocks noChangeShapeType="1"/>
            </p:cNvSpPr>
            <p:nvPr/>
          </p:nvSpPr>
          <p:spPr bwMode="auto">
            <a:xfrm flipV="1">
              <a:off x="2963" y="2766"/>
              <a:ext cx="1" cy="18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 name="Line 543"/>
            <p:cNvSpPr>
              <a:spLocks noChangeShapeType="1"/>
            </p:cNvSpPr>
            <p:nvPr/>
          </p:nvSpPr>
          <p:spPr bwMode="auto">
            <a:xfrm flipV="1">
              <a:off x="2967" y="2949"/>
              <a:ext cx="1" cy="5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8" name="Line 544"/>
            <p:cNvSpPr>
              <a:spLocks noChangeShapeType="1"/>
            </p:cNvSpPr>
            <p:nvPr/>
          </p:nvSpPr>
          <p:spPr bwMode="auto">
            <a:xfrm flipV="1">
              <a:off x="2977" y="2837"/>
              <a:ext cx="1" cy="10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9" name="Line 545"/>
            <p:cNvSpPr>
              <a:spLocks noChangeShapeType="1"/>
            </p:cNvSpPr>
            <p:nvPr/>
          </p:nvSpPr>
          <p:spPr bwMode="auto">
            <a:xfrm flipV="1">
              <a:off x="2977" y="2944"/>
              <a:ext cx="1" cy="9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0" name="Line 546"/>
            <p:cNvSpPr>
              <a:spLocks noChangeShapeType="1"/>
            </p:cNvSpPr>
            <p:nvPr/>
          </p:nvSpPr>
          <p:spPr bwMode="auto">
            <a:xfrm flipV="1">
              <a:off x="2981" y="2944"/>
              <a:ext cx="1" cy="5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1" name="Line 547"/>
            <p:cNvSpPr>
              <a:spLocks noChangeShapeType="1"/>
            </p:cNvSpPr>
            <p:nvPr/>
          </p:nvSpPr>
          <p:spPr bwMode="auto">
            <a:xfrm flipV="1">
              <a:off x="2991" y="2851"/>
              <a:ext cx="1" cy="8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2" name="Line 548"/>
            <p:cNvSpPr>
              <a:spLocks noChangeShapeType="1"/>
            </p:cNvSpPr>
            <p:nvPr/>
          </p:nvSpPr>
          <p:spPr bwMode="auto">
            <a:xfrm flipV="1">
              <a:off x="2995" y="2935"/>
              <a:ext cx="1" cy="2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 name="Line 549"/>
            <p:cNvSpPr>
              <a:spLocks noChangeShapeType="1"/>
            </p:cNvSpPr>
            <p:nvPr/>
          </p:nvSpPr>
          <p:spPr bwMode="auto">
            <a:xfrm flipV="1">
              <a:off x="3000" y="2935"/>
              <a:ext cx="1" cy="6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 name="Line 550"/>
            <p:cNvSpPr>
              <a:spLocks noChangeShapeType="1"/>
            </p:cNvSpPr>
            <p:nvPr/>
          </p:nvSpPr>
          <p:spPr bwMode="auto">
            <a:xfrm flipV="1">
              <a:off x="3009" y="2926"/>
              <a:ext cx="1" cy="5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 name="Line 551"/>
            <p:cNvSpPr>
              <a:spLocks noChangeShapeType="1"/>
            </p:cNvSpPr>
            <p:nvPr/>
          </p:nvSpPr>
          <p:spPr bwMode="auto">
            <a:xfrm flipV="1">
              <a:off x="3014" y="2926"/>
              <a:ext cx="1" cy="4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6" name="Line 552"/>
            <p:cNvSpPr>
              <a:spLocks noChangeShapeType="1"/>
            </p:cNvSpPr>
            <p:nvPr/>
          </p:nvSpPr>
          <p:spPr bwMode="auto">
            <a:xfrm flipV="1">
              <a:off x="3023" y="2804"/>
              <a:ext cx="1" cy="11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7" name="Line 553"/>
            <p:cNvSpPr>
              <a:spLocks noChangeShapeType="1"/>
            </p:cNvSpPr>
            <p:nvPr/>
          </p:nvSpPr>
          <p:spPr bwMode="auto">
            <a:xfrm flipV="1">
              <a:off x="3028" y="2916"/>
              <a:ext cx="1" cy="8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8" name="Line 554"/>
            <p:cNvSpPr>
              <a:spLocks noChangeShapeType="1"/>
            </p:cNvSpPr>
            <p:nvPr/>
          </p:nvSpPr>
          <p:spPr bwMode="auto">
            <a:xfrm flipV="1">
              <a:off x="3028" y="2808"/>
              <a:ext cx="1" cy="10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 name="Line 555"/>
            <p:cNvSpPr>
              <a:spLocks noChangeShapeType="1"/>
            </p:cNvSpPr>
            <p:nvPr/>
          </p:nvSpPr>
          <p:spPr bwMode="auto">
            <a:xfrm flipV="1">
              <a:off x="3037" y="2860"/>
              <a:ext cx="1" cy="5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0" name="Line 556"/>
            <p:cNvSpPr>
              <a:spLocks noChangeShapeType="1"/>
            </p:cNvSpPr>
            <p:nvPr/>
          </p:nvSpPr>
          <p:spPr bwMode="auto">
            <a:xfrm flipV="1">
              <a:off x="3042" y="2855"/>
              <a:ext cx="1" cy="5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 name="Line 557"/>
            <p:cNvSpPr>
              <a:spLocks noChangeShapeType="1"/>
            </p:cNvSpPr>
            <p:nvPr/>
          </p:nvSpPr>
          <p:spPr bwMode="auto">
            <a:xfrm flipV="1">
              <a:off x="3047" y="2832"/>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2" name="Line 558"/>
            <p:cNvSpPr>
              <a:spLocks noChangeShapeType="1"/>
            </p:cNvSpPr>
            <p:nvPr/>
          </p:nvSpPr>
          <p:spPr bwMode="auto">
            <a:xfrm flipV="1">
              <a:off x="3051" y="2907"/>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3" name="Line 559"/>
            <p:cNvSpPr>
              <a:spLocks noChangeShapeType="1"/>
            </p:cNvSpPr>
            <p:nvPr/>
          </p:nvSpPr>
          <p:spPr bwMode="auto">
            <a:xfrm flipV="1">
              <a:off x="3056" y="2902"/>
              <a:ext cx="1" cy="8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 name="Line 560"/>
            <p:cNvSpPr>
              <a:spLocks noChangeShapeType="1"/>
            </p:cNvSpPr>
            <p:nvPr/>
          </p:nvSpPr>
          <p:spPr bwMode="auto">
            <a:xfrm flipV="1">
              <a:off x="3065" y="2696"/>
              <a:ext cx="1" cy="20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5" name="Line 561"/>
            <p:cNvSpPr>
              <a:spLocks noChangeShapeType="1"/>
            </p:cNvSpPr>
            <p:nvPr/>
          </p:nvSpPr>
          <p:spPr bwMode="auto">
            <a:xfrm flipV="1">
              <a:off x="3075" y="2818"/>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 name="Line 562"/>
            <p:cNvSpPr>
              <a:spLocks noChangeShapeType="1"/>
            </p:cNvSpPr>
            <p:nvPr/>
          </p:nvSpPr>
          <p:spPr bwMode="auto">
            <a:xfrm flipV="1">
              <a:off x="3089" y="2883"/>
              <a:ext cx="1" cy="7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7" name="Line 563"/>
            <p:cNvSpPr>
              <a:spLocks noChangeShapeType="1"/>
            </p:cNvSpPr>
            <p:nvPr/>
          </p:nvSpPr>
          <p:spPr bwMode="auto">
            <a:xfrm flipV="1">
              <a:off x="3089" y="2780"/>
              <a:ext cx="1" cy="10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8" name="Line 564"/>
            <p:cNvSpPr>
              <a:spLocks noChangeShapeType="1"/>
            </p:cNvSpPr>
            <p:nvPr/>
          </p:nvSpPr>
          <p:spPr bwMode="auto">
            <a:xfrm flipV="1">
              <a:off x="3103" y="2879"/>
              <a:ext cx="1" cy="2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9" name="Line 565"/>
            <p:cNvSpPr>
              <a:spLocks noChangeShapeType="1"/>
            </p:cNvSpPr>
            <p:nvPr/>
          </p:nvSpPr>
          <p:spPr bwMode="auto">
            <a:xfrm flipV="1">
              <a:off x="3112" y="2794"/>
              <a:ext cx="1" cy="8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0" name="Line 566"/>
            <p:cNvSpPr>
              <a:spLocks noChangeShapeType="1"/>
            </p:cNvSpPr>
            <p:nvPr/>
          </p:nvSpPr>
          <p:spPr bwMode="auto">
            <a:xfrm flipV="1">
              <a:off x="3121" y="2804"/>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 name="Line 567"/>
            <p:cNvSpPr>
              <a:spLocks noChangeShapeType="1"/>
            </p:cNvSpPr>
            <p:nvPr/>
          </p:nvSpPr>
          <p:spPr bwMode="auto">
            <a:xfrm flipV="1">
              <a:off x="3135" y="2804"/>
              <a:ext cx="1" cy="5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2" name="Line 568"/>
            <p:cNvSpPr>
              <a:spLocks noChangeShapeType="1"/>
            </p:cNvSpPr>
            <p:nvPr/>
          </p:nvSpPr>
          <p:spPr bwMode="auto">
            <a:xfrm flipV="1">
              <a:off x="3135" y="2860"/>
              <a:ext cx="1" cy="10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3" name="Line 569"/>
            <p:cNvSpPr>
              <a:spLocks noChangeShapeType="1"/>
            </p:cNvSpPr>
            <p:nvPr/>
          </p:nvSpPr>
          <p:spPr bwMode="auto">
            <a:xfrm flipV="1">
              <a:off x="3168" y="2841"/>
              <a:ext cx="1" cy="6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 name="Line 570"/>
            <p:cNvSpPr>
              <a:spLocks noChangeShapeType="1"/>
            </p:cNvSpPr>
            <p:nvPr/>
          </p:nvSpPr>
          <p:spPr bwMode="auto">
            <a:xfrm flipV="1">
              <a:off x="3168" y="2841"/>
              <a:ext cx="1" cy="5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 name="Line 571"/>
            <p:cNvSpPr>
              <a:spLocks noChangeShapeType="1"/>
            </p:cNvSpPr>
            <p:nvPr/>
          </p:nvSpPr>
          <p:spPr bwMode="auto">
            <a:xfrm flipV="1">
              <a:off x="3173" y="2804"/>
              <a:ext cx="1" cy="3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6" name="Line 572"/>
            <p:cNvSpPr>
              <a:spLocks noChangeShapeType="1"/>
            </p:cNvSpPr>
            <p:nvPr/>
          </p:nvSpPr>
          <p:spPr bwMode="auto">
            <a:xfrm flipV="1">
              <a:off x="3177" y="2804"/>
              <a:ext cx="1" cy="3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7" name="Line 573"/>
            <p:cNvSpPr>
              <a:spLocks noChangeShapeType="1"/>
            </p:cNvSpPr>
            <p:nvPr/>
          </p:nvSpPr>
          <p:spPr bwMode="auto">
            <a:xfrm flipV="1">
              <a:off x="3182" y="2794"/>
              <a:ext cx="1" cy="4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8" name="Line 574"/>
            <p:cNvSpPr>
              <a:spLocks noChangeShapeType="1"/>
            </p:cNvSpPr>
            <p:nvPr/>
          </p:nvSpPr>
          <p:spPr bwMode="auto">
            <a:xfrm flipV="1">
              <a:off x="3187" y="2832"/>
              <a:ext cx="1" cy="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9" name="Line 575"/>
            <p:cNvSpPr>
              <a:spLocks noChangeShapeType="1"/>
            </p:cNvSpPr>
            <p:nvPr/>
          </p:nvSpPr>
          <p:spPr bwMode="auto">
            <a:xfrm flipV="1">
              <a:off x="3201" y="2719"/>
              <a:ext cx="1" cy="10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0" name="Line 576"/>
            <p:cNvSpPr>
              <a:spLocks noChangeShapeType="1"/>
            </p:cNvSpPr>
            <p:nvPr/>
          </p:nvSpPr>
          <p:spPr bwMode="auto">
            <a:xfrm flipV="1">
              <a:off x="3205" y="2822"/>
              <a:ext cx="1" cy="1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1" name="Line 577"/>
            <p:cNvSpPr>
              <a:spLocks noChangeShapeType="1"/>
            </p:cNvSpPr>
            <p:nvPr/>
          </p:nvSpPr>
          <p:spPr bwMode="auto">
            <a:xfrm flipV="1">
              <a:off x="3205" y="2794"/>
              <a:ext cx="1" cy="2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2" name="Line 578"/>
            <p:cNvSpPr>
              <a:spLocks noChangeShapeType="1"/>
            </p:cNvSpPr>
            <p:nvPr/>
          </p:nvSpPr>
          <p:spPr bwMode="auto">
            <a:xfrm flipV="1">
              <a:off x="3205" y="2808"/>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 name="Line 579"/>
            <p:cNvSpPr>
              <a:spLocks noChangeShapeType="1"/>
            </p:cNvSpPr>
            <p:nvPr/>
          </p:nvSpPr>
          <p:spPr bwMode="auto">
            <a:xfrm flipV="1">
              <a:off x="3210" y="2808"/>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 name="Line 580"/>
            <p:cNvSpPr>
              <a:spLocks noChangeShapeType="1"/>
            </p:cNvSpPr>
            <p:nvPr/>
          </p:nvSpPr>
          <p:spPr bwMode="auto">
            <a:xfrm flipV="1">
              <a:off x="3210" y="2822"/>
              <a:ext cx="1" cy="16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 name="Line 581"/>
            <p:cNvSpPr>
              <a:spLocks noChangeShapeType="1"/>
            </p:cNvSpPr>
            <p:nvPr/>
          </p:nvSpPr>
          <p:spPr bwMode="auto">
            <a:xfrm flipV="1">
              <a:off x="3215" y="2691"/>
              <a:ext cx="1" cy="12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582"/>
            <p:cNvSpPr>
              <a:spLocks noChangeShapeType="1"/>
            </p:cNvSpPr>
            <p:nvPr/>
          </p:nvSpPr>
          <p:spPr bwMode="auto">
            <a:xfrm flipV="1">
              <a:off x="3215" y="2818"/>
              <a:ext cx="1" cy="2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583"/>
            <p:cNvSpPr>
              <a:spLocks noChangeShapeType="1"/>
            </p:cNvSpPr>
            <p:nvPr/>
          </p:nvSpPr>
          <p:spPr bwMode="auto">
            <a:xfrm flipV="1">
              <a:off x="3219" y="2743"/>
              <a:ext cx="1" cy="7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Line 584"/>
            <p:cNvSpPr>
              <a:spLocks noChangeShapeType="1"/>
            </p:cNvSpPr>
            <p:nvPr/>
          </p:nvSpPr>
          <p:spPr bwMode="auto">
            <a:xfrm flipV="1">
              <a:off x="3229" y="2813"/>
              <a:ext cx="1" cy="5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9" name="Line 585"/>
            <p:cNvSpPr>
              <a:spLocks noChangeShapeType="1"/>
            </p:cNvSpPr>
            <p:nvPr/>
          </p:nvSpPr>
          <p:spPr bwMode="auto">
            <a:xfrm flipV="1">
              <a:off x="3229" y="2762"/>
              <a:ext cx="1" cy="5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0" name="Line 586"/>
            <p:cNvSpPr>
              <a:spLocks noChangeShapeType="1"/>
            </p:cNvSpPr>
            <p:nvPr/>
          </p:nvSpPr>
          <p:spPr bwMode="auto">
            <a:xfrm flipV="1">
              <a:off x="3229" y="2747"/>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1" name="Line 587"/>
            <p:cNvSpPr>
              <a:spLocks noChangeShapeType="1"/>
            </p:cNvSpPr>
            <p:nvPr/>
          </p:nvSpPr>
          <p:spPr bwMode="auto">
            <a:xfrm flipV="1">
              <a:off x="3233" y="2804"/>
              <a:ext cx="1" cy="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2" name="Line 588"/>
            <p:cNvSpPr>
              <a:spLocks noChangeShapeType="1"/>
            </p:cNvSpPr>
            <p:nvPr/>
          </p:nvSpPr>
          <p:spPr bwMode="auto">
            <a:xfrm flipV="1">
              <a:off x="3233" y="2808"/>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3" name="Line 589"/>
            <p:cNvSpPr>
              <a:spLocks noChangeShapeType="1"/>
            </p:cNvSpPr>
            <p:nvPr/>
          </p:nvSpPr>
          <p:spPr bwMode="auto">
            <a:xfrm flipV="1">
              <a:off x="3247" y="2640"/>
              <a:ext cx="1" cy="15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 name="Line 590"/>
            <p:cNvSpPr>
              <a:spLocks noChangeShapeType="1"/>
            </p:cNvSpPr>
            <p:nvPr/>
          </p:nvSpPr>
          <p:spPr bwMode="auto">
            <a:xfrm flipV="1">
              <a:off x="3261" y="2518"/>
              <a:ext cx="1" cy="27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 name="Line 591"/>
            <p:cNvSpPr>
              <a:spLocks noChangeShapeType="1"/>
            </p:cNvSpPr>
            <p:nvPr/>
          </p:nvSpPr>
          <p:spPr bwMode="auto">
            <a:xfrm flipV="1">
              <a:off x="3261" y="2794"/>
              <a:ext cx="1" cy="11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 name="Line 592"/>
            <p:cNvSpPr>
              <a:spLocks noChangeShapeType="1"/>
            </p:cNvSpPr>
            <p:nvPr/>
          </p:nvSpPr>
          <p:spPr bwMode="auto">
            <a:xfrm flipV="1">
              <a:off x="3261" y="2794"/>
              <a:ext cx="1" cy="8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 name="Line 593"/>
            <p:cNvSpPr>
              <a:spLocks noChangeShapeType="1"/>
            </p:cNvSpPr>
            <p:nvPr/>
          </p:nvSpPr>
          <p:spPr bwMode="auto">
            <a:xfrm flipV="1">
              <a:off x="3285" y="2719"/>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8" name="Line 594"/>
            <p:cNvSpPr>
              <a:spLocks noChangeShapeType="1"/>
            </p:cNvSpPr>
            <p:nvPr/>
          </p:nvSpPr>
          <p:spPr bwMode="auto">
            <a:xfrm flipV="1">
              <a:off x="3294" y="2776"/>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9" name="Line 595"/>
            <p:cNvSpPr>
              <a:spLocks noChangeShapeType="1"/>
            </p:cNvSpPr>
            <p:nvPr/>
          </p:nvSpPr>
          <p:spPr bwMode="auto">
            <a:xfrm flipV="1">
              <a:off x="3299" y="2729"/>
              <a:ext cx="1" cy="4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0" name="Line 596"/>
            <p:cNvSpPr>
              <a:spLocks noChangeShapeType="1"/>
            </p:cNvSpPr>
            <p:nvPr/>
          </p:nvSpPr>
          <p:spPr bwMode="auto">
            <a:xfrm flipV="1">
              <a:off x="3299" y="2771"/>
              <a:ext cx="1" cy="8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1" name="Line 597"/>
            <p:cNvSpPr>
              <a:spLocks noChangeShapeType="1"/>
            </p:cNvSpPr>
            <p:nvPr/>
          </p:nvSpPr>
          <p:spPr bwMode="auto">
            <a:xfrm flipV="1">
              <a:off x="3303" y="2696"/>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2" name="Line 598"/>
            <p:cNvSpPr>
              <a:spLocks noChangeShapeType="1"/>
            </p:cNvSpPr>
            <p:nvPr/>
          </p:nvSpPr>
          <p:spPr bwMode="auto">
            <a:xfrm flipV="1">
              <a:off x="3303" y="2654"/>
              <a:ext cx="1" cy="11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 name="Line 599"/>
            <p:cNvSpPr>
              <a:spLocks noChangeShapeType="1"/>
            </p:cNvSpPr>
            <p:nvPr/>
          </p:nvSpPr>
          <p:spPr bwMode="auto">
            <a:xfrm flipV="1">
              <a:off x="3308" y="2766"/>
              <a:ext cx="1" cy="3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 name="Line 600"/>
            <p:cNvSpPr>
              <a:spLocks noChangeShapeType="1"/>
            </p:cNvSpPr>
            <p:nvPr/>
          </p:nvSpPr>
          <p:spPr bwMode="auto">
            <a:xfrm flipV="1">
              <a:off x="3322" y="2729"/>
              <a:ext cx="1" cy="3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 name="Line 601"/>
            <p:cNvSpPr>
              <a:spLocks noChangeShapeType="1"/>
            </p:cNvSpPr>
            <p:nvPr/>
          </p:nvSpPr>
          <p:spPr bwMode="auto">
            <a:xfrm flipV="1">
              <a:off x="3350" y="2747"/>
              <a:ext cx="1" cy="5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 name="Line 602"/>
            <p:cNvSpPr>
              <a:spLocks noChangeShapeType="1"/>
            </p:cNvSpPr>
            <p:nvPr/>
          </p:nvSpPr>
          <p:spPr bwMode="auto">
            <a:xfrm flipV="1">
              <a:off x="3350" y="2593"/>
              <a:ext cx="1" cy="15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7" name="Line 603"/>
            <p:cNvSpPr>
              <a:spLocks noChangeShapeType="1"/>
            </p:cNvSpPr>
            <p:nvPr/>
          </p:nvSpPr>
          <p:spPr bwMode="auto">
            <a:xfrm flipV="1">
              <a:off x="3355" y="2743"/>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 name="Line 604"/>
            <p:cNvSpPr>
              <a:spLocks noChangeShapeType="1"/>
            </p:cNvSpPr>
            <p:nvPr/>
          </p:nvSpPr>
          <p:spPr bwMode="auto">
            <a:xfrm flipV="1">
              <a:off x="3355" y="2640"/>
              <a:ext cx="1" cy="10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9" name="Line 605"/>
            <p:cNvSpPr>
              <a:spLocks noChangeShapeType="1"/>
            </p:cNvSpPr>
            <p:nvPr/>
          </p:nvSpPr>
          <p:spPr bwMode="auto">
            <a:xfrm flipV="1">
              <a:off x="3359" y="2682"/>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 name="Line 606"/>
            <p:cNvSpPr>
              <a:spLocks noChangeShapeType="1"/>
            </p:cNvSpPr>
            <p:nvPr/>
          </p:nvSpPr>
          <p:spPr bwMode="auto">
            <a:xfrm flipV="1">
              <a:off x="3364" y="2705"/>
              <a:ext cx="1" cy="3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1" name="Line 607"/>
            <p:cNvSpPr>
              <a:spLocks noChangeShapeType="1"/>
            </p:cNvSpPr>
            <p:nvPr/>
          </p:nvSpPr>
          <p:spPr bwMode="auto">
            <a:xfrm flipV="1">
              <a:off x="3364" y="2738"/>
              <a:ext cx="1" cy="22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2" name="Line 608"/>
            <p:cNvSpPr>
              <a:spLocks noChangeShapeType="1"/>
            </p:cNvSpPr>
            <p:nvPr/>
          </p:nvSpPr>
          <p:spPr bwMode="auto">
            <a:xfrm flipV="1">
              <a:off x="3369" y="2733"/>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3" name="Line 609"/>
            <p:cNvSpPr>
              <a:spLocks noChangeShapeType="1"/>
            </p:cNvSpPr>
            <p:nvPr/>
          </p:nvSpPr>
          <p:spPr bwMode="auto">
            <a:xfrm flipV="1">
              <a:off x="3373" y="2733"/>
              <a:ext cx="1" cy="7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4" name="Line 610"/>
            <p:cNvSpPr>
              <a:spLocks noChangeShapeType="1"/>
            </p:cNvSpPr>
            <p:nvPr/>
          </p:nvSpPr>
          <p:spPr bwMode="auto">
            <a:xfrm flipV="1">
              <a:off x="3378" y="2682"/>
              <a:ext cx="1" cy="5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 name="Line 611"/>
            <p:cNvSpPr>
              <a:spLocks noChangeShapeType="1"/>
            </p:cNvSpPr>
            <p:nvPr/>
          </p:nvSpPr>
          <p:spPr bwMode="auto">
            <a:xfrm flipV="1">
              <a:off x="3387" y="2597"/>
              <a:ext cx="1" cy="13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 name="Line 612"/>
            <p:cNvSpPr>
              <a:spLocks noChangeShapeType="1"/>
            </p:cNvSpPr>
            <p:nvPr/>
          </p:nvSpPr>
          <p:spPr bwMode="auto">
            <a:xfrm flipV="1">
              <a:off x="3392" y="2663"/>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7" name="Line 613"/>
            <p:cNvSpPr>
              <a:spLocks noChangeShapeType="1"/>
            </p:cNvSpPr>
            <p:nvPr/>
          </p:nvSpPr>
          <p:spPr bwMode="auto">
            <a:xfrm flipV="1">
              <a:off x="3401" y="2658"/>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8" name="Line 614"/>
            <p:cNvSpPr>
              <a:spLocks noChangeShapeType="1"/>
            </p:cNvSpPr>
            <p:nvPr/>
          </p:nvSpPr>
          <p:spPr bwMode="auto">
            <a:xfrm flipV="1">
              <a:off x="3401" y="2719"/>
              <a:ext cx="1" cy="9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9" name="Line 615"/>
            <p:cNvSpPr>
              <a:spLocks noChangeShapeType="1"/>
            </p:cNvSpPr>
            <p:nvPr/>
          </p:nvSpPr>
          <p:spPr bwMode="auto">
            <a:xfrm flipV="1">
              <a:off x="3406" y="2616"/>
              <a:ext cx="1" cy="10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0" name="Line 616"/>
            <p:cNvSpPr>
              <a:spLocks noChangeShapeType="1"/>
            </p:cNvSpPr>
            <p:nvPr/>
          </p:nvSpPr>
          <p:spPr bwMode="auto">
            <a:xfrm flipV="1">
              <a:off x="3415" y="2710"/>
              <a:ext cx="1" cy="4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1" name="Line 617"/>
            <p:cNvSpPr>
              <a:spLocks noChangeShapeType="1"/>
            </p:cNvSpPr>
            <p:nvPr/>
          </p:nvSpPr>
          <p:spPr bwMode="auto">
            <a:xfrm flipV="1">
              <a:off x="3415" y="2710"/>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2" name="Line 618"/>
            <p:cNvSpPr>
              <a:spLocks noChangeShapeType="1"/>
            </p:cNvSpPr>
            <p:nvPr/>
          </p:nvSpPr>
          <p:spPr bwMode="auto">
            <a:xfrm flipV="1">
              <a:off x="3420" y="2588"/>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3" name="Line 619"/>
            <p:cNvSpPr>
              <a:spLocks noChangeShapeType="1"/>
            </p:cNvSpPr>
            <p:nvPr/>
          </p:nvSpPr>
          <p:spPr bwMode="auto">
            <a:xfrm flipV="1">
              <a:off x="3434" y="2611"/>
              <a:ext cx="1" cy="9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4" name="Line 620"/>
            <p:cNvSpPr>
              <a:spLocks noChangeShapeType="1"/>
            </p:cNvSpPr>
            <p:nvPr/>
          </p:nvSpPr>
          <p:spPr bwMode="auto">
            <a:xfrm flipV="1">
              <a:off x="3439" y="2672"/>
              <a:ext cx="1" cy="2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 name="Line 621"/>
            <p:cNvSpPr>
              <a:spLocks noChangeShapeType="1"/>
            </p:cNvSpPr>
            <p:nvPr/>
          </p:nvSpPr>
          <p:spPr bwMode="auto">
            <a:xfrm flipV="1">
              <a:off x="3443" y="2630"/>
              <a:ext cx="1" cy="6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 name="Line 622"/>
            <p:cNvSpPr>
              <a:spLocks noChangeShapeType="1"/>
            </p:cNvSpPr>
            <p:nvPr/>
          </p:nvSpPr>
          <p:spPr bwMode="auto">
            <a:xfrm flipV="1">
              <a:off x="3443" y="2696"/>
              <a:ext cx="1" cy="18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 name="Line 623"/>
            <p:cNvSpPr>
              <a:spLocks noChangeShapeType="1"/>
            </p:cNvSpPr>
            <p:nvPr/>
          </p:nvSpPr>
          <p:spPr bwMode="auto">
            <a:xfrm flipV="1">
              <a:off x="3448" y="2691"/>
              <a:ext cx="1" cy="5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8" name="Line 624"/>
            <p:cNvSpPr>
              <a:spLocks noChangeShapeType="1"/>
            </p:cNvSpPr>
            <p:nvPr/>
          </p:nvSpPr>
          <p:spPr bwMode="auto">
            <a:xfrm flipV="1">
              <a:off x="3453" y="2691"/>
              <a:ext cx="1" cy="3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9" name="Line 625"/>
            <p:cNvSpPr>
              <a:spLocks noChangeShapeType="1"/>
            </p:cNvSpPr>
            <p:nvPr/>
          </p:nvSpPr>
          <p:spPr bwMode="auto">
            <a:xfrm flipV="1">
              <a:off x="3467" y="2686"/>
              <a:ext cx="1" cy="2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0" name="Line 626"/>
            <p:cNvSpPr>
              <a:spLocks noChangeShapeType="1"/>
            </p:cNvSpPr>
            <p:nvPr/>
          </p:nvSpPr>
          <p:spPr bwMode="auto">
            <a:xfrm flipV="1">
              <a:off x="3476" y="2677"/>
              <a:ext cx="1" cy="13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1" name="Line 627"/>
            <p:cNvSpPr>
              <a:spLocks noChangeShapeType="1"/>
            </p:cNvSpPr>
            <p:nvPr/>
          </p:nvSpPr>
          <p:spPr bwMode="auto">
            <a:xfrm flipV="1">
              <a:off x="3476" y="2579"/>
              <a:ext cx="1" cy="9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 name="Line 628"/>
            <p:cNvSpPr>
              <a:spLocks noChangeShapeType="1"/>
            </p:cNvSpPr>
            <p:nvPr/>
          </p:nvSpPr>
          <p:spPr bwMode="auto">
            <a:xfrm flipV="1">
              <a:off x="3485" y="2672"/>
              <a:ext cx="1" cy="9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 name="Line 629"/>
            <p:cNvSpPr>
              <a:spLocks noChangeShapeType="1"/>
            </p:cNvSpPr>
            <p:nvPr/>
          </p:nvSpPr>
          <p:spPr bwMode="auto">
            <a:xfrm flipV="1">
              <a:off x="3485" y="2672"/>
              <a:ext cx="1" cy="8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4" name="Line 630"/>
            <p:cNvSpPr>
              <a:spLocks noChangeShapeType="1"/>
            </p:cNvSpPr>
            <p:nvPr/>
          </p:nvSpPr>
          <p:spPr bwMode="auto">
            <a:xfrm flipV="1">
              <a:off x="3495" y="2668"/>
              <a:ext cx="1" cy="27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 name="Line 631"/>
            <p:cNvSpPr>
              <a:spLocks noChangeShapeType="1"/>
            </p:cNvSpPr>
            <p:nvPr/>
          </p:nvSpPr>
          <p:spPr bwMode="auto">
            <a:xfrm flipV="1">
              <a:off x="3495" y="2668"/>
              <a:ext cx="1" cy="22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 name="Line 632"/>
            <p:cNvSpPr>
              <a:spLocks noChangeShapeType="1"/>
            </p:cNvSpPr>
            <p:nvPr/>
          </p:nvSpPr>
          <p:spPr bwMode="auto">
            <a:xfrm flipV="1">
              <a:off x="3504" y="2663"/>
              <a:ext cx="1" cy="11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 name="Line 633"/>
            <p:cNvSpPr>
              <a:spLocks noChangeShapeType="1"/>
            </p:cNvSpPr>
            <p:nvPr/>
          </p:nvSpPr>
          <p:spPr bwMode="auto">
            <a:xfrm flipV="1">
              <a:off x="3518" y="2532"/>
              <a:ext cx="1" cy="12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8" name="Line 634"/>
            <p:cNvSpPr>
              <a:spLocks noChangeShapeType="1"/>
            </p:cNvSpPr>
            <p:nvPr/>
          </p:nvSpPr>
          <p:spPr bwMode="auto">
            <a:xfrm flipV="1">
              <a:off x="3518" y="2658"/>
              <a:ext cx="1" cy="30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9" name="Line 635"/>
            <p:cNvSpPr>
              <a:spLocks noChangeShapeType="1"/>
            </p:cNvSpPr>
            <p:nvPr/>
          </p:nvSpPr>
          <p:spPr bwMode="auto">
            <a:xfrm flipV="1">
              <a:off x="3518" y="2658"/>
              <a:ext cx="1" cy="4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0" name="Line 636"/>
            <p:cNvSpPr>
              <a:spLocks noChangeShapeType="1"/>
            </p:cNvSpPr>
            <p:nvPr/>
          </p:nvSpPr>
          <p:spPr bwMode="auto">
            <a:xfrm flipV="1">
              <a:off x="3518" y="2654"/>
              <a:ext cx="1" cy="11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1" name="Line 637"/>
            <p:cNvSpPr>
              <a:spLocks noChangeShapeType="1"/>
            </p:cNvSpPr>
            <p:nvPr/>
          </p:nvSpPr>
          <p:spPr bwMode="auto">
            <a:xfrm flipV="1">
              <a:off x="3532" y="2649"/>
              <a:ext cx="1" cy="12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2" name="Line 638"/>
            <p:cNvSpPr>
              <a:spLocks noChangeShapeType="1"/>
            </p:cNvSpPr>
            <p:nvPr/>
          </p:nvSpPr>
          <p:spPr bwMode="auto">
            <a:xfrm flipV="1">
              <a:off x="3541" y="2522"/>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3" name="Line 639"/>
            <p:cNvSpPr>
              <a:spLocks noChangeShapeType="1"/>
            </p:cNvSpPr>
            <p:nvPr/>
          </p:nvSpPr>
          <p:spPr bwMode="auto">
            <a:xfrm flipV="1">
              <a:off x="3569" y="2630"/>
              <a:ext cx="1" cy="4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4" name="Line 640"/>
            <p:cNvSpPr>
              <a:spLocks noChangeShapeType="1"/>
            </p:cNvSpPr>
            <p:nvPr/>
          </p:nvSpPr>
          <p:spPr bwMode="auto">
            <a:xfrm flipV="1">
              <a:off x="3583" y="2583"/>
              <a:ext cx="1" cy="3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5" name="Line 641"/>
            <p:cNvSpPr>
              <a:spLocks noChangeShapeType="1"/>
            </p:cNvSpPr>
            <p:nvPr/>
          </p:nvSpPr>
          <p:spPr bwMode="auto">
            <a:xfrm flipV="1">
              <a:off x="3593" y="2616"/>
              <a:ext cx="1" cy="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 name="Line 642"/>
            <p:cNvSpPr>
              <a:spLocks noChangeShapeType="1"/>
            </p:cNvSpPr>
            <p:nvPr/>
          </p:nvSpPr>
          <p:spPr bwMode="auto">
            <a:xfrm flipV="1">
              <a:off x="3607" y="2611"/>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 name="Line 643"/>
            <p:cNvSpPr>
              <a:spLocks noChangeShapeType="1"/>
            </p:cNvSpPr>
            <p:nvPr/>
          </p:nvSpPr>
          <p:spPr bwMode="auto">
            <a:xfrm flipV="1">
              <a:off x="3616" y="2527"/>
              <a:ext cx="1" cy="8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 name="Line 644"/>
            <p:cNvSpPr>
              <a:spLocks noChangeShapeType="1"/>
            </p:cNvSpPr>
            <p:nvPr/>
          </p:nvSpPr>
          <p:spPr bwMode="auto">
            <a:xfrm flipV="1">
              <a:off x="3616" y="2583"/>
              <a:ext cx="1" cy="2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 name="Line 645"/>
            <p:cNvSpPr>
              <a:spLocks noChangeShapeType="1"/>
            </p:cNvSpPr>
            <p:nvPr/>
          </p:nvSpPr>
          <p:spPr bwMode="auto">
            <a:xfrm flipV="1">
              <a:off x="3625" y="2443"/>
              <a:ext cx="1" cy="15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 name="Line 646"/>
            <p:cNvSpPr>
              <a:spLocks noChangeShapeType="1"/>
            </p:cNvSpPr>
            <p:nvPr/>
          </p:nvSpPr>
          <p:spPr bwMode="auto">
            <a:xfrm flipV="1">
              <a:off x="3630" y="2555"/>
              <a:ext cx="1" cy="4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 name="Line 647"/>
            <p:cNvSpPr>
              <a:spLocks noChangeShapeType="1"/>
            </p:cNvSpPr>
            <p:nvPr/>
          </p:nvSpPr>
          <p:spPr bwMode="auto">
            <a:xfrm flipV="1">
              <a:off x="3649" y="2513"/>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2" name="Line 648"/>
            <p:cNvSpPr>
              <a:spLocks noChangeShapeType="1"/>
            </p:cNvSpPr>
            <p:nvPr/>
          </p:nvSpPr>
          <p:spPr bwMode="auto">
            <a:xfrm flipV="1">
              <a:off x="3653" y="2438"/>
              <a:ext cx="1" cy="14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 name="Line 649"/>
            <p:cNvSpPr>
              <a:spLocks noChangeShapeType="1"/>
            </p:cNvSpPr>
            <p:nvPr/>
          </p:nvSpPr>
          <p:spPr bwMode="auto">
            <a:xfrm flipV="1">
              <a:off x="3658" y="2508"/>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4" name="Line 650"/>
            <p:cNvSpPr>
              <a:spLocks noChangeShapeType="1"/>
            </p:cNvSpPr>
            <p:nvPr/>
          </p:nvSpPr>
          <p:spPr bwMode="auto">
            <a:xfrm flipV="1">
              <a:off x="3672" y="2513"/>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5" name="Line 652"/>
            <p:cNvSpPr>
              <a:spLocks noChangeShapeType="1"/>
            </p:cNvSpPr>
            <p:nvPr/>
          </p:nvSpPr>
          <p:spPr bwMode="auto">
            <a:xfrm flipV="1">
              <a:off x="3672" y="2471"/>
              <a:ext cx="1" cy="10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 name="Line 653"/>
            <p:cNvSpPr>
              <a:spLocks noChangeShapeType="1"/>
            </p:cNvSpPr>
            <p:nvPr/>
          </p:nvSpPr>
          <p:spPr bwMode="auto">
            <a:xfrm flipV="1">
              <a:off x="3681" y="2569"/>
              <a:ext cx="1" cy="3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 name="Line 654"/>
            <p:cNvSpPr>
              <a:spLocks noChangeShapeType="1"/>
            </p:cNvSpPr>
            <p:nvPr/>
          </p:nvSpPr>
          <p:spPr bwMode="auto">
            <a:xfrm flipV="1">
              <a:off x="3733" y="2541"/>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 name="Line 655"/>
            <p:cNvSpPr>
              <a:spLocks noChangeShapeType="1"/>
            </p:cNvSpPr>
            <p:nvPr/>
          </p:nvSpPr>
          <p:spPr bwMode="auto">
            <a:xfrm flipV="1">
              <a:off x="3737" y="2522"/>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9" name="Line 656"/>
            <p:cNvSpPr>
              <a:spLocks noChangeShapeType="1"/>
            </p:cNvSpPr>
            <p:nvPr/>
          </p:nvSpPr>
          <p:spPr bwMode="auto">
            <a:xfrm flipV="1">
              <a:off x="3742" y="2382"/>
              <a:ext cx="1" cy="15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0" name="Line 657"/>
            <p:cNvSpPr>
              <a:spLocks noChangeShapeType="1"/>
            </p:cNvSpPr>
            <p:nvPr/>
          </p:nvSpPr>
          <p:spPr bwMode="auto">
            <a:xfrm flipV="1">
              <a:off x="3751" y="2532"/>
              <a:ext cx="1" cy="16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1" name="Line 658"/>
            <p:cNvSpPr>
              <a:spLocks noChangeShapeType="1"/>
            </p:cNvSpPr>
            <p:nvPr/>
          </p:nvSpPr>
          <p:spPr bwMode="auto">
            <a:xfrm flipV="1">
              <a:off x="3779" y="2433"/>
              <a:ext cx="1" cy="8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2" name="Line 659"/>
            <p:cNvSpPr>
              <a:spLocks noChangeShapeType="1"/>
            </p:cNvSpPr>
            <p:nvPr/>
          </p:nvSpPr>
          <p:spPr bwMode="auto">
            <a:xfrm flipV="1">
              <a:off x="3784" y="2518"/>
              <a:ext cx="1" cy="3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3" name="Line 660"/>
            <p:cNvSpPr>
              <a:spLocks noChangeShapeType="1"/>
            </p:cNvSpPr>
            <p:nvPr/>
          </p:nvSpPr>
          <p:spPr bwMode="auto">
            <a:xfrm flipV="1">
              <a:off x="3798" y="2494"/>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4" name="Line 661"/>
            <p:cNvSpPr>
              <a:spLocks noChangeShapeType="1"/>
            </p:cNvSpPr>
            <p:nvPr/>
          </p:nvSpPr>
          <p:spPr bwMode="auto">
            <a:xfrm flipV="1">
              <a:off x="3817" y="2489"/>
              <a:ext cx="1" cy="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5" name="Line 662"/>
            <p:cNvSpPr>
              <a:spLocks noChangeShapeType="1"/>
            </p:cNvSpPr>
            <p:nvPr/>
          </p:nvSpPr>
          <p:spPr bwMode="auto">
            <a:xfrm flipV="1">
              <a:off x="3835" y="2466"/>
              <a:ext cx="1" cy="2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 name="Line 663"/>
            <p:cNvSpPr>
              <a:spLocks noChangeShapeType="1"/>
            </p:cNvSpPr>
            <p:nvPr/>
          </p:nvSpPr>
          <p:spPr bwMode="auto">
            <a:xfrm flipV="1">
              <a:off x="3835" y="2485"/>
              <a:ext cx="1" cy="21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 name="Line 664"/>
            <p:cNvSpPr>
              <a:spLocks noChangeShapeType="1"/>
            </p:cNvSpPr>
            <p:nvPr/>
          </p:nvSpPr>
          <p:spPr bwMode="auto">
            <a:xfrm flipV="1">
              <a:off x="3863" y="2475"/>
              <a:ext cx="1" cy="14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 name="Line 665"/>
            <p:cNvSpPr>
              <a:spLocks noChangeShapeType="1"/>
            </p:cNvSpPr>
            <p:nvPr/>
          </p:nvSpPr>
          <p:spPr bwMode="auto">
            <a:xfrm flipV="1">
              <a:off x="3919" y="2382"/>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9" name="Line 666"/>
            <p:cNvSpPr>
              <a:spLocks noChangeShapeType="1"/>
            </p:cNvSpPr>
            <p:nvPr/>
          </p:nvSpPr>
          <p:spPr bwMode="auto">
            <a:xfrm flipV="1">
              <a:off x="3966" y="2419"/>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0" name="Line 667"/>
            <p:cNvSpPr>
              <a:spLocks noChangeShapeType="1"/>
            </p:cNvSpPr>
            <p:nvPr/>
          </p:nvSpPr>
          <p:spPr bwMode="auto">
            <a:xfrm flipV="1">
              <a:off x="3975" y="2410"/>
              <a:ext cx="1" cy="15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1" name="Line 668"/>
            <p:cNvSpPr>
              <a:spLocks noChangeShapeType="1"/>
            </p:cNvSpPr>
            <p:nvPr/>
          </p:nvSpPr>
          <p:spPr bwMode="auto">
            <a:xfrm flipV="1">
              <a:off x="4022" y="2391"/>
              <a:ext cx="1" cy="9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2" name="Line 669"/>
            <p:cNvSpPr>
              <a:spLocks noChangeShapeType="1"/>
            </p:cNvSpPr>
            <p:nvPr/>
          </p:nvSpPr>
          <p:spPr bwMode="auto">
            <a:xfrm flipV="1">
              <a:off x="4073" y="2222"/>
              <a:ext cx="1" cy="14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3" name="Line 670"/>
            <p:cNvSpPr>
              <a:spLocks noChangeShapeType="1"/>
            </p:cNvSpPr>
            <p:nvPr/>
          </p:nvSpPr>
          <p:spPr bwMode="auto">
            <a:xfrm>
              <a:off x="4134" y="2325"/>
              <a:ext cx="1" cy="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4" name="Oval 671"/>
            <p:cNvSpPr>
              <a:spLocks noChangeArrowheads="1"/>
            </p:cNvSpPr>
            <p:nvPr/>
          </p:nvSpPr>
          <p:spPr bwMode="auto">
            <a:xfrm>
              <a:off x="2212" y="3324"/>
              <a:ext cx="28" cy="28"/>
            </a:xfrm>
            <a:prstGeom prst="ellipse">
              <a:avLst/>
            </a:prstGeom>
            <a:solidFill>
              <a:srgbClr val="FFFFFF"/>
            </a:solidFill>
            <a:ln w="7938">
              <a:solidFill>
                <a:srgbClr val="000000"/>
              </a:solidFill>
              <a:round/>
              <a:headEnd/>
              <a:tailEnd/>
            </a:ln>
          </p:spPr>
          <p:txBody>
            <a:bodyPr/>
            <a:lstStyle/>
            <a:p>
              <a:endParaRPr lang="en-US"/>
            </a:p>
          </p:txBody>
        </p:sp>
        <p:sp>
          <p:nvSpPr>
            <p:cNvPr id="285" name="Oval 672"/>
            <p:cNvSpPr>
              <a:spLocks noChangeArrowheads="1"/>
            </p:cNvSpPr>
            <p:nvPr/>
          </p:nvSpPr>
          <p:spPr bwMode="auto">
            <a:xfrm>
              <a:off x="2296" y="3427"/>
              <a:ext cx="28" cy="29"/>
            </a:xfrm>
            <a:prstGeom prst="ellipse">
              <a:avLst/>
            </a:prstGeom>
            <a:solidFill>
              <a:srgbClr val="FFFFFF"/>
            </a:solidFill>
            <a:ln w="7938">
              <a:solidFill>
                <a:srgbClr val="000000"/>
              </a:solidFill>
              <a:round/>
              <a:headEnd/>
              <a:tailEnd/>
            </a:ln>
          </p:spPr>
          <p:txBody>
            <a:bodyPr/>
            <a:lstStyle/>
            <a:p>
              <a:endParaRPr lang="en-US"/>
            </a:p>
          </p:txBody>
        </p:sp>
        <p:sp>
          <p:nvSpPr>
            <p:cNvPr id="286" name="Oval 673"/>
            <p:cNvSpPr>
              <a:spLocks noChangeArrowheads="1"/>
            </p:cNvSpPr>
            <p:nvPr/>
          </p:nvSpPr>
          <p:spPr bwMode="auto">
            <a:xfrm>
              <a:off x="2324" y="3437"/>
              <a:ext cx="28" cy="28"/>
            </a:xfrm>
            <a:prstGeom prst="ellipse">
              <a:avLst/>
            </a:prstGeom>
            <a:solidFill>
              <a:srgbClr val="FFFFFF"/>
            </a:solidFill>
            <a:ln w="7938">
              <a:solidFill>
                <a:srgbClr val="000000"/>
              </a:solidFill>
              <a:round/>
              <a:headEnd/>
              <a:tailEnd/>
            </a:ln>
          </p:spPr>
          <p:txBody>
            <a:bodyPr/>
            <a:lstStyle/>
            <a:p>
              <a:endParaRPr lang="en-US"/>
            </a:p>
          </p:txBody>
        </p:sp>
        <p:sp>
          <p:nvSpPr>
            <p:cNvPr id="287" name="Oval 674"/>
            <p:cNvSpPr>
              <a:spLocks noChangeArrowheads="1"/>
            </p:cNvSpPr>
            <p:nvPr/>
          </p:nvSpPr>
          <p:spPr bwMode="auto">
            <a:xfrm>
              <a:off x="2389" y="3268"/>
              <a:ext cx="28" cy="28"/>
            </a:xfrm>
            <a:prstGeom prst="ellipse">
              <a:avLst/>
            </a:prstGeom>
            <a:solidFill>
              <a:srgbClr val="FFFFFF"/>
            </a:solidFill>
            <a:ln w="7938">
              <a:solidFill>
                <a:srgbClr val="000000"/>
              </a:solidFill>
              <a:round/>
              <a:headEnd/>
              <a:tailEnd/>
            </a:ln>
          </p:spPr>
          <p:txBody>
            <a:bodyPr/>
            <a:lstStyle/>
            <a:p>
              <a:endParaRPr lang="en-US"/>
            </a:p>
          </p:txBody>
        </p:sp>
        <p:sp>
          <p:nvSpPr>
            <p:cNvPr id="288" name="Oval 675"/>
            <p:cNvSpPr>
              <a:spLocks noChangeArrowheads="1"/>
            </p:cNvSpPr>
            <p:nvPr/>
          </p:nvSpPr>
          <p:spPr bwMode="auto">
            <a:xfrm>
              <a:off x="2468" y="3235"/>
              <a:ext cx="28" cy="28"/>
            </a:xfrm>
            <a:prstGeom prst="ellipse">
              <a:avLst/>
            </a:prstGeom>
            <a:solidFill>
              <a:srgbClr val="FFFFFF"/>
            </a:solidFill>
            <a:ln w="7938">
              <a:solidFill>
                <a:srgbClr val="000000"/>
              </a:solidFill>
              <a:round/>
              <a:headEnd/>
              <a:tailEnd/>
            </a:ln>
          </p:spPr>
          <p:txBody>
            <a:bodyPr/>
            <a:lstStyle/>
            <a:p>
              <a:endParaRPr lang="en-US"/>
            </a:p>
          </p:txBody>
        </p:sp>
        <p:sp>
          <p:nvSpPr>
            <p:cNvPr id="289" name="Oval 676"/>
            <p:cNvSpPr>
              <a:spLocks noChangeArrowheads="1"/>
            </p:cNvSpPr>
            <p:nvPr/>
          </p:nvSpPr>
          <p:spPr bwMode="auto">
            <a:xfrm>
              <a:off x="2468" y="3245"/>
              <a:ext cx="28" cy="28"/>
            </a:xfrm>
            <a:prstGeom prst="ellipse">
              <a:avLst/>
            </a:prstGeom>
            <a:solidFill>
              <a:srgbClr val="FFFFFF"/>
            </a:solidFill>
            <a:ln w="7938">
              <a:solidFill>
                <a:srgbClr val="000000"/>
              </a:solidFill>
              <a:round/>
              <a:headEnd/>
              <a:tailEnd/>
            </a:ln>
          </p:spPr>
          <p:txBody>
            <a:bodyPr/>
            <a:lstStyle/>
            <a:p>
              <a:endParaRPr lang="en-US"/>
            </a:p>
          </p:txBody>
        </p:sp>
        <p:sp>
          <p:nvSpPr>
            <p:cNvPr id="290" name="Oval 677"/>
            <p:cNvSpPr>
              <a:spLocks noChangeArrowheads="1"/>
            </p:cNvSpPr>
            <p:nvPr/>
          </p:nvSpPr>
          <p:spPr bwMode="auto">
            <a:xfrm>
              <a:off x="2501" y="3306"/>
              <a:ext cx="28" cy="28"/>
            </a:xfrm>
            <a:prstGeom prst="ellipse">
              <a:avLst/>
            </a:prstGeom>
            <a:solidFill>
              <a:srgbClr val="FFFFFF"/>
            </a:solidFill>
            <a:ln w="7938">
              <a:solidFill>
                <a:srgbClr val="000000"/>
              </a:solidFill>
              <a:round/>
              <a:headEnd/>
              <a:tailEnd/>
            </a:ln>
          </p:spPr>
          <p:txBody>
            <a:bodyPr/>
            <a:lstStyle/>
            <a:p>
              <a:endParaRPr lang="en-US"/>
            </a:p>
          </p:txBody>
        </p:sp>
        <p:sp>
          <p:nvSpPr>
            <p:cNvPr id="291" name="Oval 678"/>
            <p:cNvSpPr>
              <a:spLocks noChangeArrowheads="1"/>
            </p:cNvSpPr>
            <p:nvPr/>
          </p:nvSpPr>
          <p:spPr bwMode="auto">
            <a:xfrm>
              <a:off x="2529" y="3038"/>
              <a:ext cx="28" cy="28"/>
            </a:xfrm>
            <a:prstGeom prst="ellipse">
              <a:avLst/>
            </a:prstGeom>
            <a:solidFill>
              <a:srgbClr val="FFFFFF"/>
            </a:solidFill>
            <a:ln w="7938">
              <a:solidFill>
                <a:srgbClr val="000000"/>
              </a:solidFill>
              <a:round/>
              <a:headEnd/>
              <a:tailEnd/>
            </a:ln>
          </p:spPr>
          <p:txBody>
            <a:bodyPr/>
            <a:lstStyle/>
            <a:p>
              <a:endParaRPr lang="en-US"/>
            </a:p>
          </p:txBody>
        </p:sp>
        <p:sp>
          <p:nvSpPr>
            <p:cNvPr id="292" name="Oval 679"/>
            <p:cNvSpPr>
              <a:spLocks noChangeArrowheads="1"/>
            </p:cNvSpPr>
            <p:nvPr/>
          </p:nvSpPr>
          <p:spPr bwMode="auto">
            <a:xfrm>
              <a:off x="2557" y="3226"/>
              <a:ext cx="28" cy="28"/>
            </a:xfrm>
            <a:prstGeom prst="ellipse">
              <a:avLst/>
            </a:prstGeom>
            <a:solidFill>
              <a:srgbClr val="FFFFFF"/>
            </a:solidFill>
            <a:ln w="7938">
              <a:solidFill>
                <a:srgbClr val="000000"/>
              </a:solidFill>
              <a:round/>
              <a:headEnd/>
              <a:tailEnd/>
            </a:ln>
          </p:spPr>
          <p:txBody>
            <a:bodyPr/>
            <a:lstStyle/>
            <a:p>
              <a:endParaRPr lang="en-US"/>
            </a:p>
          </p:txBody>
        </p:sp>
        <p:sp>
          <p:nvSpPr>
            <p:cNvPr id="293" name="Oval 680"/>
            <p:cNvSpPr>
              <a:spLocks noChangeArrowheads="1"/>
            </p:cNvSpPr>
            <p:nvPr/>
          </p:nvSpPr>
          <p:spPr bwMode="auto">
            <a:xfrm>
              <a:off x="2678" y="3010"/>
              <a:ext cx="28" cy="28"/>
            </a:xfrm>
            <a:prstGeom prst="ellipse">
              <a:avLst/>
            </a:prstGeom>
            <a:solidFill>
              <a:srgbClr val="FFFFFF"/>
            </a:solidFill>
            <a:ln w="7938">
              <a:solidFill>
                <a:srgbClr val="000000"/>
              </a:solidFill>
              <a:round/>
              <a:headEnd/>
              <a:tailEnd/>
            </a:ln>
          </p:spPr>
          <p:txBody>
            <a:bodyPr/>
            <a:lstStyle/>
            <a:p>
              <a:endParaRPr lang="en-US"/>
            </a:p>
          </p:txBody>
        </p:sp>
        <p:sp>
          <p:nvSpPr>
            <p:cNvPr id="294" name="Oval 681"/>
            <p:cNvSpPr>
              <a:spLocks noChangeArrowheads="1"/>
            </p:cNvSpPr>
            <p:nvPr/>
          </p:nvSpPr>
          <p:spPr bwMode="auto">
            <a:xfrm>
              <a:off x="2720" y="3057"/>
              <a:ext cx="28" cy="28"/>
            </a:xfrm>
            <a:prstGeom prst="ellipse">
              <a:avLst/>
            </a:prstGeom>
            <a:solidFill>
              <a:srgbClr val="FFFFFF"/>
            </a:solidFill>
            <a:ln w="7938">
              <a:solidFill>
                <a:srgbClr val="000000"/>
              </a:solidFill>
              <a:round/>
              <a:headEnd/>
              <a:tailEnd/>
            </a:ln>
          </p:spPr>
          <p:txBody>
            <a:bodyPr/>
            <a:lstStyle/>
            <a:p>
              <a:endParaRPr lang="en-US"/>
            </a:p>
          </p:txBody>
        </p:sp>
        <p:sp>
          <p:nvSpPr>
            <p:cNvPr id="295" name="Oval 682"/>
            <p:cNvSpPr>
              <a:spLocks noChangeArrowheads="1"/>
            </p:cNvSpPr>
            <p:nvPr/>
          </p:nvSpPr>
          <p:spPr bwMode="auto">
            <a:xfrm>
              <a:off x="2762" y="2996"/>
              <a:ext cx="28" cy="28"/>
            </a:xfrm>
            <a:prstGeom prst="ellipse">
              <a:avLst/>
            </a:prstGeom>
            <a:solidFill>
              <a:srgbClr val="FFFFFF"/>
            </a:solidFill>
            <a:ln w="7938">
              <a:solidFill>
                <a:srgbClr val="000000"/>
              </a:solidFill>
              <a:round/>
              <a:headEnd/>
              <a:tailEnd/>
            </a:ln>
          </p:spPr>
          <p:txBody>
            <a:bodyPr/>
            <a:lstStyle/>
            <a:p>
              <a:endParaRPr lang="en-US"/>
            </a:p>
          </p:txBody>
        </p:sp>
        <p:sp>
          <p:nvSpPr>
            <p:cNvPr id="296" name="Oval 683"/>
            <p:cNvSpPr>
              <a:spLocks noChangeArrowheads="1"/>
            </p:cNvSpPr>
            <p:nvPr/>
          </p:nvSpPr>
          <p:spPr bwMode="auto">
            <a:xfrm>
              <a:off x="2771" y="3015"/>
              <a:ext cx="28" cy="28"/>
            </a:xfrm>
            <a:prstGeom prst="ellipse">
              <a:avLst/>
            </a:prstGeom>
            <a:solidFill>
              <a:srgbClr val="FFFFFF"/>
            </a:solidFill>
            <a:ln w="7938">
              <a:solidFill>
                <a:srgbClr val="000000"/>
              </a:solidFill>
              <a:round/>
              <a:headEnd/>
              <a:tailEnd/>
            </a:ln>
          </p:spPr>
          <p:txBody>
            <a:bodyPr/>
            <a:lstStyle/>
            <a:p>
              <a:endParaRPr lang="en-US"/>
            </a:p>
          </p:txBody>
        </p:sp>
        <p:sp>
          <p:nvSpPr>
            <p:cNvPr id="297" name="Oval 684"/>
            <p:cNvSpPr>
              <a:spLocks noChangeArrowheads="1"/>
            </p:cNvSpPr>
            <p:nvPr/>
          </p:nvSpPr>
          <p:spPr bwMode="auto">
            <a:xfrm>
              <a:off x="2771" y="2912"/>
              <a:ext cx="28" cy="28"/>
            </a:xfrm>
            <a:prstGeom prst="ellipse">
              <a:avLst/>
            </a:prstGeom>
            <a:solidFill>
              <a:srgbClr val="FFFFFF"/>
            </a:solidFill>
            <a:ln w="7938">
              <a:solidFill>
                <a:srgbClr val="000000"/>
              </a:solidFill>
              <a:round/>
              <a:headEnd/>
              <a:tailEnd/>
            </a:ln>
          </p:spPr>
          <p:txBody>
            <a:bodyPr/>
            <a:lstStyle/>
            <a:p>
              <a:endParaRPr lang="en-US"/>
            </a:p>
          </p:txBody>
        </p:sp>
        <p:sp>
          <p:nvSpPr>
            <p:cNvPr id="298" name="Oval 685"/>
            <p:cNvSpPr>
              <a:spLocks noChangeArrowheads="1"/>
            </p:cNvSpPr>
            <p:nvPr/>
          </p:nvSpPr>
          <p:spPr bwMode="auto">
            <a:xfrm>
              <a:off x="2795" y="2991"/>
              <a:ext cx="28" cy="28"/>
            </a:xfrm>
            <a:prstGeom prst="ellipse">
              <a:avLst/>
            </a:prstGeom>
            <a:solidFill>
              <a:srgbClr val="FFFFFF"/>
            </a:solidFill>
            <a:ln w="7938">
              <a:solidFill>
                <a:srgbClr val="000000"/>
              </a:solidFill>
              <a:round/>
              <a:headEnd/>
              <a:tailEnd/>
            </a:ln>
          </p:spPr>
          <p:txBody>
            <a:bodyPr/>
            <a:lstStyle/>
            <a:p>
              <a:endParaRPr lang="en-US"/>
            </a:p>
          </p:txBody>
        </p:sp>
        <p:sp>
          <p:nvSpPr>
            <p:cNvPr id="299" name="Oval 686"/>
            <p:cNvSpPr>
              <a:spLocks noChangeArrowheads="1"/>
            </p:cNvSpPr>
            <p:nvPr/>
          </p:nvSpPr>
          <p:spPr bwMode="auto">
            <a:xfrm>
              <a:off x="2813" y="2837"/>
              <a:ext cx="28" cy="28"/>
            </a:xfrm>
            <a:prstGeom prst="ellipse">
              <a:avLst/>
            </a:prstGeom>
            <a:solidFill>
              <a:srgbClr val="FFFFFF"/>
            </a:solidFill>
            <a:ln w="7938">
              <a:solidFill>
                <a:srgbClr val="000000"/>
              </a:solidFill>
              <a:round/>
              <a:headEnd/>
              <a:tailEnd/>
            </a:ln>
          </p:spPr>
          <p:txBody>
            <a:bodyPr/>
            <a:lstStyle/>
            <a:p>
              <a:endParaRPr lang="en-US"/>
            </a:p>
          </p:txBody>
        </p:sp>
        <p:sp>
          <p:nvSpPr>
            <p:cNvPr id="300" name="Oval 687"/>
            <p:cNvSpPr>
              <a:spLocks noChangeArrowheads="1"/>
            </p:cNvSpPr>
            <p:nvPr/>
          </p:nvSpPr>
          <p:spPr bwMode="auto">
            <a:xfrm>
              <a:off x="2818" y="3146"/>
              <a:ext cx="28" cy="28"/>
            </a:xfrm>
            <a:prstGeom prst="ellipse">
              <a:avLst/>
            </a:prstGeom>
            <a:solidFill>
              <a:srgbClr val="FFFFFF"/>
            </a:solidFill>
            <a:ln w="7938">
              <a:solidFill>
                <a:srgbClr val="000000"/>
              </a:solidFill>
              <a:round/>
              <a:headEnd/>
              <a:tailEnd/>
            </a:ln>
          </p:spPr>
          <p:txBody>
            <a:bodyPr/>
            <a:lstStyle/>
            <a:p>
              <a:endParaRPr lang="en-US"/>
            </a:p>
          </p:txBody>
        </p:sp>
        <p:sp>
          <p:nvSpPr>
            <p:cNvPr id="301" name="Oval 688"/>
            <p:cNvSpPr>
              <a:spLocks noChangeArrowheads="1"/>
            </p:cNvSpPr>
            <p:nvPr/>
          </p:nvSpPr>
          <p:spPr bwMode="auto">
            <a:xfrm>
              <a:off x="2832" y="2944"/>
              <a:ext cx="28" cy="29"/>
            </a:xfrm>
            <a:prstGeom prst="ellipse">
              <a:avLst/>
            </a:prstGeom>
            <a:solidFill>
              <a:srgbClr val="FFFFFF"/>
            </a:solidFill>
            <a:ln w="7938">
              <a:solidFill>
                <a:srgbClr val="000000"/>
              </a:solidFill>
              <a:round/>
              <a:headEnd/>
              <a:tailEnd/>
            </a:ln>
          </p:spPr>
          <p:txBody>
            <a:bodyPr/>
            <a:lstStyle/>
            <a:p>
              <a:endParaRPr lang="en-US"/>
            </a:p>
          </p:txBody>
        </p:sp>
        <p:sp>
          <p:nvSpPr>
            <p:cNvPr id="302" name="Oval 689"/>
            <p:cNvSpPr>
              <a:spLocks noChangeArrowheads="1"/>
            </p:cNvSpPr>
            <p:nvPr/>
          </p:nvSpPr>
          <p:spPr bwMode="auto">
            <a:xfrm>
              <a:off x="2841" y="3024"/>
              <a:ext cx="28" cy="28"/>
            </a:xfrm>
            <a:prstGeom prst="ellipse">
              <a:avLst/>
            </a:prstGeom>
            <a:solidFill>
              <a:srgbClr val="FFFFFF"/>
            </a:solidFill>
            <a:ln w="7938">
              <a:solidFill>
                <a:srgbClr val="000000"/>
              </a:solidFill>
              <a:round/>
              <a:headEnd/>
              <a:tailEnd/>
            </a:ln>
          </p:spPr>
          <p:txBody>
            <a:bodyPr/>
            <a:lstStyle/>
            <a:p>
              <a:endParaRPr lang="en-US"/>
            </a:p>
          </p:txBody>
        </p:sp>
        <p:sp>
          <p:nvSpPr>
            <p:cNvPr id="303" name="Oval 690"/>
            <p:cNvSpPr>
              <a:spLocks noChangeArrowheads="1"/>
            </p:cNvSpPr>
            <p:nvPr/>
          </p:nvSpPr>
          <p:spPr bwMode="auto">
            <a:xfrm>
              <a:off x="2846" y="2968"/>
              <a:ext cx="28" cy="28"/>
            </a:xfrm>
            <a:prstGeom prst="ellipse">
              <a:avLst/>
            </a:prstGeom>
            <a:solidFill>
              <a:srgbClr val="FFFFFF"/>
            </a:solidFill>
            <a:ln w="7938">
              <a:solidFill>
                <a:srgbClr val="000000"/>
              </a:solidFill>
              <a:round/>
              <a:headEnd/>
              <a:tailEnd/>
            </a:ln>
          </p:spPr>
          <p:txBody>
            <a:bodyPr/>
            <a:lstStyle/>
            <a:p>
              <a:endParaRPr lang="en-US"/>
            </a:p>
          </p:txBody>
        </p:sp>
        <p:sp>
          <p:nvSpPr>
            <p:cNvPr id="304" name="Oval 691"/>
            <p:cNvSpPr>
              <a:spLocks noChangeArrowheads="1"/>
            </p:cNvSpPr>
            <p:nvPr/>
          </p:nvSpPr>
          <p:spPr bwMode="auto">
            <a:xfrm>
              <a:off x="2855" y="2865"/>
              <a:ext cx="28" cy="28"/>
            </a:xfrm>
            <a:prstGeom prst="ellipse">
              <a:avLst/>
            </a:prstGeom>
            <a:solidFill>
              <a:srgbClr val="FFFFFF"/>
            </a:solidFill>
            <a:ln w="7938">
              <a:solidFill>
                <a:srgbClr val="000000"/>
              </a:solidFill>
              <a:round/>
              <a:headEnd/>
              <a:tailEnd/>
            </a:ln>
          </p:spPr>
          <p:txBody>
            <a:bodyPr/>
            <a:lstStyle/>
            <a:p>
              <a:endParaRPr lang="en-US"/>
            </a:p>
          </p:txBody>
        </p:sp>
        <p:sp>
          <p:nvSpPr>
            <p:cNvPr id="305" name="Oval 692"/>
            <p:cNvSpPr>
              <a:spLocks noChangeArrowheads="1"/>
            </p:cNvSpPr>
            <p:nvPr/>
          </p:nvSpPr>
          <p:spPr bwMode="auto">
            <a:xfrm>
              <a:off x="2860" y="2963"/>
              <a:ext cx="28" cy="28"/>
            </a:xfrm>
            <a:prstGeom prst="ellipse">
              <a:avLst/>
            </a:prstGeom>
            <a:solidFill>
              <a:srgbClr val="FFFFFF"/>
            </a:solidFill>
            <a:ln w="7938">
              <a:solidFill>
                <a:srgbClr val="000000"/>
              </a:solidFill>
              <a:round/>
              <a:headEnd/>
              <a:tailEnd/>
            </a:ln>
          </p:spPr>
          <p:txBody>
            <a:bodyPr/>
            <a:lstStyle/>
            <a:p>
              <a:endParaRPr lang="en-US"/>
            </a:p>
          </p:txBody>
        </p:sp>
        <p:sp>
          <p:nvSpPr>
            <p:cNvPr id="306" name="Oval 693"/>
            <p:cNvSpPr>
              <a:spLocks noChangeArrowheads="1"/>
            </p:cNvSpPr>
            <p:nvPr/>
          </p:nvSpPr>
          <p:spPr bwMode="auto">
            <a:xfrm>
              <a:off x="2888" y="3109"/>
              <a:ext cx="28" cy="28"/>
            </a:xfrm>
            <a:prstGeom prst="ellipse">
              <a:avLst/>
            </a:prstGeom>
            <a:solidFill>
              <a:srgbClr val="FFFFFF"/>
            </a:solidFill>
            <a:ln w="7938">
              <a:solidFill>
                <a:srgbClr val="000000"/>
              </a:solidFill>
              <a:round/>
              <a:headEnd/>
              <a:tailEnd/>
            </a:ln>
          </p:spPr>
          <p:txBody>
            <a:bodyPr/>
            <a:lstStyle/>
            <a:p>
              <a:endParaRPr lang="en-US"/>
            </a:p>
          </p:txBody>
        </p:sp>
        <p:sp>
          <p:nvSpPr>
            <p:cNvPr id="307" name="Oval 694"/>
            <p:cNvSpPr>
              <a:spLocks noChangeArrowheads="1"/>
            </p:cNvSpPr>
            <p:nvPr/>
          </p:nvSpPr>
          <p:spPr bwMode="auto">
            <a:xfrm>
              <a:off x="2897" y="2898"/>
              <a:ext cx="28" cy="28"/>
            </a:xfrm>
            <a:prstGeom prst="ellipse">
              <a:avLst/>
            </a:prstGeom>
            <a:solidFill>
              <a:srgbClr val="FFFFFF"/>
            </a:solidFill>
            <a:ln w="7938">
              <a:solidFill>
                <a:srgbClr val="000000"/>
              </a:solidFill>
              <a:round/>
              <a:headEnd/>
              <a:tailEnd/>
            </a:ln>
          </p:spPr>
          <p:txBody>
            <a:bodyPr/>
            <a:lstStyle/>
            <a:p>
              <a:endParaRPr lang="en-US"/>
            </a:p>
          </p:txBody>
        </p:sp>
        <p:sp>
          <p:nvSpPr>
            <p:cNvPr id="308" name="Oval 695"/>
            <p:cNvSpPr>
              <a:spLocks noChangeArrowheads="1"/>
            </p:cNvSpPr>
            <p:nvPr/>
          </p:nvSpPr>
          <p:spPr bwMode="auto">
            <a:xfrm>
              <a:off x="2907" y="3207"/>
              <a:ext cx="28" cy="28"/>
            </a:xfrm>
            <a:prstGeom prst="ellipse">
              <a:avLst/>
            </a:prstGeom>
            <a:solidFill>
              <a:srgbClr val="FFFFFF"/>
            </a:solidFill>
            <a:ln w="7938">
              <a:solidFill>
                <a:srgbClr val="000000"/>
              </a:solidFill>
              <a:round/>
              <a:headEnd/>
              <a:tailEnd/>
            </a:ln>
          </p:spPr>
          <p:txBody>
            <a:bodyPr/>
            <a:lstStyle/>
            <a:p>
              <a:endParaRPr lang="en-US"/>
            </a:p>
          </p:txBody>
        </p:sp>
        <p:sp>
          <p:nvSpPr>
            <p:cNvPr id="309" name="Oval 696"/>
            <p:cNvSpPr>
              <a:spLocks noChangeArrowheads="1"/>
            </p:cNvSpPr>
            <p:nvPr/>
          </p:nvSpPr>
          <p:spPr bwMode="auto">
            <a:xfrm>
              <a:off x="2911" y="2973"/>
              <a:ext cx="28" cy="28"/>
            </a:xfrm>
            <a:prstGeom prst="ellipse">
              <a:avLst/>
            </a:prstGeom>
            <a:solidFill>
              <a:srgbClr val="FFFFFF"/>
            </a:solidFill>
            <a:ln w="7938">
              <a:solidFill>
                <a:srgbClr val="000000"/>
              </a:solidFill>
              <a:round/>
              <a:headEnd/>
              <a:tailEnd/>
            </a:ln>
          </p:spPr>
          <p:txBody>
            <a:bodyPr/>
            <a:lstStyle/>
            <a:p>
              <a:endParaRPr lang="en-US"/>
            </a:p>
          </p:txBody>
        </p:sp>
        <p:sp>
          <p:nvSpPr>
            <p:cNvPr id="310" name="Oval 697"/>
            <p:cNvSpPr>
              <a:spLocks noChangeArrowheads="1"/>
            </p:cNvSpPr>
            <p:nvPr/>
          </p:nvSpPr>
          <p:spPr bwMode="auto">
            <a:xfrm>
              <a:off x="2925" y="3071"/>
              <a:ext cx="28" cy="28"/>
            </a:xfrm>
            <a:prstGeom prst="ellipse">
              <a:avLst/>
            </a:prstGeom>
            <a:solidFill>
              <a:srgbClr val="FFFFFF"/>
            </a:solidFill>
            <a:ln w="7938">
              <a:solidFill>
                <a:srgbClr val="000000"/>
              </a:solidFill>
              <a:round/>
              <a:headEnd/>
              <a:tailEnd/>
            </a:ln>
          </p:spPr>
          <p:txBody>
            <a:bodyPr/>
            <a:lstStyle/>
            <a:p>
              <a:endParaRPr lang="en-US"/>
            </a:p>
          </p:txBody>
        </p:sp>
        <p:sp>
          <p:nvSpPr>
            <p:cNvPr id="311" name="Oval 698"/>
            <p:cNvSpPr>
              <a:spLocks noChangeArrowheads="1"/>
            </p:cNvSpPr>
            <p:nvPr/>
          </p:nvSpPr>
          <p:spPr bwMode="auto">
            <a:xfrm>
              <a:off x="2944" y="2949"/>
              <a:ext cx="28" cy="28"/>
            </a:xfrm>
            <a:prstGeom prst="ellipse">
              <a:avLst/>
            </a:prstGeom>
            <a:solidFill>
              <a:srgbClr val="FFFFFF"/>
            </a:solidFill>
            <a:ln w="7938">
              <a:solidFill>
                <a:srgbClr val="000000"/>
              </a:solidFill>
              <a:round/>
              <a:headEnd/>
              <a:tailEnd/>
            </a:ln>
          </p:spPr>
          <p:txBody>
            <a:bodyPr/>
            <a:lstStyle/>
            <a:p>
              <a:endParaRPr lang="en-US"/>
            </a:p>
          </p:txBody>
        </p:sp>
        <p:sp>
          <p:nvSpPr>
            <p:cNvPr id="312" name="Oval 699"/>
            <p:cNvSpPr>
              <a:spLocks noChangeArrowheads="1"/>
            </p:cNvSpPr>
            <p:nvPr/>
          </p:nvSpPr>
          <p:spPr bwMode="auto">
            <a:xfrm>
              <a:off x="2949" y="2752"/>
              <a:ext cx="28" cy="28"/>
            </a:xfrm>
            <a:prstGeom prst="ellipse">
              <a:avLst/>
            </a:prstGeom>
            <a:solidFill>
              <a:srgbClr val="FFFFFF"/>
            </a:solidFill>
            <a:ln w="7938">
              <a:solidFill>
                <a:srgbClr val="000000"/>
              </a:solidFill>
              <a:round/>
              <a:headEnd/>
              <a:tailEnd/>
            </a:ln>
          </p:spPr>
          <p:txBody>
            <a:bodyPr/>
            <a:lstStyle/>
            <a:p>
              <a:endParaRPr lang="en-US"/>
            </a:p>
          </p:txBody>
        </p:sp>
        <p:sp>
          <p:nvSpPr>
            <p:cNvPr id="313" name="Oval 700"/>
            <p:cNvSpPr>
              <a:spLocks noChangeArrowheads="1"/>
            </p:cNvSpPr>
            <p:nvPr/>
          </p:nvSpPr>
          <p:spPr bwMode="auto">
            <a:xfrm>
              <a:off x="2953" y="2991"/>
              <a:ext cx="28" cy="28"/>
            </a:xfrm>
            <a:prstGeom prst="ellipse">
              <a:avLst/>
            </a:prstGeom>
            <a:solidFill>
              <a:srgbClr val="FFFFFF"/>
            </a:solidFill>
            <a:ln w="7938">
              <a:solidFill>
                <a:srgbClr val="000000"/>
              </a:solidFill>
              <a:round/>
              <a:headEnd/>
              <a:tailEnd/>
            </a:ln>
          </p:spPr>
          <p:txBody>
            <a:bodyPr/>
            <a:lstStyle/>
            <a:p>
              <a:endParaRPr lang="en-US"/>
            </a:p>
          </p:txBody>
        </p:sp>
        <p:sp>
          <p:nvSpPr>
            <p:cNvPr id="314" name="Oval 701"/>
            <p:cNvSpPr>
              <a:spLocks noChangeArrowheads="1"/>
            </p:cNvSpPr>
            <p:nvPr/>
          </p:nvSpPr>
          <p:spPr bwMode="auto">
            <a:xfrm>
              <a:off x="2963" y="2822"/>
              <a:ext cx="28" cy="29"/>
            </a:xfrm>
            <a:prstGeom prst="ellipse">
              <a:avLst/>
            </a:prstGeom>
            <a:solidFill>
              <a:srgbClr val="FFFFFF"/>
            </a:solidFill>
            <a:ln w="7938">
              <a:solidFill>
                <a:srgbClr val="000000"/>
              </a:solidFill>
              <a:round/>
              <a:headEnd/>
              <a:tailEnd/>
            </a:ln>
          </p:spPr>
          <p:txBody>
            <a:bodyPr/>
            <a:lstStyle/>
            <a:p>
              <a:endParaRPr lang="en-US"/>
            </a:p>
          </p:txBody>
        </p:sp>
        <p:sp>
          <p:nvSpPr>
            <p:cNvPr id="315" name="Oval 702"/>
            <p:cNvSpPr>
              <a:spLocks noChangeArrowheads="1"/>
            </p:cNvSpPr>
            <p:nvPr/>
          </p:nvSpPr>
          <p:spPr bwMode="auto">
            <a:xfrm>
              <a:off x="2963" y="3019"/>
              <a:ext cx="28" cy="29"/>
            </a:xfrm>
            <a:prstGeom prst="ellipse">
              <a:avLst/>
            </a:prstGeom>
            <a:solidFill>
              <a:srgbClr val="FFFFFF"/>
            </a:solidFill>
            <a:ln w="7938">
              <a:solidFill>
                <a:srgbClr val="000000"/>
              </a:solidFill>
              <a:round/>
              <a:headEnd/>
              <a:tailEnd/>
            </a:ln>
          </p:spPr>
          <p:txBody>
            <a:bodyPr/>
            <a:lstStyle/>
            <a:p>
              <a:endParaRPr lang="en-US"/>
            </a:p>
          </p:txBody>
        </p:sp>
        <p:sp>
          <p:nvSpPr>
            <p:cNvPr id="316" name="Oval 703"/>
            <p:cNvSpPr>
              <a:spLocks noChangeArrowheads="1"/>
            </p:cNvSpPr>
            <p:nvPr/>
          </p:nvSpPr>
          <p:spPr bwMode="auto">
            <a:xfrm>
              <a:off x="2967" y="2982"/>
              <a:ext cx="28" cy="28"/>
            </a:xfrm>
            <a:prstGeom prst="ellipse">
              <a:avLst/>
            </a:prstGeom>
            <a:solidFill>
              <a:srgbClr val="FFFFFF"/>
            </a:solidFill>
            <a:ln w="7938">
              <a:solidFill>
                <a:srgbClr val="000000"/>
              </a:solidFill>
              <a:round/>
              <a:headEnd/>
              <a:tailEnd/>
            </a:ln>
          </p:spPr>
          <p:txBody>
            <a:bodyPr/>
            <a:lstStyle/>
            <a:p>
              <a:endParaRPr lang="en-US"/>
            </a:p>
          </p:txBody>
        </p:sp>
        <p:sp>
          <p:nvSpPr>
            <p:cNvPr id="317" name="Oval 704"/>
            <p:cNvSpPr>
              <a:spLocks noChangeArrowheads="1"/>
            </p:cNvSpPr>
            <p:nvPr/>
          </p:nvSpPr>
          <p:spPr bwMode="auto">
            <a:xfrm>
              <a:off x="2977" y="2837"/>
              <a:ext cx="28" cy="28"/>
            </a:xfrm>
            <a:prstGeom prst="ellipse">
              <a:avLst/>
            </a:prstGeom>
            <a:solidFill>
              <a:srgbClr val="FFFFFF"/>
            </a:solidFill>
            <a:ln w="7938">
              <a:solidFill>
                <a:srgbClr val="000000"/>
              </a:solidFill>
              <a:round/>
              <a:headEnd/>
              <a:tailEnd/>
            </a:ln>
          </p:spPr>
          <p:txBody>
            <a:bodyPr/>
            <a:lstStyle/>
            <a:p>
              <a:endParaRPr lang="en-US"/>
            </a:p>
          </p:txBody>
        </p:sp>
        <p:sp>
          <p:nvSpPr>
            <p:cNvPr id="318" name="Oval 705"/>
            <p:cNvSpPr>
              <a:spLocks noChangeArrowheads="1"/>
            </p:cNvSpPr>
            <p:nvPr/>
          </p:nvSpPr>
          <p:spPr bwMode="auto">
            <a:xfrm>
              <a:off x="2981" y="2949"/>
              <a:ext cx="28" cy="28"/>
            </a:xfrm>
            <a:prstGeom prst="ellipse">
              <a:avLst/>
            </a:prstGeom>
            <a:solidFill>
              <a:srgbClr val="FFFFFF"/>
            </a:solidFill>
            <a:ln w="7938">
              <a:solidFill>
                <a:srgbClr val="000000"/>
              </a:solidFill>
              <a:round/>
              <a:headEnd/>
              <a:tailEnd/>
            </a:ln>
          </p:spPr>
          <p:txBody>
            <a:bodyPr/>
            <a:lstStyle/>
            <a:p>
              <a:endParaRPr lang="en-US"/>
            </a:p>
          </p:txBody>
        </p:sp>
        <p:sp>
          <p:nvSpPr>
            <p:cNvPr id="319" name="Oval 706"/>
            <p:cNvSpPr>
              <a:spLocks noChangeArrowheads="1"/>
            </p:cNvSpPr>
            <p:nvPr/>
          </p:nvSpPr>
          <p:spPr bwMode="auto">
            <a:xfrm>
              <a:off x="2986" y="2987"/>
              <a:ext cx="28" cy="28"/>
            </a:xfrm>
            <a:prstGeom prst="ellipse">
              <a:avLst/>
            </a:prstGeom>
            <a:solidFill>
              <a:srgbClr val="FFFFFF"/>
            </a:solidFill>
            <a:ln w="7938">
              <a:solidFill>
                <a:srgbClr val="000000"/>
              </a:solidFill>
              <a:round/>
              <a:headEnd/>
              <a:tailEnd/>
            </a:ln>
          </p:spPr>
          <p:txBody>
            <a:bodyPr/>
            <a:lstStyle/>
            <a:p>
              <a:endParaRPr lang="en-US"/>
            </a:p>
          </p:txBody>
        </p:sp>
        <p:sp>
          <p:nvSpPr>
            <p:cNvPr id="320" name="Oval 707"/>
            <p:cNvSpPr>
              <a:spLocks noChangeArrowheads="1"/>
            </p:cNvSpPr>
            <p:nvPr/>
          </p:nvSpPr>
          <p:spPr bwMode="auto">
            <a:xfrm>
              <a:off x="2995" y="2968"/>
              <a:ext cx="28" cy="28"/>
            </a:xfrm>
            <a:prstGeom prst="ellipse">
              <a:avLst/>
            </a:prstGeom>
            <a:solidFill>
              <a:srgbClr val="FFFFFF"/>
            </a:solidFill>
            <a:ln w="7938">
              <a:solidFill>
                <a:srgbClr val="000000"/>
              </a:solidFill>
              <a:round/>
              <a:headEnd/>
              <a:tailEnd/>
            </a:ln>
          </p:spPr>
          <p:txBody>
            <a:bodyPr/>
            <a:lstStyle/>
            <a:p>
              <a:endParaRPr lang="en-US"/>
            </a:p>
          </p:txBody>
        </p:sp>
        <p:sp>
          <p:nvSpPr>
            <p:cNvPr id="321" name="Oval 708"/>
            <p:cNvSpPr>
              <a:spLocks noChangeArrowheads="1"/>
            </p:cNvSpPr>
            <p:nvPr/>
          </p:nvSpPr>
          <p:spPr bwMode="auto">
            <a:xfrm>
              <a:off x="3000" y="2954"/>
              <a:ext cx="28" cy="28"/>
            </a:xfrm>
            <a:prstGeom prst="ellipse">
              <a:avLst/>
            </a:prstGeom>
            <a:solidFill>
              <a:srgbClr val="FFFFFF"/>
            </a:solidFill>
            <a:ln w="7938">
              <a:solidFill>
                <a:srgbClr val="000000"/>
              </a:solidFill>
              <a:round/>
              <a:headEnd/>
              <a:tailEnd/>
            </a:ln>
          </p:spPr>
          <p:txBody>
            <a:bodyPr/>
            <a:lstStyle/>
            <a:p>
              <a:endParaRPr lang="en-US"/>
            </a:p>
          </p:txBody>
        </p:sp>
        <p:sp>
          <p:nvSpPr>
            <p:cNvPr id="322" name="Oval 709"/>
            <p:cNvSpPr>
              <a:spLocks noChangeArrowheads="1"/>
            </p:cNvSpPr>
            <p:nvPr/>
          </p:nvSpPr>
          <p:spPr bwMode="auto">
            <a:xfrm>
              <a:off x="3009"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23" name="Oval 710"/>
            <p:cNvSpPr>
              <a:spLocks noChangeArrowheads="1"/>
            </p:cNvSpPr>
            <p:nvPr/>
          </p:nvSpPr>
          <p:spPr bwMode="auto">
            <a:xfrm>
              <a:off x="3014" y="2991"/>
              <a:ext cx="28" cy="28"/>
            </a:xfrm>
            <a:prstGeom prst="ellipse">
              <a:avLst/>
            </a:prstGeom>
            <a:solidFill>
              <a:srgbClr val="FFFFFF"/>
            </a:solidFill>
            <a:ln w="7938">
              <a:solidFill>
                <a:srgbClr val="000000"/>
              </a:solidFill>
              <a:round/>
              <a:headEnd/>
              <a:tailEnd/>
            </a:ln>
          </p:spPr>
          <p:txBody>
            <a:bodyPr/>
            <a:lstStyle/>
            <a:p>
              <a:endParaRPr lang="en-US"/>
            </a:p>
          </p:txBody>
        </p:sp>
        <p:sp>
          <p:nvSpPr>
            <p:cNvPr id="324" name="Oval 711"/>
            <p:cNvSpPr>
              <a:spLocks noChangeArrowheads="1"/>
            </p:cNvSpPr>
            <p:nvPr/>
          </p:nvSpPr>
          <p:spPr bwMode="auto">
            <a:xfrm>
              <a:off x="3014" y="2794"/>
              <a:ext cx="28" cy="28"/>
            </a:xfrm>
            <a:prstGeom prst="ellipse">
              <a:avLst/>
            </a:prstGeom>
            <a:solidFill>
              <a:srgbClr val="FFFFFF"/>
            </a:solidFill>
            <a:ln w="7938">
              <a:solidFill>
                <a:srgbClr val="000000"/>
              </a:solidFill>
              <a:round/>
              <a:headEnd/>
              <a:tailEnd/>
            </a:ln>
          </p:spPr>
          <p:txBody>
            <a:bodyPr/>
            <a:lstStyle/>
            <a:p>
              <a:endParaRPr lang="en-US"/>
            </a:p>
          </p:txBody>
        </p:sp>
        <p:sp>
          <p:nvSpPr>
            <p:cNvPr id="325" name="Oval 712"/>
            <p:cNvSpPr>
              <a:spLocks noChangeArrowheads="1"/>
            </p:cNvSpPr>
            <p:nvPr/>
          </p:nvSpPr>
          <p:spPr bwMode="auto">
            <a:xfrm>
              <a:off x="3023" y="2846"/>
              <a:ext cx="28" cy="28"/>
            </a:xfrm>
            <a:prstGeom prst="ellipse">
              <a:avLst/>
            </a:prstGeom>
            <a:solidFill>
              <a:srgbClr val="FFFFFF"/>
            </a:solidFill>
            <a:ln w="7938">
              <a:solidFill>
                <a:srgbClr val="000000"/>
              </a:solidFill>
              <a:round/>
              <a:headEnd/>
              <a:tailEnd/>
            </a:ln>
          </p:spPr>
          <p:txBody>
            <a:bodyPr/>
            <a:lstStyle/>
            <a:p>
              <a:endParaRPr lang="en-US"/>
            </a:p>
          </p:txBody>
        </p:sp>
        <p:sp>
          <p:nvSpPr>
            <p:cNvPr id="326" name="Oval 713"/>
            <p:cNvSpPr>
              <a:spLocks noChangeArrowheads="1"/>
            </p:cNvSpPr>
            <p:nvPr/>
          </p:nvSpPr>
          <p:spPr bwMode="auto">
            <a:xfrm>
              <a:off x="3028" y="2841"/>
              <a:ext cx="28" cy="28"/>
            </a:xfrm>
            <a:prstGeom prst="ellipse">
              <a:avLst/>
            </a:prstGeom>
            <a:solidFill>
              <a:srgbClr val="FFFFFF"/>
            </a:solidFill>
            <a:ln w="7938">
              <a:solidFill>
                <a:srgbClr val="000000"/>
              </a:solidFill>
              <a:round/>
              <a:headEnd/>
              <a:tailEnd/>
            </a:ln>
          </p:spPr>
          <p:txBody>
            <a:bodyPr/>
            <a:lstStyle/>
            <a:p>
              <a:endParaRPr lang="en-US"/>
            </a:p>
          </p:txBody>
        </p:sp>
        <p:sp>
          <p:nvSpPr>
            <p:cNvPr id="327" name="Oval 714"/>
            <p:cNvSpPr>
              <a:spLocks noChangeArrowheads="1"/>
            </p:cNvSpPr>
            <p:nvPr/>
          </p:nvSpPr>
          <p:spPr bwMode="auto">
            <a:xfrm>
              <a:off x="3033" y="2818"/>
              <a:ext cx="28" cy="28"/>
            </a:xfrm>
            <a:prstGeom prst="ellipse">
              <a:avLst/>
            </a:prstGeom>
            <a:solidFill>
              <a:srgbClr val="FFFFFF"/>
            </a:solidFill>
            <a:ln w="7938">
              <a:solidFill>
                <a:srgbClr val="000000"/>
              </a:solidFill>
              <a:round/>
              <a:headEnd/>
              <a:tailEnd/>
            </a:ln>
          </p:spPr>
          <p:txBody>
            <a:bodyPr/>
            <a:lstStyle/>
            <a:p>
              <a:endParaRPr lang="en-US"/>
            </a:p>
          </p:txBody>
        </p:sp>
        <p:sp>
          <p:nvSpPr>
            <p:cNvPr id="328" name="Oval 715"/>
            <p:cNvSpPr>
              <a:spLocks noChangeArrowheads="1"/>
            </p:cNvSpPr>
            <p:nvPr/>
          </p:nvSpPr>
          <p:spPr bwMode="auto">
            <a:xfrm>
              <a:off x="3037" y="2912"/>
              <a:ext cx="28" cy="28"/>
            </a:xfrm>
            <a:prstGeom prst="ellipse">
              <a:avLst/>
            </a:prstGeom>
            <a:solidFill>
              <a:srgbClr val="FFFFFF"/>
            </a:solidFill>
            <a:ln w="7938">
              <a:solidFill>
                <a:srgbClr val="000000"/>
              </a:solidFill>
              <a:round/>
              <a:headEnd/>
              <a:tailEnd/>
            </a:ln>
          </p:spPr>
          <p:txBody>
            <a:bodyPr/>
            <a:lstStyle/>
            <a:p>
              <a:endParaRPr lang="en-US"/>
            </a:p>
          </p:txBody>
        </p:sp>
        <p:sp>
          <p:nvSpPr>
            <p:cNvPr id="329" name="Oval 716"/>
            <p:cNvSpPr>
              <a:spLocks noChangeArrowheads="1"/>
            </p:cNvSpPr>
            <p:nvPr/>
          </p:nvSpPr>
          <p:spPr bwMode="auto">
            <a:xfrm>
              <a:off x="3042" y="2977"/>
              <a:ext cx="28" cy="28"/>
            </a:xfrm>
            <a:prstGeom prst="ellipse">
              <a:avLst/>
            </a:prstGeom>
            <a:solidFill>
              <a:srgbClr val="FFFFFF"/>
            </a:solidFill>
            <a:ln w="7938">
              <a:solidFill>
                <a:srgbClr val="000000"/>
              </a:solidFill>
              <a:round/>
              <a:headEnd/>
              <a:tailEnd/>
            </a:ln>
          </p:spPr>
          <p:txBody>
            <a:bodyPr/>
            <a:lstStyle/>
            <a:p>
              <a:endParaRPr lang="en-US"/>
            </a:p>
          </p:txBody>
        </p:sp>
        <p:sp>
          <p:nvSpPr>
            <p:cNvPr id="330" name="Oval 717"/>
            <p:cNvSpPr>
              <a:spLocks noChangeArrowheads="1"/>
            </p:cNvSpPr>
            <p:nvPr/>
          </p:nvSpPr>
          <p:spPr bwMode="auto">
            <a:xfrm>
              <a:off x="3051" y="2682"/>
              <a:ext cx="28" cy="28"/>
            </a:xfrm>
            <a:prstGeom prst="ellipse">
              <a:avLst/>
            </a:prstGeom>
            <a:solidFill>
              <a:srgbClr val="FFFFFF"/>
            </a:solidFill>
            <a:ln w="7938">
              <a:solidFill>
                <a:srgbClr val="000000"/>
              </a:solidFill>
              <a:round/>
              <a:headEnd/>
              <a:tailEnd/>
            </a:ln>
          </p:spPr>
          <p:txBody>
            <a:bodyPr/>
            <a:lstStyle/>
            <a:p>
              <a:endParaRPr lang="en-US"/>
            </a:p>
          </p:txBody>
        </p:sp>
        <p:sp>
          <p:nvSpPr>
            <p:cNvPr id="331" name="Oval 718"/>
            <p:cNvSpPr>
              <a:spLocks noChangeArrowheads="1"/>
            </p:cNvSpPr>
            <p:nvPr/>
          </p:nvSpPr>
          <p:spPr bwMode="auto">
            <a:xfrm>
              <a:off x="3061" y="2804"/>
              <a:ext cx="28" cy="28"/>
            </a:xfrm>
            <a:prstGeom prst="ellipse">
              <a:avLst/>
            </a:prstGeom>
            <a:solidFill>
              <a:srgbClr val="FFFFFF"/>
            </a:solidFill>
            <a:ln w="7938">
              <a:solidFill>
                <a:srgbClr val="000000"/>
              </a:solidFill>
              <a:round/>
              <a:headEnd/>
              <a:tailEnd/>
            </a:ln>
          </p:spPr>
          <p:txBody>
            <a:bodyPr/>
            <a:lstStyle/>
            <a:p>
              <a:endParaRPr lang="en-US"/>
            </a:p>
          </p:txBody>
        </p:sp>
        <p:sp>
          <p:nvSpPr>
            <p:cNvPr id="332" name="Oval 719"/>
            <p:cNvSpPr>
              <a:spLocks noChangeArrowheads="1"/>
            </p:cNvSpPr>
            <p:nvPr/>
          </p:nvSpPr>
          <p:spPr bwMode="auto">
            <a:xfrm>
              <a:off x="3075" y="2940"/>
              <a:ext cx="28" cy="28"/>
            </a:xfrm>
            <a:prstGeom prst="ellipse">
              <a:avLst/>
            </a:prstGeom>
            <a:solidFill>
              <a:srgbClr val="FFFFFF"/>
            </a:solidFill>
            <a:ln w="7938">
              <a:solidFill>
                <a:srgbClr val="000000"/>
              </a:solidFill>
              <a:round/>
              <a:headEnd/>
              <a:tailEnd/>
            </a:ln>
          </p:spPr>
          <p:txBody>
            <a:bodyPr/>
            <a:lstStyle/>
            <a:p>
              <a:endParaRPr lang="en-US"/>
            </a:p>
          </p:txBody>
        </p:sp>
        <p:sp>
          <p:nvSpPr>
            <p:cNvPr id="333" name="Oval 720"/>
            <p:cNvSpPr>
              <a:spLocks noChangeArrowheads="1"/>
            </p:cNvSpPr>
            <p:nvPr/>
          </p:nvSpPr>
          <p:spPr bwMode="auto">
            <a:xfrm>
              <a:off x="3075" y="2766"/>
              <a:ext cx="28" cy="28"/>
            </a:xfrm>
            <a:prstGeom prst="ellipse">
              <a:avLst/>
            </a:prstGeom>
            <a:solidFill>
              <a:srgbClr val="FFFFFF"/>
            </a:solidFill>
            <a:ln w="7938">
              <a:solidFill>
                <a:srgbClr val="000000"/>
              </a:solidFill>
              <a:round/>
              <a:headEnd/>
              <a:tailEnd/>
            </a:ln>
          </p:spPr>
          <p:txBody>
            <a:bodyPr/>
            <a:lstStyle/>
            <a:p>
              <a:endParaRPr lang="en-US"/>
            </a:p>
          </p:txBody>
        </p:sp>
        <p:sp>
          <p:nvSpPr>
            <p:cNvPr id="334" name="Oval 721"/>
            <p:cNvSpPr>
              <a:spLocks noChangeArrowheads="1"/>
            </p:cNvSpPr>
            <p:nvPr/>
          </p:nvSpPr>
          <p:spPr bwMode="auto">
            <a:xfrm>
              <a:off x="3089" y="2888"/>
              <a:ext cx="28" cy="28"/>
            </a:xfrm>
            <a:prstGeom prst="ellipse">
              <a:avLst/>
            </a:prstGeom>
            <a:solidFill>
              <a:srgbClr val="FFFFFF"/>
            </a:solidFill>
            <a:ln w="7938">
              <a:solidFill>
                <a:srgbClr val="000000"/>
              </a:solidFill>
              <a:round/>
              <a:headEnd/>
              <a:tailEnd/>
            </a:ln>
          </p:spPr>
          <p:txBody>
            <a:bodyPr/>
            <a:lstStyle/>
            <a:p>
              <a:endParaRPr lang="en-US"/>
            </a:p>
          </p:txBody>
        </p:sp>
        <p:sp>
          <p:nvSpPr>
            <p:cNvPr id="335" name="Oval 722"/>
            <p:cNvSpPr>
              <a:spLocks noChangeArrowheads="1"/>
            </p:cNvSpPr>
            <p:nvPr/>
          </p:nvSpPr>
          <p:spPr bwMode="auto">
            <a:xfrm>
              <a:off x="3098" y="2780"/>
              <a:ext cx="28" cy="28"/>
            </a:xfrm>
            <a:prstGeom prst="ellipse">
              <a:avLst/>
            </a:prstGeom>
            <a:solidFill>
              <a:srgbClr val="FFFFFF"/>
            </a:solidFill>
            <a:ln w="7938">
              <a:solidFill>
                <a:srgbClr val="000000"/>
              </a:solidFill>
              <a:round/>
              <a:headEnd/>
              <a:tailEnd/>
            </a:ln>
          </p:spPr>
          <p:txBody>
            <a:bodyPr/>
            <a:lstStyle/>
            <a:p>
              <a:endParaRPr lang="en-US"/>
            </a:p>
          </p:txBody>
        </p:sp>
        <p:sp>
          <p:nvSpPr>
            <p:cNvPr id="336" name="Oval 723"/>
            <p:cNvSpPr>
              <a:spLocks noChangeArrowheads="1"/>
            </p:cNvSpPr>
            <p:nvPr/>
          </p:nvSpPr>
          <p:spPr bwMode="auto">
            <a:xfrm>
              <a:off x="3107"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37" name="Oval 724"/>
            <p:cNvSpPr>
              <a:spLocks noChangeArrowheads="1"/>
            </p:cNvSpPr>
            <p:nvPr/>
          </p:nvSpPr>
          <p:spPr bwMode="auto">
            <a:xfrm>
              <a:off x="3121"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38" name="Oval 725"/>
            <p:cNvSpPr>
              <a:spLocks noChangeArrowheads="1"/>
            </p:cNvSpPr>
            <p:nvPr/>
          </p:nvSpPr>
          <p:spPr bwMode="auto">
            <a:xfrm>
              <a:off x="3121" y="2949"/>
              <a:ext cx="28" cy="28"/>
            </a:xfrm>
            <a:prstGeom prst="ellipse">
              <a:avLst/>
            </a:prstGeom>
            <a:solidFill>
              <a:srgbClr val="FFFFFF"/>
            </a:solidFill>
            <a:ln w="7938">
              <a:solidFill>
                <a:srgbClr val="000000"/>
              </a:solidFill>
              <a:round/>
              <a:headEnd/>
              <a:tailEnd/>
            </a:ln>
          </p:spPr>
          <p:txBody>
            <a:bodyPr/>
            <a:lstStyle/>
            <a:p>
              <a:endParaRPr lang="en-US"/>
            </a:p>
          </p:txBody>
        </p:sp>
        <p:sp>
          <p:nvSpPr>
            <p:cNvPr id="339" name="Oval 726"/>
            <p:cNvSpPr>
              <a:spLocks noChangeArrowheads="1"/>
            </p:cNvSpPr>
            <p:nvPr/>
          </p:nvSpPr>
          <p:spPr bwMode="auto">
            <a:xfrm>
              <a:off x="3154" y="2893"/>
              <a:ext cx="28" cy="28"/>
            </a:xfrm>
            <a:prstGeom prst="ellipse">
              <a:avLst/>
            </a:prstGeom>
            <a:solidFill>
              <a:srgbClr val="FFFFFF"/>
            </a:solidFill>
            <a:ln w="7938">
              <a:solidFill>
                <a:srgbClr val="000000"/>
              </a:solidFill>
              <a:round/>
              <a:headEnd/>
              <a:tailEnd/>
            </a:ln>
          </p:spPr>
          <p:txBody>
            <a:bodyPr/>
            <a:lstStyle/>
            <a:p>
              <a:endParaRPr lang="en-US"/>
            </a:p>
          </p:txBody>
        </p:sp>
        <p:sp>
          <p:nvSpPr>
            <p:cNvPr id="340" name="Oval 727"/>
            <p:cNvSpPr>
              <a:spLocks noChangeArrowheads="1"/>
            </p:cNvSpPr>
            <p:nvPr/>
          </p:nvSpPr>
          <p:spPr bwMode="auto">
            <a:xfrm>
              <a:off x="3154" y="2883"/>
              <a:ext cx="28" cy="29"/>
            </a:xfrm>
            <a:prstGeom prst="ellipse">
              <a:avLst/>
            </a:prstGeom>
            <a:solidFill>
              <a:srgbClr val="FFFFFF"/>
            </a:solidFill>
            <a:ln w="7938">
              <a:solidFill>
                <a:srgbClr val="000000"/>
              </a:solidFill>
              <a:round/>
              <a:headEnd/>
              <a:tailEnd/>
            </a:ln>
          </p:spPr>
          <p:txBody>
            <a:bodyPr/>
            <a:lstStyle/>
            <a:p>
              <a:endParaRPr lang="en-US"/>
            </a:p>
          </p:txBody>
        </p:sp>
        <p:sp>
          <p:nvSpPr>
            <p:cNvPr id="341" name="Oval 728"/>
            <p:cNvSpPr>
              <a:spLocks noChangeArrowheads="1"/>
            </p:cNvSpPr>
            <p:nvPr/>
          </p:nvSpPr>
          <p:spPr bwMode="auto">
            <a:xfrm>
              <a:off x="3159"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42" name="Oval 729"/>
            <p:cNvSpPr>
              <a:spLocks noChangeArrowheads="1"/>
            </p:cNvSpPr>
            <p:nvPr/>
          </p:nvSpPr>
          <p:spPr bwMode="auto">
            <a:xfrm>
              <a:off x="3163"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43" name="Oval 730"/>
            <p:cNvSpPr>
              <a:spLocks noChangeArrowheads="1"/>
            </p:cNvSpPr>
            <p:nvPr/>
          </p:nvSpPr>
          <p:spPr bwMode="auto">
            <a:xfrm>
              <a:off x="3168" y="2780"/>
              <a:ext cx="28" cy="28"/>
            </a:xfrm>
            <a:prstGeom prst="ellipse">
              <a:avLst/>
            </a:prstGeom>
            <a:solidFill>
              <a:srgbClr val="FFFFFF"/>
            </a:solidFill>
            <a:ln w="7938">
              <a:solidFill>
                <a:srgbClr val="000000"/>
              </a:solidFill>
              <a:round/>
              <a:headEnd/>
              <a:tailEnd/>
            </a:ln>
          </p:spPr>
          <p:txBody>
            <a:bodyPr/>
            <a:lstStyle/>
            <a:p>
              <a:endParaRPr lang="en-US"/>
            </a:p>
          </p:txBody>
        </p:sp>
        <p:sp>
          <p:nvSpPr>
            <p:cNvPr id="344" name="Oval 731"/>
            <p:cNvSpPr>
              <a:spLocks noChangeArrowheads="1"/>
            </p:cNvSpPr>
            <p:nvPr/>
          </p:nvSpPr>
          <p:spPr bwMode="auto">
            <a:xfrm>
              <a:off x="3173" y="2822"/>
              <a:ext cx="28" cy="29"/>
            </a:xfrm>
            <a:prstGeom prst="ellipse">
              <a:avLst/>
            </a:prstGeom>
            <a:solidFill>
              <a:srgbClr val="FFFFFF"/>
            </a:solidFill>
            <a:ln w="7938">
              <a:solidFill>
                <a:srgbClr val="000000"/>
              </a:solidFill>
              <a:round/>
              <a:headEnd/>
              <a:tailEnd/>
            </a:ln>
          </p:spPr>
          <p:txBody>
            <a:bodyPr/>
            <a:lstStyle/>
            <a:p>
              <a:endParaRPr lang="en-US"/>
            </a:p>
          </p:txBody>
        </p:sp>
        <p:sp>
          <p:nvSpPr>
            <p:cNvPr id="345" name="Oval 732"/>
            <p:cNvSpPr>
              <a:spLocks noChangeArrowheads="1"/>
            </p:cNvSpPr>
            <p:nvPr/>
          </p:nvSpPr>
          <p:spPr bwMode="auto">
            <a:xfrm>
              <a:off x="3187" y="2705"/>
              <a:ext cx="28" cy="28"/>
            </a:xfrm>
            <a:prstGeom prst="ellipse">
              <a:avLst/>
            </a:prstGeom>
            <a:solidFill>
              <a:srgbClr val="FFFFFF"/>
            </a:solidFill>
            <a:ln w="7938">
              <a:solidFill>
                <a:srgbClr val="000000"/>
              </a:solidFill>
              <a:round/>
              <a:headEnd/>
              <a:tailEnd/>
            </a:ln>
          </p:spPr>
          <p:txBody>
            <a:bodyPr/>
            <a:lstStyle/>
            <a:p>
              <a:endParaRPr lang="en-US"/>
            </a:p>
          </p:txBody>
        </p:sp>
        <p:sp>
          <p:nvSpPr>
            <p:cNvPr id="346" name="Oval 733"/>
            <p:cNvSpPr>
              <a:spLocks noChangeArrowheads="1"/>
            </p:cNvSpPr>
            <p:nvPr/>
          </p:nvSpPr>
          <p:spPr bwMode="auto">
            <a:xfrm>
              <a:off x="3191" y="2818"/>
              <a:ext cx="28" cy="28"/>
            </a:xfrm>
            <a:prstGeom prst="ellipse">
              <a:avLst/>
            </a:prstGeom>
            <a:solidFill>
              <a:srgbClr val="FFFFFF"/>
            </a:solidFill>
            <a:ln w="7938">
              <a:solidFill>
                <a:srgbClr val="000000"/>
              </a:solidFill>
              <a:round/>
              <a:headEnd/>
              <a:tailEnd/>
            </a:ln>
          </p:spPr>
          <p:txBody>
            <a:bodyPr/>
            <a:lstStyle/>
            <a:p>
              <a:endParaRPr lang="en-US"/>
            </a:p>
          </p:txBody>
        </p:sp>
        <p:sp>
          <p:nvSpPr>
            <p:cNvPr id="347" name="Oval 734"/>
            <p:cNvSpPr>
              <a:spLocks noChangeArrowheads="1"/>
            </p:cNvSpPr>
            <p:nvPr/>
          </p:nvSpPr>
          <p:spPr bwMode="auto">
            <a:xfrm>
              <a:off x="3191" y="2780"/>
              <a:ext cx="28" cy="28"/>
            </a:xfrm>
            <a:prstGeom prst="ellipse">
              <a:avLst/>
            </a:prstGeom>
            <a:solidFill>
              <a:srgbClr val="FFFFFF"/>
            </a:solidFill>
            <a:ln w="7938">
              <a:solidFill>
                <a:srgbClr val="000000"/>
              </a:solidFill>
              <a:round/>
              <a:headEnd/>
              <a:tailEnd/>
            </a:ln>
          </p:spPr>
          <p:txBody>
            <a:bodyPr/>
            <a:lstStyle/>
            <a:p>
              <a:endParaRPr lang="en-US"/>
            </a:p>
          </p:txBody>
        </p:sp>
        <p:sp>
          <p:nvSpPr>
            <p:cNvPr id="348" name="Oval 735"/>
            <p:cNvSpPr>
              <a:spLocks noChangeArrowheads="1"/>
            </p:cNvSpPr>
            <p:nvPr/>
          </p:nvSpPr>
          <p:spPr bwMode="auto">
            <a:xfrm>
              <a:off x="3191" y="2794"/>
              <a:ext cx="28" cy="28"/>
            </a:xfrm>
            <a:prstGeom prst="ellipse">
              <a:avLst/>
            </a:prstGeom>
            <a:solidFill>
              <a:srgbClr val="FFFFFF"/>
            </a:solidFill>
            <a:ln w="7938">
              <a:solidFill>
                <a:srgbClr val="000000"/>
              </a:solidFill>
              <a:round/>
              <a:headEnd/>
              <a:tailEnd/>
            </a:ln>
          </p:spPr>
          <p:txBody>
            <a:bodyPr/>
            <a:lstStyle/>
            <a:p>
              <a:endParaRPr lang="en-US"/>
            </a:p>
          </p:txBody>
        </p:sp>
        <p:sp>
          <p:nvSpPr>
            <p:cNvPr id="349" name="Oval 736"/>
            <p:cNvSpPr>
              <a:spLocks noChangeArrowheads="1"/>
            </p:cNvSpPr>
            <p:nvPr/>
          </p:nvSpPr>
          <p:spPr bwMode="auto">
            <a:xfrm>
              <a:off x="3196" y="2794"/>
              <a:ext cx="28" cy="28"/>
            </a:xfrm>
            <a:prstGeom prst="ellipse">
              <a:avLst/>
            </a:prstGeom>
            <a:solidFill>
              <a:srgbClr val="FFFFFF"/>
            </a:solidFill>
            <a:ln w="7938">
              <a:solidFill>
                <a:srgbClr val="000000"/>
              </a:solidFill>
              <a:round/>
              <a:headEnd/>
              <a:tailEnd/>
            </a:ln>
          </p:spPr>
          <p:txBody>
            <a:bodyPr/>
            <a:lstStyle/>
            <a:p>
              <a:endParaRPr lang="en-US"/>
            </a:p>
          </p:txBody>
        </p:sp>
        <p:sp>
          <p:nvSpPr>
            <p:cNvPr id="350" name="Oval 737"/>
            <p:cNvSpPr>
              <a:spLocks noChangeArrowheads="1"/>
            </p:cNvSpPr>
            <p:nvPr/>
          </p:nvSpPr>
          <p:spPr bwMode="auto">
            <a:xfrm>
              <a:off x="3196" y="2977"/>
              <a:ext cx="28" cy="28"/>
            </a:xfrm>
            <a:prstGeom prst="ellipse">
              <a:avLst/>
            </a:prstGeom>
            <a:solidFill>
              <a:srgbClr val="FFFFFF"/>
            </a:solidFill>
            <a:ln w="7938">
              <a:solidFill>
                <a:srgbClr val="000000"/>
              </a:solidFill>
              <a:round/>
              <a:headEnd/>
              <a:tailEnd/>
            </a:ln>
          </p:spPr>
          <p:txBody>
            <a:bodyPr/>
            <a:lstStyle/>
            <a:p>
              <a:endParaRPr lang="en-US"/>
            </a:p>
          </p:txBody>
        </p:sp>
        <p:sp>
          <p:nvSpPr>
            <p:cNvPr id="351" name="Oval 738"/>
            <p:cNvSpPr>
              <a:spLocks noChangeArrowheads="1"/>
            </p:cNvSpPr>
            <p:nvPr/>
          </p:nvSpPr>
          <p:spPr bwMode="auto">
            <a:xfrm>
              <a:off x="3201" y="2677"/>
              <a:ext cx="28" cy="28"/>
            </a:xfrm>
            <a:prstGeom prst="ellipse">
              <a:avLst/>
            </a:prstGeom>
            <a:solidFill>
              <a:srgbClr val="FFFFFF"/>
            </a:solidFill>
            <a:ln w="7938">
              <a:solidFill>
                <a:srgbClr val="000000"/>
              </a:solidFill>
              <a:round/>
              <a:headEnd/>
              <a:tailEnd/>
            </a:ln>
          </p:spPr>
          <p:txBody>
            <a:bodyPr/>
            <a:lstStyle/>
            <a:p>
              <a:endParaRPr lang="en-US"/>
            </a:p>
          </p:txBody>
        </p:sp>
        <p:sp>
          <p:nvSpPr>
            <p:cNvPr id="352" name="Oval 739"/>
            <p:cNvSpPr>
              <a:spLocks noChangeArrowheads="1"/>
            </p:cNvSpPr>
            <p:nvPr/>
          </p:nvSpPr>
          <p:spPr bwMode="auto">
            <a:xfrm>
              <a:off x="3201" y="2832"/>
              <a:ext cx="28" cy="28"/>
            </a:xfrm>
            <a:prstGeom prst="ellipse">
              <a:avLst/>
            </a:prstGeom>
            <a:solidFill>
              <a:srgbClr val="FFFFFF"/>
            </a:solidFill>
            <a:ln w="7938">
              <a:solidFill>
                <a:srgbClr val="000000"/>
              </a:solidFill>
              <a:round/>
              <a:headEnd/>
              <a:tailEnd/>
            </a:ln>
          </p:spPr>
          <p:txBody>
            <a:bodyPr/>
            <a:lstStyle/>
            <a:p>
              <a:endParaRPr lang="en-US"/>
            </a:p>
          </p:txBody>
        </p:sp>
        <p:sp>
          <p:nvSpPr>
            <p:cNvPr id="353" name="Oval 740"/>
            <p:cNvSpPr>
              <a:spLocks noChangeArrowheads="1"/>
            </p:cNvSpPr>
            <p:nvPr/>
          </p:nvSpPr>
          <p:spPr bwMode="auto">
            <a:xfrm>
              <a:off x="3205" y="2729"/>
              <a:ext cx="28" cy="28"/>
            </a:xfrm>
            <a:prstGeom prst="ellipse">
              <a:avLst/>
            </a:prstGeom>
            <a:solidFill>
              <a:srgbClr val="FFFFFF"/>
            </a:solidFill>
            <a:ln w="7938">
              <a:solidFill>
                <a:srgbClr val="000000"/>
              </a:solidFill>
              <a:round/>
              <a:headEnd/>
              <a:tailEnd/>
            </a:ln>
          </p:spPr>
          <p:txBody>
            <a:bodyPr/>
            <a:lstStyle/>
            <a:p>
              <a:endParaRPr lang="en-US"/>
            </a:p>
          </p:txBody>
        </p:sp>
        <p:sp>
          <p:nvSpPr>
            <p:cNvPr id="354" name="Oval 741"/>
            <p:cNvSpPr>
              <a:spLocks noChangeArrowheads="1"/>
            </p:cNvSpPr>
            <p:nvPr/>
          </p:nvSpPr>
          <p:spPr bwMode="auto">
            <a:xfrm>
              <a:off x="3215" y="2855"/>
              <a:ext cx="28" cy="28"/>
            </a:xfrm>
            <a:prstGeom prst="ellipse">
              <a:avLst/>
            </a:prstGeom>
            <a:solidFill>
              <a:srgbClr val="FFFFFF"/>
            </a:solidFill>
            <a:ln w="7938">
              <a:solidFill>
                <a:srgbClr val="000000"/>
              </a:solidFill>
              <a:round/>
              <a:headEnd/>
              <a:tailEnd/>
            </a:ln>
          </p:spPr>
          <p:txBody>
            <a:bodyPr/>
            <a:lstStyle/>
            <a:p>
              <a:endParaRPr lang="en-US"/>
            </a:p>
          </p:txBody>
        </p:sp>
        <p:sp>
          <p:nvSpPr>
            <p:cNvPr id="355" name="Oval 742"/>
            <p:cNvSpPr>
              <a:spLocks noChangeArrowheads="1"/>
            </p:cNvSpPr>
            <p:nvPr/>
          </p:nvSpPr>
          <p:spPr bwMode="auto">
            <a:xfrm>
              <a:off x="3215" y="2747"/>
              <a:ext cx="28" cy="29"/>
            </a:xfrm>
            <a:prstGeom prst="ellipse">
              <a:avLst/>
            </a:prstGeom>
            <a:solidFill>
              <a:srgbClr val="FFFFFF"/>
            </a:solidFill>
            <a:ln w="7938">
              <a:solidFill>
                <a:srgbClr val="000000"/>
              </a:solidFill>
              <a:round/>
              <a:headEnd/>
              <a:tailEnd/>
            </a:ln>
          </p:spPr>
          <p:txBody>
            <a:bodyPr/>
            <a:lstStyle/>
            <a:p>
              <a:endParaRPr lang="en-US"/>
            </a:p>
          </p:txBody>
        </p:sp>
        <p:sp>
          <p:nvSpPr>
            <p:cNvPr id="356" name="Oval 743"/>
            <p:cNvSpPr>
              <a:spLocks noChangeArrowheads="1"/>
            </p:cNvSpPr>
            <p:nvPr/>
          </p:nvSpPr>
          <p:spPr bwMode="auto">
            <a:xfrm>
              <a:off x="3215" y="2733"/>
              <a:ext cx="28" cy="29"/>
            </a:xfrm>
            <a:prstGeom prst="ellipse">
              <a:avLst/>
            </a:prstGeom>
            <a:solidFill>
              <a:srgbClr val="FFFFFF"/>
            </a:solidFill>
            <a:ln w="7938">
              <a:solidFill>
                <a:srgbClr val="000000"/>
              </a:solidFill>
              <a:round/>
              <a:headEnd/>
              <a:tailEnd/>
            </a:ln>
          </p:spPr>
          <p:txBody>
            <a:bodyPr/>
            <a:lstStyle/>
            <a:p>
              <a:endParaRPr lang="en-US"/>
            </a:p>
          </p:txBody>
        </p:sp>
        <p:sp>
          <p:nvSpPr>
            <p:cNvPr id="357" name="Oval 744"/>
            <p:cNvSpPr>
              <a:spLocks noChangeArrowheads="1"/>
            </p:cNvSpPr>
            <p:nvPr/>
          </p:nvSpPr>
          <p:spPr bwMode="auto">
            <a:xfrm>
              <a:off x="3219"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58" name="Oval 745"/>
            <p:cNvSpPr>
              <a:spLocks noChangeArrowheads="1"/>
            </p:cNvSpPr>
            <p:nvPr/>
          </p:nvSpPr>
          <p:spPr bwMode="auto">
            <a:xfrm>
              <a:off x="3219" y="2855"/>
              <a:ext cx="28" cy="28"/>
            </a:xfrm>
            <a:prstGeom prst="ellipse">
              <a:avLst/>
            </a:prstGeom>
            <a:solidFill>
              <a:srgbClr val="FFFFFF"/>
            </a:solidFill>
            <a:ln w="7938">
              <a:solidFill>
                <a:srgbClr val="000000"/>
              </a:solidFill>
              <a:round/>
              <a:headEnd/>
              <a:tailEnd/>
            </a:ln>
          </p:spPr>
          <p:txBody>
            <a:bodyPr/>
            <a:lstStyle/>
            <a:p>
              <a:endParaRPr lang="en-US"/>
            </a:p>
          </p:txBody>
        </p:sp>
        <p:sp>
          <p:nvSpPr>
            <p:cNvPr id="359" name="Oval 746"/>
            <p:cNvSpPr>
              <a:spLocks noChangeArrowheads="1"/>
            </p:cNvSpPr>
            <p:nvPr/>
          </p:nvSpPr>
          <p:spPr bwMode="auto">
            <a:xfrm>
              <a:off x="3233" y="2625"/>
              <a:ext cx="28" cy="29"/>
            </a:xfrm>
            <a:prstGeom prst="ellipse">
              <a:avLst/>
            </a:prstGeom>
            <a:solidFill>
              <a:srgbClr val="FFFFFF"/>
            </a:solidFill>
            <a:ln w="7938">
              <a:solidFill>
                <a:srgbClr val="000000"/>
              </a:solidFill>
              <a:round/>
              <a:headEnd/>
              <a:tailEnd/>
            </a:ln>
          </p:spPr>
          <p:txBody>
            <a:bodyPr/>
            <a:lstStyle/>
            <a:p>
              <a:endParaRPr lang="en-US"/>
            </a:p>
          </p:txBody>
        </p:sp>
        <p:sp>
          <p:nvSpPr>
            <p:cNvPr id="360" name="Oval 747"/>
            <p:cNvSpPr>
              <a:spLocks noChangeArrowheads="1"/>
            </p:cNvSpPr>
            <p:nvPr/>
          </p:nvSpPr>
          <p:spPr bwMode="auto">
            <a:xfrm>
              <a:off x="3247" y="2504"/>
              <a:ext cx="28" cy="28"/>
            </a:xfrm>
            <a:prstGeom prst="ellipse">
              <a:avLst/>
            </a:prstGeom>
            <a:solidFill>
              <a:srgbClr val="FFFFFF"/>
            </a:solidFill>
            <a:ln w="7938">
              <a:solidFill>
                <a:srgbClr val="000000"/>
              </a:solidFill>
              <a:round/>
              <a:headEnd/>
              <a:tailEnd/>
            </a:ln>
          </p:spPr>
          <p:txBody>
            <a:bodyPr/>
            <a:lstStyle/>
            <a:p>
              <a:endParaRPr lang="en-US"/>
            </a:p>
          </p:txBody>
        </p:sp>
        <p:sp>
          <p:nvSpPr>
            <p:cNvPr id="361" name="Oval 748"/>
            <p:cNvSpPr>
              <a:spLocks noChangeArrowheads="1"/>
            </p:cNvSpPr>
            <p:nvPr/>
          </p:nvSpPr>
          <p:spPr bwMode="auto">
            <a:xfrm>
              <a:off x="3247" y="2893"/>
              <a:ext cx="28" cy="28"/>
            </a:xfrm>
            <a:prstGeom prst="ellipse">
              <a:avLst/>
            </a:prstGeom>
            <a:solidFill>
              <a:srgbClr val="FFFFFF"/>
            </a:solidFill>
            <a:ln w="7938">
              <a:solidFill>
                <a:srgbClr val="000000"/>
              </a:solidFill>
              <a:round/>
              <a:headEnd/>
              <a:tailEnd/>
            </a:ln>
          </p:spPr>
          <p:txBody>
            <a:bodyPr/>
            <a:lstStyle/>
            <a:p>
              <a:endParaRPr lang="en-US"/>
            </a:p>
          </p:txBody>
        </p:sp>
        <p:sp>
          <p:nvSpPr>
            <p:cNvPr id="362" name="Oval 749"/>
            <p:cNvSpPr>
              <a:spLocks noChangeArrowheads="1"/>
            </p:cNvSpPr>
            <p:nvPr/>
          </p:nvSpPr>
          <p:spPr bwMode="auto">
            <a:xfrm>
              <a:off x="3247" y="2860"/>
              <a:ext cx="28" cy="28"/>
            </a:xfrm>
            <a:prstGeom prst="ellipse">
              <a:avLst/>
            </a:prstGeom>
            <a:solidFill>
              <a:srgbClr val="FFFFFF"/>
            </a:solidFill>
            <a:ln w="7938">
              <a:solidFill>
                <a:srgbClr val="000000"/>
              </a:solidFill>
              <a:round/>
              <a:headEnd/>
              <a:tailEnd/>
            </a:ln>
          </p:spPr>
          <p:txBody>
            <a:bodyPr/>
            <a:lstStyle/>
            <a:p>
              <a:endParaRPr lang="en-US"/>
            </a:p>
          </p:txBody>
        </p:sp>
        <p:sp>
          <p:nvSpPr>
            <p:cNvPr id="363" name="Oval 750"/>
            <p:cNvSpPr>
              <a:spLocks noChangeArrowheads="1"/>
            </p:cNvSpPr>
            <p:nvPr/>
          </p:nvSpPr>
          <p:spPr bwMode="auto">
            <a:xfrm>
              <a:off x="3271" y="2705"/>
              <a:ext cx="28" cy="28"/>
            </a:xfrm>
            <a:prstGeom prst="ellipse">
              <a:avLst/>
            </a:prstGeom>
            <a:solidFill>
              <a:srgbClr val="FFFFFF"/>
            </a:solidFill>
            <a:ln w="7938">
              <a:solidFill>
                <a:srgbClr val="000000"/>
              </a:solidFill>
              <a:round/>
              <a:headEnd/>
              <a:tailEnd/>
            </a:ln>
          </p:spPr>
          <p:txBody>
            <a:bodyPr/>
            <a:lstStyle/>
            <a:p>
              <a:endParaRPr lang="en-US"/>
            </a:p>
          </p:txBody>
        </p:sp>
        <p:sp>
          <p:nvSpPr>
            <p:cNvPr id="364" name="Oval 751"/>
            <p:cNvSpPr>
              <a:spLocks noChangeArrowheads="1"/>
            </p:cNvSpPr>
            <p:nvPr/>
          </p:nvSpPr>
          <p:spPr bwMode="auto">
            <a:xfrm>
              <a:off x="3280" y="2776"/>
              <a:ext cx="28" cy="28"/>
            </a:xfrm>
            <a:prstGeom prst="ellipse">
              <a:avLst/>
            </a:prstGeom>
            <a:solidFill>
              <a:srgbClr val="FFFFFF"/>
            </a:solidFill>
            <a:ln w="7938">
              <a:solidFill>
                <a:srgbClr val="000000"/>
              </a:solidFill>
              <a:round/>
              <a:headEnd/>
              <a:tailEnd/>
            </a:ln>
          </p:spPr>
          <p:txBody>
            <a:bodyPr/>
            <a:lstStyle/>
            <a:p>
              <a:endParaRPr lang="en-US"/>
            </a:p>
          </p:txBody>
        </p:sp>
        <p:sp>
          <p:nvSpPr>
            <p:cNvPr id="365" name="Oval 752"/>
            <p:cNvSpPr>
              <a:spLocks noChangeArrowheads="1"/>
            </p:cNvSpPr>
            <p:nvPr/>
          </p:nvSpPr>
          <p:spPr bwMode="auto">
            <a:xfrm>
              <a:off x="3285" y="2715"/>
              <a:ext cx="28" cy="28"/>
            </a:xfrm>
            <a:prstGeom prst="ellipse">
              <a:avLst/>
            </a:prstGeom>
            <a:solidFill>
              <a:srgbClr val="FFFFFF"/>
            </a:solidFill>
            <a:ln w="7938">
              <a:solidFill>
                <a:srgbClr val="000000"/>
              </a:solidFill>
              <a:round/>
              <a:headEnd/>
              <a:tailEnd/>
            </a:ln>
          </p:spPr>
          <p:txBody>
            <a:bodyPr/>
            <a:lstStyle/>
            <a:p>
              <a:endParaRPr lang="en-US"/>
            </a:p>
          </p:txBody>
        </p:sp>
        <p:sp>
          <p:nvSpPr>
            <p:cNvPr id="366" name="Oval 753"/>
            <p:cNvSpPr>
              <a:spLocks noChangeArrowheads="1"/>
            </p:cNvSpPr>
            <p:nvPr/>
          </p:nvSpPr>
          <p:spPr bwMode="auto">
            <a:xfrm>
              <a:off x="3285" y="2837"/>
              <a:ext cx="28" cy="28"/>
            </a:xfrm>
            <a:prstGeom prst="ellipse">
              <a:avLst/>
            </a:prstGeom>
            <a:solidFill>
              <a:srgbClr val="FFFFFF"/>
            </a:solidFill>
            <a:ln w="7938">
              <a:solidFill>
                <a:srgbClr val="000000"/>
              </a:solidFill>
              <a:round/>
              <a:headEnd/>
              <a:tailEnd/>
            </a:ln>
          </p:spPr>
          <p:txBody>
            <a:bodyPr/>
            <a:lstStyle/>
            <a:p>
              <a:endParaRPr lang="en-US"/>
            </a:p>
          </p:txBody>
        </p:sp>
        <p:sp>
          <p:nvSpPr>
            <p:cNvPr id="367" name="Oval 754"/>
            <p:cNvSpPr>
              <a:spLocks noChangeArrowheads="1"/>
            </p:cNvSpPr>
            <p:nvPr/>
          </p:nvSpPr>
          <p:spPr bwMode="auto">
            <a:xfrm>
              <a:off x="3289" y="2682"/>
              <a:ext cx="28" cy="28"/>
            </a:xfrm>
            <a:prstGeom prst="ellipse">
              <a:avLst/>
            </a:prstGeom>
            <a:solidFill>
              <a:srgbClr val="FFFFFF"/>
            </a:solidFill>
            <a:ln w="7938">
              <a:solidFill>
                <a:srgbClr val="000000"/>
              </a:solidFill>
              <a:round/>
              <a:headEnd/>
              <a:tailEnd/>
            </a:ln>
          </p:spPr>
          <p:txBody>
            <a:bodyPr/>
            <a:lstStyle/>
            <a:p>
              <a:endParaRPr lang="en-US"/>
            </a:p>
          </p:txBody>
        </p:sp>
        <p:sp>
          <p:nvSpPr>
            <p:cNvPr id="368" name="Oval 755"/>
            <p:cNvSpPr>
              <a:spLocks noChangeArrowheads="1"/>
            </p:cNvSpPr>
            <p:nvPr/>
          </p:nvSpPr>
          <p:spPr bwMode="auto">
            <a:xfrm>
              <a:off x="3289" y="2640"/>
              <a:ext cx="28" cy="28"/>
            </a:xfrm>
            <a:prstGeom prst="ellipse">
              <a:avLst/>
            </a:prstGeom>
            <a:solidFill>
              <a:srgbClr val="FFFFFF"/>
            </a:solidFill>
            <a:ln w="7938">
              <a:solidFill>
                <a:srgbClr val="000000"/>
              </a:solidFill>
              <a:round/>
              <a:headEnd/>
              <a:tailEnd/>
            </a:ln>
          </p:spPr>
          <p:txBody>
            <a:bodyPr/>
            <a:lstStyle/>
            <a:p>
              <a:endParaRPr lang="en-US"/>
            </a:p>
          </p:txBody>
        </p:sp>
        <p:sp>
          <p:nvSpPr>
            <p:cNvPr id="369" name="Oval 756"/>
            <p:cNvSpPr>
              <a:spLocks noChangeArrowheads="1"/>
            </p:cNvSpPr>
            <p:nvPr/>
          </p:nvSpPr>
          <p:spPr bwMode="auto">
            <a:xfrm>
              <a:off x="3294" y="2785"/>
              <a:ext cx="28" cy="28"/>
            </a:xfrm>
            <a:prstGeom prst="ellipse">
              <a:avLst/>
            </a:prstGeom>
            <a:solidFill>
              <a:srgbClr val="FFFFFF"/>
            </a:solidFill>
            <a:ln w="7938">
              <a:solidFill>
                <a:srgbClr val="000000"/>
              </a:solidFill>
              <a:round/>
              <a:headEnd/>
              <a:tailEnd/>
            </a:ln>
          </p:spPr>
          <p:txBody>
            <a:bodyPr/>
            <a:lstStyle/>
            <a:p>
              <a:endParaRPr lang="en-US"/>
            </a:p>
          </p:txBody>
        </p:sp>
        <p:sp>
          <p:nvSpPr>
            <p:cNvPr id="370" name="Oval 757"/>
            <p:cNvSpPr>
              <a:spLocks noChangeArrowheads="1"/>
            </p:cNvSpPr>
            <p:nvPr/>
          </p:nvSpPr>
          <p:spPr bwMode="auto">
            <a:xfrm>
              <a:off x="3308" y="2715"/>
              <a:ext cx="28" cy="28"/>
            </a:xfrm>
            <a:prstGeom prst="ellipse">
              <a:avLst/>
            </a:prstGeom>
            <a:solidFill>
              <a:srgbClr val="FFFFFF"/>
            </a:solidFill>
            <a:ln w="7938">
              <a:solidFill>
                <a:srgbClr val="000000"/>
              </a:solidFill>
              <a:round/>
              <a:headEnd/>
              <a:tailEnd/>
            </a:ln>
          </p:spPr>
          <p:txBody>
            <a:bodyPr/>
            <a:lstStyle/>
            <a:p>
              <a:endParaRPr lang="en-US"/>
            </a:p>
          </p:txBody>
        </p:sp>
        <p:sp>
          <p:nvSpPr>
            <p:cNvPr id="371" name="Oval 758"/>
            <p:cNvSpPr>
              <a:spLocks noChangeArrowheads="1"/>
            </p:cNvSpPr>
            <p:nvPr/>
          </p:nvSpPr>
          <p:spPr bwMode="auto">
            <a:xfrm>
              <a:off x="3336"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72" name="Oval 759"/>
            <p:cNvSpPr>
              <a:spLocks noChangeArrowheads="1"/>
            </p:cNvSpPr>
            <p:nvPr/>
          </p:nvSpPr>
          <p:spPr bwMode="auto">
            <a:xfrm>
              <a:off x="3336" y="2579"/>
              <a:ext cx="28" cy="28"/>
            </a:xfrm>
            <a:prstGeom prst="ellipse">
              <a:avLst/>
            </a:prstGeom>
            <a:solidFill>
              <a:srgbClr val="FFFFFF"/>
            </a:solidFill>
            <a:ln w="7938">
              <a:solidFill>
                <a:srgbClr val="000000"/>
              </a:solidFill>
              <a:round/>
              <a:headEnd/>
              <a:tailEnd/>
            </a:ln>
          </p:spPr>
          <p:txBody>
            <a:bodyPr/>
            <a:lstStyle/>
            <a:p>
              <a:endParaRPr lang="en-US"/>
            </a:p>
          </p:txBody>
        </p:sp>
        <p:sp>
          <p:nvSpPr>
            <p:cNvPr id="373" name="Oval 760"/>
            <p:cNvSpPr>
              <a:spLocks noChangeArrowheads="1"/>
            </p:cNvSpPr>
            <p:nvPr/>
          </p:nvSpPr>
          <p:spPr bwMode="auto">
            <a:xfrm>
              <a:off x="3341" y="2804"/>
              <a:ext cx="28" cy="28"/>
            </a:xfrm>
            <a:prstGeom prst="ellipse">
              <a:avLst/>
            </a:prstGeom>
            <a:solidFill>
              <a:srgbClr val="FFFFFF"/>
            </a:solidFill>
            <a:ln w="7938">
              <a:solidFill>
                <a:srgbClr val="000000"/>
              </a:solidFill>
              <a:round/>
              <a:headEnd/>
              <a:tailEnd/>
            </a:ln>
          </p:spPr>
          <p:txBody>
            <a:bodyPr/>
            <a:lstStyle/>
            <a:p>
              <a:endParaRPr lang="en-US"/>
            </a:p>
          </p:txBody>
        </p:sp>
        <p:sp>
          <p:nvSpPr>
            <p:cNvPr id="374" name="Oval 761"/>
            <p:cNvSpPr>
              <a:spLocks noChangeArrowheads="1"/>
            </p:cNvSpPr>
            <p:nvPr/>
          </p:nvSpPr>
          <p:spPr bwMode="auto">
            <a:xfrm>
              <a:off x="3341" y="2625"/>
              <a:ext cx="28" cy="29"/>
            </a:xfrm>
            <a:prstGeom prst="ellipse">
              <a:avLst/>
            </a:prstGeom>
            <a:solidFill>
              <a:srgbClr val="FFFFFF"/>
            </a:solidFill>
            <a:ln w="7938">
              <a:solidFill>
                <a:srgbClr val="000000"/>
              </a:solidFill>
              <a:round/>
              <a:headEnd/>
              <a:tailEnd/>
            </a:ln>
          </p:spPr>
          <p:txBody>
            <a:bodyPr/>
            <a:lstStyle/>
            <a:p>
              <a:endParaRPr lang="en-US"/>
            </a:p>
          </p:txBody>
        </p:sp>
        <p:sp>
          <p:nvSpPr>
            <p:cNvPr id="375" name="Oval 762"/>
            <p:cNvSpPr>
              <a:spLocks noChangeArrowheads="1"/>
            </p:cNvSpPr>
            <p:nvPr/>
          </p:nvSpPr>
          <p:spPr bwMode="auto">
            <a:xfrm>
              <a:off x="3345" y="2668"/>
              <a:ext cx="28" cy="28"/>
            </a:xfrm>
            <a:prstGeom prst="ellipse">
              <a:avLst/>
            </a:prstGeom>
            <a:solidFill>
              <a:srgbClr val="FFFFFF"/>
            </a:solidFill>
            <a:ln w="7938">
              <a:solidFill>
                <a:srgbClr val="000000"/>
              </a:solidFill>
              <a:round/>
              <a:headEnd/>
              <a:tailEnd/>
            </a:ln>
          </p:spPr>
          <p:txBody>
            <a:bodyPr/>
            <a:lstStyle/>
            <a:p>
              <a:endParaRPr lang="en-US"/>
            </a:p>
          </p:txBody>
        </p:sp>
        <p:sp>
          <p:nvSpPr>
            <p:cNvPr id="376" name="Oval 763"/>
            <p:cNvSpPr>
              <a:spLocks noChangeArrowheads="1"/>
            </p:cNvSpPr>
            <p:nvPr/>
          </p:nvSpPr>
          <p:spPr bwMode="auto">
            <a:xfrm>
              <a:off x="3350" y="2691"/>
              <a:ext cx="28" cy="28"/>
            </a:xfrm>
            <a:prstGeom prst="ellipse">
              <a:avLst/>
            </a:prstGeom>
            <a:solidFill>
              <a:srgbClr val="FFFFFF"/>
            </a:solidFill>
            <a:ln w="7938">
              <a:solidFill>
                <a:srgbClr val="000000"/>
              </a:solidFill>
              <a:round/>
              <a:headEnd/>
              <a:tailEnd/>
            </a:ln>
          </p:spPr>
          <p:txBody>
            <a:bodyPr/>
            <a:lstStyle/>
            <a:p>
              <a:endParaRPr lang="en-US"/>
            </a:p>
          </p:txBody>
        </p:sp>
        <p:sp>
          <p:nvSpPr>
            <p:cNvPr id="377" name="Oval 764"/>
            <p:cNvSpPr>
              <a:spLocks noChangeArrowheads="1"/>
            </p:cNvSpPr>
            <p:nvPr/>
          </p:nvSpPr>
          <p:spPr bwMode="auto">
            <a:xfrm>
              <a:off x="3350" y="2944"/>
              <a:ext cx="28" cy="29"/>
            </a:xfrm>
            <a:prstGeom prst="ellipse">
              <a:avLst/>
            </a:prstGeom>
            <a:solidFill>
              <a:srgbClr val="FFFFFF"/>
            </a:solidFill>
            <a:ln w="7938">
              <a:solidFill>
                <a:srgbClr val="000000"/>
              </a:solidFill>
              <a:round/>
              <a:headEnd/>
              <a:tailEnd/>
            </a:ln>
          </p:spPr>
          <p:txBody>
            <a:bodyPr/>
            <a:lstStyle/>
            <a:p>
              <a:endParaRPr lang="en-US"/>
            </a:p>
          </p:txBody>
        </p:sp>
        <p:sp>
          <p:nvSpPr>
            <p:cNvPr id="378" name="Oval 765"/>
            <p:cNvSpPr>
              <a:spLocks noChangeArrowheads="1"/>
            </p:cNvSpPr>
            <p:nvPr/>
          </p:nvSpPr>
          <p:spPr bwMode="auto">
            <a:xfrm>
              <a:off x="3355" y="2738"/>
              <a:ext cx="28" cy="28"/>
            </a:xfrm>
            <a:prstGeom prst="ellipse">
              <a:avLst/>
            </a:prstGeom>
            <a:solidFill>
              <a:srgbClr val="FFFFFF"/>
            </a:solidFill>
            <a:ln w="7938">
              <a:solidFill>
                <a:srgbClr val="000000"/>
              </a:solidFill>
              <a:round/>
              <a:headEnd/>
              <a:tailEnd/>
            </a:ln>
          </p:spPr>
          <p:txBody>
            <a:bodyPr/>
            <a:lstStyle/>
            <a:p>
              <a:endParaRPr lang="en-US"/>
            </a:p>
          </p:txBody>
        </p:sp>
        <p:sp>
          <p:nvSpPr>
            <p:cNvPr id="379" name="Oval 766"/>
            <p:cNvSpPr>
              <a:spLocks noChangeArrowheads="1"/>
            </p:cNvSpPr>
            <p:nvPr/>
          </p:nvSpPr>
          <p:spPr bwMode="auto">
            <a:xfrm>
              <a:off x="3359"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80" name="Oval 767"/>
            <p:cNvSpPr>
              <a:spLocks noChangeArrowheads="1"/>
            </p:cNvSpPr>
            <p:nvPr/>
          </p:nvSpPr>
          <p:spPr bwMode="auto">
            <a:xfrm>
              <a:off x="3364" y="2668"/>
              <a:ext cx="28" cy="28"/>
            </a:xfrm>
            <a:prstGeom prst="ellipse">
              <a:avLst/>
            </a:prstGeom>
            <a:solidFill>
              <a:srgbClr val="FFFFFF"/>
            </a:solidFill>
            <a:ln w="7938">
              <a:solidFill>
                <a:srgbClr val="000000"/>
              </a:solidFill>
              <a:round/>
              <a:headEnd/>
              <a:tailEnd/>
            </a:ln>
          </p:spPr>
          <p:txBody>
            <a:bodyPr/>
            <a:lstStyle/>
            <a:p>
              <a:endParaRPr lang="en-US"/>
            </a:p>
          </p:txBody>
        </p:sp>
        <p:sp>
          <p:nvSpPr>
            <p:cNvPr id="381" name="Oval 768"/>
            <p:cNvSpPr>
              <a:spLocks noChangeArrowheads="1"/>
            </p:cNvSpPr>
            <p:nvPr/>
          </p:nvSpPr>
          <p:spPr bwMode="auto">
            <a:xfrm>
              <a:off x="3373" y="2583"/>
              <a:ext cx="28" cy="28"/>
            </a:xfrm>
            <a:prstGeom prst="ellipse">
              <a:avLst/>
            </a:prstGeom>
            <a:solidFill>
              <a:srgbClr val="FFFFFF"/>
            </a:solidFill>
            <a:ln w="7938">
              <a:solidFill>
                <a:srgbClr val="000000"/>
              </a:solidFill>
              <a:round/>
              <a:headEnd/>
              <a:tailEnd/>
            </a:ln>
          </p:spPr>
          <p:txBody>
            <a:bodyPr/>
            <a:lstStyle/>
            <a:p>
              <a:endParaRPr lang="en-US"/>
            </a:p>
          </p:txBody>
        </p:sp>
        <p:sp>
          <p:nvSpPr>
            <p:cNvPr id="382" name="Oval 769"/>
            <p:cNvSpPr>
              <a:spLocks noChangeArrowheads="1"/>
            </p:cNvSpPr>
            <p:nvPr/>
          </p:nvSpPr>
          <p:spPr bwMode="auto">
            <a:xfrm>
              <a:off x="3378" y="2649"/>
              <a:ext cx="28" cy="28"/>
            </a:xfrm>
            <a:prstGeom prst="ellipse">
              <a:avLst/>
            </a:prstGeom>
            <a:solidFill>
              <a:srgbClr val="FFFFFF"/>
            </a:solidFill>
            <a:ln w="7938">
              <a:solidFill>
                <a:srgbClr val="000000"/>
              </a:solidFill>
              <a:round/>
              <a:headEnd/>
              <a:tailEnd/>
            </a:ln>
          </p:spPr>
          <p:txBody>
            <a:bodyPr/>
            <a:lstStyle/>
            <a:p>
              <a:endParaRPr lang="en-US"/>
            </a:p>
          </p:txBody>
        </p:sp>
        <p:sp>
          <p:nvSpPr>
            <p:cNvPr id="383" name="Oval 770"/>
            <p:cNvSpPr>
              <a:spLocks noChangeArrowheads="1"/>
            </p:cNvSpPr>
            <p:nvPr/>
          </p:nvSpPr>
          <p:spPr bwMode="auto">
            <a:xfrm>
              <a:off x="3387" y="2644"/>
              <a:ext cx="28" cy="28"/>
            </a:xfrm>
            <a:prstGeom prst="ellipse">
              <a:avLst/>
            </a:prstGeom>
            <a:solidFill>
              <a:srgbClr val="FFFFFF"/>
            </a:solidFill>
            <a:ln w="7938">
              <a:solidFill>
                <a:srgbClr val="000000"/>
              </a:solidFill>
              <a:round/>
              <a:headEnd/>
              <a:tailEnd/>
            </a:ln>
          </p:spPr>
          <p:txBody>
            <a:bodyPr/>
            <a:lstStyle/>
            <a:p>
              <a:endParaRPr lang="en-US"/>
            </a:p>
          </p:txBody>
        </p:sp>
        <p:sp>
          <p:nvSpPr>
            <p:cNvPr id="384" name="Oval 771"/>
            <p:cNvSpPr>
              <a:spLocks noChangeArrowheads="1"/>
            </p:cNvSpPr>
            <p:nvPr/>
          </p:nvSpPr>
          <p:spPr bwMode="auto">
            <a:xfrm>
              <a:off x="3387" y="2804"/>
              <a:ext cx="28" cy="28"/>
            </a:xfrm>
            <a:prstGeom prst="ellipse">
              <a:avLst/>
            </a:prstGeom>
            <a:solidFill>
              <a:srgbClr val="FFFFFF"/>
            </a:solidFill>
            <a:ln w="7938">
              <a:solidFill>
                <a:srgbClr val="000000"/>
              </a:solidFill>
              <a:round/>
              <a:headEnd/>
              <a:tailEnd/>
            </a:ln>
          </p:spPr>
          <p:txBody>
            <a:bodyPr/>
            <a:lstStyle/>
            <a:p>
              <a:endParaRPr lang="en-US"/>
            </a:p>
          </p:txBody>
        </p:sp>
        <p:sp>
          <p:nvSpPr>
            <p:cNvPr id="385" name="Oval 772"/>
            <p:cNvSpPr>
              <a:spLocks noChangeArrowheads="1"/>
            </p:cNvSpPr>
            <p:nvPr/>
          </p:nvSpPr>
          <p:spPr bwMode="auto">
            <a:xfrm>
              <a:off x="3392" y="2602"/>
              <a:ext cx="28" cy="28"/>
            </a:xfrm>
            <a:prstGeom prst="ellipse">
              <a:avLst/>
            </a:prstGeom>
            <a:solidFill>
              <a:srgbClr val="FFFFFF"/>
            </a:solidFill>
            <a:ln w="7938">
              <a:solidFill>
                <a:srgbClr val="000000"/>
              </a:solidFill>
              <a:round/>
              <a:headEnd/>
              <a:tailEnd/>
            </a:ln>
          </p:spPr>
          <p:txBody>
            <a:bodyPr/>
            <a:lstStyle/>
            <a:p>
              <a:endParaRPr lang="en-US"/>
            </a:p>
          </p:txBody>
        </p:sp>
        <p:sp>
          <p:nvSpPr>
            <p:cNvPr id="386" name="Oval 773"/>
            <p:cNvSpPr>
              <a:spLocks noChangeArrowheads="1"/>
            </p:cNvSpPr>
            <p:nvPr/>
          </p:nvSpPr>
          <p:spPr bwMode="auto">
            <a:xfrm>
              <a:off x="3401" y="2743"/>
              <a:ext cx="28" cy="28"/>
            </a:xfrm>
            <a:prstGeom prst="ellipse">
              <a:avLst/>
            </a:prstGeom>
            <a:solidFill>
              <a:srgbClr val="FFFFFF"/>
            </a:solidFill>
            <a:ln w="7938">
              <a:solidFill>
                <a:srgbClr val="000000"/>
              </a:solidFill>
              <a:round/>
              <a:headEnd/>
              <a:tailEnd/>
            </a:ln>
          </p:spPr>
          <p:txBody>
            <a:bodyPr/>
            <a:lstStyle/>
            <a:p>
              <a:endParaRPr lang="en-US"/>
            </a:p>
          </p:txBody>
        </p:sp>
        <p:sp>
          <p:nvSpPr>
            <p:cNvPr id="387" name="Oval 774"/>
            <p:cNvSpPr>
              <a:spLocks noChangeArrowheads="1"/>
            </p:cNvSpPr>
            <p:nvPr/>
          </p:nvSpPr>
          <p:spPr bwMode="auto">
            <a:xfrm>
              <a:off x="3401" y="2710"/>
              <a:ext cx="28" cy="28"/>
            </a:xfrm>
            <a:prstGeom prst="ellipse">
              <a:avLst/>
            </a:prstGeom>
            <a:solidFill>
              <a:srgbClr val="FFFFFF"/>
            </a:solidFill>
            <a:ln w="7938">
              <a:solidFill>
                <a:srgbClr val="000000"/>
              </a:solidFill>
              <a:round/>
              <a:headEnd/>
              <a:tailEnd/>
            </a:ln>
          </p:spPr>
          <p:txBody>
            <a:bodyPr/>
            <a:lstStyle/>
            <a:p>
              <a:endParaRPr lang="en-US"/>
            </a:p>
          </p:txBody>
        </p:sp>
        <p:sp>
          <p:nvSpPr>
            <p:cNvPr id="388" name="Oval 775"/>
            <p:cNvSpPr>
              <a:spLocks noChangeArrowheads="1"/>
            </p:cNvSpPr>
            <p:nvPr/>
          </p:nvSpPr>
          <p:spPr bwMode="auto">
            <a:xfrm>
              <a:off x="3406" y="2574"/>
              <a:ext cx="28" cy="28"/>
            </a:xfrm>
            <a:prstGeom prst="ellipse">
              <a:avLst/>
            </a:prstGeom>
            <a:solidFill>
              <a:srgbClr val="FFFFFF"/>
            </a:solidFill>
            <a:ln w="7938">
              <a:solidFill>
                <a:srgbClr val="000000"/>
              </a:solidFill>
              <a:round/>
              <a:headEnd/>
              <a:tailEnd/>
            </a:ln>
          </p:spPr>
          <p:txBody>
            <a:bodyPr/>
            <a:lstStyle/>
            <a:p>
              <a:endParaRPr lang="en-US"/>
            </a:p>
          </p:txBody>
        </p:sp>
        <p:sp>
          <p:nvSpPr>
            <p:cNvPr id="389" name="Oval 776"/>
            <p:cNvSpPr>
              <a:spLocks noChangeArrowheads="1"/>
            </p:cNvSpPr>
            <p:nvPr/>
          </p:nvSpPr>
          <p:spPr bwMode="auto">
            <a:xfrm>
              <a:off x="3420" y="2597"/>
              <a:ext cx="28" cy="28"/>
            </a:xfrm>
            <a:prstGeom prst="ellipse">
              <a:avLst/>
            </a:prstGeom>
            <a:solidFill>
              <a:srgbClr val="FFFFFF"/>
            </a:solidFill>
            <a:ln w="7938">
              <a:solidFill>
                <a:srgbClr val="000000"/>
              </a:solidFill>
              <a:round/>
              <a:headEnd/>
              <a:tailEnd/>
            </a:ln>
          </p:spPr>
          <p:txBody>
            <a:bodyPr/>
            <a:lstStyle/>
            <a:p>
              <a:endParaRPr lang="en-US"/>
            </a:p>
          </p:txBody>
        </p:sp>
        <p:sp>
          <p:nvSpPr>
            <p:cNvPr id="390" name="Oval 777"/>
            <p:cNvSpPr>
              <a:spLocks noChangeArrowheads="1"/>
            </p:cNvSpPr>
            <p:nvPr/>
          </p:nvSpPr>
          <p:spPr bwMode="auto">
            <a:xfrm>
              <a:off x="3425" y="2658"/>
              <a:ext cx="28" cy="28"/>
            </a:xfrm>
            <a:prstGeom prst="ellipse">
              <a:avLst/>
            </a:prstGeom>
            <a:solidFill>
              <a:srgbClr val="FFFFFF"/>
            </a:solidFill>
            <a:ln w="7938">
              <a:solidFill>
                <a:srgbClr val="000000"/>
              </a:solidFill>
              <a:round/>
              <a:headEnd/>
              <a:tailEnd/>
            </a:ln>
          </p:spPr>
          <p:txBody>
            <a:bodyPr/>
            <a:lstStyle/>
            <a:p>
              <a:endParaRPr lang="en-US"/>
            </a:p>
          </p:txBody>
        </p:sp>
        <p:sp>
          <p:nvSpPr>
            <p:cNvPr id="391" name="Oval 778"/>
            <p:cNvSpPr>
              <a:spLocks noChangeArrowheads="1"/>
            </p:cNvSpPr>
            <p:nvPr/>
          </p:nvSpPr>
          <p:spPr bwMode="auto">
            <a:xfrm>
              <a:off x="3429" y="2616"/>
              <a:ext cx="28" cy="28"/>
            </a:xfrm>
            <a:prstGeom prst="ellipse">
              <a:avLst/>
            </a:prstGeom>
            <a:solidFill>
              <a:srgbClr val="FFFFFF"/>
            </a:solidFill>
            <a:ln w="7938">
              <a:solidFill>
                <a:srgbClr val="000000"/>
              </a:solidFill>
              <a:round/>
              <a:headEnd/>
              <a:tailEnd/>
            </a:ln>
          </p:spPr>
          <p:txBody>
            <a:bodyPr/>
            <a:lstStyle/>
            <a:p>
              <a:endParaRPr lang="en-US"/>
            </a:p>
          </p:txBody>
        </p:sp>
        <p:sp>
          <p:nvSpPr>
            <p:cNvPr id="392" name="Oval 779"/>
            <p:cNvSpPr>
              <a:spLocks noChangeArrowheads="1"/>
            </p:cNvSpPr>
            <p:nvPr/>
          </p:nvSpPr>
          <p:spPr bwMode="auto">
            <a:xfrm>
              <a:off x="3429" y="2865"/>
              <a:ext cx="28" cy="28"/>
            </a:xfrm>
            <a:prstGeom prst="ellipse">
              <a:avLst/>
            </a:prstGeom>
            <a:solidFill>
              <a:srgbClr val="FFFFFF"/>
            </a:solidFill>
            <a:ln w="7938">
              <a:solidFill>
                <a:srgbClr val="000000"/>
              </a:solidFill>
              <a:round/>
              <a:headEnd/>
              <a:tailEnd/>
            </a:ln>
          </p:spPr>
          <p:txBody>
            <a:bodyPr/>
            <a:lstStyle/>
            <a:p>
              <a:endParaRPr lang="en-US"/>
            </a:p>
          </p:txBody>
        </p:sp>
        <p:sp>
          <p:nvSpPr>
            <p:cNvPr id="393" name="Oval 780"/>
            <p:cNvSpPr>
              <a:spLocks noChangeArrowheads="1"/>
            </p:cNvSpPr>
            <p:nvPr/>
          </p:nvSpPr>
          <p:spPr bwMode="auto">
            <a:xfrm>
              <a:off x="3434" y="2729"/>
              <a:ext cx="28" cy="28"/>
            </a:xfrm>
            <a:prstGeom prst="ellipse">
              <a:avLst/>
            </a:prstGeom>
            <a:solidFill>
              <a:srgbClr val="FFFFFF"/>
            </a:solidFill>
            <a:ln w="7938">
              <a:solidFill>
                <a:srgbClr val="000000"/>
              </a:solidFill>
              <a:round/>
              <a:headEnd/>
              <a:tailEnd/>
            </a:ln>
          </p:spPr>
          <p:txBody>
            <a:bodyPr/>
            <a:lstStyle/>
            <a:p>
              <a:endParaRPr lang="en-US"/>
            </a:p>
          </p:txBody>
        </p:sp>
        <p:sp>
          <p:nvSpPr>
            <p:cNvPr id="394" name="Oval 781"/>
            <p:cNvSpPr>
              <a:spLocks noChangeArrowheads="1"/>
            </p:cNvSpPr>
            <p:nvPr/>
          </p:nvSpPr>
          <p:spPr bwMode="auto">
            <a:xfrm>
              <a:off x="3439" y="2715"/>
              <a:ext cx="28" cy="28"/>
            </a:xfrm>
            <a:prstGeom prst="ellipse">
              <a:avLst/>
            </a:prstGeom>
            <a:solidFill>
              <a:srgbClr val="FFFFFF"/>
            </a:solidFill>
            <a:ln w="7938">
              <a:solidFill>
                <a:srgbClr val="000000"/>
              </a:solidFill>
              <a:round/>
              <a:headEnd/>
              <a:tailEnd/>
            </a:ln>
          </p:spPr>
          <p:txBody>
            <a:bodyPr/>
            <a:lstStyle/>
            <a:p>
              <a:endParaRPr lang="en-US"/>
            </a:p>
          </p:txBody>
        </p:sp>
        <p:sp>
          <p:nvSpPr>
            <p:cNvPr id="395" name="Oval 782"/>
            <p:cNvSpPr>
              <a:spLocks noChangeArrowheads="1"/>
            </p:cNvSpPr>
            <p:nvPr/>
          </p:nvSpPr>
          <p:spPr bwMode="auto">
            <a:xfrm>
              <a:off x="3453" y="2696"/>
              <a:ext cx="28" cy="28"/>
            </a:xfrm>
            <a:prstGeom prst="ellipse">
              <a:avLst/>
            </a:prstGeom>
            <a:solidFill>
              <a:srgbClr val="FFFFFF"/>
            </a:solidFill>
            <a:ln w="7938">
              <a:solidFill>
                <a:srgbClr val="000000"/>
              </a:solidFill>
              <a:round/>
              <a:headEnd/>
              <a:tailEnd/>
            </a:ln>
          </p:spPr>
          <p:txBody>
            <a:bodyPr/>
            <a:lstStyle/>
            <a:p>
              <a:endParaRPr lang="en-US"/>
            </a:p>
          </p:txBody>
        </p:sp>
        <p:sp>
          <p:nvSpPr>
            <p:cNvPr id="396" name="Oval 783"/>
            <p:cNvSpPr>
              <a:spLocks noChangeArrowheads="1"/>
            </p:cNvSpPr>
            <p:nvPr/>
          </p:nvSpPr>
          <p:spPr bwMode="auto">
            <a:xfrm>
              <a:off x="3462" y="2799"/>
              <a:ext cx="28" cy="28"/>
            </a:xfrm>
            <a:prstGeom prst="ellipse">
              <a:avLst/>
            </a:prstGeom>
            <a:solidFill>
              <a:srgbClr val="FFFFFF"/>
            </a:solidFill>
            <a:ln w="7938">
              <a:solidFill>
                <a:srgbClr val="000000"/>
              </a:solidFill>
              <a:round/>
              <a:headEnd/>
              <a:tailEnd/>
            </a:ln>
          </p:spPr>
          <p:txBody>
            <a:bodyPr/>
            <a:lstStyle/>
            <a:p>
              <a:endParaRPr lang="en-US"/>
            </a:p>
          </p:txBody>
        </p:sp>
        <p:sp>
          <p:nvSpPr>
            <p:cNvPr id="397" name="Oval 784"/>
            <p:cNvSpPr>
              <a:spLocks noChangeArrowheads="1"/>
            </p:cNvSpPr>
            <p:nvPr/>
          </p:nvSpPr>
          <p:spPr bwMode="auto">
            <a:xfrm>
              <a:off x="3462" y="2565"/>
              <a:ext cx="28" cy="28"/>
            </a:xfrm>
            <a:prstGeom prst="ellipse">
              <a:avLst/>
            </a:prstGeom>
            <a:solidFill>
              <a:srgbClr val="FFFFFF"/>
            </a:solidFill>
            <a:ln w="7938">
              <a:solidFill>
                <a:srgbClr val="000000"/>
              </a:solidFill>
              <a:round/>
              <a:headEnd/>
              <a:tailEnd/>
            </a:ln>
          </p:spPr>
          <p:txBody>
            <a:bodyPr/>
            <a:lstStyle/>
            <a:p>
              <a:endParaRPr lang="en-US"/>
            </a:p>
          </p:txBody>
        </p:sp>
        <p:sp>
          <p:nvSpPr>
            <p:cNvPr id="398" name="Oval 785"/>
            <p:cNvSpPr>
              <a:spLocks noChangeArrowheads="1"/>
            </p:cNvSpPr>
            <p:nvPr/>
          </p:nvSpPr>
          <p:spPr bwMode="auto">
            <a:xfrm>
              <a:off x="3471" y="2752"/>
              <a:ext cx="28" cy="28"/>
            </a:xfrm>
            <a:prstGeom prst="ellipse">
              <a:avLst/>
            </a:prstGeom>
            <a:solidFill>
              <a:srgbClr val="FFFFFF"/>
            </a:solidFill>
            <a:ln w="7938">
              <a:solidFill>
                <a:srgbClr val="000000"/>
              </a:solidFill>
              <a:round/>
              <a:headEnd/>
              <a:tailEnd/>
            </a:ln>
          </p:spPr>
          <p:txBody>
            <a:bodyPr/>
            <a:lstStyle/>
            <a:p>
              <a:endParaRPr lang="en-US"/>
            </a:p>
          </p:txBody>
        </p:sp>
        <p:sp>
          <p:nvSpPr>
            <p:cNvPr id="399" name="Oval 786"/>
            <p:cNvSpPr>
              <a:spLocks noChangeArrowheads="1"/>
            </p:cNvSpPr>
            <p:nvPr/>
          </p:nvSpPr>
          <p:spPr bwMode="auto">
            <a:xfrm>
              <a:off x="3471" y="2743"/>
              <a:ext cx="28" cy="28"/>
            </a:xfrm>
            <a:prstGeom prst="ellipse">
              <a:avLst/>
            </a:prstGeom>
            <a:solidFill>
              <a:srgbClr val="FFFFFF"/>
            </a:solidFill>
            <a:ln w="7938">
              <a:solidFill>
                <a:srgbClr val="000000"/>
              </a:solidFill>
              <a:round/>
              <a:headEnd/>
              <a:tailEnd/>
            </a:ln>
          </p:spPr>
          <p:txBody>
            <a:bodyPr/>
            <a:lstStyle/>
            <a:p>
              <a:endParaRPr lang="en-US"/>
            </a:p>
          </p:txBody>
        </p:sp>
        <p:sp>
          <p:nvSpPr>
            <p:cNvPr id="400" name="Oval 787"/>
            <p:cNvSpPr>
              <a:spLocks noChangeArrowheads="1"/>
            </p:cNvSpPr>
            <p:nvPr/>
          </p:nvSpPr>
          <p:spPr bwMode="auto">
            <a:xfrm>
              <a:off x="3481" y="2930"/>
              <a:ext cx="28" cy="28"/>
            </a:xfrm>
            <a:prstGeom prst="ellipse">
              <a:avLst/>
            </a:prstGeom>
            <a:solidFill>
              <a:srgbClr val="FFFFFF"/>
            </a:solidFill>
            <a:ln w="7938">
              <a:solidFill>
                <a:srgbClr val="000000"/>
              </a:solidFill>
              <a:round/>
              <a:headEnd/>
              <a:tailEnd/>
            </a:ln>
          </p:spPr>
          <p:txBody>
            <a:bodyPr/>
            <a:lstStyle/>
            <a:p>
              <a:endParaRPr lang="en-US"/>
            </a:p>
          </p:txBody>
        </p:sp>
        <p:sp>
          <p:nvSpPr>
            <p:cNvPr id="401" name="Oval 788"/>
            <p:cNvSpPr>
              <a:spLocks noChangeArrowheads="1"/>
            </p:cNvSpPr>
            <p:nvPr/>
          </p:nvSpPr>
          <p:spPr bwMode="auto">
            <a:xfrm>
              <a:off x="3481" y="2874"/>
              <a:ext cx="28" cy="28"/>
            </a:xfrm>
            <a:prstGeom prst="ellipse">
              <a:avLst/>
            </a:prstGeom>
            <a:solidFill>
              <a:srgbClr val="FFFFFF"/>
            </a:solidFill>
            <a:ln w="7938">
              <a:solidFill>
                <a:srgbClr val="000000"/>
              </a:solidFill>
              <a:round/>
              <a:headEnd/>
              <a:tailEnd/>
            </a:ln>
          </p:spPr>
          <p:txBody>
            <a:bodyPr/>
            <a:lstStyle/>
            <a:p>
              <a:endParaRPr lang="en-US"/>
            </a:p>
          </p:txBody>
        </p:sp>
        <p:sp>
          <p:nvSpPr>
            <p:cNvPr id="402" name="Oval 789"/>
            <p:cNvSpPr>
              <a:spLocks noChangeArrowheads="1"/>
            </p:cNvSpPr>
            <p:nvPr/>
          </p:nvSpPr>
          <p:spPr bwMode="auto">
            <a:xfrm>
              <a:off x="3490" y="2762"/>
              <a:ext cx="28" cy="28"/>
            </a:xfrm>
            <a:prstGeom prst="ellipse">
              <a:avLst/>
            </a:prstGeom>
            <a:solidFill>
              <a:srgbClr val="FFFFFF"/>
            </a:solidFill>
            <a:ln w="7938">
              <a:solidFill>
                <a:srgbClr val="000000"/>
              </a:solidFill>
              <a:round/>
              <a:headEnd/>
              <a:tailEnd/>
            </a:ln>
          </p:spPr>
          <p:txBody>
            <a:bodyPr/>
            <a:lstStyle/>
            <a:p>
              <a:endParaRPr lang="en-US"/>
            </a:p>
          </p:txBody>
        </p:sp>
        <p:sp>
          <p:nvSpPr>
            <p:cNvPr id="403" name="Oval 790"/>
            <p:cNvSpPr>
              <a:spLocks noChangeArrowheads="1"/>
            </p:cNvSpPr>
            <p:nvPr/>
          </p:nvSpPr>
          <p:spPr bwMode="auto">
            <a:xfrm>
              <a:off x="3504" y="2518"/>
              <a:ext cx="28" cy="28"/>
            </a:xfrm>
            <a:prstGeom prst="ellipse">
              <a:avLst/>
            </a:prstGeom>
            <a:solidFill>
              <a:srgbClr val="FFFFFF"/>
            </a:solidFill>
            <a:ln w="7938">
              <a:solidFill>
                <a:srgbClr val="000000"/>
              </a:solidFill>
              <a:round/>
              <a:headEnd/>
              <a:tailEnd/>
            </a:ln>
          </p:spPr>
          <p:txBody>
            <a:bodyPr/>
            <a:lstStyle/>
            <a:p>
              <a:endParaRPr lang="en-US"/>
            </a:p>
          </p:txBody>
        </p:sp>
        <p:sp>
          <p:nvSpPr>
            <p:cNvPr id="404" name="Oval 791"/>
            <p:cNvSpPr>
              <a:spLocks noChangeArrowheads="1"/>
            </p:cNvSpPr>
            <p:nvPr/>
          </p:nvSpPr>
          <p:spPr bwMode="auto">
            <a:xfrm>
              <a:off x="3504" y="2944"/>
              <a:ext cx="28" cy="29"/>
            </a:xfrm>
            <a:prstGeom prst="ellipse">
              <a:avLst/>
            </a:prstGeom>
            <a:solidFill>
              <a:srgbClr val="FFFFFF"/>
            </a:solidFill>
            <a:ln w="7938">
              <a:solidFill>
                <a:srgbClr val="000000"/>
              </a:solidFill>
              <a:round/>
              <a:headEnd/>
              <a:tailEnd/>
            </a:ln>
          </p:spPr>
          <p:txBody>
            <a:bodyPr/>
            <a:lstStyle/>
            <a:p>
              <a:endParaRPr lang="en-US"/>
            </a:p>
          </p:txBody>
        </p:sp>
        <p:sp>
          <p:nvSpPr>
            <p:cNvPr id="405" name="Oval 792"/>
            <p:cNvSpPr>
              <a:spLocks noChangeArrowheads="1"/>
            </p:cNvSpPr>
            <p:nvPr/>
          </p:nvSpPr>
          <p:spPr bwMode="auto">
            <a:xfrm>
              <a:off x="3504" y="2691"/>
              <a:ext cx="28" cy="28"/>
            </a:xfrm>
            <a:prstGeom prst="ellipse">
              <a:avLst/>
            </a:prstGeom>
            <a:solidFill>
              <a:srgbClr val="FFFFFF"/>
            </a:solidFill>
            <a:ln w="7938">
              <a:solidFill>
                <a:srgbClr val="000000"/>
              </a:solidFill>
              <a:round/>
              <a:headEnd/>
              <a:tailEnd/>
            </a:ln>
          </p:spPr>
          <p:txBody>
            <a:bodyPr/>
            <a:lstStyle/>
            <a:p>
              <a:endParaRPr lang="en-US"/>
            </a:p>
          </p:txBody>
        </p:sp>
        <p:sp>
          <p:nvSpPr>
            <p:cNvPr id="406" name="Oval 793"/>
            <p:cNvSpPr>
              <a:spLocks noChangeArrowheads="1"/>
            </p:cNvSpPr>
            <p:nvPr/>
          </p:nvSpPr>
          <p:spPr bwMode="auto">
            <a:xfrm>
              <a:off x="3504" y="2757"/>
              <a:ext cx="28" cy="28"/>
            </a:xfrm>
            <a:prstGeom prst="ellipse">
              <a:avLst/>
            </a:prstGeom>
            <a:solidFill>
              <a:srgbClr val="FFFFFF"/>
            </a:solidFill>
            <a:ln w="7938">
              <a:solidFill>
                <a:srgbClr val="000000"/>
              </a:solidFill>
              <a:round/>
              <a:headEnd/>
              <a:tailEnd/>
            </a:ln>
          </p:spPr>
          <p:txBody>
            <a:bodyPr/>
            <a:lstStyle/>
            <a:p>
              <a:endParaRPr lang="en-US"/>
            </a:p>
          </p:txBody>
        </p:sp>
        <p:sp>
          <p:nvSpPr>
            <p:cNvPr id="407" name="Oval 794"/>
            <p:cNvSpPr>
              <a:spLocks noChangeArrowheads="1"/>
            </p:cNvSpPr>
            <p:nvPr/>
          </p:nvSpPr>
          <p:spPr bwMode="auto">
            <a:xfrm>
              <a:off x="3518" y="2762"/>
              <a:ext cx="28" cy="28"/>
            </a:xfrm>
            <a:prstGeom prst="ellipse">
              <a:avLst/>
            </a:prstGeom>
            <a:solidFill>
              <a:srgbClr val="FFFFFF"/>
            </a:solidFill>
            <a:ln w="7938">
              <a:solidFill>
                <a:srgbClr val="000000"/>
              </a:solidFill>
              <a:round/>
              <a:headEnd/>
              <a:tailEnd/>
            </a:ln>
          </p:spPr>
          <p:txBody>
            <a:bodyPr/>
            <a:lstStyle/>
            <a:p>
              <a:endParaRPr lang="en-US"/>
            </a:p>
          </p:txBody>
        </p:sp>
        <p:sp>
          <p:nvSpPr>
            <p:cNvPr id="408" name="Oval 795"/>
            <p:cNvSpPr>
              <a:spLocks noChangeArrowheads="1"/>
            </p:cNvSpPr>
            <p:nvPr/>
          </p:nvSpPr>
          <p:spPr bwMode="auto">
            <a:xfrm>
              <a:off x="3527" y="2508"/>
              <a:ext cx="28" cy="28"/>
            </a:xfrm>
            <a:prstGeom prst="ellipse">
              <a:avLst/>
            </a:prstGeom>
            <a:solidFill>
              <a:srgbClr val="FFFFFF"/>
            </a:solidFill>
            <a:ln w="7938">
              <a:solidFill>
                <a:srgbClr val="000000"/>
              </a:solidFill>
              <a:round/>
              <a:headEnd/>
              <a:tailEnd/>
            </a:ln>
          </p:spPr>
          <p:txBody>
            <a:bodyPr/>
            <a:lstStyle/>
            <a:p>
              <a:endParaRPr lang="en-US"/>
            </a:p>
          </p:txBody>
        </p:sp>
        <p:sp>
          <p:nvSpPr>
            <p:cNvPr id="409" name="Oval 796"/>
            <p:cNvSpPr>
              <a:spLocks noChangeArrowheads="1"/>
            </p:cNvSpPr>
            <p:nvPr/>
          </p:nvSpPr>
          <p:spPr bwMode="auto">
            <a:xfrm>
              <a:off x="3555" y="2663"/>
              <a:ext cx="28" cy="28"/>
            </a:xfrm>
            <a:prstGeom prst="ellipse">
              <a:avLst/>
            </a:prstGeom>
            <a:solidFill>
              <a:srgbClr val="FFFFFF"/>
            </a:solidFill>
            <a:ln w="7938">
              <a:solidFill>
                <a:srgbClr val="000000"/>
              </a:solidFill>
              <a:round/>
              <a:headEnd/>
              <a:tailEnd/>
            </a:ln>
          </p:spPr>
          <p:txBody>
            <a:bodyPr/>
            <a:lstStyle/>
            <a:p>
              <a:endParaRPr lang="en-US"/>
            </a:p>
          </p:txBody>
        </p:sp>
        <p:sp>
          <p:nvSpPr>
            <p:cNvPr id="410" name="Oval 797"/>
            <p:cNvSpPr>
              <a:spLocks noChangeArrowheads="1"/>
            </p:cNvSpPr>
            <p:nvPr/>
          </p:nvSpPr>
          <p:spPr bwMode="auto">
            <a:xfrm>
              <a:off x="3569" y="2569"/>
              <a:ext cx="28" cy="28"/>
            </a:xfrm>
            <a:prstGeom prst="ellipse">
              <a:avLst/>
            </a:prstGeom>
            <a:solidFill>
              <a:srgbClr val="FFFFFF"/>
            </a:solidFill>
            <a:ln w="7938">
              <a:solidFill>
                <a:srgbClr val="000000"/>
              </a:solidFill>
              <a:round/>
              <a:headEnd/>
              <a:tailEnd/>
            </a:ln>
          </p:spPr>
          <p:txBody>
            <a:bodyPr/>
            <a:lstStyle/>
            <a:p>
              <a:endParaRPr lang="en-US"/>
            </a:p>
          </p:txBody>
        </p:sp>
        <p:sp>
          <p:nvSpPr>
            <p:cNvPr id="411" name="Oval 798"/>
            <p:cNvSpPr>
              <a:spLocks noChangeArrowheads="1"/>
            </p:cNvSpPr>
            <p:nvPr/>
          </p:nvSpPr>
          <p:spPr bwMode="auto">
            <a:xfrm>
              <a:off x="3579" y="2611"/>
              <a:ext cx="28" cy="29"/>
            </a:xfrm>
            <a:prstGeom prst="ellipse">
              <a:avLst/>
            </a:prstGeom>
            <a:solidFill>
              <a:srgbClr val="FFFFFF"/>
            </a:solidFill>
            <a:ln w="7938">
              <a:solidFill>
                <a:srgbClr val="000000"/>
              </a:solidFill>
              <a:round/>
              <a:headEnd/>
              <a:tailEnd/>
            </a:ln>
          </p:spPr>
          <p:txBody>
            <a:bodyPr/>
            <a:lstStyle/>
            <a:p>
              <a:endParaRPr lang="en-US"/>
            </a:p>
          </p:txBody>
        </p:sp>
        <p:sp>
          <p:nvSpPr>
            <p:cNvPr id="412" name="Oval 799"/>
            <p:cNvSpPr>
              <a:spLocks noChangeArrowheads="1"/>
            </p:cNvSpPr>
            <p:nvPr/>
          </p:nvSpPr>
          <p:spPr bwMode="auto">
            <a:xfrm>
              <a:off x="3593" y="2616"/>
              <a:ext cx="28" cy="28"/>
            </a:xfrm>
            <a:prstGeom prst="ellipse">
              <a:avLst/>
            </a:prstGeom>
            <a:solidFill>
              <a:srgbClr val="FFFFFF"/>
            </a:solidFill>
            <a:ln w="7938">
              <a:solidFill>
                <a:srgbClr val="000000"/>
              </a:solidFill>
              <a:round/>
              <a:headEnd/>
              <a:tailEnd/>
            </a:ln>
          </p:spPr>
          <p:txBody>
            <a:bodyPr/>
            <a:lstStyle/>
            <a:p>
              <a:endParaRPr lang="en-US"/>
            </a:p>
          </p:txBody>
        </p:sp>
        <p:sp>
          <p:nvSpPr>
            <p:cNvPr id="413" name="Oval 800"/>
            <p:cNvSpPr>
              <a:spLocks noChangeArrowheads="1"/>
            </p:cNvSpPr>
            <p:nvPr/>
          </p:nvSpPr>
          <p:spPr bwMode="auto">
            <a:xfrm>
              <a:off x="3602" y="2513"/>
              <a:ext cx="28" cy="28"/>
            </a:xfrm>
            <a:prstGeom prst="ellipse">
              <a:avLst/>
            </a:prstGeom>
            <a:solidFill>
              <a:srgbClr val="FFFFFF"/>
            </a:solidFill>
            <a:ln w="7938">
              <a:solidFill>
                <a:srgbClr val="000000"/>
              </a:solidFill>
              <a:round/>
              <a:headEnd/>
              <a:tailEnd/>
            </a:ln>
          </p:spPr>
          <p:txBody>
            <a:bodyPr/>
            <a:lstStyle/>
            <a:p>
              <a:endParaRPr lang="en-US"/>
            </a:p>
          </p:txBody>
        </p:sp>
        <p:sp>
          <p:nvSpPr>
            <p:cNvPr id="414" name="Oval 801"/>
            <p:cNvSpPr>
              <a:spLocks noChangeArrowheads="1"/>
            </p:cNvSpPr>
            <p:nvPr/>
          </p:nvSpPr>
          <p:spPr bwMode="auto">
            <a:xfrm>
              <a:off x="3602" y="2569"/>
              <a:ext cx="28" cy="28"/>
            </a:xfrm>
            <a:prstGeom prst="ellipse">
              <a:avLst/>
            </a:prstGeom>
            <a:solidFill>
              <a:srgbClr val="FFFFFF"/>
            </a:solidFill>
            <a:ln w="7938">
              <a:solidFill>
                <a:srgbClr val="000000"/>
              </a:solidFill>
              <a:round/>
              <a:headEnd/>
              <a:tailEnd/>
            </a:ln>
          </p:spPr>
          <p:txBody>
            <a:bodyPr/>
            <a:lstStyle/>
            <a:p>
              <a:endParaRPr lang="en-US"/>
            </a:p>
          </p:txBody>
        </p:sp>
        <p:sp>
          <p:nvSpPr>
            <p:cNvPr id="415" name="Oval 802"/>
            <p:cNvSpPr>
              <a:spLocks noChangeArrowheads="1"/>
            </p:cNvSpPr>
            <p:nvPr/>
          </p:nvSpPr>
          <p:spPr bwMode="auto">
            <a:xfrm>
              <a:off x="3611" y="2429"/>
              <a:ext cx="28" cy="28"/>
            </a:xfrm>
            <a:prstGeom prst="ellipse">
              <a:avLst/>
            </a:prstGeom>
            <a:solidFill>
              <a:srgbClr val="FFFFFF"/>
            </a:solidFill>
            <a:ln w="7938">
              <a:solidFill>
                <a:srgbClr val="000000"/>
              </a:solidFill>
              <a:round/>
              <a:headEnd/>
              <a:tailEnd/>
            </a:ln>
          </p:spPr>
          <p:txBody>
            <a:bodyPr/>
            <a:lstStyle/>
            <a:p>
              <a:endParaRPr lang="en-US"/>
            </a:p>
          </p:txBody>
        </p:sp>
        <p:sp>
          <p:nvSpPr>
            <p:cNvPr id="416" name="Oval 803"/>
            <p:cNvSpPr>
              <a:spLocks noChangeArrowheads="1"/>
            </p:cNvSpPr>
            <p:nvPr/>
          </p:nvSpPr>
          <p:spPr bwMode="auto">
            <a:xfrm>
              <a:off x="3616" y="2541"/>
              <a:ext cx="28" cy="28"/>
            </a:xfrm>
            <a:prstGeom prst="ellipse">
              <a:avLst/>
            </a:prstGeom>
            <a:solidFill>
              <a:srgbClr val="FFFFFF"/>
            </a:solidFill>
            <a:ln w="7938">
              <a:solidFill>
                <a:srgbClr val="000000"/>
              </a:solidFill>
              <a:round/>
              <a:headEnd/>
              <a:tailEnd/>
            </a:ln>
          </p:spPr>
          <p:txBody>
            <a:bodyPr/>
            <a:lstStyle/>
            <a:p>
              <a:endParaRPr lang="en-US"/>
            </a:p>
          </p:txBody>
        </p:sp>
        <p:sp>
          <p:nvSpPr>
            <p:cNvPr id="417" name="Oval 804"/>
            <p:cNvSpPr>
              <a:spLocks noChangeArrowheads="1"/>
            </p:cNvSpPr>
            <p:nvPr/>
          </p:nvSpPr>
          <p:spPr bwMode="auto">
            <a:xfrm>
              <a:off x="3635" y="2499"/>
              <a:ext cx="28" cy="28"/>
            </a:xfrm>
            <a:prstGeom prst="ellipse">
              <a:avLst/>
            </a:prstGeom>
            <a:solidFill>
              <a:srgbClr val="FFFFFF"/>
            </a:solidFill>
            <a:ln w="7938">
              <a:solidFill>
                <a:srgbClr val="000000"/>
              </a:solidFill>
              <a:round/>
              <a:headEnd/>
              <a:tailEnd/>
            </a:ln>
          </p:spPr>
          <p:txBody>
            <a:bodyPr/>
            <a:lstStyle/>
            <a:p>
              <a:endParaRPr lang="en-US"/>
            </a:p>
          </p:txBody>
        </p:sp>
        <p:sp>
          <p:nvSpPr>
            <p:cNvPr id="418" name="Oval 805"/>
            <p:cNvSpPr>
              <a:spLocks noChangeArrowheads="1"/>
            </p:cNvSpPr>
            <p:nvPr/>
          </p:nvSpPr>
          <p:spPr bwMode="auto">
            <a:xfrm>
              <a:off x="3639" y="2424"/>
              <a:ext cx="28" cy="28"/>
            </a:xfrm>
            <a:prstGeom prst="ellipse">
              <a:avLst/>
            </a:prstGeom>
            <a:solidFill>
              <a:srgbClr val="FFFFFF"/>
            </a:solidFill>
            <a:ln w="7938">
              <a:solidFill>
                <a:srgbClr val="000000"/>
              </a:solidFill>
              <a:round/>
              <a:headEnd/>
              <a:tailEnd/>
            </a:ln>
          </p:spPr>
          <p:txBody>
            <a:bodyPr/>
            <a:lstStyle/>
            <a:p>
              <a:endParaRPr lang="en-US"/>
            </a:p>
          </p:txBody>
        </p:sp>
        <p:sp>
          <p:nvSpPr>
            <p:cNvPr id="419" name="Oval 806"/>
            <p:cNvSpPr>
              <a:spLocks noChangeArrowheads="1"/>
            </p:cNvSpPr>
            <p:nvPr/>
          </p:nvSpPr>
          <p:spPr bwMode="auto">
            <a:xfrm>
              <a:off x="3644" y="2494"/>
              <a:ext cx="28" cy="28"/>
            </a:xfrm>
            <a:prstGeom prst="ellipse">
              <a:avLst/>
            </a:prstGeom>
            <a:solidFill>
              <a:srgbClr val="FFFFFF"/>
            </a:solidFill>
            <a:ln w="7938">
              <a:solidFill>
                <a:srgbClr val="000000"/>
              </a:solidFill>
              <a:round/>
              <a:headEnd/>
              <a:tailEnd/>
            </a:ln>
          </p:spPr>
          <p:txBody>
            <a:bodyPr/>
            <a:lstStyle/>
            <a:p>
              <a:endParaRPr lang="en-US"/>
            </a:p>
          </p:txBody>
        </p:sp>
        <p:sp>
          <p:nvSpPr>
            <p:cNvPr id="420" name="Oval 807"/>
            <p:cNvSpPr>
              <a:spLocks noChangeArrowheads="1"/>
            </p:cNvSpPr>
            <p:nvPr/>
          </p:nvSpPr>
          <p:spPr bwMode="auto">
            <a:xfrm>
              <a:off x="3658" y="2499"/>
              <a:ext cx="28" cy="28"/>
            </a:xfrm>
            <a:prstGeom prst="ellipse">
              <a:avLst/>
            </a:prstGeom>
            <a:solidFill>
              <a:srgbClr val="FFFFFF"/>
            </a:solidFill>
            <a:ln w="7938">
              <a:solidFill>
                <a:srgbClr val="000000"/>
              </a:solidFill>
              <a:round/>
              <a:headEnd/>
              <a:tailEnd/>
            </a:ln>
          </p:spPr>
          <p:txBody>
            <a:bodyPr/>
            <a:lstStyle/>
            <a:p>
              <a:endParaRPr lang="en-US"/>
            </a:p>
          </p:txBody>
        </p:sp>
        <p:sp>
          <p:nvSpPr>
            <p:cNvPr id="421" name="Oval 808"/>
            <p:cNvSpPr>
              <a:spLocks noChangeArrowheads="1"/>
            </p:cNvSpPr>
            <p:nvPr/>
          </p:nvSpPr>
          <p:spPr bwMode="auto">
            <a:xfrm>
              <a:off x="3658" y="2457"/>
              <a:ext cx="28" cy="28"/>
            </a:xfrm>
            <a:prstGeom prst="ellipse">
              <a:avLst/>
            </a:prstGeom>
            <a:solidFill>
              <a:srgbClr val="FFFFFF"/>
            </a:solidFill>
            <a:ln w="7938">
              <a:solidFill>
                <a:srgbClr val="000000"/>
              </a:solidFill>
              <a:round/>
              <a:headEnd/>
              <a:tailEnd/>
            </a:ln>
          </p:spPr>
          <p:txBody>
            <a:bodyPr/>
            <a:lstStyle/>
            <a:p>
              <a:endParaRPr lang="en-US"/>
            </a:p>
          </p:txBody>
        </p:sp>
        <p:sp>
          <p:nvSpPr>
            <p:cNvPr id="422" name="Oval 809"/>
            <p:cNvSpPr>
              <a:spLocks noChangeArrowheads="1"/>
            </p:cNvSpPr>
            <p:nvPr/>
          </p:nvSpPr>
          <p:spPr bwMode="auto">
            <a:xfrm>
              <a:off x="3667" y="2593"/>
              <a:ext cx="28" cy="28"/>
            </a:xfrm>
            <a:prstGeom prst="ellipse">
              <a:avLst/>
            </a:prstGeom>
            <a:solidFill>
              <a:srgbClr val="FFFFFF"/>
            </a:solidFill>
            <a:ln w="7938">
              <a:solidFill>
                <a:srgbClr val="000000"/>
              </a:solidFill>
              <a:round/>
              <a:headEnd/>
              <a:tailEnd/>
            </a:ln>
          </p:spPr>
          <p:txBody>
            <a:bodyPr/>
            <a:lstStyle/>
            <a:p>
              <a:endParaRPr lang="en-US"/>
            </a:p>
          </p:txBody>
        </p:sp>
        <p:sp>
          <p:nvSpPr>
            <p:cNvPr id="423" name="Oval 810"/>
            <p:cNvSpPr>
              <a:spLocks noChangeArrowheads="1"/>
            </p:cNvSpPr>
            <p:nvPr/>
          </p:nvSpPr>
          <p:spPr bwMode="auto">
            <a:xfrm>
              <a:off x="3719" y="2588"/>
              <a:ext cx="28" cy="28"/>
            </a:xfrm>
            <a:prstGeom prst="ellipse">
              <a:avLst/>
            </a:prstGeom>
            <a:solidFill>
              <a:srgbClr val="FFFFFF"/>
            </a:solidFill>
            <a:ln w="7938">
              <a:solidFill>
                <a:srgbClr val="000000"/>
              </a:solidFill>
              <a:round/>
              <a:headEnd/>
              <a:tailEnd/>
            </a:ln>
          </p:spPr>
          <p:txBody>
            <a:bodyPr/>
            <a:lstStyle/>
            <a:p>
              <a:endParaRPr lang="en-US"/>
            </a:p>
          </p:txBody>
        </p:sp>
        <p:sp>
          <p:nvSpPr>
            <p:cNvPr id="424" name="Oval 811"/>
            <p:cNvSpPr>
              <a:spLocks noChangeArrowheads="1"/>
            </p:cNvSpPr>
            <p:nvPr/>
          </p:nvSpPr>
          <p:spPr bwMode="auto">
            <a:xfrm>
              <a:off x="3723" y="2508"/>
              <a:ext cx="28" cy="28"/>
            </a:xfrm>
            <a:prstGeom prst="ellipse">
              <a:avLst/>
            </a:prstGeom>
            <a:solidFill>
              <a:srgbClr val="FFFFFF"/>
            </a:solidFill>
            <a:ln w="7938">
              <a:solidFill>
                <a:srgbClr val="000000"/>
              </a:solidFill>
              <a:round/>
              <a:headEnd/>
              <a:tailEnd/>
            </a:ln>
          </p:spPr>
          <p:txBody>
            <a:bodyPr/>
            <a:lstStyle/>
            <a:p>
              <a:endParaRPr lang="en-US"/>
            </a:p>
          </p:txBody>
        </p:sp>
        <p:sp>
          <p:nvSpPr>
            <p:cNvPr id="425" name="Oval 812"/>
            <p:cNvSpPr>
              <a:spLocks noChangeArrowheads="1"/>
            </p:cNvSpPr>
            <p:nvPr/>
          </p:nvSpPr>
          <p:spPr bwMode="auto">
            <a:xfrm>
              <a:off x="3728" y="2368"/>
              <a:ext cx="28" cy="28"/>
            </a:xfrm>
            <a:prstGeom prst="ellipse">
              <a:avLst/>
            </a:prstGeom>
            <a:solidFill>
              <a:srgbClr val="FFFFFF"/>
            </a:solidFill>
            <a:ln w="7938">
              <a:solidFill>
                <a:srgbClr val="000000"/>
              </a:solidFill>
              <a:round/>
              <a:headEnd/>
              <a:tailEnd/>
            </a:ln>
          </p:spPr>
          <p:txBody>
            <a:bodyPr/>
            <a:lstStyle/>
            <a:p>
              <a:endParaRPr lang="en-US"/>
            </a:p>
          </p:txBody>
        </p:sp>
        <p:sp>
          <p:nvSpPr>
            <p:cNvPr id="426" name="Oval 813"/>
            <p:cNvSpPr>
              <a:spLocks noChangeArrowheads="1"/>
            </p:cNvSpPr>
            <p:nvPr/>
          </p:nvSpPr>
          <p:spPr bwMode="auto">
            <a:xfrm>
              <a:off x="3737" y="2682"/>
              <a:ext cx="28" cy="28"/>
            </a:xfrm>
            <a:prstGeom prst="ellipse">
              <a:avLst/>
            </a:prstGeom>
            <a:solidFill>
              <a:srgbClr val="FFFFFF"/>
            </a:solidFill>
            <a:ln w="7938">
              <a:solidFill>
                <a:srgbClr val="000000"/>
              </a:solidFill>
              <a:round/>
              <a:headEnd/>
              <a:tailEnd/>
            </a:ln>
          </p:spPr>
          <p:txBody>
            <a:bodyPr/>
            <a:lstStyle/>
            <a:p>
              <a:endParaRPr lang="en-US"/>
            </a:p>
          </p:txBody>
        </p:sp>
        <p:sp>
          <p:nvSpPr>
            <p:cNvPr id="427" name="Oval 814"/>
            <p:cNvSpPr>
              <a:spLocks noChangeArrowheads="1"/>
            </p:cNvSpPr>
            <p:nvPr/>
          </p:nvSpPr>
          <p:spPr bwMode="auto">
            <a:xfrm>
              <a:off x="3765" y="2419"/>
              <a:ext cx="28" cy="28"/>
            </a:xfrm>
            <a:prstGeom prst="ellipse">
              <a:avLst/>
            </a:prstGeom>
            <a:solidFill>
              <a:srgbClr val="FFFFFF"/>
            </a:solidFill>
            <a:ln w="7938">
              <a:solidFill>
                <a:srgbClr val="000000"/>
              </a:solidFill>
              <a:round/>
              <a:headEnd/>
              <a:tailEnd/>
            </a:ln>
          </p:spPr>
          <p:txBody>
            <a:bodyPr/>
            <a:lstStyle/>
            <a:p>
              <a:endParaRPr lang="en-US"/>
            </a:p>
          </p:txBody>
        </p:sp>
        <p:sp>
          <p:nvSpPr>
            <p:cNvPr id="428" name="Oval 815"/>
            <p:cNvSpPr>
              <a:spLocks noChangeArrowheads="1"/>
            </p:cNvSpPr>
            <p:nvPr/>
          </p:nvSpPr>
          <p:spPr bwMode="auto">
            <a:xfrm>
              <a:off x="3770" y="2541"/>
              <a:ext cx="28" cy="28"/>
            </a:xfrm>
            <a:prstGeom prst="ellipse">
              <a:avLst/>
            </a:prstGeom>
            <a:solidFill>
              <a:srgbClr val="FFFFFF"/>
            </a:solidFill>
            <a:ln w="7938">
              <a:solidFill>
                <a:srgbClr val="000000"/>
              </a:solidFill>
              <a:round/>
              <a:headEnd/>
              <a:tailEnd/>
            </a:ln>
          </p:spPr>
          <p:txBody>
            <a:bodyPr/>
            <a:lstStyle/>
            <a:p>
              <a:endParaRPr lang="en-US"/>
            </a:p>
          </p:txBody>
        </p:sp>
        <p:sp>
          <p:nvSpPr>
            <p:cNvPr id="429" name="Oval 816"/>
            <p:cNvSpPr>
              <a:spLocks noChangeArrowheads="1"/>
            </p:cNvSpPr>
            <p:nvPr/>
          </p:nvSpPr>
          <p:spPr bwMode="auto">
            <a:xfrm>
              <a:off x="3784" y="2480"/>
              <a:ext cx="28" cy="28"/>
            </a:xfrm>
            <a:prstGeom prst="ellipse">
              <a:avLst/>
            </a:prstGeom>
            <a:solidFill>
              <a:srgbClr val="FFFFFF"/>
            </a:solidFill>
            <a:ln w="7938">
              <a:solidFill>
                <a:srgbClr val="000000"/>
              </a:solidFill>
              <a:round/>
              <a:headEnd/>
              <a:tailEnd/>
            </a:ln>
          </p:spPr>
          <p:txBody>
            <a:bodyPr/>
            <a:lstStyle/>
            <a:p>
              <a:endParaRPr lang="en-US"/>
            </a:p>
          </p:txBody>
        </p:sp>
        <p:sp>
          <p:nvSpPr>
            <p:cNvPr id="430" name="Oval 817"/>
            <p:cNvSpPr>
              <a:spLocks noChangeArrowheads="1"/>
            </p:cNvSpPr>
            <p:nvPr/>
          </p:nvSpPr>
          <p:spPr bwMode="auto">
            <a:xfrm>
              <a:off x="3803" y="2475"/>
              <a:ext cx="28" cy="29"/>
            </a:xfrm>
            <a:prstGeom prst="ellipse">
              <a:avLst/>
            </a:prstGeom>
            <a:solidFill>
              <a:srgbClr val="FFFFFF"/>
            </a:solidFill>
            <a:ln w="7938">
              <a:solidFill>
                <a:srgbClr val="000000"/>
              </a:solidFill>
              <a:round/>
              <a:headEnd/>
              <a:tailEnd/>
            </a:ln>
          </p:spPr>
          <p:txBody>
            <a:bodyPr/>
            <a:lstStyle/>
            <a:p>
              <a:endParaRPr lang="en-US"/>
            </a:p>
          </p:txBody>
        </p:sp>
        <p:sp>
          <p:nvSpPr>
            <p:cNvPr id="431" name="Oval 818"/>
            <p:cNvSpPr>
              <a:spLocks noChangeArrowheads="1"/>
            </p:cNvSpPr>
            <p:nvPr/>
          </p:nvSpPr>
          <p:spPr bwMode="auto">
            <a:xfrm>
              <a:off x="3821" y="2452"/>
              <a:ext cx="28" cy="28"/>
            </a:xfrm>
            <a:prstGeom prst="ellipse">
              <a:avLst/>
            </a:prstGeom>
            <a:solidFill>
              <a:srgbClr val="FFFFFF"/>
            </a:solidFill>
            <a:ln w="7938">
              <a:solidFill>
                <a:srgbClr val="000000"/>
              </a:solidFill>
              <a:round/>
              <a:headEnd/>
              <a:tailEnd/>
            </a:ln>
          </p:spPr>
          <p:txBody>
            <a:bodyPr/>
            <a:lstStyle/>
            <a:p>
              <a:endParaRPr lang="en-US"/>
            </a:p>
          </p:txBody>
        </p:sp>
        <p:sp>
          <p:nvSpPr>
            <p:cNvPr id="432" name="Oval 819"/>
            <p:cNvSpPr>
              <a:spLocks noChangeArrowheads="1"/>
            </p:cNvSpPr>
            <p:nvPr/>
          </p:nvSpPr>
          <p:spPr bwMode="auto">
            <a:xfrm>
              <a:off x="3821" y="2682"/>
              <a:ext cx="28" cy="28"/>
            </a:xfrm>
            <a:prstGeom prst="ellipse">
              <a:avLst/>
            </a:prstGeom>
            <a:solidFill>
              <a:srgbClr val="FFFFFF"/>
            </a:solidFill>
            <a:ln w="7938">
              <a:solidFill>
                <a:srgbClr val="000000"/>
              </a:solidFill>
              <a:round/>
              <a:headEnd/>
              <a:tailEnd/>
            </a:ln>
          </p:spPr>
          <p:txBody>
            <a:bodyPr/>
            <a:lstStyle/>
            <a:p>
              <a:endParaRPr lang="en-US"/>
            </a:p>
          </p:txBody>
        </p:sp>
        <p:sp>
          <p:nvSpPr>
            <p:cNvPr id="433" name="Oval 820"/>
            <p:cNvSpPr>
              <a:spLocks noChangeArrowheads="1"/>
            </p:cNvSpPr>
            <p:nvPr/>
          </p:nvSpPr>
          <p:spPr bwMode="auto">
            <a:xfrm>
              <a:off x="3849" y="2607"/>
              <a:ext cx="28" cy="28"/>
            </a:xfrm>
            <a:prstGeom prst="ellipse">
              <a:avLst/>
            </a:prstGeom>
            <a:solidFill>
              <a:srgbClr val="FFFFFF"/>
            </a:solidFill>
            <a:ln w="7938">
              <a:solidFill>
                <a:srgbClr val="000000"/>
              </a:solidFill>
              <a:round/>
              <a:headEnd/>
              <a:tailEnd/>
            </a:ln>
          </p:spPr>
          <p:txBody>
            <a:bodyPr/>
            <a:lstStyle/>
            <a:p>
              <a:endParaRPr lang="en-US"/>
            </a:p>
          </p:txBody>
        </p:sp>
        <p:sp>
          <p:nvSpPr>
            <p:cNvPr id="434" name="Oval 821"/>
            <p:cNvSpPr>
              <a:spLocks noChangeArrowheads="1"/>
            </p:cNvSpPr>
            <p:nvPr/>
          </p:nvSpPr>
          <p:spPr bwMode="auto">
            <a:xfrm>
              <a:off x="3905" y="2368"/>
              <a:ext cx="28" cy="28"/>
            </a:xfrm>
            <a:prstGeom prst="ellipse">
              <a:avLst/>
            </a:prstGeom>
            <a:solidFill>
              <a:srgbClr val="FFFFFF"/>
            </a:solidFill>
            <a:ln w="7938">
              <a:solidFill>
                <a:srgbClr val="000000"/>
              </a:solidFill>
              <a:round/>
              <a:headEnd/>
              <a:tailEnd/>
            </a:ln>
          </p:spPr>
          <p:txBody>
            <a:bodyPr/>
            <a:lstStyle/>
            <a:p>
              <a:endParaRPr lang="en-US"/>
            </a:p>
          </p:txBody>
        </p:sp>
        <p:sp>
          <p:nvSpPr>
            <p:cNvPr id="435" name="Oval 822"/>
            <p:cNvSpPr>
              <a:spLocks noChangeArrowheads="1"/>
            </p:cNvSpPr>
            <p:nvPr/>
          </p:nvSpPr>
          <p:spPr bwMode="auto">
            <a:xfrm>
              <a:off x="3952" y="2424"/>
              <a:ext cx="28" cy="28"/>
            </a:xfrm>
            <a:prstGeom prst="ellipse">
              <a:avLst/>
            </a:prstGeom>
            <a:solidFill>
              <a:srgbClr val="FFFFFF"/>
            </a:solidFill>
            <a:ln w="7938">
              <a:solidFill>
                <a:srgbClr val="000000"/>
              </a:solidFill>
              <a:round/>
              <a:headEnd/>
              <a:tailEnd/>
            </a:ln>
          </p:spPr>
          <p:txBody>
            <a:bodyPr/>
            <a:lstStyle/>
            <a:p>
              <a:endParaRPr lang="en-US"/>
            </a:p>
          </p:txBody>
        </p:sp>
        <p:sp>
          <p:nvSpPr>
            <p:cNvPr id="436" name="Oval 823"/>
            <p:cNvSpPr>
              <a:spLocks noChangeArrowheads="1"/>
            </p:cNvSpPr>
            <p:nvPr/>
          </p:nvSpPr>
          <p:spPr bwMode="auto">
            <a:xfrm>
              <a:off x="3961" y="2550"/>
              <a:ext cx="28" cy="29"/>
            </a:xfrm>
            <a:prstGeom prst="ellipse">
              <a:avLst/>
            </a:prstGeom>
            <a:solidFill>
              <a:srgbClr val="FFFFFF"/>
            </a:solidFill>
            <a:ln w="7938">
              <a:solidFill>
                <a:srgbClr val="000000"/>
              </a:solidFill>
              <a:round/>
              <a:headEnd/>
              <a:tailEnd/>
            </a:ln>
          </p:spPr>
          <p:txBody>
            <a:bodyPr/>
            <a:lstStyle/>
            <a:p>
              <a:endParaRPr lang="en-US"/>
            </a:p>
          </p:txBody>
        </p:sp>
        <p:sp>
          <p:nvSpPr>
            <p:cNvPr id="437" name="Oval 824"/>
            <p:cNvSpPr>
              <a:spLocks noChangeArrowheads="1"/>
            </p:cNvSpPr>
            <p:nvPr/>
          </p:nvSpPr>
          <p:spPr bwMode="auto">
            <a:xfrm>
              <a:off x="4008" y="2475"/>
              <a:ext cx="28" cy="29"/>
            </a:xfrm>
            <a:prstGeom prst="ellipse">
              <a:avLst/>
            </a:prstGeom>
            <a:solidFill>
              <a:srgbClr val="FFFFFF"/>
            </a:solidFill>
            <a:ln w="7938">
              <a:solidFill>
                <a:srgbClr val="000000"/>
              </a:solidFill>
              <a:round/>
              <a:headEnd/>
              <a:tailEnd/>
            </a:ln>
          </p:spPr>
          <p:txBody>
            <a:bodyPr/>
            <a:lstStyle/>
            <a:p>
              <a:endParaRPr lang="en-US"/>
            </a:p>
          </p:txBody>
        </p:sp>
        <p:sp>
          <p:nvSpPr>
            <p:cNvPr id="438" name="Oval 825"/>
            <p:cNvSpPr>
              <a:spLocks noChangeArrowheads="1"/>
            </p:cNvSpPr>
            <p:nvPr/>
          </p:nvSpPr>
          <p:spPr bwMode="auto">
            <a:xfrm>
              <a:off x="4059" y="2208"/>
              <a:ext cx="28" cy="28"/>
            </a:xfrm>
            <a:prstGeom prst="ellipse">
              <a:avLst/>
            </a:prstGeom>
            <a:solidFill>
              <a:srgbClr val="FFFFFF"/>
            </a:solidFill>
            <a:ln w="7938">
              <a:solidFill>
                <a:srgbClr val="000000"/>
              </a:solidFill>
              <a:round/>
              <a:headEnd/>
              <a:tailEnd/>
            </a:ln>
          </p:spPr>
          <p:txBody>
            <a:bodyPr/>
            <a:lstStyle/>
            <a:p>
              <a:endParaRPr lang="en-US"/>
            </a:p>
          </p:txBody>
        </p:sp>
        <p:sp>
          <p:nvSpPr>
            <p:cNvPr id="439" name="Oval 826"/>
            <p:cNvSpPr>
              <a:spLocks noChangeArrowheads="1"/>
            </p:cNvSpPr>
            <p:nvPr/>
          </p:nvSpPr>
          <p:spPr bwMode="auto">
            <a:xfrm>
              <a:off x="4120" y="2311"/>
              <a:ext cx="28" cy="28"/>
            </a:xfrm>
            <a:prstGeom prst="ellipse">
              <a:avLst/>
            </a:prstGeom>
            <a:solidFill>
              <a:srgbClr val="FFFFFF"/>
            </a:solidFill>
            <a:ln w="7938">
              <a:solidFill>
                <a:srgbClr val="000000"/>
              </a:solidFill>
              <a:round/>
              <a:headEnd/>
              <a:tailEnd/>
            </a:ln>
          </p:spPr>
          <p:txBody>
            <a:bodyPr/>
            <a:lstStyle/>
            <a:p>
              <a:endParaRPr lang="en-US"/>
            </a:p>
          </p:txBody>
        </p:sp>
        <p:sp>
          <p:nvSpPr>
            <p:cNvPr id="440" name="Line 827"/>
            <p:cNvSpPr>
              <a:spLocks noChangeShapeType="1"/>
            </p:cNvSpPr>
            <p:nvPr/>
          </p:nvSpPr>
          <p:spPr bwMode="auto">
            <a:xfrm flipV="1">
              <a:off x="2227" y="2327"/>
              <a:ext cx="1908" cy="1017"/>
            </a:xfrm>
            <a:prstGeom prst="line">
              <a:avLst/>
            </a:prstGeom>
            <a:noFill/>
            <a:ln w="22225">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41" name="Group 828"/>
          <p:cNvGrpSpPr>
            <a:grpSpLocks/>
          </p:cNvGrpSpPr>
          <p:nvPr/>
        </p:nvGrpSpPr>
        <p:grpSpPr bwMode="auto">
          <a:xfrm>
            <a:off x="6066593" y="5220944"/>
            <a:ext cx="2242047" cy="1484656"/>
            <a:chOff x="2013" y="2344"/>
            <a:chExt cx="2294" cy="1480"/>
          </a:xfrm>
        </p:grpSpPr>
        <p:sp>
          <p:nvSpPr>
            <p:cNvPr id="442" name="Rectangle 433"/>
            <p:cNvSpPr>
              <a:spLocks noChangeArrowheads="1"/>
            </p:cNvSpPr>
            <p:nvPr/>
          </p:nvSpPr>
          <p:spPr bwMode="auto">
            <a:xfrm>
              <a:off x="2046" y="2356"/>
              <a:ext cx="2244" cy="1435"/>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4" name="Line 439"/>
            <p:cNvSpPr>
              <a:spLocks noChangeShapeType="1"/>
            </p:cNvSpPr>
            <p:nvPr/>
          </p:nvSpPr>
          <p:spPr bwMode="auto">
            <a:xfrm>
              <a:off x="2046" y="3791"/>
              <a:ext cx="2244"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5" name="Line 440"/>
            <p:cNvSpPr>
              <a:spLocks noChangeShapeType="1"/>
            </p:cNvSpPr>
            <p:nvPr/>
          </p:nvSpPr>
          <p:spPr bwMode="auto">
            <a:xfrm>
              <a:off x="2046" y="3791"/>
              <a:ext cx="1" cy="3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7" name="Line 442"/>
            <p:cNvSpPr>
              <a:spLocks noChangeShapeType="1"/>
            </p:cNvSpPr>
            <p:nvPr/>
          </p:nvSpPr>
          <p:spPr bwMode="auto">
            <a:xfrm>
              <a:off x="2605" y="3791"/>
              <a:ext cx="1" cy="3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9" name="Line 444"/>
            <p:cNvSpPr>
              <a:spLocks noChangeShapeType="1"/>
            </p:cNvSpPr>
            <p:nvPr/>
          </p:nvSpPr>
          <p:spPr bwMode="auto">
            <a:xfrm>
              <a:off x="2494"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 name="Line 445"/>
            <p:cNvSpPr>
              <a:spLocks noChangeShapeType="1"/>
            </p:cNvSpPr>
            <p:nvPr/>
          </p:nvSpPr>
          <p:spPr bwMode="auto">
            <a:xfrm>
              <a:off x="2383"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 name="Line 446"/>
            <p:cNvSpPr>
              <a:spLocks noChangeShapeType="1"/>
            </p:cNvSpPr>
            <p:nvPr/>
          </p:nvSpPr>
          <p:spPr bwMode="auto">
            <a:xfrm>
              <a:off x="2268"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2" name="Line 447"/>
            <p:cNvSpPr>
              <a:spLocks noChangeShapeType="1"/>
            </p:cNvSpPr>
            <p:nvPr/>
          </p:nvSpPr>
          <p:spPr bwMode="auto">
            <a:xfrm>
              <a:off x="2157"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3" name="Line 448"/>
            <p:cNvSpPr>
              <a:spLocks noChangeShapeType="1"/>
            </p:cNvSpPr>
            <p:nvPr/>
          </p:nvSpPr>
          <p:spPr bwMode="auto">
            <a:xfrm>
              <a:off x="3168" y="3791"/>
              <a:ext cx="1" cy="3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5" name="Line 450"/>
            <p:cNvSpPr>
              <a:spLocks noChangeShapeType="1"/>
            </p:cNvSpPr>
            <p:nvPr/>
          </p:nvSpPr>
          <p:spPr bwMode="auto">
            <a:xfrm>
              <a:off x="3057"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6" name="Line 451"/>
            <p:cNvSpPr>
              <a:spLocks noChangeShapeType="1"/>
            </p:cNvSpPr>
            <p:nvPr/>
          </p:nvSpPr>
          <p:spPr bwMode="auto">
            <a:xfrm>
              <a:off x="2942"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7" name="Line 452"/>
            <p:cNvSpPr>
              <a:spLocks noChangeShapeType="1"/>
            </p:cNvSpPr>
            <p:nvPr/>
          </p:nvSpPr>
          <p:spPr bwMode="auto">
            <a:xfrm>
              <a:off x="2831"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8" name="Line 453"/>
            <p:cNvSpPr>
              <a:spLocks noChangeShapeType="1"/>
            </p:cNvSpPr>
            <p:nvPr/>
          </p:nvSpPr>
          <p:spPr bwMode="auto">
            <a:xfrm>
              <a:off x="2720"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9" name="Line 454"/>
            <p:cNvSpPr>
              <a:spLocks noChangeShapeType="1"/>
            </p:cNvSpPr>
            <p:nvPr/>
          </p:nvSpPr>
          <p:spPr bwMode="auto">
            <a:xfrm>
              <a:off x="3731" y="3791"/>
              <a:ext cx="1" cy="3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 name="Line 456"/>
            <p:cNvSpPr>
              <a:spLocks noChangeShapeType="1"/>
            </p:cNvSpPr>
            <p:nvPr/>
          </p:nvSpPr>
          <p:spPr bwMode="auto">
            <a:xfrm>
              <a:off x="3616"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 name="Line 457"/>
            <p:cNvSpPr>
              <a:spLocks noChangeShapeType="1"/>
            </p:cNvSpPr>
            <p:nvPr/>
          </p:nvSpPr>
          <p:spPr bwMode="auto">
            <a:xfrm>
              <a:off x="3505"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3" name="Line 458"/>
            <p:cNvSpPr>
              <a:spLocks noChangeShapeType="1"/>
            </p:cNvSpPr>
            <p:nvPr/>
          </p:nvSpPr>
          <p:spPr bwMode="auto">
            <a:xfrm>
              <a:off x="3394"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4" name="Line 459"/>
            <p:cNvSpPr>
              <a:spLocks noChangeShapeType="1"/>
            </p:cNvSpPr>
            <p:nvPr/>
          </p:nvSpPr>
          <p:spPr bwMode="auto">
            <a:xfrm>
              <a:off x="3279"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5" name="Line 460"/>
            <p:cNvSpPr>
              <a:spLocks noChangeShapeType="1"/>
            </p:cNvSpPr>
            <p:nvPr/>
          </p:nvSpPr>
          <p:spPr bwMode="auto">
            <a:xfrm>
              <a:off x="4290" y="3791"/>
              <a:ext cx="1" cy="3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7" name="Line 462"/>
            <p:cNvSpPr>
              <a:spLocks noChangeShapeType="1"/>
            </p:cNvSpPr>
            <p:nvPr/>
          </p:nvSpPr>
          <p:spPr bwMode="auto">
            <a:xfrm>
              <a:off x="4179"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8" name="Line 463"/>
            <p:cNvSpPr>
              <a:spLocks noChangeShapeType="1"/>
            </p:cNvSpPr>
            <p:nvPr/>
          </p:nvSpPr>
          <p:spPr bwMode="auto">
            <a:xfrm>
              <a:off x="4068"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9" name="Line 464"/>
            <p:cNvSpPr>
              <a:spLocks noChangeShapeType="1"/>
            </p:cNvSpPr>
            <p:nvPr/>
          </p:nvSpPr>
          <p:spPr bwMode="auto">
            <a:xfrm>
              <a:off x="3953"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0" name="Line 465"/>
            <p:cNvSpPr>
              <a:spLocks noChangeShapeType="1"/>
            </p:cNvSpPr>
            <p:nvPr/>
          </p:nvSpPr>
          <p:spPr bwMode="auto">
            <a:xfrm>
              <a:off x="3842"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2" name="Line 467"/>
            <p:cNvSpPr>
              <a:spLocks noChangeShapeType="1"/>
            </p:cNvSpPr>
            <p:nvPr/>
          </p:nvSpPr>
          <p:spPr bwMode="auto">
            <a:xfrm flipV="1">
              <a:off x="2046" y="2356"/>
              <a:ext cx="1" cy="143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3" name="Line 468"/>
            <p:cNvSpPr>
              <a:spLocks noChangeShapeType="1"/>
            </p:cNvSpPr>
            <p:nvPr/>
          </p:nvSpPr>
          <p:spPr bwMode="auto">
            <a:xfrm flipH="1">
              <a:off x="2013" y="3791"/>
              <a:ext cx="3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5" name="Line 470"/>
            <p:cNvSpPr>
              <a:spLocks noChangeShapeType="1"/>
            </p:cNvSpPr>
            <p:nvPr/>
          </p:nvSpPr>
          <p:spPr bwMode="auto">
            <a:xfrm flipH="1">
              <a:off x="2013" y="3433"/>
              <a:ext cx="3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7" name="Line 472"/>
            <p:cNvSpPr>
              <a:spLocks noChangeShapeType="1"/>
            </p:cNvSpPr>
            <p:nvPr/>
          </p:nvSpPr>
          <p:spPr bwMode="auto">
            <a:xfrm flipH="1">
              <a:off x="2029" y="3507"/>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8" name="Line 473"/>
            <p:cNvSpPr>
              <a:spLocks noChangeShapeType="1"/>
            </p:cNvSpPr>
            <p:nvPr/>
          </p:nvSpPr>
          <p:spPr bwMode="auto">
            <a:xfrm flipH="1">
              <a:off x="2029" y="3577"/>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9" name="Line 474"/>
            <p:cNvSpPr>
              <a:spLocks noChangeShapeType="1"/>
            </p:cNvSpPr>
            <p:nvPr/>
          </p:nvSpPr>
          <p:spPr bwMode="auto">
            <a:xfrm flipH="1">
              <a:off x="2029" y="3647"/>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0" name="Line 475"/>
            <p:cNvSpPr>
              <a:spLocks noChangeShapeType="1"/>
            </p:cNvSpPr>
            <p:nvPr/>
          </p:nvSpPr>
          <p:spPr bwMode="auto">
            <a:xfrm flipH="1">
              <a:off x="2029" y="3721"/>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 name="Line 476"/>
            <p:cNvSpPr>
              <a:spLocks noChangeShapeType="1"/>
            </p:cNvSpPr>
            <p:nvPr/>
          </p:nvSpPr>
          <p:spPr bwMode="auto">
            <a:xfrm flipH="1">
              <a:off x="2013" y="3075"/>
              <a:ext cx="3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3" name="Line 478"/>
            <p:cNvSpPr>
              <a:spLocks noChangeShapeType="1"/>
            </p:cNvSpPr>
            <p:nvPr/>
          </p:nvSpPr>
          <p:spPr bwMode="auto">
            <a:xfrm flipH="1">
              <a:off x="2029" y="3145"/>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 name="Line 479"/>
            <p:cNvSpPr>
              <a:spLocks noChangeShapeType="1"/>
            </p:cNvSpPr>
            <p:nvPr/>
          </p:nvSpPr>
          <p:spPr bwMode="auto">
            <a:xfrm flipH="1">
              <a:off x="2029" y="3219"/>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5" name="Line 480"/>
            <p:cNvSpPr>
              <a:spLocks noChangeShapeType="1"/>
            </p:cNvSpPr>
            <p:nvPr/>
          </p:nvSpPr>
          <p:spPr bwMode="auto">
            <a:xfrm flipH="1">
              <a:off x="2029" y="3289"/>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6" name="Line 481"/>
            <p:cNvSpPr>
              <a:spLocks noChangeShapeType="1"/>
            </p:cNvSpPr>
            <p:nvPr/>
          </p:nvSpPr>
          <p:spPr bwMode="auto">
            <a:xfrm flipH="1">
              <a:off x="2029" y="3363"/>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7" name="Line 482"/>
            <p:cNvSpPr>
              <a:spLocks noChangeShapeType="1"/>
            </p:cNvSpPr>
            <p:nvPr/>
          </p:nvSpPr>
          <p:spPr bwMode="auto">
            <a:xfrm flipH="1">
              <a:off x="2013" y="2714"/>
              <a:ext cx="3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9" name="Line 484"/>
            <p:cNvSpPr>
              <a:spLocks noChangeShapeType="1"/>
            </p:cNvSpPr>
            <p:nvPr/>
          </p:nvSpPr>
          <p:spPr bwMode="auto">
            <a:xfrm flipH="1">
              <a:off x="2029" y="2788"/>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0" name="Line 485"/>
            <p:cNvSpPr>
              <a:spLocks noChangeShapeType="1"/>
            </p:cNvSpPr>
            <p:nvPr/>
          </p:nvSpPr>
          <p:spPr bwMode="auto">
            <a:xfrm flipH="1">
              <a:off x="2029" y="2858"/>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 name="Line 486"/>
            <p:cNvSpPr>
              <a:spLocks noChangeShapeType="1"/>
            </p:cNvSpPr>
            <p:nvPr/>
          </p:nvSpPr>
          <p:spPr bwMode="auto">
            <a:xfrm flipH="1">
              <a:off x="2029" y="2932"/>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 name="Line 487"/>
            <p:cNvSpPr>
              <a:spLocks noChangeShapeType="1"/>
            </p:cNvSpPr>
            <p:nvPr/>
          </p:nvSpPr>
          <p:spPr bwMode="auto">
            <a:xfrm flipH="1">
              <a:off x="2029" y="3001"/>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3" name="Line 488"/>
            <p:cNvSpPr>
              <a:spLocks noChangeShapeType="1"/>
            </p:cNvSpPr>
            <p:nvPr/>
          </p:nvSpPr>
          <p:spPr bwMode="auto">
            <a:xfrm flipH="1">
              <a:off x="2013" y="2356"/>
              <a:ext cx="3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5" name="Line 490"/>
            <p:cNvSpPr>
              <a:spLocks noChangeShapeType="1"/>
            </p:cNvSpPr>
            <p:nvPr/>
          </p:nvSpPr>
          <p:spPr bwMode="auto">
            <a:xfrm flipH="1">
              <a:off x="2029" y="2426"/>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6" name="Line 491"/>
            <p:cNvSpPr>
              <a:spLocks noChangeShapeType="1"/>
            </p:cNvSpPr>
            <p:nvPr/>
          </p:nvSpPr>
          <p:spPr bwMode="auto">
            <a:xfrm flipH="1">
              <a:off x="2029" y="2500"/>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7" name="Line 492"/>
            <p:cNvSpPr>
              <a:spLocks noChangeShapeType="1"/>
            </p:cNvSpPr>
            <p:nvPr/>
          </p:nvSpPr>
          <p:spPr bwMode="auto">
            <a:xfrm flipH="1">
              <a:off x="2029" y="2570"/>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8" name="Line 493"/>
            <p:cNvSpPr>
              <a:spLocks noChangeShapeType="1"/>
            </p:cNvSpPr>
            <p:nvPr/>
          </p:nvSpPr>
          <p:spPr bwMode="auto">
            <a:xfrm flipH="1">
              <a:off x="2029" y="2644"/>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 name="Line 511"/>
            <p:cNvSpPr>
              <a:spLocks noChangeShapeType="1"/>
            </p:cNvSpPr>
            <p:nvPr/>
          </p:nvSpPr>
          <p:spPr bwMode="auto">
            <a:xfrm>
              <a:off x="3378" y="2890"/>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16" name="Line 512"/>
            <p:cNvSpPr>
              <a:spLocks noChangeShapeType="1"/>
            </p:cNvSpPr>
            <p:nvPr/>
          </p:nvSpPr>
          <p:spPr bwMode="auto">
            <a:xfrm>
              <a:off x="3419" y="2870"/>
              <a:ext cx="1" cy="4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17" name="Line 513"/>
            <p:cNvSpPr>
              <a:spLocks noChangeShapeType="1"/>
            </p:cNvSpPr>
            <p:nvPr/>
          </p:nvSpPr>
          <p:spPr bwMode="auto">
            <a:xfrm flipV="1">
              <a:off x="3624" y="2804"/>
              <a:ext cx="1" cy="8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18" name="Line 514"/>
            <p:cNvSpPr>
              <a:spLocks noChangeShapeType="1"/>
            </p:cNvSpPr>
            <p:nvPr/>
          </p:nvSpPr>
          <p:spPr bwMode="auto">
            <a:xfrm flipV="1">
              <a:off x="3653" y="2792"/>
              <a:ext cx="1" cy="3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19" name="Line 515"/>
            <p:cNvSpPr>
              <a:spLocks noChangeShapeType="1"/>
            </p:cNvSpPr>
            <p:nvPr/>
          </p:nvSpPr>
          <p:spPr bwMode="auto">
            <a:xfrm flipV="1">
              <a:off x="3390" y="2923"/>
              <a:ext cx="1" cy="5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0" name="Line 516"/>
            <p:cNvSpPr>
              <a:spLocks noChangeShapeType="1"/>
            </p:cNvSpPr>
            <p:nvPr/>
          </p:nvSpPr>
          <p:spPr bwMode="auto">
            <a:xfrm flipV="1">
              <a:off x="3538" y="2849"/>
              <a:ext cx="1" cy="35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1" name="Line 517"/>
            <p:cNvSpPr>
              <a:spLocks noChangeShapeType="1"/>
            </p:cNvSpPr>
            <p:nvPr/>
          </p:nvSpPr>
          <p:spPr bwMode="auto">
            <a:xfrm>
              <a:off x="3225" y="2985"/>
              <a:ext cx="1" cy="2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2" name="Line 518"/>
            <p:cNvSpPr>
              <a:spLocks noChangeShapeType="1"/>
            </p:cNvSpPr>
            <p:nvPr/>
          </p:nvSpPr>
          <p:spPr bwMode="auto">
            <a:xfrm>
              <a:off x="3431" y="2866"/>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3" name="Line 519"/>
            <p:cNvSpPr>
              <a:spLocks noChangeShapeType="1"/>
            </p:cNvSpPr>
            <p:nvPr/>
          </p:nvSpPr>
          <p:spPr bwMode="auto">
            <a:xfrm>
              <a:off x="3217" y="2960"/>
              <a:ext cx="1" cy="5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4" name="Line 520"/>
            <p:cNvSpPr>
              <a:spLocks noChangeShapeType="1"/>
            </p:cNvSpPr>
            <p:nvPr/>
          </p:nvSpPr>
          <p:spPr bwMode="auto">
            <a:xfrm>
              <a:off x="3032" y="2911"/>
              <a:ext cx="1" cy="19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5" name="Line 521"/>
            <p:cNvSpPr>
              <a:spLocks noChangeShapeType="1"/>
            </p:cNvSpPr>
            <p:nvPr/>
          </p:nvSpPr>
          <p:spPr bwMode="auto">
            <a:xfrm>
              <a:off x="2708" y="3178"/>
              <a:ext cx="1" cy="9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6" name="Line 522"/>
            <p:cNvSpPr>
              <a:spLocks noChangeShapeType="1"/>
            </p:cNvSpPr>
            <p:nvPr/>
          </p:nvSpPr>
          <p:spPr bwMode="auto">
            <a:xfrm>
              <a:off x="2773" y="3219"/>
              <a:ext cx="1" cy="1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7" name="Line 523"/>
            <p:cNvSpPr>
              <a:spLocks noChangeShapeType="1"/>
            </p:cNvSpPr>
            <p:nvPr/>
          </p:nvSpPr>
          <p:spPr bwMode="auto">
            <a:xfrm>
              <a:off x="3172" y="3022"/>
              <a:ext cx="1" cy="1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8" name="Line 524"/>
            <p:cNvSpPr>
              <a:spLocks noChangeShapeType="1"/>
            </p:cNvSpPr>
            <p:nvPr/>
          </p:nvSpPr>
          <p:spPr bwMode="auto">
            <a:xfrm>
              <a:off x="3431" y="2816"/>
              <a:ext cx="1" cy="8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9" name="Line 525"/>
            <p:cNvSpPr>
              <a:spLocks noChangeShapeType="1"/>
            </p:cNvSpPr>
            <p:nvPr/>
          </p:nvSpPr>
          <p:spPr bwMode="auto">
            <a:xfrm flipV="1">
              <a:off x="3669" y="2784"/>
              <a:ext cx="1" cy="4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0" name="Line 526"/>
            <p:cNvSpPr>
              <a:spLocks noChangeShapeType="1"/>
            </p:cNvSpPr>
            <p:nvPr/>
          </p:nvSpPr>
          <p:spPr bwMode="auto">
            <a:xfrm flipV="1">
              <a:off x="3221" y="3010"/>
              <a:ext cx="1" cy="10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1" name="Line 527"/>
            <p:cNvSpPr>
              <a:spLocks noChangeShapeType="1"/>
            </p:cNvSpPr>
            <p:nvPr/>
          </p:nvSpPr>
          <p:spPr bwMode="auto">
            <a:xfrm>
              <a:off x="2691" y="3277"/>
              <a:ext cx="1" cy="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2" name="Line 528"/>
            <p:cNvSpPr>
              <a:spLocks noChangeShapeType="1"/>
            </p:cNvSpPr>
            <p:nvPr/>
          </p:nvSpPr>
          <p:spPr bwMode="auto">
            <a:xfrm>
              <a:off x="3168" y="3034"/>
              <a:ext cx="1" cy="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3" name="Line 529"/>
            <p:cNvSpPr>
              <a:spLocks noChangeShapeType="1"/>
            </p:cNvSpPr>
            <p:nvPr/>
          </p:nvSpPr>
          <p:spPr bwMode="auto">
            <a:xfrm>
              <a:off x="2987" y="3034"/>
              <a:ext cx="1" cy="9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4" name="Line 530"/>
            <p:cNvSpPr>
              <a:spLocks noChangeShapeType="1"/>
            </p:cNvSpPr>
            <p:nvPr/>
          </p:nvSpPr>
          <p:spPr bwMode="auto">
            <a:xfrm>
              <a:off x="3382" y="2919"/>
              <a:ext cx="1" cy="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5" name="Line 531"/>
            <p:cNvSpPr>
              <a:spLocks noChangeShapeType="1"/>
            </p:cNvSpPr>
            <p:nvPr/>
          </p:nvSpPr>
          <p:spPr bwMode="auto">
            <a:xfrm>
              <a:off x="3336" y="2948"/>
              <a:ext cx="1" cy="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6" name="Line 532"/>
            <p:cNvSpPr>
              <a:spLocks noChangeShapeType="1"/>
            </p:cNvSpPr>
            <p:nvPr/>
          </p:nvSpPr>
          <p:spPr bwMode="auto">
            <a:xfrm>
              <a:off x="2946" y="3092"/>
              <a:ext cx="1" cy="5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7" name="Line 533"/>
            <p:cNvSpPr>
              <a:spLocks noChangeShapeType="1"/>
            </p:cNvSpPr>
            <p:nvPr/>
          </p:nvSpPr>
          <p:spPr bwMode="auto">
            <a:xfrm>
              <a:off x="3682" y="2775"/>
              <a:ext cx="1" cy="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8" name="Line 534"/>
            <p:cNvSpPr>
              <a:spLocks noChangeShapeType="1"/>
            </p:cNvSpPr>
            <p:nvPr/>
          </p:nvSpPr>
          <p:spPr bwMode="auto">
            <a:xfrm>
              <a:off x="3102" y="3030"/>
              <a:ext cx="1" cy="4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9" name="Line 535"/>
            <p:cNvSpPr>
              <a:spLocks noChangeShapeType="1"/>
            </p:cNvSpPr>
            <p:nvPr/>
          </p:nvSpPr>
          <p:spPr bwMode="auto">
            <a:xfrm flipV="1">
              <a:off x="3530" y="2853"/>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0" name="Line 536"/>
            <p:cNvSpPr>
              <a:spLocks noChangeShapeType="1"/>
            </p:cNvSpPr>
            <p:nvPr/>
          </p:nvSpPr>
          <p:spPr bwMode="auto">
            <a:xfrm>
              <a:off x="2930" y="3075"/>
              <a:ext cx="1" cy="8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1" name="Line 537"/>
            <p:cNvSpPr>
              <a:spLocks noChangeShapeType="1"/>
            </p:cNvSpPr>
            <p:nvPr/>
          </p:nvSpPr>
          <p:spPr bwMode="auto">
            <a:xfrm flipV="1">
              <a:off x="3201" y="3018"/>
              <a:ext cx="1" cy="2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2" name="Line 538"/>
            <p:cNvSpPr>
              <a:spLocks noChangeShapeType="1"/>
            </p:cNvSpPr>
            <p:nvPr/>
          </p:nvSpPr>
          <p:spPr bwMode="auto">
            <a:xfrm>
              <a:off x="3008" y="3096"/>
              <a:ext cx="1" cy="2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3" name="Line 539"/>
            <p:cNvSpPr>
              <a:spLocks noChangeShapeType="1"/>
            </p:cNvSpPr>
            <p:nvPr/>
          </p:nvSpPr>
          <p:spPr bwMode="auto">
            <a:xfrm>
              <a:off x="3049" y="3051"/>
              <a:ext cx="1" cy="4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4" name="Line 540"/>
            <p:cNvSpPr>
              <a:spLocks noChangeShapeType="1"/>
            </p:cNvSpPr>
            <p:nvPr/>
          </p:nvSpPr>
          <p:spPr bwMode="auto">
            <a:xfrm flipV="1">
              <a:off x="3299" y="2969"/>
              <a:ext cx="1" cy="4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5" name="Line 541"/>
            <p:cNvSpPr>
              <a:spLocks noChangeShapeType="1"/>
            </p:cNvSpPr>
            <p:nvPr/>
          </p:nvSpPr>
          <p:spPr bwMode="auto">
            <a:xfrm>
              <a:off x="3468" y="2812"/>
              <a:ext cx="1" cy="7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6" name="Line 542"/>
            <p:cNvSpPr>
              <a:spLocks noChangeShapeType="1"/>
            </p:cNvSpPr>
            <p:nvPr/>
          </p:nvSpPr>
          <p:spPr bwMode="auto">
            <a:xfrm flipV="1">
              <a:off x="3156" y="3043"/>
              <a:ext cx="1" cy="10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7" name="Line 543"/>
            <p:cNvSpPr>
              <a:spLocks noChangeShapeType="1"/>
            </p:cNvSpPr>
            <p:nvPr/>
          </p:nvSpPr>
          <p:spPr bwMode="auto">
            <a:xfrm>
              <a:off x="3398" y="2890"/>
              <a:ext cx="1" cy="2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8" name="Line 544"/>
            <p:cNvSpPr>
              <a:spLocks noChangeShapeType="1"/>
            </p:cNvSpPr>
            <p:nvPr/>
          </p:nvSpPr>
          <p:spPr bwMode="auto">
            <a:xfrm flipV="1">
              <a:off x="3176" y="3030"/>
              <a:ext cx="1" cy="4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9" name="Line 545"/>
            <p:cNvSpPr>
              <a:spLocks noChangeShapeType="1"/>
            </p:cNvSpPr>
            <p:nvPr/>
          </p:nvSpPr>
          <p:spPr bwMode="auto">
            <a:xfrm>
              <a:off x="3065" y="3010"/>
              <a:ext cx="1" cy="7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0" name="Line 546"/>
            <p:cNvSpPr>
              <a:spLocks noChangeShapeType="1"/>
            </p:cNvSpPr>
            <p:nvPr/>
          </p:nvSpPr>
          <p:spPr bwMode="auto">
            <a:xfrm flipV="1">
              <a:off x="2905" y="3170"/>
              <a:ext cx="1" cy="5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1" name="Line 547"/>
            <p:cNvSpPr>
              <a:spLocks noChangeShapeType="1"/>
            </p:cNvSpPr>
            <p:nvPr/>
          </p:nvSpPr>
          <p:spPr bwMode="auto">
            <a:xfrm flipV="1">
              <a:off x="3078" y="3084"/>
              <a:ext cx="1" cy="6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2" name="Line 548"/>
            <p:cNvSpPr>
              <a:spLocks noChangeShapeType="1"/>
            </p:cNvSpPr>
            <p:nvPr/>
          </p:nvSpPr>
          <p:spPr bwMode="auto">
            <a:xfrm flipV="1">
              <a:off x="3563" y="2837"/>
              <a:ext cx="1" cy="8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3" name="Line 549"/>
            <p:cNvSpPr>
              <a:spLocks noChangeShapeType="1"/>
            </p:cNvSpPr>
            <p:nvPr/>
          </p:nvSpPr>
          <p:spPr bwMode="auto">
            <a:xfrm>
              <a:off x="3225" y="2973"/>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4" name="Line 550"/>
            <p:cNvSpPr>
              <a:spLocks noChangeShapeType="1"/>
            </p:cNvSpPr>
            <p:nvPr/>
          </p:nvSpPr>
          <p:spPr bwMode="auto">
            <a:xfrm>
              <a:off x="4039" y="2545"/>
              <a:ext cx="1" cy="5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5" name="Line 551"/>
            <p:cNvSpPr>
              <a:spLocks noChangeShapeType="1"/>
            </p:cNvSpPr>
            <p:nvPr/>
          </p:nvSpPr>
          <p:spPr bwMode="auto">
            <a:xfrm>
              <a:off x="3723" y="2611"/>
              <a:ext cx="1" cy="14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6" name="Line 552"/>
            <p:cNvSpPr>
              <a:spLocks noChangeShapeType="1"/>
            </p:cNvSpPr>
            <p:nvPr/>
          </p:nvSpPr>
          <p:spPr bwMode="auto">
            <a:xfrm>
              <a:off x="3563" y="2718"/>
              <a:ext cx="1" cy="12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7" name="Line 553"/>
            <p:cNvSpPr>
              <a:spLocks noChangeShapeType="1"/>
            </p:cNvSpPr>
            <p:nvPr/>
          </p:nvSpPr>
          <p:spPr bwMode="auto">
            <a:xfrm flipV="1">
              <a:off x="3920" y="2660"/>
              <a:ext cx="1" cy="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8" name="Line 554"/>
            <p:cNvSpPr>
              <a:spLocks noChangeShapeType="1"/>
            </p:cNvSpPr>
            <p:nvPr/>
          </p:nvSpPr>
          <p:spPr bwMode="auto">
            <a:xfrm>
              <a:off x="3871" y="2599"/>
              <a:ext cx="1" cy="8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9" name="Line 555"/>
            <p:cNvSpPr>
              <a:spLocks noChangeShapeType="1"/>
            </p:cNvSpPr>
            <p:nvPr/>
          </p:nvSpPr>
          <p:spPr bwMode="auto">
            <a:xfrm>
              <a:off x="3694" y="2615"/>
              <a:ext cx="1" cy="16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0" name="Line 556"/>
            <p:cNvSpPr>
              <a:spLocks noChangeShapeType="1"/>
            </p:cNvSpPr>
            <p:nvPr/>
          </p:nvSpPr>
          <p:spPr bwMode="auto">
            <a:xfrm>
              <a:off x="3937" y="2640"/>
              <a:ext cx="1" cy="1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1" name="Line 557"/>
            <p:cNvSpPr>
              <a:spLocks noChangeShapeType="1"/>
            </p:cNvSpPr>
            <p:nvPr/>
          </p:nvSpPr>
          <p:spPr bwMode="auto">
            <a:xfrm flipV="1">
              <a:off x="3760" y="2742"/>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2" name="Line 558"/>
            <p:cNvSpPr>
              <a:spLocks noChangeShapeType="1"/>
            </p:cNvSpPr>
            <p:nvPr/>
          </p:nvSpPr>
          <p:spPr bwMode="auto">
            <a:xfrm flipV="1">
              <a:off x="3875" y="2681"/>
              <a:ext cx="1" cy="6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3" name="Line 559"/>
            <p:cNvSpPr>
              <a:spLocks noChangeShapeType="1"/>
            </p:cNvSpPr>
            <p:nvPr/>
          </p:nvSpPr>
          <p:spPr bwMode="auto">
            <a:xfrm>
              <a:off x="3115" y="3038"/>
              <a:ext cx="1" cy="2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4" name="Line 560"/>
            <p:cNvSpPr>
              <a:spLocks noChangeShapeType="1"/>
            </p:cNvSpPr>
            <p:nvPr/>
          </p:nvSpPr>
          <p:spPr bwMode="auto">
            <a:xfrm flipV="1">
              <a:off x="4155" y="2541"/>
              <a:ext cx="1" cy="12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5" name="Line 561"/>
            <p:cNvSpPr>
              <a:spLocks noChangeShapeType="1"/>
            </p:cNvSpPr>
            <p:nvPr/>
          </p:nvSpPr>
          <p:spPr bwMode="auto">
            <a:xfrm>
              <a:off x="3731" y="2693"/>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6" name="Line 562"/>
            <p:cNvSpPr>
              <a:spLocks noChangeShapeType="1"/>
            </p:cNvSpPr>
            <p:nvPr/>
          </p:nvSpPr>
          <p:spPr bwMode="auto">
            <a:xfrm flipV="1">
              <a:off x="4290" y="2471"/>
              <a:ext cx="1" cy="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7" name="Line 563"/>
            <p:cNvSpPr>
              <a:spLocks noChangeShapeType="1"/>
            </p:cNvSpPr>
            <p:nvPr/>
          </p:nvSpPr>
          <p:spPr bwMode="auto">
            <a:xfrm flipV="1">
              <a:off x="2872" y="3191"/>
              <a:ext cx="1" cy="5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8" name="Line 564"/>
            <p:cNvSpPr>
              <a:spLocks noChangeShapeType="1"/>
            </p:cNvSpPr>
            <p:nvPr/>
          </p:nvSpPr>
          <p:spPr bwMode="auto">
            <a:xfrm flipV="1">
              <a:off x="3941" y="2648"/>
              <a:ext cx="1" cy="25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9" name="Line 565"/>
            <p:cNvSpPr>
              <a:spLocks noChangeShapeType="1"/>
            </p:cNvSpPr>
            <p:nvPr/>
          </p:nvSpPr>
          <p:spPr bwMode="auto">
            <a:xfrm flipV="1">
              <a:off x="3365" y="2940"/>
              <a:ext cx="1" cy="9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0" name="Line 566"/>
            <p:cNvSpPr>
              <a:spLocks noChangeShapeType="1"/>
            </p:cNvSpPr>
            <p:nvPr/>
          </p:nvSpPr>
          <p:spPr bwMode="auto">
            <a:xfrm>
              <a:off x="3304" y="2944"/>
              <a:ext cx="1" cy="2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1" name="Line 567"/>
            <p:cNvSpPr>
              <a:spLocks noChangeShapeType="1"/>
            </p:cNvSpPr>
            <p:nvPr/>
          </p:nvSpPr>
          <p:spPr bwMode="auto">
            <a:xfrm>
              <a:off x="3719" y="2697"/>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2" name="Line 568"/>
            <p:cNvSpPr>
              <a:spLocks noChangeShapeType="1"/>
            </p:cNvSpPr>
            <p:nvPr/>
          </p:nvSpPr>
          <p:spPr bwMode="auto">
            <a:xfrm>
              <a:off x="3743" y="2697"/>
              <a:ext cx="1" cy="5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3" name="Line 569"/>
            <p:cNvSpPr>
              <a:spLocks noChangeShapeType="1"/>
            </p:cNvSpPr>
            <p:nvPr/>
          </p:nvSpPr>
          <p:spPr bwMode="auto">
            <a:xfrm flipV="1">
              <a:off x="3838" y="2701"/>
              <a:ext cx="1" cy="21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4" name="Line 570"/>
            <p:cNvSpPr>
              <a:spLocks noChangeShapeType="1"/>
            </p:cNvSpPr>
            <p:nvPr/>
          </p:nvSpPr>
          <p:spPr bwMode="auto">
            <a:xfrm>
              <a:off x="3262" y="2701"/>
              <a:ext cx="1" cy="29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5" name="Line 571"/>
            <p:cNvSpPr>
              <a:spLocks noChangeShapeType="1"/>
            </p:cNvSpPr>
            <p:nvPr/>
          </p:nvSpPr>
          <p:spPr bwMode="auto">
            <a:xfrm>
              <a:off x="3086" y="3022"/>
              <a:ext cx="1" cy="5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6" name="Line 572"/>
            <p:cNvSpPr>
              <a:spLocks noChangeShapeType="1"/>
            </p:cNvSpPr>
            <p:nvPr/>
          </p:nvSpPr>
          <p:spPr bwMode="auto">
            <a:xfrm flipV="1">
              <a:off x="2975" y="3137"/>
              <a:ext cx="1" cy="9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7" name="Line 573"/>
            <p:cNvSpPr>
              <a:spLocks noChangeShapeType="1"/>
            </p:cNvSpPr>
            <p:nvPr/>
          </p:nvSpPr>
          <p:spPr bwMode="auto">
            <a:xfrm flipV="1">
              <a:off x="3312" y="2969"/>
              <a:ext cx="1" cy="11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8" name="Line 574"/>
            <p:cNvSpPr>
              <a:spLocks noChangeShapeType="1"/>
            </p:cNvSpPr>
            <p:nvPr/>
          </p:nvSpPr>
          <p:spPr bwMode="auto">
            <a:xfrm>
              <a:off x="3748" y="2648"/>
              <a:ext cx="1" cy="9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9" name="Line 575"/>
            <p:cNvSpPr>
              <a:spLocks noChangeShapeType="1"/>
            </p:cNvSpPr>
            <p:nvPr/>
          </p:nvSpPr>
          <p:spPr bwMode="auto">
            <a:xfrm flipV="1">
              <a:off x="4093" y="2570"/>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0" name="Line 576"/>
            <p:cNvSpPr>
              <a:spLocks noChangeShapeType="1"/>
            </p:cNvSpPr>
            <p:nvPr/>
          </p:nvSpPr>
          <p:spPr bwMode="auto">
            <a:xfrm>
              <a:off x="3591" y="2705"/>
              <a:ext cx="1" cy="12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1" name="Line 577"/>
            <p:cNvSpPr>
              <a:spLocks noChangeShapeType="1"/>
            </p:cNvSpPr>
            <p:nvPr/>
          </p:nvSpPr>
          <p:spPr bwMode="auto">
            <a:xfrm>
              <a:off x="4216" y="2356"/>
              <a:ext cx="1" cy="15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2" name="Line 578"/>
            <p:cNvSpPr>
              <a:spLocks noChangeShapeType="1"/>
            </p:cNvSpPr>
            <p:nvPr/>
          </p:nvSpPr>
          <p:spPr bwMode="auto">
            <a:xfrm flipV="1">
              <a:off x="3526" y="2858"/>
              <a:ext cx="1" cy="13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3" name="Line 579"/>
            <p:cNvSpPr>
              <a:spLocks noChangeShapeType="1"/>
            </p:cNvSpPr>
            <p:nvPr/>
          </p:nvSpPr>
          <p:spPr bwMode="auto">
            <a:xfrm flipV="1">
              <a:off x="3970" y="2631"/>
              <a:ext cx="1" cy="19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4" name="Line 580"/>
            <p:cNvSpPr>
              <a:spLocks noChangeShapeType="1"/>
            </p:cNvSpPr>
            <p:nvPr/>
          </p:nvSpPr>
          <p:spPr bwMode="auto">
            <a:xfrm flipV="1">
              <a:off x="4105" y="2566"/>
              <a:ext cx="1" cy="18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5" name="Line 581"/>
            <p:cNvSpPr>
              <a:spLocks noChangeShapeType="1"/>
            </p:cNvSpPr>
            <p:nvPr/>
          </p:nvSpPr>
          <p:spPr bwMode="auto">
            <a:xfrm>
              <a:off x="3209" y="2907"/>
              <a:ext cx="1" cy="11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6" name="Line 582"/>
            <p:cNvSpPr>
              <a:spLocks noChangeShapeType="1"/>
            </p:cNvSpPr>
            <p:nvPr/>
          </p:nvSpPr>
          <p:spPr bwMode="auto">
            <a:xfrm>
              <a:off x="3517" y="2771"/>
              <a:ext cx="1" cy="9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7" name="Line 583"/>
            <p:cNvSpPr>
              <a:spLocks noChangeShapeType="1"/>
            </p:cNvSpPr>
            <p:nvPr/>
          </p:nvSpPr>
          <p:spPr bwMode="auto">
            <a:xfrm flipV="1">
              <a:off x="3501" y="2870"/>
              <a:ext cx="1" cy="5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8" name="Line 584"/>
            <p:cNvSpPr>
              <a:spLocks noChangeShapeType="1"/>
            </p:cNvSpPr>
            <p:nvPr/>
          </p:nvSpPr>
          <p:spPr bwMode="auto">
            <a:xfrm>
              <a:off x="3891" y="2673"/>
              <a:ext cx="1" cy="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9" name="Line 585"/>
            <p:cNvSpPr>
              <a:spLocks noChangeShapeType="1"/>
            </p:cNvSpPr>
            <p:nvPr/>
          </p:nvSpPr>
          <p:spPr bwMode="auto">
            <a:xfrm>
              <a:off x="3645" y="2775"/>
              <a:ext cx="1" cy="2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0" name="Line 586"/>
            <p:cNvSpPr>
              <a:spLocks noChangeShapeType="1"/>
            </p:cNvSpPr>
            <p:nvPr/>
          </p:nvSpPr>
          <p:spPr bwMode="auto">
            <a:xfrm>
              <a:off x="2732" y="3273"/>
              <a:ext cx="1" cy="2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1" name="Line 587"/>
            <p:cNvSpPr>
              <a:spLocks noChangeShapeType="1"/>
            </p:cNvSpPr>
            <p:nvPr/>
          </p:nvSpPr>
          <p:spPr bwMode="auto">
            <a:xfrm flipV="1">
              <a:off x="2255" y="3540"/>
              <a:ext cx="1" cy="5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2" name="Line 588"/>
            <p:cNvSpPr>
              <a:spLocks noChangeShapeType="1"/>
            </p:cNvSpPr>
            <p:nvPr/>
          </p:nvSpPr>
          <p:spPr bwMode="auto">
            <a:xfrm>
              <a:off x="2597" y="3293"/>
              <a:ext cx="1" cy="7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3" name="Line 589"/>
            <p:cNvSpPr>
              <a:spLocks noChangeShapeType="1"/>
            </p:cNvSpPr>
            <p:nvPr/>
          </p:nvSpPr>
          <p:spPr bwMode="auto">
            <a:xfrm>
              <a:off x="2991" y="3038"/>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4" name="Line 590"/>
            <p:cNvSpPr>
              <a:spLocks noChangeShapeType="1"/>
            </p:cNvSpPr>
            <p:nvPr/>
          </p:nvSpPr>
          <p:spPr bwMode="auto">
            <a:xfrm>
              <a:off x="3230" y="3030"/>
              <a:ext cx="1" cy="1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5" name="Line 591"/>
            <p:cNvSpPr>
              <a:spLocks noChangeShapeType="1"/>
            </p:cNvSpPr>
            <p:nvPr/>
          </p:nvSpPr>
          <p:spPr bwMode="auto">
            <a:xfrm>
              <a:off x="3201" y="3026"/>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6" name="Line 592"/>
            <p:cNvSpPr>
              <a:spLocks noChangeShapeType="1"/>
            </p:cNvSpPr>
            <p:nvPr/>
          </p:nvSpPr>
          <p:spPr bwMode="auto">
            <a:xfrm>
              <a:off x="3291" y="2936"/>
              <a:ext cx="1" cy="7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7" name="Line 593"/>
            <p:cNvSpPr>
              <a:spLocks noChangeShapeType="1"/>
            </p:cNvSpPr>
            <p:nvPr/>
          </p:nvSpPr>
          <p:spPr bwMode="auto">
            <a:xfrm>
              <a:off x="2753" y="3092"/>
              <a:ext cx="1" cy="19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8" name="Line 594"/>
            <p:cNvSpPr>
              <a:spLocks noChangeShapeType="1"/>
            </p:cNvSpPr>
            <p:nvPr/>
          </p:nvSpPr>
          <p:spPr bwMode="auto">
            <a:xfrm flipV="1">
              <a:off x="3016" y="3154"/>
              <a:ext cx="1" cy="2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9" name="Line 595"/>
            <p:cNvSpPr>
              <a:spLocks noChangeShapeType="1"/>
            </p:cNvSpPr>
            <p:nvPr/>
          </p:nvSpPr>
          <p:spPr bwMode="auto">
            <a:xfrm flipV="1">
              <a:off x="2646" y="3343"/>
              <a:ext cx="1" cy="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0" name="Line 596"/>
            <p:cNvSpPr>
              <a:spLocks noChangeShapeType="1"/>
            </p:cNvSpPr>
            <p:nvPr/>
          </p:nvSpPr>
          <p:spPr bwMode="auto">
            <a:xfrm>
              <a:off x="2420" y="3326"/>
              <a:ext cx="1" cy="13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1" name="Line 597"/>
            <p:cNvSpPr>
              <a:spLocks noChangeShapeType="1"/>
            </p:cNvSpPr>
            <p:nvPr/>
          </p:nvSpPr>
          <p:spPr bwMode="auto">
            <a:xfrm>
              <a:off x="2794" y="3244"/>
              <a:ext cx="1" cy="2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2" name="Line 598"/>
            <p:cNvSpPr>
              <a:spLocks noChangeShapeType="1"/>
            </p:cNvSpPr>
            <p:nvPr/>
          </p:nvSpPr>
          <p:spPr bwMode="auto">
            <a:xfrm flipV="1">
              <a:off x="2346" y="3495"/>
              <a:ext cx="1" cy="6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3" name="Line 599"/>
            <p:cNvSpPr>
              <a:spLocks noChangeShapeType="1"/>
            </p:cNvSpPr>
            <p:nvPr/>
          </p:nvSpPr>
          <p:spPr bwMode="auto">
            <a:xfrm flipV="1">
              <a:off x="2967" y="3178"/>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4" name="Line 600"/>
            <p:cNvSpPr>
              <a:spLocks noChangeShapeType="1"/>
            </p:cNvSpPr>
            <p:nvPr/>
          </p:nvSpPr>
          <p:spPr bwMode="auto">
            <a:xfrm flipV="1">
              <a:off x="2346" y="3495"/>
              <a:ext cx="1" cy="7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5" name="Line 601"/>
            <p:cNvSpPr>
              <a:spLocks noChangeShapeType="1"/>
            </p:cNvSpPr>
            <p:nvPr/>
          </p:nvSpPr>
          <p:spPr bwMode="auto">
            <a:xfrm>
              <a:off x="3312" y="2858"/>
              <a:ext cx="1" cy="14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6" name="Line 602"/>
            <p:cNvSpPr>
              <a:spLocks noChangeShapeType="1"/>
            </p:cNvSpPr>
            <p:nvPr/>
          </p:nvSpPr>
          <p:spPr bwMode="auto">
            <a:xfrm flipV="1">
              <a:off x="3489" y="2915"/>
              <a:ext cx="1" cy="2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7" name="Line 603"/>
            <p:cNvSpPr>
              <a:spLocks noChangeShapeType="1"/>
            </p:cNvSpPr>
            <p:nvPr/>
          </p:nvSpPr>
          <p:spPr bwMode="auto">
            <a:xfrm>
              <a:off x="2851" y="3162"/>
              <a:ext cx="1" cy="7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8" name="Line 604"/>
            <p:cNvSpPr>
              <a:spLocks noChangeShapeType="1"/>
            </p:cNvSpPr>
            <p:nvPr/>
          </p:nvSpPr>
          <p:spPr bwMode="auto">
            <a:xfrm flipV="1">
              <a:off x="2884" y="3223"/>
              <a:ext cx="1" cy="14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9" name="Line 605"/>
            <p:cNvSpPr>
              <a:spLocks noChangeShapeType="1"/>
            </p:cNvSpPr>
            <p:nvPr/>
          </p:nvSpPr>
          <p:spPr bwMode="auto">
            <a:xfrm flipV="1">
              <a:off x="3431" y="2944"/>
              <a:ext cx="1" cy="10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0" name="Line 606"/>
            <p:cNvSpPr>
              <a:spLocks noChangeShapeType="1"/>
            </p:cNvSpPr>
            <p:nvPr/>
          </p:nvSpPr>
          <p:spPr bwMode="auto">
            <a:xfrm flipV="1">
              <a:off x="3115" y="3104"/>
              <a:ext cx="1" cy="11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1" name="Line 607"/>
            <p:cNvSpPr>
              <a:spLocks noChangeShapeType="1"/>
            </p:cNvSpPr>
            <p:nvPr/>
          </p:nvSpPr>
          <p:spPr bwMode="auto">
            <a:xfrm flipV="1">
              <a:off x="2453" y="3441"/>
              <a:ext cx="1" cy="10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2" name="Line 608"/>
            <p:cNvSpPr>
              <a:spLocks noChangeShapeType="1"/>
            </p:cNvSpPr>
            <p:nvPr/>
          </p:nvSpPr>
          <p:spPr bwMode="auto">
            <a:xfrm>
              <a:off x="2999" y="3100"/>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3" name="Line 609"/>
            <p:cNvSpPr>
              <a:spLocks noChangeShapeType="1"/>
            </p:cNvSpPr>
            <p:nvPr/>
          </p:nvSpPr>
          <p:spPr bwMode="auto">
            <a:xfrm>
              <a:off x="3373" y="2845"/>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4" name="Line 610"/>
            <p:cNvSpPr>
              <a:spLocks noChangeShapeType="1"/>
            </p:cNvSpPr>
            <p:nvPr/>
          </p:nvSpPr>
          <p:spPr bwMode="auto">
            <a:xfrm flipV="1">
              <a:off x="2839" y="3244"/>
              <a:ext cx="1" cy="16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5" name="Line 611"/>
            <p:cNvSpPr>
              <a:spLocks noChangeShapeType="1"/>
            </p:cNvSpPr>
            <p:nvPr/>
          </p:nvSpPr>
          <p:spPr bwMode="auto">
            <a:xfrm flipV="1">
              <a:off x="3476" y="2923"/>
              <a:ext cx="1" cy="20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6" name="Line 612"/>
            <p:cNvSpPr>
              <a:spLocks noChangeShapeType="1"/>
            </p:cNvSpPr>
            <p:nvPr/>
          </p:nvSpPr>
          <p:spPr bwMode="auto">
            <a:xfrm flipV="1">
              <a:off x="2950" y="3186"/>
              <a:ext cx="1" cy="3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7" name="Line 613"/>
            <p:cNvSpPr>
              <a:spLocks noChangeShapeType="1"/>
            </p:cNvSpPr>
            <p:nvPr/>
          </p:nvSpPr>
          <p:spPr bwMode="auto">
            <a:xfrm flipV="1">
              <a:off x="3209" y="3055"/>
              <a:ext cx="1" cy="2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8" name="Line 614"/>
            <p:cNvSpPr>
              <a:spLocks noChangeShapeType="1"/>
            </p:cNvSpPr>
            <p:nvPr/>
          </p:nvSpPr>
          <p:spPr bwMode="auto">
            <a:xfrm flipV="1">
              <a:off x="2917" y="3207"/>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9" name="Line 615"/>
            <p:cNvSpPr>
              <a:spLocks noChangeShapeType="1"/>
            </p:cNvSpPr>
            <p:nvPr/>
          </p:nvSpPr>
          <p:spPr bwMode="auto">
            <a:xfrm flipV="1">
              <a:off x="2934" y="3199"/>
              <a:ext cx="1" cy="6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0" name="Line 616"/>
            <p:cNvSpPr>
              <a:spLocks noChangeShapeType="1"/>
            </p:cNvSpPr>
            <p:nvPr/>
          </p:nvSpPr>
          <p:spPr bwMode="auto">
            <a:xfrm>
              <a:off x="3365" y="2788"/>
              <a:ext cx="1" cy="18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1" name="Line 617"/>
            <p:cNvSpPr>
              <a:spLocks noChangeShapeType="1"/>
            </p:cNvSpPr>
            <p:nvPr/>
          </p:nvSpPr>
          <p:spPr bwMode="auto">
            <a:xfrm flipV="1">
              <a:off x="3020" y="3191"/>
              <a:ext cx="1" cy="6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2" name="Line 618"/>
            <p:cNvSpPr>
              <a:spLocks noChangeShapeType="1"/>
            </p:cNvSpPr>
            <p:nvPr/>
          </p:nvSpPr>
          <p:spPr bwMode="auto">
            <a:xfrm flipV="1">
              <a:off x="3156" y="3125"/>
              <a:ext cx="1" cy="2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3" name="Line 619"/>
            <p:cNvSpPr>
              <a:spLocks noChangeShapeType="1"/>
            </p:cNvSpPr>
            <p:nvPr/>
          </p:nvSpPr>
          <p:spPr bwMode="auto">
            <a:xfrm>
              <a:off x="3320" y="3026"/>
              <a:ext cx="1" cy="1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4" name="Line 620"/>
            <p:cNvSpPr>
              <a:spLocks noChangeShapeType="1"/>
            </p:cNvSpPr>
            <p:nvPr/>
          </p:nvSpPr>
          <p:spPr bwMode="auto">
            <a:xfrm flipV="1">
              <a:off x="2954" y="3223"/>
              <a:ext cx="1" cy="4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5" name="Line 621"/>
            <p:cNvSpPr>
              <a:spLocks noChangeShapeType="1"/>
            </p:cNvSpPr>
            <p:nvPr/>
          </p:nvSpPr>
          <p:spPr bwMode="auto">
            <a:xfrm flipV="1">
              <a:off x="2761" y="3322"/>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6" name="Line 622"/>
            <p:cNvSpPr>
              <a:spLocks noChangeShapeType="1"/>
            </p:cNvSpPr>
            <p:nvPr/>
          </p:nvSpPr>
          <p:spPr bwMode="auto">
            <a:xfrm flipV="1">
              <a:off x="3262" y="3067"/>
              <a:ext cx="1" cy="8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7" name="Line 623"/>
            <p:cNvSpPr>
              <a:spLocks noChangeShapeType="1"/>
            </p:cNvSpPr>
            <p:nvPr/>
          </p:nvSpPr>
          <p:spPr bwMode="auto">
            <a:xfrm>
              <a:off x="2810" y="3236"/>
              <a:ext cx="1" cy="6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8" name="Line 624"/>
            <p:cNvSpPr>
              <a:spLocks noChangeShapeType="1"/>
            </p:cNvSpPr>
            <p:nvPr/>
          </p:nvSpPr>
          <p:spPr bwMode="auto">
            <a:xfrm flipV="1">
              <a:off x="3267" y="3067"/>
              <a:ext cx="1" cy="5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9" name="Line 625"/>
            <p:cNvSpPr>
              <a:spLocks noChangeShapeType="1"/>
            </p:cNvSpPr>
            <p:nvPr/>
          </p:nvSpPr>
          <p:spPr bwMode="auto">
            <a:xfrm>
              <a:off x="3476" y="2833"/>
              <a:ext cx="1" cy="12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0" name="Line 626"/>
            <p:cNvSpPr>
              <a:spLocks noChangeShapeType="1"/>
            </p:cNvSpPr>
            <p:nvPr/>
          </p:nvSpPr>
          <p:spPr bwMode="auto">
            <a:xfrm>
              <a:off x="2802" y="3125"/>
              <a:ext cx="1" cy="17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1" name="Line 627"/>
            <p:cNvSpPr>
              <a:spLocks noChangeShapeType="1"/>
            </p:cNvSpPr>
            <p:nvPr/>
          </p:nvSpPr>
          <p:spPr bwMode="auto">
            <a:xfrm flipV="1">
              <a:off x="2930" y="3236"/>
              <a:ext cx="1" cy="6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2" name="Line 628"/>
            <p:cNvSpPr>
              <a:spLocks noChangeShapeType="1"/>
            </p:cNvSpPr>
            <p:nvPr/>
          </p:nvSpPr>
          <p:spPr bwMode="auto">
            <a:xfrm flipV="1">
              <a:off x="3230" y="3084"/>
              <a:ext cx="1" cy="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3" name="Line 629"/>
            <p:cNvSpPr>
              <a:spLocks noChangeShapeType="1"/>
            </p:cNvSpPr>
            <p:nvPr/>
          </p:nvSpPr>
          <p:spPr bwMode="auto">
            <a:xfrm>
              <a:off x="3012" y="3067"/>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4" name="Line 630"/>
            <p:cNvSpPr>
              <a:spLocks noChangeShapeType="1"/>
            </p:cNvSpPr>
            <p:nvPr/>
          </p:nvSpPr>
          <p:spPr bwMode="auto">
            <a:xfrm flipV="1">
              <a:off x="3201" y="3100"/>
              <a:ext cx="1" cy="15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5" name="Line 632"/>
            <p:cNvSpPr>
              <a:spLocks noChangeShapeType="1"/>
            </p:cNvSpPr>
            <p:nvPr/>
          </p:nvSpPr>
          <p:spPr bwMode="auto">
            <a:xfrm flipV="1">
              <a:off x="3061" y="3170"/>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6" name="Line 633"/>
            <p:cNvSpPr>
              <a:spLocks noChangeShapeType="1"/>
            </p:cNvSpPr>
            <p:nvPr/>
          </p:nvSpPr>
          <p:spPr bwMode="auto">
            <a:xfrm>
              <a:off x="3826" y="2705"/>
              <a:ext cx="1" cy="7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7" name="Line 634"/>
            <p:cNvSpPr>
              <a:spLocks noChangeShapeType="1"/>
            </p:cNvSpPr>
            <p:nvPr/>
          </p:nvSpPr>
          <p:spPr bwMode="auto">
            <a:xfrm flipV="1">
              <a:off x="3583" y="2907"/>
              <a:ext cx="1" cy="9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8" name="Line 635"/>
            <p:cNvSpPr>
              <a:spLocks noChangeShapeType="1"/>
            </p:cNvSpPr>
            <p:nvPr/>
          </p:nvSpPr>
          <p:spPr bwMode="auto">
            <a:xfrm>
              <a:off x="3197" y="3067"/>
              <a:ext cx="1" cy="3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9" name="Line 636"/>
            <p:cNvSpPr>
              <a:spLocks noChangeShapeType="1"/>
            </p:cNvSpPr>
            <p:nvPr/>
          </p:nvSpPr>
          <p:spPr bwMode="auto">
            <a:xfrm flipV="1">
              <a:off x="3398" y="3001"/>
              <a:ext cx="1" cy="3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0" name="Line 637"/>
            <p:cNvSpPr>
              <a:spLocks noChangeShapeType="1"/>
            </p:cNvSpPr>
            <p:nvPr/>
          </p:nvSpPr>
          <p:spPr bwMode="auto">
            <a:xfrm>
              <a:off x="3830" y="2545"/>
              <a:ext cx="1" cy="23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1" name="Line 638"/>
            <p:cNvSpPr>
              <a:spLocks noChangeShapeType="1"/>
            </p:cNvSpPr>
            <p:nvPr/>
          </p:nvSpPr>
          <p:spPr bwMode="auto">
            <a:xfrm>
              <a:off x="2913" y="2989"/>
              <a:ext cx="1" cy="25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2" name="Line 639"/>
            <p:cNvSpPr>
              <a:spLocks noChangeShapeType="1"/>
            </p:cNvSpPr>
            <p:nvPr/>
          </p:nvSpPr>
          <p:spPr bwMode="auto">
            <a:xfrm flipV="1">
              <a:off x="2864" y="3273"/>
              <a:ext cx="1" cy="24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3" name="Line 640"/>
            <p:cNvSpPr>
              <a:spLocks noChangeShapeType="1"/>
            </p:cNvSpPr>
            <p:nvPr/>
          </p:nvSpPr>
          <p:spPr bwMode="auto">
            <a:xfrm flipV="1">
              <a:off x="3567" y="2915"/>
              <a:ext cx="1" cy="8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4" name="Line 641"/>
            <p:cNvSpPr>
              <a:spLocks noChangeShapeType="1"/>
            </p:cNvSpPr>
            <p:nvPr/>
          </p:nvSpPr>
          <p:spPr bwMode="auto">
            <a:xfrm flipV="1">
              <a:off x="2987" y="3207"/>
              <a:ext cx="1" cy="6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5" name="Line 642"/>
            <p:cNvSpPr>
              <a:spLocks noChangeShapeType="1"/>
            </p:cNvSpPr>
            <p:nvPr/>
          </p:nvSpPr>
          <p:spPr bwMode="auto">
            <a:xfrm>
              <a:off x="3160" y="3034"/>
              <a:ext cx="1" cy="8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6" name="Line 643"/>
            <p:cNvSpPr>
              <a:spLocks noChangeShapeType="1"/>
            </p:cNvSpPr>
            <p:nvPr/>
          </p:nvSpPr>
          <p:spPr bwMode="auto">
            <a:xfrm>
              <a:off x="3476" y="2882"/>
              <a:ext cx="1" cy="7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7" name="Line 644"/>
            <p:cNvSpPr>
              <a:spLocks noChangeShapeType="1"/>
            </p:cNvSpPr>
            <p:nvPr/>
          </p:nvSpPr>
          <p:spPr bwMode="auto">
            <a:xfrm flipV="1">
              <a:off x="3550" y="2923"/>
              <a:ext cx="1" cy="7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8" name="Line 645"/>
            <p:cNvSpPr>
              <a:spLocks noChangeShapeType="1"/>
            </p:cNvSpPr>
            <p:nvPr/>
          </p:nvSpPr>
          <p:spPr bwMode="auto">
            <a:xfrm>
              <a:off x="3410" y="2792"/>
              <a:ext cx="1" cy="20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9" name="Line 646"/>
            <p:cNvSpPr>
              <a:spLocks noChangeShapeType="1"/>
            </p:cNvSpPr>
            <p:nvPr/>
          </p:nvSpPr>
          <p:spPr bwMode="auto">
            <a:xfrm flipV="1">
              <a:off x="2144" y="3635"/>
              <a:ext cx="1" cy="14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0" name="Line 647"/>
            <p:cNvSpPr>
              <a:spLocks noChangeShapeType="1"/>
            </p:cNvSpPr>
            <p:nvPr/>
          </p:nvSpPr>
          <p:spPr bwMode="auto">
            <a:xfrm flipV="1">
              <a:off x="3563" y="2915"/>
              <a:ext cx="1" cy="30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1" name="Line 648"/>
            <p:cNvSpPr>
              <a:spLocks noChangeShapeType="1"/>
            </p:cNvSpPr>
            <p:nvPr/>
          </p:nvSpPr>
          <p:spPr bwMode="auto">
            <a:xfrm flipV="1">
              <a:off x="3538" y="2927"/>
              <a:ext cx="1" cy="20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2" name="Line 649"/>
            <p:cNvSpPr>
              <a:spLocks noChangeShapeType="1"/>
            </p:cNvSpPr>
            <p:nvPr/>
          </p:nvSpPr>
          <p:spPr bwMode="auto">
            <a:xfrm flipV="1">
              <a:off x="3817" y="2788"/>
              <a:ext cx="1" cy="1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3" name="Line 650"/>
            <p:cNvSpPr>
              <a:spLocks noChangeShapeType="1"/>
            </p:cNvSpPr>
            <p:nvPr/>
          </p:nvSpPr>
          <p:spPr bwMode="auto">
            <a:xfrm flipV="1">
              <a:off x="3443" y="2977"/>
              <a:ext cx="1" cy="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4" name="Line 651"/>
            <p:cNvSpPr>
              <a:spLocks noChangeShapeType="1"/>
            </p:cNvSpPr>
            <p:nvPr/>
          </p:nvSpPr>
          <p:spPr bwMode="auto">
            <a:xfrm flipV="1">
              <a:off x="3517" y="2940"/>
              <a:ext cx="1" cy="10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5" name="Line 652"/>
            <p:cNvSpPr>
              <a:spLocks noChangeShapeType="1"/>
            </p:cNvSpPr>
            <p:nvPr/>
          </p:nvSpPr>
          <p:spPr bwMode="auto">
            <a:xfrm flipV="1">
              <a:off x="3386" y="3006"/>
              <a:ext cx="1" cy="20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6" name="Line 653"/>
            <p:cNvSpPr>
              <a:spLocks noChangeShapeType="1"/>
            </p:cNvSpPr>
            <p:nvPr/>
          </p:nvSpPr>
          <p:spPr bwMode="auto">
            <a:xfrm flipV="1">
              <a:off x="3373" y="3014"/>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7" name="Line 654"/>
            <p:cNvSpPr>
              <a:spLocks noChangeShapeType="1"/>
            </p:cNvSpPr>
            <p:nvPr/>
          </p:nvSpPr>
          <p:spPr bwMode="auto">
            <a:xfrm>
              <a:off x="3447" y="2940"/>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8" name="Line 655"/>
            <p:cNvSpPr>
              <a:spLocks noChangeShapeType="1"/>
            </p:cNvSpPr>
            <p:nvPr/>
          </p:nvSpPr>
          <p:spPr bwMode="auto">
            <a:xfrm>
              <a:off x="3188" y="2940"/>
              <a:ext cx="1" cy="16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9" name="Line 656"/>
            <p:cNvSpPr>
              <a:spLocks noChangeShapeType="1"/>
            </p:cNvSpPr>
            <p:nvPr/>
          </p:nvSpPr>
          <p:spPr bwMode="auto">
            <a:xfrm flipV="1">
              <a:off x="2177" y="3618"/>
              <a:ext cx="1" cy="17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0" name="Line 657"/>
            <p:cNvSpPr>
              <a:spLocks noChangeShapeType="1"/>
            </p:cNvSpPr>
            <p:nvPr/>
          </p:nvSpPr>
          <p:spPr bwMode="auto">
            <a:xfrm>
              <a:off x="2046" y="3659"/>
              <a:ext cx="1" cy="2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1" name="Line 658"/>
            <p:cNvSpPr>
              <a:spLocks noChangeShapeType="1"/>
            </p:cNvSpPr>
            <p:nvPr/>
          </p:nvSpPr>
          <p:spPr bwMode="auto">
            <a:xfrm flipV="1">
              <a:off x="3484" y="2956"/>
              <a:ext cx="1" cy="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2" name="Line 659"/>
            <p:cNvSpPr>
              <a:spLocks noChangeShapeType="1"/>
            </p:cNvSpPr>
            <p:nvPr/>
          </p:nvSpPr>
          <p:spPr bwMode="auto">
            <a:xfrm>
              <a:off x="3678" y="2714"/>
              <a:ext cx="1" cy="14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3" name="Line 660"/>
            <p:cNvSpPr>
              <a:spLocks noChangeShapeType="1"/>
            </p:cNvSpPr>
            <p:nvPr/>
          </p:nvSpPr>
          <p:spPr bwMode="auto">
            <a:xfrm>
              <a:off x="3312" y="2907"/>
              <a:ext cx="1" cy="13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4" name="Line 661"/>
            <p:cNvSpPr>
              <a:spLocks noChangeShapeType="1"/>
            </p:cNvSpPr>
            <p:nvPr/>
          </p:nvSpPr>
          <p:spPr bwMode="auto">
            <a:xfrm>
              <a:off x="3698" y="2747"/>
              <a:ext cx="1" cy="10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5" name="Line 662"/>
            <p:cNvSpPr>
              <a:spLocks noChangeShapeType="1"/>
            </p:cNvSpPr>
            <p:nvPr/>
          </p:nvSpPr>
          <p:spPr bwMode="auto">
            <a:xfrm>
              <a:off x="3447" y="2784"/>
              <a:ext cx="1" cy="18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6" name="Line 663"/>
            <p:cNvSpPr>
              <a:spLocks noChangeShapeType="1"/>
            </p:cNvSpPr>
            <p:nvPr/>
          </p:nvSpPr>
          <p:spPr bwMode="auto">
            <a:xfrm>
              <a:off x="2786" y="3310"/>
              <a:ext cx="1" cy="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7" name="Line 664"/>
            <p:cNvSpPr>
              <a:spLocks noChangeShapeType="1"/>
            </p:cNvSpPr>
            <p:nvPr/>
          </p:nvSpPr>
          <p:spPr bwMode="auto">
            <a:xfrm>
              <a:off x="3246" y="2841"/>
              <a:ext cx="1" cy="23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8" name="Line 665"/>
            <p:cNvSpPr>
              <a:spLocks noChangeShapeType="1"/>
            </p:cNvSpPr>
            <p:nvPr/>
          </p:nvSpPr>
          <p:spPr bwMode="auto">
            <a:xfrm>
              <a:off x="2708" y="3297"/>
              <a:ext cx="1" cy="5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9" name="Line 666"/>
            <p:cNvSpPr>
              <a:spLocks noChangeShapeType="1"/>
            </p:cNvSpPr>
            <p:nvPr/>
          </p:nvSpPr>
          <p:spPr bwMode="auto">
            <a:xfrm>
              <a:off x="3201" y="3038"/>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70" name="Line 667"/>
            <p:cNvSpPr>
              <a:spLocks noChangeShapeType="1"/>
            </p:cNvSpPr>
            <p:nvPr/>
          </p:nvSpPr>
          <p:spPr bwMode="auto">
            <a:xfrm flipV="1">
              <a:off x="2387" y="3511"/>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71" name="Line 668"/>
            <p:cNvSpPr>
              <a:spLocks noChangeShapeType="1"/>
            </p:cNvSpPr>
            <p:nvPr/>
          </p:nvSpPr>
          <p:spPr bwMode="auto">
            <a:xfrm flipV="1">
              <a:off x="2046" y="2467"/>
              <a:ext cx="2244" cy="1139"/>
            </a:xfrm>
            <a:prstGeom prst="line">
              <a:avLst/>
            </a:prstGeom>
            <a:noFill/>
            <a:ln w="6350">
              <a:solidFill>
                <a:srgbClr val="008000"/>
              </a:solidFill>
              <a:prstDash val="sysDash"/>
              <a:round/>
              <a:headEnd/>
              <a:tailEnd/>
            </a:ln>
            <a:extLst>
              <a:ext uri="{909E8E84-426E-40DD-AFC4-6F175D3DCCD1}">
                <a14:hiddenFill xmlns:a14="http://schemas.microsoft.com/office/drawing/2010/main">
                  <a:noFill/>
                </a14:hiddenFill>
              </a:ext>
            </a:extLst>
          </p:spPr>
          <p:txBody>
            <a:bodyPr/>
            <a:lstStyle/>
            <a:p>
              <a:endParaRPr lang="en-US"/>
            </a:p>
          </p:txBody>
        </p:sp>
        <p:sp>
          <p:nvSpPr>
            <p:cNvPr id="672" name="Oval 669"/>
            <p:cNvSpPr>
              <a:spLocks noChangeArrowheads="1"/>
            </p:cNvSpPr>
            <p:nvPr/>
          </p:nvSpPr>
          <p:spPr bwMode="auto">
            <a:xfrm>
              <a:off x="3365" y="2878"/>
              <a:ext cx="29" cy="29"/>
            </a:xfrm>
            <a:prstGeom prst="ellipse">
              <a:avLst/>
            </a:prstGeom>
            <a:solidFill>
              <a:srgbClr val="FFFFFF"/>
            </a:solidFill>
            <a:ln w="6350">
              <a:solidFill>
                <a:srgbClr val="000000"/>
              </a:solidFill>
              <a:round/>
              <a:headEnd/>
              <a:tailEnd/>
            </a:ln>
          </p:spPr>
          <p:txBody>
            <a:bodyPr/>
            <a:lstStyle/>
            <a:p>
              <a:endParaRPr lang="en-US"/>
            </a:p>
          </p:txBody>
        </p:sp>
        <p:sp>
          <p:nvSpPr>
            <p:cNvPr id="673" name="Oval 670"/>
            <p:cNvSpPr>
              <a:spLocks noChangeArrowheads="1"/>
            </p:cNvSpPr>
            <p:nvPr/>
          </p:nvSpPr>
          <p:spPr bwMode="auto">
            <a:xfrm>
              <a:off x="3406" y="2858"/>
              <a:ext cx="29" cy="28"/>
            </a:xfrm>
            <a:prstGeom prst="ellipse">
              <a:avLst/>
            </a:prstGeom>
            <a:solidFill>
              <a:srgbClr val="FFFFFF"/>
            </a:solidFill>
            <a:ln w="6350">
              <a:solidFill>
                <a:srgbClr val="000000"/>
              </a:solidFill>
              <a:round/>
              <a:headEnd/>
              <a:tailEnd/>
            </a:ln>
          </p:spPr>
          <p:txBody>
            <a:bodyPr/>
            <a:lstStyle/>
            <a:p>
              <a:endParaRPr lang="en-US"/>
            </a:p>
          </p:txBody>
        </p:sp>
        <p:sp>
          <p:nvSpPr>
            <p:cNvPr id="674" name="Oval 671"/>
            <p:cNvSpPr>
              <a:spLocks noChangeArrowheads="1"/>
            </p:cNvSpPr>
            <p:nvPr/>
          </p:nvSpPr>
          <p:spPr bwMode="auto">
            <a:xfrm>
              <a:off x="3612" y="2874"/>
              <a:ext cx="29" cy="29"/>
            </a:xfrm>
            <a:prstGeom prst="ellipse">
              <a:avLst/>
            </a:prstGeom>
            <a:solidFill>
              <a:srgbClr val="FFFFFF"/>
            </a:solidFill>
            <a:ln w="6350">
              <a:solidFill>
                <a:srgbClr val="000000"/>
              </a:solidFill>
              <a:round/>
              <a:headEnd/>
              <a:tailEnd/>
            </a:ln>
          </p:spPr>
          <p:txBody>
            <a:bodyPr/>
            <a:lstStyle/>
            <a:p>
              <a:endParaRPr lang="en-US"/>
            </a:p>
          </p:txBody>
        </p:sp>
        <p:sp>
          <p:nvSpPr>
            <p:cNvPr id="675" name="Oval 672"/>
            <p:cNvSpPr>
              <a:spLocks noChangeArrowheads="1"/>
            </p:cNvSpPr>
            <p:nvPr/>
          </p:nvSpPr>
          <p:spPr bwMode="auto">
            <a:xfrm>
              <a:off x="3641" y="2812"/>
              <a:ext cx="28" cy="29"/>
            </a:xfrm>
            <a:prstGeom prst="ellipse">
              <a:avLst/>
            </a:prstGeom>
            <a:solidFill>
              <a:srgbClr val="FFFFFF"/>
            </a:solidFill>
            <a:ln w="6350">
              <a:solidFill>
                <a:srgbClr val="000000"/>
              </a:solidFill>
              <a:round/>
              <a:headEnd/>
              <a:tailEnd/>
            </a:ln>
          </p:spPr>
          <p:txBody>
            <a:bodyPr/>
            <a:lstStyle/>
            <a:p>
              <a:endParaRPr lang="en-US"/>
            </a:p>
          </p:txBody>
        </p:sp>
        <p:sp>
          <p:nvSpPr>
            <p:cNvPr id="676" name="Oval 673"/>
            <p:cNvSpPr>
              <a:spLocks noChangeArrowheads="1"/>
            </p:cNvSpPr>
            <p:nvPr/>
          </p:nvSpPr>
          <p:spPr bwMode="auto">
            <a:xfrm>
              <a:off x="3378" y="2964"/>
              <a:ext cx="28" cy="29"/>
            </a:xfrm>
            <a:prstGeom prst="ellipse">
              <a:avLst/>
            </a:prstGeom>
            <a:solidFill>
              <a:srgbClr val="FFFFFF"/>
            </a:solidFill>
            <a:ln w="6350">
              <a:solidFill>
                <a:srgbClr val="000000"/>
              </a:solidFill>
              <a:round/>
              <a:headEnd/>
              <a:tailEnd/>
            </a:ln>
          </p:spPr>
          <p:txBody>
            <a:bodyPr/>
            <a:lstStyle/>
            <a:p>
              <a:endParaRPr lang="en-US"/>
            </a:p>
          </p:txBody>
        </p:sp>
        <p:sp>
          <p:nvSpPr>
            <p:cNvPr id="677" name="Oval 674"/>
            <p:cNvSpPr>
              <a:spLocks noChangeArrowheads="1"/>
            </p:cNvSpPr>
            <p:nvPr/>
          </p:nvSpPr>
          <p:spPr bwMode="auto">
            <a:xfrm>
              <a:off x="3526" y="3186"/>
              <a:ext cx="28" cy="29"/>
            </a:xfrm>
            <a:prstGeom prst="ellipse">
              <a:avLst/>
            </a:prstGeom>
            <a:solidFill>
              <a:srgbClr val="FFFFFF"/>
            </a:solidFill>
            <a:ln w="6350">
              <a:solidFill>
                <a:srgbClr val="000000"/>
              </a:solidFill>
              <a:round/>
              <a:headEnd/>
              <a:tailEnd/>
            </a:ln>
          </p:spPr>
          <p:txBody>
            <a:bodyPr/>
            <a:lstStyle/>
            <a:p>
              <a:endParaRPr lang="en-US"/>
            </a:p>
          </p:txBody>
        </p:sp>
        <p:sp>
          <p:nvSpPr>
            <p:cNvPr id="678" name="Oval 675"/>
            <p:cNvSpPr>
              <a:spLocks noChangeArrowheads="1"/>
            </p:cNvSpPr>
            <p:nvPr/>
          </p:nvSpPr>
          <p:spPr bwMode="auto">
            <a:xfrm>
              <a:off x="3213" y="2973"/>
              <a:ext cx="29" cy="28"/>
            </a:xfrm>
            <a:prstGeom prst="ellipse">
              <a:avLst/>
            </a:prstGeom>
            <a:solidFill>
              <a:srgbClr val="FFFFFF"/>
            </a:solidFill>
            <a:ln w="6350">
              <a:solidFill>
                <a:srgbClr val="000000"/>
              </a:solidFill>
              <a:round/>
              <a:headEnd/>
              <a:tailEnd/>
            </a:ln>
          </p:spPr>
          <p:txBody>
            <a:bodyPr/>
            <a:lstStyle/>
            <a:p>
              <a:endParaRPr lang="en-US"/>
            </a:p>
          </p:txBody>
        </p:sp>
        <p:sp>
          <p:nvSpPr>
            <p:cNvPr id="679" name="Oval 676"/>
            <p:cNvSpPr>
              <a:spLocks noChangeArrowheads="1"/>
            </p:cNvSpPr>
            <p:nvPr/>
          </p:nvSpPr>
          <p:spPr bwMode="auto">
            <a:xfrm>
              <a:off x="3419" y="2853"/>
              <a:ext cx="28" cy="29"/>
            </a:xfrm>
            <a:prstGeom prst="ellipse">
              <a:avLst/>
            </a:prstGeom>
            <a:solidFill>
              <a:srgbClr val="FFFFFF"/>
            </a:solidFill>
            <a:ln w="6350">
              <a:solidFill>
                <a:srgbClr val="000000"/>
              </a:solidFill>
              <a:round/>
              <a:headEnd/>
              <a:tailEnd/>
            </a:ln>
          </p:spPr>
          <p:txBody>
            <a:bodyPr/>
            <a:lstStyle/>
            <a:p>
              <a:endParaRPr lang="en-US"/>
            </a:p>
          </p:txBody>
        </p:sp>
        <p:sp>
          <p:nvSpPr>
            <p:cNvPr id="680" name="Oval 677"/>
            <p:cNvSpPr>
              <a:spLocks noChangeArrowheads="1"/>
            </p:cNvSpPr>
            <p:nvPr/>
          </p:nvSpPr>
          <p:spPr bwMode="auto">
            <a:xfrm>
              <a:off x="3205" y="2948"/>
              <a:ext cx="29" cy="29"/>
            </a:xfrm>
            <a:prstGeom prst="ellipse">
              <a:avLst/>
            </a:prstGeom>
            <a:solidFill>
              <a:srgbClr val="FFFFFF"/>
            </a:solidFill>
            <a:ln w="6350">
              <a:solidFill>
                <a:srgbClr val="000000"/>
              </a:solidFill>
              <a:round/>
              <a:headEnd/>
              <a:tailEnd/>
            </a:ln>
          </p:spPr>
          <p:txBody>
            <a:bodyPr/>
            <a:lstStyle/>
            <a:p>
              <a:endParaRPr lang="en-US"/>
            </a:p>
          </p:txBody>
        </p:sp>
        <p:sp>
          <p:nvSpPr>
            <p:cNvPr id="681" name="Oval 678"/>
            <p:cNvSpPr>
              <a:spLocks noChangeArrowheads="1"/>
            </p:cNvSpPr>
            <p:nvPr/>
          </p:nvSpPr>
          <p:spPr bwMode="auto">
            <a:xfrm>
              <a:off x="3020" y="2899"/>
              <a:ext cx="29" cy="28"/>
            </a:xfrm>
            <a:prstGeom prst="ellipse">
              <a:avLst/>
            </a:prstGeom>
            <a:solidFill>
              <a:srgbClr val="FFFFFF"/>
            </a:solidFill>
            <a:ln w="6350">
              <a:solidFill>
                <a:srgbClr val="000000"/>
              </a:solidFill>
              <a:round/>
              <a:headEnd/>
              <a:tailEnd/>
            </a:ln>
          </p:spPr>
          <p:txBody>
            <a:bodyPr/>
            <a:lstStyle/>
            <a:p>
              <a:endParaRPr lang="en-US"/>
            </a:p>
          </p:txBody>
        </p:sp>
        <p:sp>
          <p:nvSpPr>
            <p:cNvPr id="682" name="Oval 679"/>
            <p:cNvSpPr>
              <a:spLocks noChangeArrowheads="1"/>
            </p:cNvSpPr>
            <p:nvPr/>
          </p:nvSpPr>
          <p:spPr bwMode="auto">
            <a:xfrm>
              <a:off x="2695" y="3166"/>
              <a:ext cx="29" cy="29"/>
            </a:xfrm>
            <a:prstGeom prst="ellipse">
              <a:avLst/>
            </a:prstGeom>
            <a:solidFill>
              <a:srgbClr val="FFFFFF"/>
            </a:solidFill>
            <a:ln w="6350">
              <a:solidFill>
                <a:srgbClr val="000000"/>
              </a:solidFill>
              <a:round/>
              <a:headEnd/>
              <a:tailEnd/>
            </a:ln>
          </p:spPr>
          <p:txBody>
            <a:bodyPr/>
            <a:lstStyle/>
            <a:p>
              <a:endParaRPr lang="en-US"/>
            </a:p>
          </p:txBody>
        </p:sp>
        <p:sp>
          <p:nvSpPr>
            <p:cNvPr id="683" name="Oval 680"/>
            <p:cNvSpPr>
              <a:spLocks noChangeArrowheads="1"/>
            </p:cNvSpPr>
            <p:nvPr/>
          </p:nvSpPr>
          <p:spPr bwMode="auto">
            <a:xfrm>
              <a:off x="2761" y="3207"/>
              <a:ext cx="29" cy="29"/>
            </a:xfrm>
            <a:prstGeom prst="ellipse">
              <a:avLst/>
            </a:prstGeom>
            <a:solidFill>
              <a:srgbClr val="FFFFFF"/>
            </a:solidFill>
            <a:ln w="6350">
              <a:solidFill>
                <a:srgbClr val="000000"/>
              </a:solidFill>
              <a:round/>
              <a:headEnd/>
              <a:tailEnd/>
            </a:ln>
          </p:spPr>
          <p:txBody>
            <a:bodyPr/>
            <a:lstStyle/>
            <a:p>
              <a:endParaRPr lang="en-US"/>
            </a:p>
          </p:txBody>
        </p:sp>
        <p:sp>
          <p:nvSpPr>
            <p:cNvPr id="684" name="Oval 681"/>
            <p:cNvSpPr>
              <a:spLocks noChangeArrowheads="1"/>
            </p:cNvSpPr>
            <p:nvPr/>
          </p:nvSpPr>
          <p:spPr bwMode="auto">
            <a:xfrm>
              <a:off x="3160" y="3010"/>
              <a:ext cx="28" cy="28"/>
            </a:xfrm>
            <a:prstGeom prst="ellipse">
              <a:avLst/>
            </a:prstGeom>
            <a:solidFill>
              <a:srgbClr val="FFFFFF"/>
            </a:solidFill>
            <a:ln w="6350">
              <a:solidFill>
                <a:srgbClr val="000000"/>
              </a:solidFill>
              <a:round/>
              <a:headEnd/>
              <a:tailEnd/>
            </a:ln>
          </p:spPr>
          <p:txBody>
            <a:bodyPr/>
            <a:lstStyle/>
            <a:p>
              <a:endParaRPr lang="en-US"/>
            </a:p>
          </p:txBody>
        </p:sp>
        <p:sp>
          <p:nvSpPr>
            <p:cNvPr id="685" name="Oval 682"/>
            <p:cNvSpPr>
              <a:spLocks noChangeArrowheads="1"/>
            </p:cNvSpPr>
            <p:nvPr/>
          </p:nvSpPr>
          <p:spPr bwMode="auto">
            <a:xfrm>
              <a:off x="3419" y="2804"/>
              <a:ext cx="28" cy="29"/>
            </a:xfrm>
            <a:prstGeom prst="ellipse">
              <a:avLst/>
            </a:prstGeom>
            <a:solidFill>
              <a:srgbClr val="FFFFFF"/>
            </a:solidFill>
            <a:ln w="6350">
              <a:solidFill>
                <a:srgbClr val="000000"/>
              </a:solidFill>
              <a:round/>
              <a:headEnd/>
              <a:tailEnd/>
            </a:ln>
          </p:spPr>
          <p:txBody>
            <a:bodyPr/>
            <a:lstStyle/>
            <a:p>
              <a:endParaRPr lang="en-US"/>
            </a:p>
          </p:txBody>
        </p:sp>
        <p:sp>
          <p:nvSpPr>
            <p:cNvPr id="686" name="Oval 683"/>
            <p:cNvSpPr>
              <a:spLocks noChangeArrowheads="1"/>
            </p:cNvSpPr>
            <p:nvPr/>
          </p:nvSpPr>
          <p:spPr bwMode="auto">
            <a:xfrm>
              <a:off x="3657" y="2821"/>
              <a:ext cx="29" cy="28"/>
            </a:xfrm>
            <a:prstGeom prst="ellipse">
              <a:avLst/>
            </a:prstGeom>
            <a:solidFill>
              <a:srgbClr val="FFFFFF"/>
            </a:solidFill>
            <a:ln w="6350">
              <a:solidFill>
                <a:srgbClr val="000000"/>
              </a:solidFill>
              <a:round/>
              <a:headEnd/>
              <a:tailEnd/>
            </a:ln>
          </p:spPr>
          <p:txBody>
            <a:bodyPr/>
            <a:lstStyle/>
            <a:p>
              <a:endParaRPr lang="en-US"/>
            </a:p>
          </p:txBody>
        </p:sp>
        <p:sp>
          <p:nvSpPr>
            <p:cNvPr id="687" name="Oval 684"/>
            <p:cNvSpPr>
              <a:spLocks noChangeArrowheads="1"/>
            </p:cNvSpPr>
            <p:nvPr/>
          </p:nvSpPr>
          <p:spPr bwMode="auto">
            <a:xfrm>
              <a:off x="3209" y="3100"/>
              <a:ext cx="29" cy="29"/>
            </a:xfrm>
            <a:prstGeom prst="ellipse">
              <a:avLst/>
            </a:prstGeom>
            <a:solidFill>
              <a:srgbClr val="FFFFFF"/>
            </a:solidFill>
            <a:ln w="6350">
              <a:solidFill>
                <a:srgbClr val="000000"/>
              </a:solidFill>
              <a:round/>
              <a:headEnd/>
              <a:tailEnd/>
            </a:ln>
          </p:spPr>
          <p:txBody>
            <a:bodyPr/>
            <a:lstStyle/>
            <a:p>
              <a:endParaRPr lang="en-US"/>
            </a:p>
          </p:txBody>
        </p:sp>
        <p:sp>
          <p:nvSpPr>
            <p:cNvPr id="688" name="Oval 685"/>
            <p:cNvSpPr>
              <a:spLocks noChangeArrowheads="1"/>
            </p:cNvSpPr>
            <p:nvPr/>
          </p:nvSpPr>
          <p:spPr bwMode="auto">
            <a:xfrm>
              <a:off x="2679" y="3265"/>
              <a:ext cx="29" cy="28"/>
            </a:xfrm>
            <a:prstGeom prst="ellipse">
              <a:avLst/>
            </a:prstGeom>
            <a:solidFill>
              <a:srgbClr val="FFFFFF"/>
            </a:solidFill>
            <a:ln w="6350">
              <a:solidFill>
                <a:srgbClr val="000000"/>
              </a:solidFill>
              <a:round/>
              <a:headEnd/>
              <a:tailEnd/>
            </a:ln>
          </p:spPr>
          <p:txBody>
            <a:bodyPr/>
            <a:lstStyle/>
            <a:p>
              <a:endParaRPr lang="en-US"/>
            </a:p>
          </p:txBody>
        </p:sp>
        <p:sp>
          <p:nvSpPr>
            <p:cNvPr id="689" name="Oval 686"/>
            <p:cNvSpPr>
              <a:spLocks noChangeArrowheads="1"/>
            </p:cNvSpPr>
            <p:nvPr/>
          </p:nvSpPr>
          <p:spPr bwMode="auto">
            <a:xfrm>
              <a:off x="3156" y="3022"/>
              <a:ext cx="28" cy="29"/>
            </a:xfrm>
            <a:prstGeom prst="ellipse">
              <a:avLst/>
            </a:prstGeom>
            <a:solidFill>
              <a:srgbClr val="FFFFFF"/>
            </a:solidFill>
            <a:ln w="6350">
              <a:solidFill>
                <a:srgbClr val="000000"/>
              </a:solidFill>
              <a:round/>
              <a:headEnd/>
              <a:tailEnd/>
            </a:ln>
          </p:spPr>
          <p:txBody>
            <a:bodyPr/>
            <a:lstStyle/>
            <a:p>
              <a:endParaRPr lang="en-US"/>
            </a:p>
          </p:txBody>
        </p:sp>
        <p:sp>
          <p:nvSpPr>
            <p:cNvPr id="690" name="Oval 687"/>
            <p:cNvSpPr>
              <a:spLocks noChangeArrowheads="1"/>
            </p:cNvSpPr>
            <p:nvPr/>
          </p:nvSpPr>
          <p:spPr bwMode="auto">
            <a:xfrm>
              <a:off x="2975" y="3022"/>
              <a:ext cx="29" cy="29"/>
            </a:xfrm>
            <a:prstGeom prst="ellipse">
              <a:avLst/>
            </a:prstGeom>
            <a:solidFill>
              <a:srgbClr val="FFFFFF"/>
            </a:solidFill>
            <a:ln w="6350">
              <a:solidFill>
                <a:srgbClr val="000000"/>
              </a:solidFill>
              <a:round/>
              <a:headEnd/>
              <a:tailEnd/>
            </a:ln>
          </p:spPr>
          <p:txBody>
            <a:bodyPr/>
            <a:lstStyle/>
            <a:p>
              <a:endParaRPr lang="en-US"/>
            </a:p>
          </p:txBody>
        </p:sp>
        <p:sp>
          <p:nvSpPr>
            <p:cNvPr id="691" name="Oval 688"/>
            <p:cNvSpPr>
              <a:spLocks noChangeArrowheads="1"/>
            </p:cNvSpPr>
            <p:nvPr/>
          </p:nvSpPr>
          <p:spPr bwMode="auto">
            <a:xfrm>
              <a:off x="3369" y="2907"/>
              <a:ext cx="29" cy="29"/>
            </a:xfrm>
            <a:prstGeom prst="ellipse">
              <a:avLst/>
            </a:prstGeom>
            <a:solidFill>
              <a:srgbClr val="FFFFFF"/>
            </a:solidFill>
            <a:ln w="6350">
              <a:solidFill>
                <a:srgbClr val="000000"/>
              </a:solidFill>
              <a:round/>
              <a:headEnd/>
              <a:tailEnd/>
            </a:ln>
          </p:spPr>
          <p:txBody>
            <a:bodyPr/>
            <a:lstStyle/>
            <a:p>
              <a:endParaRPr lang="en-US"/>
            </a:p>
          </p:txBody>
        </p:sp>
        <p:sp>
          <p:nvSpPr>
            <p:cNvPr id="692" name="Oval 689"/>
            <p:cNvSpPr>
              <a:spLocks noChangeArrowheads="1"/>
            </p:cNvSpPr>
            <p:nvPr/>
          </p:nvSpPr>
          <p:spPr bwMode="auto">
            <a:xfrm>
              <a:off x="3324" y="2936"/>
              <a:ext cx="29" cy="28"/>
            </a:xfrm>
            <a:prstGeom prst="ellipse">
              <a:avLst/>
            </a:prstGeom>
            <a:solidFill>
              <a:srgbClr val="FFFFFF"/>
            </a:solidFill>
            <a:ln w="6350">
              <a:solidFill>
                <a:srgbClr val="000000"/>
              </a:solidFill>
              <a:round/>
              <a:headEnd/>
              <a:tailEnd/>
            </a:ln>
          </p:spPr>
          <p:txBody>
            <a:bodyPr/>
            <a:lstStyle/>
            <a:p>
              <a:endParaRPr lang="en-US"/>
            </a:p>
          </p:txBody>
        </p:sp>
        <p:sp>
          <p:nvSpPr>
            <p:cNvPr id="693" name="Oval 690"/>
            <p:cNvSpPr>
              <a:spLocks noChangeArrowheads="1"/>
            </p:cNvSpPr>
            <p:nvPr/>
          </p:nvSpPr>
          <p:spPr bwMode="auto">
            <a:xfrm>
              <a:off x="2934" y="3080"/>
              <a:ext cx="28" cy="28"/>
            </a:xfrm>
            <a:prstGeom prst="ellipse">
              <a:avLst/>
            </a:prstGeom>
            <a:solidFill>
              <a:srgbClr val="FFFFFF"/>
            </a:solidFill>
            <a:ln w="6350">
              <a:solidFill>
                <a:srgbClr val="000000"/>
              </a:solidFill>
              <a:round/>
              <a:headEnd/>
              <a:tailEnd/>
            </a:ln>
          </p:spPr>
          <p:txBody>
            <a:bodyPr/>
            <a:lstStyle/>
            <a:p>
              <a:endParaRPr lang="en-US"/>
            </a:p>
          </p:txBody>
        </p:sp>
        <p:sp>
          <p:nvSpPr>
            <p:cNvPr id="694" name="Oval 691"/>
            <p:cNvSpPr>
              <a:spLocks noChangeArrowheads="1"/>
            </p:cNvSpPr>
            <p:nvPr/>
          </p:nvSpPr>
          <p:spPr bwMode="auto">
            <a:xfrm>
              <a:off x="3669" y="2763"/>
              <a:ext cx="29" cy="29"/>
            </a:xfrm>
            <a:prstGeom prst="ellipse">
              <a:avLst/>
            </a:prstGeom>
            <a:solidFill>
              <a:srgbClr val="FFFFFF"/>
            </a:solidFill>
            <a:ln w="6350">
              <a:solidFill>
                <a:srgbClr val="000000"/>
              </a:solidFill>
              <a:round/>
              <a:headEnd/>
              <a:tailEnd/>
            </a:ln>
          </p:spPr>
          <p:txBody>
            <a:bodyPr/>
            <a:lstStyle/>
            <a:p>
              <a:endParaRPr lang="en-US"/>
            </a:p>
          </p:txBody>
        </p:sp>
        <p:sp>
          <p:nvSpPr>
            <p:cNvPr id="695" name="Oval 692"/>
            <p:cNvSpPr>
              <a:spLocks noChangeArrowheads="1"/>
            </p:cNvSpPr>
            <p:nvPr/>
          </p:nvSpPr>
          <p:spPr bwMode="auto">
            <a:xfrm>
              <a:off x="3090" y="3018"/>
              <a:ext cx="29" cy="29"/>
            </a:xfrm>
            <a:prstGeom prst="ellipse">
              <a:avLst/>
            </a:prstGeom>
            <a:solidFill>
              <a:srgbClr val="FFFFFF"/>
            </a:solidFill>
            <a:ln w="6350">
              <a:solidFill>
                <a:srgbClr val="000000"/>
              </a:solidFill>
              <a:round/>
              <a:headEnd/>
              <a:tailEnd/>
            </a:ln>
          </p:spPr>
          <p:txBody>
            <a:bodyPr/>
            <a:lstStyle/>
            <a:p>
              <a:endParaRPr lang="en-US"/>
            </a:p>
          </p:txBody>
        </p:sp>
        <p:sp>
          <p:nvSpPr>
            <p:cNvPr id="696" name="Oval 693"/>
            <p:cNvSpPr>
              <a:spLocks noChangeArrowheads="1"/>
            </p:cNvSpPr>
            <p:nvPr/>
          </p:nvSpPr>
          <p:spPr bwMode="auto">
            <a:xfrm>
              <a:off x="3517" y="2969"/>
              <a:ext cx="29" cy="28"/>
            </a:xfrm>
            <a:prstGeom prst="ellipse">
              <a:avLst/>
            </a:prstGeom>
            <a:solidFill>
              <a:srgbClr val="FFFFFF"/>
            </a:solidFill>
            <a:ln w="6350">
              <a:solidFill>
                <a:srgbClr val="000000"/>
              </a:solidFill>
              <a:round/>
              <a:headEnd/>
              <a:tailEnd/>
            </a:ln>
          </p:spPr>
          <p:txBody>
            <a:bodyPr/>
            <a:lstStyle/>
            <a:p>
              <a:endParaRPr lang="en-US"/>
            </a:p>
          </p:txBody>
        </p:sp>
        <p:sp>
          <p:nvSpPr>
            <p:cNvPr id="697" name="Oval 694"/>
            <p:cNvSpPr>
              <a:spLocks noChangeArrowheads="1"/>
            </p:cNvSpPr>
            <p:nvPr/>
          </p:nvSpPr>
          <p:spPr bwMode="auto">
            <a:xfrm>
              <a:off x="2917" y="3063"/>
              <a:ext cx="29" cy="29"/>
            </a:xfrm>
            <a:prstGeom prst="ellipse">
              <a:avLst/>
            </a:prstGeom>
            <a:solidFill>
              <a:srgbClr val="FFFFFF"/>
            </a:solidFill>
            <a:ln w="6350">
              <a:solidFill>
                <a:srgbClr val="000000"/>
              </a:solidFill>
              <a:round/>
              <a:headEnd/>
              <a:tailEnd/>
            </a:ln>
          </p:spPr>
          <p:txBody>
            <a:bodyPr/>
            <a:lstStyle/>
            <a:p>
              <a:endParaRPr lang="en-US"/>
            </a:p>
          </p:txBody>
        </p:sp>
        <p:sp>
          <p:nvSpPr>
            <p:cNvPr id="698" name="Oval 695"/>
            <p:cNvSpPr>
              <a:spLocks noChangeArrowheads="1"/>
            </p:cNvSpPr>
            <p:nvPr/>
          </p:nvSpPr>
          <p:spPr bwMode="auto">
            <a:xfrm>
              <a:off x="3188" y="3026"/>
              <a:ext cx="29" cy="29"/>
            </a:xfrm>
            <a:prstGeom prst="ellipse">
              <a:avLst/>
            </a:prstGeom>
            <a:solidFill>
              <a:srgbClr val="FFFFFF"/>
            </a:solidFill>
            <a:ln w="6350">
              <a:solidFill>
                <a:srgbClr val="000000"/>
              </a:solidFill>
              <a:round/>
              <a:headEnd/>
              <a:tailEnd/>
            </a:ln>
          </p:spPr>
          <p:txBody>
            <a:bodyPr/>
            <a:lstStyle/>
            <a:p>
              <a:endParaRPr lang="en-US"/>
            </a:p>
          </p:txBody>
        </p:sp>
        <p:sp>
          <p:nvSpPr>
            <p:cNvPr id="699" name="Oval 696"/>
            <p:cNvSpPr>
              <a:spLocks noChangeArrowheads="1"/>
            </p:cNvSpPr>
            <p:nvPr/>
          </p:nvSpPr>
          <p:spPr bwMode="auto">
            <a:xfrm>
              <a:off x="2995" y="3084"/>
              <a:ext cx="29" cy="28"/>
            </a:xfrm>
            <a:prstGeom prst="ellipse">
              <a:avLst/>
            </a:prstGeom>
            <a:solidFill>
              <a:srgbClr val="FFFFFF"/>
            </a:solidFill>
            <a:ln w="6350">
              <a:solidFill>
                <a:srgbClr val="000000"/>
              </a:solidFill>
              <a:round/>
              <a:headEnd/>
              <a:tailEnd/>
            </a:ln>
          </p:spPr>
          <p:txBody>
            <a:bodyPr/>
            <a:lstStyle/>
            <a:p>
              <a:endParaRPr lang="en-US"/>
            </a:p>
          </p:txBody>
        </p:sp>
        <p:sp>
          <p:nvSpPr>
            <p:cNvPr id="700" name="Oval 697"/>
            <p:cNvSpPr>
              <a:spLocks noChangeArrowheads="1"/>
            </p:cNvSpPr>
            <p:nvPr/>
          </p:nvSpPr>
          <p:spPr bwMode="auto">
            <a:xfrm>
              <a:off x="3036" y="3038"/>
              <a:ext cx="29" cy="29"/>
            </a:xfrm>
            <a:prstGeom prst="ellipse">
              <a:avLst/>
            </a:prstGeom>
            <a:solidFill>
              <a:srgbClr val="FFFFFF"/>
            </a:solidFill>
            <a:ln w="6350">
              <a:solidFill>
                <a:srgbClr val="000000"/>
              </a:solidFill>
              <a:round/>
              <a:headEnd/>
              <a:tailEnd/>
            </a:ln>
          </p:spPr>
          <p:txBody>
            <a:bodyPr/>
            <a:lstStyle/>
            <a:p>
              <a:endParaRPr lang="en-US"/>
            </a:p>
          </p:txBody>
        </p:sp>
        <p:sp>
          <p:nvSpPr>
            <p:cNvPr id="701" name="Oval 698"/>
            <p:cNvSpPr>
              <a:spLocks noChangeArrowheads="1"/>
            </p:cNvSpPr>
            <p:nvPr/>
          </p:nvSpPr>
          <p:spPr bwMode="auto">
            <a:xfrm>
              <a:off x="3287" y="3006"/>
              <a:ext cx="29" cy="28"/>
            </a:xfrm>
            <a:prstGeom prst="ellipse">
              <a:avLst/>
            </a:prstGeom>
            <a:solidFill>
              <a:srgbClr val="FFFFFF"/>
            </a:solidFill>
            <a:ln w="6350">
              <a:solidFill>
                <a:srgbClr val="000000"/>
              </a:solidFill>
              <a:round/>
              <a:headEnd/>
              <a:tailEnd/>
            </a:ln>
          </p:spPr>
          <p:txBody>
            <a:bodyPr/>
            <a:lstStyle/>
            <a:p>
              <a:endParaRPr lang="en-US"/>
            </a:p>
          </p:txBody>
        </p:sp>
        <p:sp>
          <p:nvSpPr>
            <p:cNvPr id="702" name="Oval 699"/>
            <p:cNvSpPr>
              <a:spLocks noChangeArrowheads="1"/>
            </p:cNvSpPr>
            <p:nvPr/>
          </p:nvSpPr>
          <p:spPr bwMode="auto">
            <a:xfrm>
              <a:off x="3456" y="2800"/>
              <a:ext cx="28" cy="29"/>
            </a:xfrm>
            <a:prstGeom prst="ellipse">
              <a:avLst/>
            </a:prstGeom>
            <a:solidFill>
              <a:srgbClr val="FFFFFF"/>
            </a:solidFill>
            <a:ln w="6350">
              <a:solidFill>
                <a:srgbClr val="000000"/>
              </a:solidFill>
              <a:round/>
              <a:headEnd/>
              <a:tailEnd/>
            </a:ln>
          </p:spPr>
          <p:txBody>
            <a:bodyPr/>
            <a:lstStyle/>
            <a:p>
              <a:endParaRPr lang="en-US"/>
            </a:p>
          </p:txBody>
        </p:sp>
        <p:sp>
          <p:nvSpPr>
            <p:cNvPr id="703" name="Oval 700"/>
            <p:cNvSpPr>
              <a:spLocks noChangeArrowheads="1"/>
            </p:cNvSpPr>
            <p:nvPr/>
          </p:nvSpPr>
          <p:spPr bwMode="auto">
            <a:xfrm>
              <a:off x="3143" y="3133"/>
              <a:ext cx="29" cy="29"/>
            </a:xfrm>
            <a:prstGeom prst="ellipse">
              <a:avLst/>
            </a:prstGeom>
            <a:solidFill>
              <a:srgbClr val="FFFFFF"/>
            </a:solidFill>
            <a:ln w="6350">
              <a:solidFill>
                <a:srgbClr val="000000"/>
              </a:solidFill>
              <a:round/>
              <a:headEnd/>
              <a:tailEnd/>
            </a:ln>
          </p:spPr>
          <p:txBody>
            <a:bodyPr/>
            <a:lstStyle/>
            <a:p>
              <a:endParaRPr lang="en-US"/>
            </a:p>
          </p:txBody>
        </p:sp>
        <p:sp>
          <p:nvSpPr>
            <p:cNvPr id="704" name="Oval 701"/>
            <p:cNvSpPr>
              <a:spLocks noChangeArrowheads="1"/>
            </p:cNvSpPr>
            <p:nvPr/>
          </p:nvSpPr>
          <p:spPr bwMode="auto">
            <a:xfrm>
              <a:off x="3386" y="2878"/>
              <a:ext cx="29" cy="29"/>
            </a:xfrm>
            <a:prstGeom prst="ellipse">
              <a:avLst/>
            </a:prstGeom>
            <a:solidFill>
              <a:srgbClr val="FFFFFF"/>
            </a:solidFill>
            <a:ln w="6350">
              <a:solidFill>
                <a:srgbClr val="000000"/>
              </a:solidFill>
              <a:round/>
              <a:headEnd/>
              <a:tailEnd/>
            </a:ln>
          </p:spPr>
          <p:txBody>
            <a:bodyPr/>
            <a:lstStyle/>
            <a:p>
              <a:endParaRPr lang="en-US"/>
            </a:p>
          </p:txBody>
        </p:sp>
        <p:sp>
          <p:nvSpPr>
            <p:cNvPr id="705" name="Oval 702"/>
            <p:cNvSpPr>
              <a:spLocks noChangeArrowheads="1"/>
            </p:cNvSpPr>
            <p:nvPr/>
          </p:nvSpPr>
          <p:spPr bwMode="auto">
            <a:xfrm>
              <a:off x="3164" y="3059"/>
              <a:ext cx="29" cy="29"/>
            </a:xfrm>
            <a:prstGeom prst="ellipse">
              <a:avLst/>
            </a:prstGeom>
            <a:solidFill>
              <a:srgbClr val="FFFFFF"/>
            </a:solidFill>
            <a:ln w="6350">
              <a:solidFill>
                <a:srgbClr val="000000"/>
              </a:solidFill>
              <a:round/>
              <a:headEnd/>
              <a:tailEnd/>
            </a:ln>
          </p:spPr>
          <p:txBody>
            <a:bodyPr/>
            <a:lstStyle/>
            <a:p>
              <a:endParaRPr lang="en-US"/>
            </a:p>
          </p:txBody>
        </p:sp>
        <p:sp>
          <p:nvSpPr>
            <p:cNvPr id="706" name="Oval 703"/>
            <p:cNvSpPr>
              <a:spLocks noChangeArrowheads="1"/>
            </p:cNvSpPr>
            <p:nvPr/>
          </p:nvSpPr>
          <p:spPr bwMode="auto">
            <a:xfrm>
              <a:off x="3053" y="2997"/>
              <a:ext cx="29" cy="29"/>
            </a:xfrm>
            <a:prstGeom prst="ellipse">
              <a:avLst/>
            </a:prstGeom>
            <a:solidFill>
              <a:srgbClr val="FFFFFF"/>
            </a:solidFill>
            <a:ln w="6350">
              <a:solidFill>
                <a:srgbClr val="000000"/>
              </a:solidFill>
              <a:round/>
              <a:headEnd/>
              <a:tailEnd/>
            </a:ln>
          </p:spPr>
          <p:txBody>
            <a:bodyPr/>
            <a:lstStyle/>
            <a:p>
              <a:endParaRPr lang="en-US"/>
            </a:p>
          </p:txBody>
        </p:sp>
        <p:sp>
          <p:nvSpPr>
            <p:cNvPr id="707" name="Oval 704"/>
            <p:cNvSpPr>
              <a:spLocks noChangeArrowheads="1"/>
            </p:cNvSpPr>
            <p:nvPr/>
          </p:nvSpPr>
          <p:spPr bwMode="auto">
            <a:xfrm>
              <a:off x="2893" y="3211"/>
              <a:ext cx="28" cy="29"/>
            </a:xfrm>
            <a:prstGeom prst="ellipse">
              <a:avLst/>
            </a:prstGeom>
            <a:solidFill>
              <a:srgbClr val="FFFFFF"/>
            </a:solidFill>
            <a:ln w="6350">
              <a:solidFill>
                <a:srgbClr val="000000"/>
              </a:solidFill>
              <a:round/>
              <a:headEnd/>
              <a:tailEnd/>
            </a:ln>
          </p:spPr>
          <p:txBody>
            <a:bodyPr/>
            <a:lstStyle/>
            <a:p>
              <a:endParaRPr lang="en-US"/>
            </a:p>
          </p:txBody>
        </p:sp>
        <p:sp>
          <p:nvSpPr>
            <p:cNvPr id="708" name="Oval 705"/>
            <p:cNvSpPr>
              <a:spLocks noChangeArrowheads="1"/>
            </p:cNvSpPr>
            <p:nvPr/>
          </p:nvSpPr>
          <p:spPr bwMode="auto">
            <a:xfrm>
              <a:off x="3065" y="3137"/>
              <a:ext cx="29" cy="29"/>
            </a:xfrm>
            <a:prstGeom prst="ellipse">
              <a:avLst/>
            </a:prstGeom>
            <a:solidFill>
              <a:srgbClr val="FFFFFF"/>
            </a:solidFill>
            <a:ln w="6350">
              <a:solidFill>
                <a:srgbClr val="000000"/>
              </a:solidFill>
              <a:round/>
              <a:headEnd/>
              <a:tailEnd/>
            </a:ln>
          </p:spPr>
          <p:txBody>
            <a:bodyPr/>
            <a:lstStyle/>
            <a:p>
              <a:endParaRPr lang="en-US"/>
            </a:p>
          </p:txBody>
        </p:sp>
        <p:sp>
          <p:nvSpPr>
            <p:cNvPr id="709" name="Line 706"/>
            <p:cNvSpPr>
              <a:spLocks noChangeShapeType="1"/>
            </p:cNvSpPr>
            <p:nvPr/>
          </p:nvSpPr>
          <p:spPr bwMode="auto">
            <a:xfrm flipV="1">
              <a:off x="2046" y="2471"/>
              <a:ext cx="2244" cy="113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0" name="Rectangle 707"/>
            <p:cNvSpPr>
              <a:spLocks noChangeArrowheads="1"/>
            </p:cNvSpPr>
            <p:nvPr/>
          </p:nvSpPr>
          <p:spPr bwMode="auto">
            <a:xfrm>
              <a:off x="3550" y="2907"/>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1" name="Rectangle 708"/>
            <p:cNvSpPr>
              <a:spLocks noChangeArrowheads="1"/>
            </p:cNvSpPr>
            <p:nvPr/>
          </p:nvSpPr>
          <p:spPr bwMode="auto">
            <a:xfrm>
              <a:off x="3213" y="2960"/>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2" name="Rectangle 709"/>
            <p:cNvSpPr>
              <a:spLocks noChangeArrowheads="1"/>
            </p:cNvSpPr>
            <p:nvPr/>
          </p:nvSpPr>
          <p:spPr bwMode="auto">
            <a:xfrm>
              <a:off x="4027" y="2533"/>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3" name="Rectangle 710"/>
            <p:cNvSpPr>
              <a:spLocks noChangeArrowheads="1"/>
            </p:cNvSpPr>
            <p:nvPr/>
          </p:nvSpPr>
          <p:spPr bwMode="auto">
            <a:xfrm>
              <a:off x="3711" y="2599"/>
              <a:ext cx="28" cy="28"/>
            </a:xfrm>
            <a:prstGeom prst="rect">
              <a:avLst/>
            </a:prstGeom>
            <a:solidFill>
              <a:srgbClr val="FFFFFF"/>
            </a:solidFill>
            <a:ln w="6350">
              <a:solidFill>
                <a:srgbClr val="000000"/>
              </a:solidFill>
              <a:miter lim="800000"/>
              <a:headEnd/>
              <a:tailEnd/>
            </a:ln>
          </p:spPr>
          <p:txBody>
            <a:bodyPr/>
            <a:lstStyle/>
            <a:p>
              <a:endParaRPr lang="en-US"/>
            </a:p>
          </p:txBody>
        </p:sp>
        <p:sp>
          <p:nvSpPr>
            <p:cNvPr id="714" name="Rectangle 711"/>
            <p:cNvSpPr>
              <a:spLocks noChangeArrowheads="1"/>
            </p:cNvSpPr>
            <p:nvPr/>
          </p:nvSpPr>
          <p:spPr bwMode="auto">
            <a:xfrm>
              <a:off x="3550" y="2705"/>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5" name="Rectangle 712"/>
            <p:cNvSpPr>
              <a:spLocks noChangeArrowheads="1"/>
            </p:cNvSpPr>
            <p:nvPr/>
          </p:nvSpPr>
          <p:spPr bwMode="auto">
            <a:xfrm>
              <a:off x="3908" y="2656"/>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6" name="Rectangle 713"/>
            <p:cNvSpPr>
              <a:spLocks noChangeArrowheads="1"/>
            </p:cNvSpPr>
            <p:nvPr/>
          </p:nvSpPr>
          <p:spPr bwMode="auto">
            <a:xfrm>
              <a:off x="3859" y="2586"/>
              <a:ext cx="28" cy="29"/>
            </a:xfrm>
            <a:prstGeom prst="rect">
              <a:avLst/>
            </a:prstGeom>
            <a:solidFill>
              <a:srgbClr val="FFFFFF"/>
            </a:solidFill>
            <a:ln w="6350">
              <a:solidFill>
                <a:srgbClr val="000000"/>
              </a:solidFill>
              <a:miter lim="800000"/>
              <a:headEnd/>
              <a:tailEnd/>
            </a:ln>
          </p:spPr>
          <p:txBody>
            <a:bodyPr/>
            <a:lstStyle/>
            <a:p>
              <a:endParaRPr lang="en-US"/>
            </a:p>
          </p:txBody>
        </p:sp>
        <p:sp>
          <p:nvSpPr>
            <p:cNvPr id="717" name="Rectangle 714"/>
            <p:cNvSpPr>
              <a:spLocks noChangeArrowheads="1"/>
            </p:cNvSpPr>
            <p:nvPr/>
          </p:nvSpPr>
          <p:spPr bwMode="auto">
            <a:xfrm>
              <a:off x="3682" y="2603"/>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18" name="Rectangle 715"/>
            <p:cNvSpPr>
              <a:spLocks noChangeArrowheads="1"/>
            </p:cNvSpPr>
            <p:nvPr/>
          </p:nvSpPr>
          <p:spPr bwMode="auto">
            <a:xfrm>
              <a:off x="3924" y="2627"/>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9" name="Rectangle 716"/>
            <p:cNvSpPr>
              <a:spLocks noChangeArrowheads="1"/>
            </p:cNvSpPr>
            <p:nvPr/>
          </p:nvSpPr>
          <p:spPr bwMode="auto">
            <a:xfrm>
              <a:off x="3748" y="2792"/>
              <a:ext cx="28" cy="29"/>
            </a:xfrm>
            <a:prstGeom prst="rect">
              <a:avLst/>
            </a:prstGeom>
            <a:solidFill>
              <a:srgbClr val="FFFFFF"/>
            </a:solidFill>
            <a:ln w="6350">
              <a:solidFill>
                <a:srgbClr val="000000"/>
              </a:solidFill>
              <a:miter lim="800000"/>
              <a:headEnd/>
              <a:tailEnd/>
            </a:ln>
          </p:spPr>
          <p:txBody>
            <a:bodyPr/>
            <a:lstStyle/>
            <a:p>
              <a:endParaRPr lang="en-US"/>
            </a:p>
          </p:txBody>
        </p:sp>
        <p:sp>
          <p:nvSpPr>
            <p:cNvPr id="720" name="Rectangle 717"/>
            <p:cNvSpPr>
              <a:spLocks noChangeArrowheads="1"/>
            </p:cNvSpPr>
            <p:nvPr/>
          </p:nvSpPr>
          <p:spPr bwMode="auto">
            <a:xfrm>
              <a:off x="3863" y="2730"/>
              <a:ext cx="28" cy="29"/>
            </a:xfrm>
            <a:prstGeom prst="rect">
              <a:avLst/>
            </a:prstGeom>
            <a:solidFill>
              <a:srgbClr val="FFFFFF"/>
            </a:solidFill>
            <a:ln w="6350">
              <a:solidFill>
                <a:srgbClr val="000000"/>
              </a:solidFill>
              <a:miter lim="800000"/>
              <a:headEnd/>
              <a:tailEnd/>
            </a:ln>
          </p:spPr>
          <p:txBody>
            <a:bodyPr/>
            <a:lstStyle/>
            <a:p>
              <a:endParaRPr lang="en-US"/>
            </a:p>
          </p:txBody>
        </p:sp>
        <p:sp>
          <p:nvSpPr>
            <p:cNvPr id="721" name="Rectangle 718"/>
            <p:cNvSpPr>
              <a:spLocks noChangeArrowheads="1"/>
            </p:cNvSpPr>
            <p:nvPr/>
          </p:nvSpPr>
          <p:spPr bwMode="auto">
            <a:xfrm>
              <a:off x="3102" y="3026"/>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22" name="Rectangle 719"/>
            <p:cNvSpPr>
              <a:spLocks noChangeArrowheads="1"/>
            </p:cNvSpPr>
            <p:nvPr/>
          </p:nvSpPr>
          <p:spPr bwMode="auto">
            <a:xfrm>
              <a:off x="4142" y="2652"/>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23" name="Rectangle 720"/>
            <p:cNvSpPr>
              <a:spLocks noChangeArrowheads="1"/>
            </p:cNvSpPr>
            <p:nvPr/>
          </p:nvSpPr>
          <p:spPr bwMode="auto">
            <a:xfrm>
              <a:off x="3719" y="2681"/>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24" name="Rectangle 721"/>
            <p:cNvSpPr>
              <a:spLocks noChangeArrowheads="1"/>
            </p:cNvSpPr>
            <p:nvPr/>
          </p:nvSpPr>
          <p:spPr bwMode="auto">
            <a:xfrm>
              <a:off x="4278" y="2467"/>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25" name="Rectangle 722"/>
            <p:cNvSpPr>
              <a:spLocks noChangeArrowheads="1"/>
            </p:cNvSpPr>
            <p:nvPr/>
          </p:nvSpPr>
          <p:spPr bwMode="auto">
            <a:xfrm>
              <a:off x="2860" y="3232"/>
              <a:ext cx="28" cy="28"/>
            </a:xfrm>
            <a:prstGeom prst="rect">
              <a:avLst/>
            </a:prstGeom>
            <a:solidFill>
              <a:srgbClr val="FFFFFF"/>
            </a:solidFill>
            <a:ln w="6350">
              <a:solidFill>
                <a:srgbClr val="000000"/>
              </a:solidFill>
              <a:miter lim="800000"/>
              <a:headEnd/>
              <a:tailEnd/>
            </a:ln>
          </p:spPr>
          <p:txBody>
            <a:bodyPr/>
            <a:lstStyle/>
            <a:p>
              <a:endParaRPr lang="en-US"/>
            </a:p>
          </p:txBody>
        </p:sp>
        <p:sp>
          <p:nvSpPr>
            <p:cNvPr id="726" name="Rectangle 723"/>
            <p:cNvSpPr>
              <a:spLocks noChangeArrowheads="1"/>
            </p:cNvSpPr>
            <p:nvPr/>
          </p:nvSpPr>
          <p:spPr bwMode="auto">
            <a:xfrm>
              <a:off x="3928" y="2895"/>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27" name="Rectangle 724"/>
            <p:cNvSpPr>
              <a:spLocks noChangeArrowheads="1"/>
            </p:cNvSpPr>
            <p:nvPr/>
          </p:nvSpPr>
          <p:spPr bwMode="auto">
            <a:xfrm>
              <a:off x="3353" y="3026"/>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28" name="Rectangle 725"/>
            <p:cNvSpPr>
              <a:spLocks noChangeArrowheads="1"/>
            </p:cNvSpPr>
            <p:nvPr/>
          </p:nvSpPr>
          <p:spPr bwMode="auto">
            <a:xfrm>
              <a:off x="3291" y="2932"/>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29" name="Rectangle 726"/>
            <p:cNvSpPr>
              <a:spLocks noChangeArrowheads="1"/>
            </p:cNvSpPr>
            <p:nvPr/>
          </p:nvSpPr>
          <p:spPr bwMode="auto">
            <a:xfrm>
              <a:off x="3706" y="2685"/>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0" name="Rectangle 727"/>
            <p:cNvSpPr>
              <a:spLocks noChangeArrowheads="1"/>
            </p:cNvSpPr>
            <p:nvPr/>
          </p:nvSpPr>
          <p:spPr bwMode="auto">
            <a:xfrm>
              <a:off x="3731" y="2685"/>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1" name="Rectangle 728"/>
            <p:cNvSpPr>
              <a:spLocks noChangeArrowheads="1"/>
            </p:cNvSpPr>
            <p:nvPr/>
          </p:nvSpPr>
          <p:spPr bwMode="auto">
            <a:xfrm>
              <a:off x="3826" y="2899"/>
              <a:ext cx="28" cy="28"/>
            </a:xfrm>
            <a:prstGeom prst="rect">
              <a:avLst/>
            </a:prstGeom>
            <a:solidFill>
              <a:srgbClr val="FFFFFF"/>
            </a:solidFill>
            <a:ln w="6350">
              <a:solidFill>
                <a:srgbClr val="000000"/>
              </a:solidFill>
              <a:miter lim="800000"/>
              <a:headEnd/>
              <a:tailEnd/>
            </a:ln>
          </p:spPr>
          <p:txBody>
            <a:bodyPr/>
            <a:lstStyle/>
            <a:p>
              <a:endParaRPr lang="en-US"/>
            </a:p>
          </p:txBody>
        </p:sp>
        <p:sp>
          <p:nvSpPr>
            <p:cNvPr id="732" name="Rectangle 729"/>
            <p:cNvSpPr>
              <a:spLocks noChangeArrowheads="1"/>
            </p:cNvSpPr>
            <p:nvPr/>
          </p:nvSpPr>
          <p:spPr bwMode="auto">
            <a:xfrm>
              <a:off x="3250" y="2689"/>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3" name="Rectangle 730"/>
            <p:cNvSpPr>
              <a:spLocks noChangeArrowheads="1"/>
            </p:cNvSpPr>
            <p:nvPr/>
          </p:nvSpPr>
          <p:spPr bwMode="auto">
            <a:xfrm>
              <a:off x="3073" y="3010"/>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34" name="Rectangle 731"/>
            <p:cNvSpPr>
              <a:spLocks noChangeArrowheads="1"/>
            </p:cNvSpPr>
            <p:nvPr/>
          </p:nvSpPr>
          <p:spPr bwMode="auto">
            <a:xfrm>
              <a:off x="2962" y="3215"/>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5" name="Rectangle 732"/>
            <p:cNvSpPr>
              <a:spLocks noChangeArrowheads="1"/>
            </p:cNvSpPr>
            <p:nvPr/>
          </p:nvSpPr>
          <p:spPr bwMode="auto">
            <a:xfrm>
              <a:off x="3299" y="3075"/>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6" name="Rectangle 733"/>
            <p:cNvSpPr>
              <a:spLocks noChangeArrowheads="1"/>
            </p:cNvSpPr>
            <p:nvPr/>
          </p:nvSpPr>
          <p:spPr bwMode="auto">
            <a:xfrm>
              <a:off x="3735" y="2636"/>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37" name="Rectangle 734"/>
            <p:cNvSpPr>
              <a:spLocks noChangeArrowheads="1"/>
            </p:cNvSpPr>
            <p:nvPr/>
          </p:nvSpPr>
          <p:spPr bwMode="auto">
            <a:xfrm>
              <a:off x="4081" y="2594"/>
              <a:ext cx="28" cy="29"/>
            </a:xfrm>
            <a:prstGeom prst="rect">
              <a:avLst/>
            </a:prstGeom>
            <a:solidFill>
              <a:srgbClr val="FFFFFF"/>
            </a:solidFill>
            <a:ln w="6350">
              <a:solidFill>
                <a:srgbClr val="000000"/>
              </a:solidFill>
              <a:miter lim="800000"/>
              <a:headEnd/>
              <a:tailEnd/>
            </a:ln>
          </p:spPr>
          <p:txBody>
            <a:bodyPr/>
            <a:lstStyle/>
            <a:p>
              <a:endParaRPr lang="en-US"/>
            </a:p>
          </p:txBody>
        </p:sp>
        <p:sp>
          <p:nvSpPr>
            <p:cNvPr id="738" name="Rectangle 735"/>
            <p:cNvSpPr>
              <a:spLocks noChangeArrowheads="1"/>
            </p:cNvSpPr>
            <p:nvPr/>
          </p:nvSpPr>
          <p:spPr bwMode="auto">
            <a:xfrm>
              <a:off x="3579" y="2693"/>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9" name="Rectangle 736"/>
            <p:cNvSpPr>
              <a:spLocks noChangeArrowheads="1"/>
            </p:cNvSpPr>
            <p:nvPr/>
          </p:nvSpPr>
          <p:spPr bwMode="auto">
            <a:xfrm>
              <a:off x="4204" y="2344"/>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40" name="Rectangle 737"/>
            <p:cNvSpPr>
              <a:spLocks noChangeArrowheads="1"/>
            </p:cNvSpPr>
            <p:nvPr/>
          </p:nvSpPr>
          <p:spPr bwMode="auto">
            <a:xfrm>
              <a:off x="3513" y="2981"/>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1" name="Rectangle 738"/>
            <p:cNvSpPr>
              <a:spLocks noChangeArrowheads="1"/>
            </p:cNvSpPr>
            <p:nvPr/>
          </p:nvSpPr>
          <p:spPr bwMode="auto">
            <a:xfrm>
              <a:off x="3957" y="2812"/>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2" name="Rectangle 739"/>
            <p:cNvSpPr>
              <a:spLocks noChangeArrowheads="1"/>
            </p:cNvSpPr>
            <p:nvPr/>
          </p:nvSpPr>
          <p:spPr bwMode="auto">
            <a:xfrm>
              <a:off x="4093" y="2742"/>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3" name="Rectangle 740"/>
            <p:cNvSpPr>
              <a:spLocks noChangeArrowheads="1"/>
            </p:cNvSpPr>
            <p:nvPr/>
          </p:nvSpPr>
          <p:spPr bwMode="auto">
            <a:xfrm>
              <a:off x="3197" y="2895"/>
              <a:ext cx="28" cy="28"/>
            </a:xfrm>
            <a:prstGeom prst="rect">
              <a:avLst/>
            </a:prstGeom>
            <a:solidFill>
              <a:srgbClr val="FFFFFF"/>
            </a:solidFill>
            <a:ln w="6350">
              <a:solidFill>
                <a:srgbClr val="000000"/>
              </a:solidFill>
              <a:miter lim="800000"/>
              <a:headEnd/>
              <a:tailEnd/>
            </a:ln>
          </p:spPr>
          <p:txBody>
            <a:bodyPr/>
            <a:lstStyle/>
            <a:p>
              <a:endParaRPr lang="en-US"/>
            </a:p>
          </p:txBody>
        </p:sp>
        <p:sp>
          <p:nvSpPr>
            <p:cNvPr id="744" name="Rectangle 741"/>
            <p:cNvSpPr>
              <a:spLocks noChangeArrowheads="1"/>
            </p:cNvSpPr>
            <p:nvPr/>
          </p:nvSpPr>
          <p:spPr bwMode="auto">
            <a:xfrm>
              <a:off x="3505" y="2759"/>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5" name="Rectangle 742"/>
            <p:cNvSpPr>
              <a:spLocks noChangeArrowheads="1"/>
            </p:cNvSpPr>
            <p:nvPr/>
          </p:nvSpPr>
          <p:spPr bwMode="auto">
            <a:xfrm>
              <a:off x="3489" y="2911"/>
              <a:ext cx="28" cy="29"/>
            </a:xfrm>
            <a:prstGeom prst="rect">
              <a:avLst/>
            </a:prstGeom>
            <a:solidFill>
              <a:srgbClr val="FFFFFF"/>
            </a:solidFill>
            <a:ln w="6350">
              <a:solidFill>
                <a:srgbClr val="000000"/>
              </a:solidFill>
              <a:miter lim="800000"/>
              <a:headEnd/>
              <a:tailEnd/>
            </a:ln>
          </p:spPr>
          <p:txBody>
            <a:bodyPr/>
            <a:lstStyle/>
            <a:p>
              <a:endParaRPr lang="en-US"/>
            </a:p>
          </p:txBody>
        </p:sp>
        <p:sp>
          <p:nvSpPr>
            <p:cNvPr id="746" name="Rectangle 743"/>
            <p:cNvSpPr>
              <a:spLocks noChangeArrowheads="1"/>
            </p:cNvSpPr>
            <p:nvPr/>
          </p:nvSpPr>
          <p:spPr bwMode="auto">
            <a:xfrm>
              <a:off x="3879" y="2660"/>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7" name="Rectangle 744"/>
            <p:cNvSpPr>
              <a:spLocks noChangeArrowheads="1"/>
            </p:cNvSpPr>
            <p:nvPr/>
          </p:nvSpPr>
          <p:spPr bwMode="auto">
            <a:xfrm>
              <a:off x="3632" y="2763"/>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8" name="Line 745"/>
            <p:cNvSpPr>
              <a:spLocks noChangeShapeType="1"/>
            </p:cNvSpPr>
            <p:nvPr/>
          </p:nvSpPr>
          <p:spPr bwMode="auto">
            <a:xfrm flipV="1">
              <a:off x="2046" y="2508"/>
              <a:ext cx="2244" cy="113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9" name="Freeform 746"/>
            <p:cNvSpPr>
              <a:spLocks/>
            </p:cNvSpPr>
            <p:nvPr/>
          </p:nvSpPr>
          <p:spPr bwMode="auto">
            <a:xfrm>
              <a:off x="2720" y="3260"/>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50" name="Freeform 747"/>
            <p:cNvSpPr>
              <a:spLocks/>
            </p:cNvSpPr>
            <p:nvPr/>
          </p:nvSpPr>
          <p:spPr bwMode="auto">
            <a:xfrm>
              <a:off x="2243" y="3581"/>
              <a:ext cx="25" cy="25"/>
            </a:xfrm>
            <a:custGeom>
              <a:avLst/>
              <a:gdLst>
                <a:gd name="T0" fmla="*/ 0 w 25"/>
                <a:gd name="T1" fmla="*/ 12 h 25"/>
                <a:gd name="T2" fmla="*/ 12 w 25"/>
                <a:gd name="T3" fmla="*/ 0 h 25"/>
                <a:gd name="T4" fmla="*/ 25 w 25"/>
                <a:gd name="T5" fmla="*/ 12 h 25"/>
                <a:gd name="T6" fmla="*/ 12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2" y="0"/>
                  </a:lnTo>
                  <a:lnTo>
                    <a:pt x="25"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1" name="Freeform 748"/>
            <p:cNvSpPr>
              <a:spLocks/>
            </p:cNvSpPr>
            <p:nvPr/>
          </p:nvSpPr>
          <p:spPr bwMode="auto">
            <a:xfrm>
              <a:off x="2584" y="3281"/>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2" name="Freeform 749"/>
            <p:cNvSpPr>
              <a:spLocks/>
            </p:cNvSpPr>
            <p:nvPr/>
          </p:nvSpPr>
          <p:spPr bwMode="auto">
            <a:xfrm>
              <a:off x="2979" y="3026"/>
              <a:ext cx="25" cy="25"/>
            </a:xfrm>
            <a:custGeom>
              <a:avLst/>
              <a:gdLst>
                <a:gd name="T0" fmla="*/ 0 w 25"/>
                <a:gd name="T1" fmla="*/ 12 h 25"/>
                <a:gd name="T2" fmla="*/ 12 w 25"/>
                <a:gd name="T3" fmla="*/ 0 h 25"/>
                <a:gd name="T4" fmla="*/ 25 w 25"/>
                <a:gd name="T5" fmla="*/ 12 h 25"/>
                <a:gd name="T6" fmla="*/ 12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2" y="0"/>
                  </a:lnTo>
                  <a:lnTo>
                    <a:pt x="25"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3" name="Freeform 750"/>
            <p:cNvSpPr>
              <a:spLocks/>
            </p:cNvSpPr>
            <p:nvPr/>
          </p:nvSpPr>
          <p:spPr bwMode="auto">
            <a:xfrm>
              <a:off x="3217" y="3018"/>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4" name="Freeform 751"/>
            <p:cNvSpPr>
              <a:spLocks/>
            </p:cNvSpPr>
            <p:nvPr/>
          </p:nvSpPr>
          <p:spPr bwMode="auto">
            <a:xfrm>
              <a:off x="3188" y="3014"/>
              <a:ext cx="25" cy="24"/>
            </a:xfrm>
            <a:custGeom>
              <a:avLst/>
              <a:gdLst>
                <a:gd name="T0" fmla="*/ 0 w 25"/>
                <a:gd name="T1" fmla="*/ 12 h 24"/>
                <a:gd name="T2" fmla="*/ 13 w 25"/>
                <a:gd name="T3" fmla="*/ 0 h 24"/>
                <a:gd name="T4" fmla="*/ 25 w 25"/>
                <a:gd name="T5" fmla="*/ 12 h 24"/>
                <a:gd name="T6" fmla="*/ 13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3" y="0"/>
                  </a:lnTo>
                  <a:lnTo>
                    <a:pt x="25" y="12"/>
                  </a:lnTo>
                  <a:lnTo>
                    <a:pt x="13"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5" name="Freeform 752"/>
            <p:cNvSpPr>
              <a:spLocks/>
            </p:cNvSpPr>
            <p:nvPr/>
          </p:nvSpPr>
          <p:spPr bwMode="auto">
            <a:xfrm>
              <a:off x="3279" y="2923"/>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56" name="Freeform 753"/>
            <p:cNvSpPr>
              <a:spLocks/>
            </p:cNvSpPr>
            <p:nvPr/>
          </p:nvSpPr>
          <p:spPr bwMode="auto">
            <a:xfrm>
              <a:off x="2740" y="3080"/>
              <a:ext cx="25" cy="24"/>
            </a:xfrm>
            <a:custGeom>
              <a:avLst/>
              <a:gdLst>
                <a:gd name="T0" fmla="*/ 0 w 25"/>
                <a:gd name="T1" fmla="*/ 12 h 24"/>
                <a:gd name="T2" fmla="*/ 13 w 25"/>
                <a:gd name="T3" fmla="*/ 0 h 24"/>
                <a:gd name="T4" fmla="*/ 25 w 25"/>
                <a:gd name="T5" fmla="*/ 12 h 24"/>
                <a:gd name="T6" fmla="*/ 13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3" y="0"/>
                  </a:lnTo>
                  <a:lnTo>
                    <a:pt x="25" y="12"/>
                  </a:lnTo>
                  <a:lnTo>
                    <a:pt x="13"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7" name="Freeform 754"/>
            <p:cNvSpPr>
              <a:spLocks/>
            </p:cNvSpPr>
            <p:nvPr/>
          </p:nvSpPr>
          <p:spPr bwMode="auto">
            <a:xfrm>
              <a:off x="3004" y="3162"/>
              <a:ext cx="24" cy="24"/>
            </a:xfrm>
            <a:custGeom>
              <a:avLst/>
              <a:gdLst>
                <a:gd name="T0" fmla="*/ 0 w 24"/>
                <a:gd name="T1" fmla="*/ 12 h 24"/>
                <a:gd name="T2" fmla="*/ 12 w 24"/>
                <a:gd name="T3" fmla="*/ 0 h 24"/>
                <a:gd name="T4" fmla="*/ 24 w 24"/>
                <a:gd name="T5" fmla="*/ 12 h 24"/>
                <a:gd name="T6" fmla="*/ 12 w 24"/>
                <a:gd name="T7" fmla="*/ 24 h 24"/>
                <a:gd name="T8" fmla="*/ 0 w 24"/>
                <a:gd name="T9" fmla="*/ 12 h 24"/>
              </a:gdLst>
              <a:ahLst/>
              <a:cxnLst>
                <a:cxn ang="0">
                  <a:pos x="T0" y="T1"/>
                </a:cxn>
                <a:cxn ang="0">
                  <a:pos x="T2" y="T3"/>
                </a:cxn>
                <a:cxn ang="0">
                  <a:pos x="T4" y="T5"/>
                </a:cxn>
                <a:cxn ang="0">
                  <a:pos x="T6" y="T7"/>
                </a:cxn>
                <a:cxn ang="0">
                  <a:pos x="T8" y="T9"/>
                </a:cxn>
              </a:cxnLst>
              <a:rect l="0" t="0" r="r" b="b"/>
              <a:pathLst>
                <a:path w="24" h="24">
                  <a:moveTo>
                    <a:pt x="0" y="12"/>
                  </a:moveTo>
                  <a:lnTo>
                    <a:pt x="12" y="0"/>
                  </a:lnTo>
                  <a:lnTo>
                    <a:pt x="24" y="12"/>
                  </a:lnTo>
                  <a:lnTo>
                    <a:pt x="12"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8" name="Freeform 755"/>
            <p:cNvSpPr>
              <a:spLocks/>
            </p:cNvSpPr>
            <p:nvPr/>
          </p:nvSpPr>
          <p:spPr bwMode="auto">
            <a:xfrm>
              <a:off x="2634" y="3334"/>
              <a:ext cx="24" cy="25"/>
            </a:xfrm>
            <a:custGeom>
              <a:avLst/>
              <a:gdLst>
                <a:gd name="T0" fmla="*/ 0 w 24"/>
                <a:gd name="T1" fmla="*/ 13 h 25"/>
                <a:gd name="T2" fmla="*/ 12 w 24"/>
                <a:gd name="T3" fmla="*/ 0 h 25"/>
                <a:gd name="T4" fmla="*/ 24 w 24"/>
                <a:gd name="T5" fmla="*/ 13 h 25"/>
                <a:gd name="T6" fmla="*/ 12 w 24"/>
                <a:gd name="T7" fmla="*/ 25 h 25"/>
                <a:gd name="T8" fmla="*/ 0 w 24"/>
                <a:gd name="T9" fmla="*/ 13 h 25"/>
              </a:gdLst>
              <a:ahLst/>
              <a:cxnLst>
                <a:cxn ang="0">
                  <a:pos x="T0" y="T1"/>
                </a:cxn>
                <a:cxn ang="0">
                  <a:pos x="T2" y="T3"/>
                </a:cxn>
                <a:cxn ang="0">
                  <a:pos x="T4" y="T5"/>
                </a:cxn>
                <a:cxn ang="0">
                  <a:pos x="T6" y="T7"/>
                </a:cxn>
                <a:cxn ang="0">
                  <a:pos x="T8" y="T9"/>
                </a:cxn>
              </a:cxnLst>
              <a:rect l="0" t="0" r="r" b="b"/>
              <a:pathLst>
                <a:path w="24" h="25">
                  <a:moveTo>
                    <a:pt x="0" y="13"/>
                  </a:moveTo>
                  <a:lnTo>
                    <a:pt x="12" y="0"/>
                  </a:lnTo>
                  <a:lnTo>
                    <a:pt x="24"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59" name="Freeform 756"/>
            <p:cNvSpPr>
              <a:spLocks/>
            </p:cNvSpPr>
            <p:nvPr/>
          </p:nvSpPr>
          <p:spPr bwMode="auto">
            <a:xfrm>
              <a:off x="2407" y="3314"/>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0" name="Freeform 757"/>
            <p:cNvSpPr>
              <a:spLocks/>
            </p:cNvSpPr>
            <p:nvPr/>
          </p:nvSpPr>
          <p:spPr bwMode="auto">
            <a:xfrm>
              <a:off x="2782" y="3232"/>
              <a:ext cx="24" cy="24"/>
            </a:xfrm>
            <a:custGeom>
              <a:avLst/>
              <a:gdLst>
                <a:gd name="T0" fmla="*/ 0 w 24"/>
                <a:gd name="T1" fmla="*/ 12 h 24"/>
                <a:gd name="T2" fmla="*/ 12 w 24"/>
                <a:gd name="T3" fmla="*/ 0 h 24"/>
                <a:gd name="T4" fmla="*/ 24 w 24"/>
                <a:gd name="T5" fmla="*/ 12 h 24"/>
                <a:gd name="T6" fmla="*/ 12 w 24"/>
                <a:gd name="T7" fmla="*/ 24 h 24"/>
                <a:gd name="T8" fmla="*/ 0 w 24"/>
                <a:gd name="T9" fmla="*/ 12 h 24"/>
              </a:gdLst>
              <a:ahLst/>
              <a:cxnLst>
                <a:cxn ang="0">
                  <a:pos x="T0" y="T1"/>
                </a:cxn>
                <a:cxn ang="0">
                  <a:pos x="T2" y="T3"/>
                </a:cxn>
                <a:cxn ang="0">
                  <a:pos x="T4" y="T5"/>
                </a:cxn>
                <a:cxn ang="0">
                  <a:pos x="T6" y="T7"/>
                </a:cxn>
                <a:cxn ang="0">
                  <a:pos x="T8" y="T9"/>
                </a:cxn>
              </a:cxnLst>
              <a:rect l="0" t="0" r="r" b="b"/>
              <a:pathLst>
                <a:path w="24" h="24">
                  <a:moveTo>
                    <a:pt x="0" y="12"/>
                  </a:moveTo>
                  <a:lnTo>
                    <a:pt x="12" y="0"/>
                  </a:lnTo>
                  <a:lnTo>
                    <a:pt x="24" y="12"/>
                  </a:lnTo>
                  <a:lnTo>
                    <a:pt x="12"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1" name="Freeform 758"/>
            <p:cNvSpPr>
              <a:spLocks/>
            </p:cNvSpPr>
            <p:nvPr/>
          </p:nvSpPr>
          <p:spPr bwMode="auto">
            <a:xfrm>
              <a:off x="2333" y="3544"/>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2" name="Freeform 759"/>
            <p:cNvSpPr>
              <a:spLocks/>
            </p:cNvSpPr>
            <p:nvPr/>
          </p:nvSpPr>
          <p:spPr bwMode="auto">
            <a:xfrm>
              <a:off x="2954" y="3228"/>
              <a:ext cx="25" cy="24"/>
            </a:xfrm>
            <a:custGeom>
              <a:avLst/>
              <a:gdLst>
                <a:gd name="T0" fmla="*/ 0 w 25"/>
                <a:gd name="T1" fmla="*/ 12 h 24"/>
                <a:gd name="T2" fmla="*/ 13 w 25"/>
                <a:gd name="T3" fmla="*/ 0 h 24"/>
                <a:gd name="T4" fmla="*/ 25 w 25"/>
                <a:gd name="T5" fmla="*/ 12 h 24"/>
                <a:gd name="T6" fmla="*/ 13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3" y="0"/>
                  </a:lnTo>
                  <a:lnTo>
                    <a:pt x="25" y="12"/>
                  </a:lnTo>
                  <a:lnTo>
                    <a:pt x="13"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3" name="Freeform 760"/>
            <p:cNvSpPr>
              <a:spLocks/>
            </p:cNvSpPr>
            <p:nvPr/>
          </p:nvSpPr>
          <p:spPr bwMode="auto">
            <a:xfrm>
              <a:off x="2333" y="3552"/>
              <a:ext cx="25" cy="25"/>
            </a:xfrm>
            <a:custGeom>
              <a:avLst/>
              <a:gdLst>
                <a:gd name="T0" fmla="*/ 0 w 25"/>
                <a:gd name="T1" fmla="*/ 13 h 25"/>
                <a:gd name="T2" fmla="*/ 13 w 25"/>
                <a:gd name="T3" fmla="*/ 0 h 25"/>
                <a:gd name="T4" fmla="*/ 25 w 25"/>
                <a:gd name="T5" fmla="*/ 13 h 25"/>
                <a:gd name="T6" fmla="*/ 13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3" y="0"/>
                  </a:lnTo>
                  <a:lnTo>
                    <a:pt x="25" y="13"/>
                  </a:lnTo>
                  <a:lnTo>
                    <a:pt x="13"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64" name="Freeform 761"/>
            <p:cNvSpPr>
              <a:spLocks/>
            </p:cNvSpPr>
            <p:nvPr/>
          </p:nvSpPr>
          <p:spPr bwMode="auto">
            <a:xfrm>
              <a:off x="3299" y="2845"/>
              <a:ext cx="25" cy="25"/>
            </a:xfrm>
            <a:custGeom>
              <a:avLst/>
              <a:gdLst>
                <a:gd name="T0" fmla="*/ 0 w 25"/>
                <a:gd name="T1" fmla="*/ 13 h 25"/>
                <a:gd name="T2" fmla="*/ 13 w 25"/>
                <a:gd name="T3" fmla="*/ 0 h 25"/>
                <a:gd name="T4" fmla="*/ 25 w 25"/>
                <a:gd name="T5" fmla="*/ 13 h 25"/>
                <a:gd name="T6" fmla="*/ 13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3" y="0"/>
                  </a:lnTo>
                  <a:lnTo>
                    <a:pt x="25" y="13"/>
                  </a:lnTo>
                  <a:lnTo>
                    <a:pt x="13"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65" name="Freeform 762"/>
            <p:cNvSpPr>
              <a:spLocks/>
            </p:cNvSpPr>
            <p:nvPr/>
          </p:nvSpPr>
          <p:spPr bwMode="auto">
            <a:xfrm>
              <a:off x="3476" y="2932"/>
              <a:ext cx="25" cy="24"/>
            </a:xfrm>
            <a:custGeom>
              <a:avLst/>
              <a:gdLst>
                <a:gd name="T0" fmla="*/ 0 w 25"/>
                <a:gd name="T1" fmla="*/ 12 h 24"/>
                <a:gd name="T2" fmla="*/ 13 w 25"/>
                <a:gd name="T3" fmla="*/ 0 h 24"/>
                <a:gd name="T4" fmla="*/ 25 w 25"/>
                <a:gd name="T5" fmla="*/ 12 h 24"/>
                <a:gd name="T6" fmla="*/ 13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3" y="0"/>
                  </a:lnTo>
                  <a:lnTo>
                    <a:pt x="25" y="12"/>
                  </a:lnTo>
                  <a:lnTo>
                    <a:pt x="13"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6" name="Freeform 763"/>
            <p:cNvSpPr>
              <a:spLocks/>
            </p:cNvSpPr>
            <p:nvPr/>
          </p:nvSpPr>
          <p:spPr bwMode="auto">
            <a:xfrm>
              <a:off x="2839" y="3149"/>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67" name="Freeform 764"/>
            <p:cNvSpPr>
              <a:spLocks/>
            </p:cNvSpPr>
            <p:nvPr/>
          </p:nvSpPr>
          <p:spPr bwMode="auto">
            <a:xfrm>
              <a:off x="2872" y="3351"/>
              <a:ext cx="25" cy="25"/>
            </a:xfrm>
            <a:custGeom>
              <a:avLst/>
              <a:gdLst>
                <a:gd name="T0" fmla="*/ 0 w 25"/>
                <a:gd name="T1" fmla="*/ 12 h 25"/>
                <a:gd name="T2" fmla="*/ 12 w 25"/>
                <a:gd name="T3" fmla="*/ 0 h 25"/>
                <a:gd name="T4" fmla="*/ 25 w 25"/>
                <a:gd name="T5" fmla="*/ 12 h 25"/>
                <a:gd name="T6" fmla="*/ 12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2" y="0"/>
                  </a:lnTo>
                  <a:lnTo>
                    <a:pt x="25"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8" name="Freeform 765"/>
            <p:cNvSpPr>
              <a:spLocks/>
            </p:cNvSpPr>
            <p:nvPr/>
          </p:nvSpPr>
          <p:spPr bwMode="auto">
            <a:xfrm>
              <a:off x="3419" y="3038"/>
              <a:ext cx="24" cy="25"/>
            </a:xfrm>
            <a:custGeom>
              <a:avLst/>
              <a:gdLst>
                <a:gd name="T0" fmla="*/ 0 w 24"/>
                <a:gd name="T1" fmla="*/ 13 h 25"/>
                <a:gd name="T2" fmla="*/ 12 w 24"/>
                <a:gd name="T3" fmla="*/ 0 h 25"/>
                <a:gd name="T4" fmla="*/ 24 w 24"/>
                <a:gd name="T5" fmla="*/ 13 h 25"/>
                <a:gd name="T6" fmla="*/ 12 w 24"/>
                <a:gd name="T7" fmla="*/ 25 h 25"/>
                <a:gd name="T8" fmla="*/ 0 w 24"/>
                <a:gd name="T9" fmla="*/ 13 h 25"/>
              </a:gdLst>
              <a:ahLst/>
              <a:cxnLst>
                <a:cxn ang="0">
                  <a:pos x="T0" y="T1"/>
                </a:cxn>
                <a:cxn ang="0">
                  <a:pos x="T2" y="T3"/>
                </a:cxn>
                <a:cxn ang="0">
                  <a:pos x="T4" y="T5"/>
                </a:cxn>
                <a:cxn ang="0">
                  <a:pos x="T6" y="T7"/>
                </a:cxn>
                <a:cxn ang="0">
                  <a:pos x="T8" y="T9"/>
                </a:cxn>
              </a:cxnLst>
              <a:rect l="0" t="0" r="r" b="b"/>
              <a:pathLst>
                <a:path w="24" h="25">
                  <a:moveTo>
                    <a:pt x="0" y="13"/>
                  </a:moveTo>
                  <a:lnTo>
                    <a:pt x="12" y="0"/>
                  </a:lnTo>
                  <a:lnTo>
                    <a:pt x="24"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69" name="Freeform 766"/>
            <p:cNvSpPr>
              <a:spLocks/>
            </p:cNvSpPr>
            <p:nvPr/>
          </p:nvSpPr>
          <p:spPr bwMode="auto">
            <a:xfrm>
              <a:off x="3102" y="3207"/>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0" name="Freeform 767"/>
            <p:cNvSpPr>
              <a:spLocks/>
            </p:cNvSpPr>
            <p:nvPr/>
          </p:nvSpPr>
          <p:spPr bwMode="auto">
            <a:xfrm>
              <a:off x="2440" y="3532"/>
              <a:ext cx="25" cy="24"/>
            </a:xfrm>
            <a:custGeom>
              <a:avLst/>
              <a:gdLst>
                <a:gd name="T0" fmla="*/ 0 w 25"/>
                <a:gd name="T1" fmla="*/ 12 h 24"/>
                <a:gd name="T2" fmla="*/ 13 w 25"/>
                <a:gd name="T3" fmla="*/ 0 h 24"/>
                <a:gd name="T4" fmla="*/ 25 w 25"/>
                <a:gd name="T5" fmla="*/ 12 h 24"/>
                <a:gd name="T6" fmla="*/ 13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3" y="0"/>
                  </a:lnTo>
                  <a:lnTo>
                    <a:pt x="25" y="12"/>
                  </a:lnTo>
                  <a:lnTo>
                    <a:pt x="13"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1" name="Freeform 768"/>
            <p:cNvSpPr>
              <a:spLocks/>
            </p:cNvSpPr>
            <p:nvPr/>
          </p:nvSpPr>
          <p:spPr bwMode="auto">
            <a:xfrm>
              <a:off x="2987" y="3088"/>
              <a:ext cx="25" cy="24"/>
            </a:xfrm>
            <a:custGeom>
              <a:avLst/>
              <a:gdLst>
                <a:gd name="T0" fmla="*/ 0 w 25"/>
                <a:gd name="T1" fmla="*/ 12 h 24"/>
                <a:gd name="T2" fmla="*/ 12 w 25"/>
                <a:gd name="T3" fmla="*/ 0 h 24"/>
                <a:gd name="T4" fmla="*/ 25 w 25"/>
                <a:gd name="T5" fmla="*/ 12 h 24"/>
                <a:gd name="T6" fmla="*/ 12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2" y="0"/>
                  </a:lnTo>
                  <a:lnTo>
                    <a:pt x="25" y="12"/>
                  </a:lnTo>
                  <a:lnTo>
                    <a:pt x="12"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2" name="Freeform 769"/>
            <p:cNvSpPr>
              <a:spLocks/>
            </p:cNvSpPr>
            <p:nvPr/>
          </p:nvSpPr>
          <p:spPr bwMode="auto">
            <a:xfrm>
              <a:off x="3361" y="2833"/>
              <a:ext cx="25" cy="25"/>
            </a:xfrm>
            <a:custGeom>
              <a:avLst/>
              <a:gdLst>
                <a:gd name="T0" fmla="*/ 0 w 25"/>
                <a:gd name="T1" fmla="*/ 12 h 25"/>
                <a:gd name="T2" fmla="*/ 12 w 25"/>
                <a:gd name="T3" fmla="*/ 0 h 25"/>
                <a:gd name="T4" fmla="*/ 25 w 25"/>
                <a:gd name="T5" fmla="*/ 12 h 25"/>
                <a:gd name="T6" fmla="*/ 12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2" y="0"/>
                  </a:lnTo>
                  <a:lnTo>
                    <a:pt x="25"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3" name="Freeform 770"/>
            <p:cNvSpPr>
              <a:spLocks/>
            </p:cNvSpPr>
            <p:nvPr/>
          </p:nvSpPr>
          <p:spPr bwMode="auto">
            <a:xfrm>
              <a:off x="2827" y="3392"/>
              <a:ext cx="24" cy="25"/>
            </a:xfrm>
            <a:custGeom>
              <a:avLst/>
              <a:gdLst>
                <a:gd name="T0" fmla="*/ 0 w 24"/>
                <a:gd name="T1" fmla="*/ 12 h 25"/>
                <a:gd name="T2" fmla="*/ 12 w 24"/>
                <a:gd name="T3" fmla="*/ 0 h 25"/>
                <a:gd name="T4" fmla="*/ 24 w 24"/>
                <a:gd name="T5" fmla="*/ 12 h 25"/>
                <a:gd name="T6" fmla="*/ 12 w 24"/>
                <a:gd name="T7" fmla="*/ 25 h 25"/>
                <a:gd name="T8" fmla="*/ 0 w 24"/>
                <a:gd name="T9" fmla="*/ 12 h 25"/>
              </a:gdLst>
              <a:ahLst/>
              <a:cxnLst>
                <a:cxn ang="0">
                  <a:pos x="T0" y="T1"/>
                </a:cxn>
                <a:cxn ang="0">
                  <a:pos x="T2" y="T3"/>
                </a:cxn>
                <a:cxn ang="0">
                  <a:pos x="T4" y="T5"/>
                </a:cxn>
                <a:cxn ang="0">
                  <a:pos x="T6" y="T7"/>
                </a:cxn>
                <a:cxn ang="0">
                  <a:pos x="T8" y="T9"/>
                </a:cxn>
              </a:cxnLst>
              <a:rect l="0" t="0" r="r" b="b"/>
              <a:pathLst>
                <a:path w="24" h="25">
                  <a:moveTo>
                    <a:pt x="0" y="12"/>
                  </a:moveTo>
                  <a:lnTo>
                    <a:pt x="12" y="0"/>
                  </a:lnTo>
                  <a:lnTo>
                    <a:pt x="24"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4" name="Freeform 771"/>
            <p:cNvSpPr>
              <a:spLocks/>
            </p:cNvSpPr>
            <p:nvPr/>
          </p:nvSpPr>
          <p:spPr bwMode="auto">
            <a:xfrm>
              <a:off x="3464" y="3112"/>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75" name="Freeform 772"/>
            <p:cNvSpPr>
              <a:spLocks/>
            </p:cNvSpPr>
            <p:nvPr/>
          </p:nvSpPr>
          <p:spPr bwMode="auto">
            <a:xfrm>
              <a:off x="2938" y="3207"/>
              <a:ext cx="24" cy="25"/>
            </a:xfrm>
            <a:custGeom>
              <a:avLst/>
              <a:gdLst>
                <a:gd name="T0" fmla="*/ 0 w 24"/>
                <a:gd name="T1" fmla="*/ 12 h 25"/>
                <a:gd name="T2" fmla="*/ 12 w 24"/>
                <a:gd name="T3" fmla="*/ 0 h 25"/>
                <a:gd name="T4" fmla="*/ 24 w 24"/>
                <a:gd name="T5" fmla="*/ 12 h 25"/>
                <a:gd name="T6" fmla="*/ 12 w 24"/>
                <a:gd name="T7" fmla="*/ 25 h 25"/>
                <a:gd name="T8" fmla="*/ 0 w 24"/>
                <a:gd name="T9" fmla="*/ 12 h 25"/>
              </a:gdLst>
              <a:ahLst/>
              <a:cxnLst>
                <a:cxn ang="0">
                  <a:pos x="T0" y="T1"/>
                </a:cxn>
                <a:cxn ang="0">
                  <a:pos x="T2" y="T3"/>
                </a:cxn>
                <a:cxn ang="0">
                  <a:pos x="T4" y="T5"/>
                </a:cxn>
                <a:cxn ang="0">
                  <a:pos x="T6" y="T7"/>
                </a:cxn>
                <a:cxn ang="0">
                  <a:pos x="T8" y="T9"/>
                </a:cxn>
              </a:cxnLst>
              <a:rect l="0" t="0" r="r" b="b"/>
              <a:pathLst>
                <a:path w="24" h="25">
                  <a:moveTo>
                    <a:pt x="0" y="12"/>
                  </a:moveTo>
                  <a:lnTo>
                    <a:pt x="12" y="0"/>
                  </a:lnTo>
                  <a:lnTo>
                    <a:pt x="24"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6" name="Freeform 773"/>
            <p:cNvSpPr>
              <a:spLocks/>
            </p:cNvSpPr>
            <p:nvPr/>
          </p:nvSpPr>
          <p:spPr bwMode="auto">
            <a:xfrm>
              <a:off x="3197" y="3071"/>
              <a:ext cx="24" cy="25"/>
            </a:xfrm>
            <a:custGeom>
              <a:avLst/>
              <a:gdLst>
                <a:gd name="T0" fmla="*/ 0 w 24"/>
                <a:gd name="T1" fmla="*/ 13 h 25"/>
                <a:gd name="T2" fmla="*/ 12 w 24"/>
                <a:gd name="T3" fmla="*/ 0 h 25"/>
                <a:gd name="T4" fmla="*/ 24 w 24"/>
                <a:gd name="T5" fmla="*/ 13 h 25"/>
                <a:gd name="T6" fmla="*/ 12 w 24"/>
                <a:gd name="T7" fmla="*/ 25 h 25"/>
                <a:gd name="T8" fmla="*/ 0 w 24"/>
                <a:gd name="T9" fmla="*/ 13 h 25"/>
              </a:gdLst>
              <a:ahLst/>
              <a:cxnLst>
                <a:cxn ang="0">
                  <a:pos x="T0" y="T1"/>
                </a:cxn>
                <a:cxn ang="0">
                  <a:pos x="T2" y="T3"/>
                </a:cxn>
                <a:cxn ang="0">
                  <a:pos x="T4" y="T5"/>
                </a:cxn>
                <a:cxn ang="0">
                  <a:pos x="T6" y="T7"/>
                </a:cxn>
                <a:cxn ang="0">
                  <a:pos x="T8" y="T9"/>
                </a:cxn>
              </a:cxnLst>
              <a:rect l="0" t="0" r="r" b="b"/>
              <a:pathLst>
                <a:path w="24" h="25">
                  <a:moveTo>
                    <a:pt x="0" y="13"/>
                  </a:moveTo>
                  <a:lnTo>
                    <a:pt x="12" y="0"/>
                  </a:lnTo>
                  <a:lnTo>
                    <a:pt x="24"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77" name="Freeform 774"/>
            <p:cNvSpPr>
              <a:spLocks/>
            </p:cNvSpPr>
            <p:nvPr/>
          </p:nvSpPr>
          <p:spPr bwMode="auto">
            <a:xfrm>
              <a:off x="2905" y="3256"/>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78" name="Freeform 775"/>
            <p:cNvSpPr>
              <a:spLocks/>
            </p:cNvSpPr>
            <p:nvPr/>
          </p:nvSpPr>
          <p:spPr bwMode="auto">
            <a:xfrm>
              <a:off x="2921" y="3248"/>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9" name="Freeform 776"/>
            <p:cNvSpPr>
              <a:spLocks/>
            </p:cNvSpPr>
            <p:nvPr/>
          </p:nvSpPr>
          <p:spPr bwMode="auto">
            <a:xfrm>
              <a:off x="3353" y="2775"/>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80" name="Line 777"/>
            <p:cNvSpPr>
              <a:spLocks noChangeShapeType="1"/>
            </p:cNvSpPr>
            <p:nvPr/>
          </p:nvSpPr>
          <p:spPr bwMode="auto">
            <a:xfrm flipV="1">
              <a:off x="2046" y="2549"/>
              <a:ext cx="2244" cy="113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1" name="Freeform 778"/>
            <p:cNvSpPr>
              <a:spLocks/>
            </p:cNvSpPr>
            <p:nvPr/>
          </p:nvSpPr>
          <p:spPr bwMode="auto">
            <a:xfrm>
              <a:off x="3008" y="3240"/>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2" name="Freeform 779"/>
            <p:cNvSpPr>
              <a:spLocks/>
            </p:cNvSpPr>
            <p:nvPr/>
          </p:nvSpPr>
          <p:spPr bwMode="auto">
            <a:xfrm>
              <a:off x="3143" y="3141"/>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3" name="Freeform 780"/>
            <p:cNvSpPr>
              <a:spLocks/>
            </p:cNvSpPr>
            <p:nvPr/>
          </p:nvSpPr>
          <p:spPr bwMode="auto">
            <a:xfrm>
              <a:off x="3308" y="3014"/>
              <a:ext cx="24" cy="24"/>
            </a:xfrm>
            <a:custGeom>
              <a:avLst/>
              <a:gdLst>
                <a:gd name="T0" fmla="*/ 0 w 24"/>
                <a:gd name="T1" fmla="*/ 24 h 24"/>
                <a:gd name="T2" fmla="*/ 12 w 24"/>
                <a:gd name="T3" fmla="*/ 0 h 24"/>
                <a:gd name="T4" fmla="*/ 24 w 24"/>
                <a:gd name="T5" fmla="*/ 24 h 24"/>
                <a:gd name="T6" fmla="*/ 0 w 24"/>
                <a:gd name="T7" fmla="*/ 24 h 24"/>
              </a:gdLst>
              <a:ahLst/>
              <a:cxnLst>
                <a:cxn ang="0">
                  <a:pos x="T0" y="T1"/>
                </a:cxn>
                <a:cxn ang="0">
                  <a:pos x="T2" y="T3"/>
                </a:cxn>
                <a:cxn ang="0">
                  <a:pos x="T4" y="T5"/>
                </a:cxn>
                <a:cxn ang="0">
                  <a:pos x="T6" y="T7"/>
                </a:cxn>
              </a:cxnLst>
              <a:rect l="0" t="0" r="r" b="b"/>
              <a:pathLst>
                <a:path w="24" h="24">
                  <a:moveTo>
                    <a:pt x="0" y="24"/>
                  </a:moveTo>
                  <a:lnTo>
                    <a:pt x="12" y="0"/>
                  </a:lnTo>
                  <a:lnTo>
                    <a:pt x="24"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784" name="Freeform 781"/>
            <p:cNvSpPr>
              <a:spLocks/>
            </p:cNvSpPr>
            <p:nvPr/>
          </p:nvSpPr>
          <p:spPr bwMode="auto">
            <a:xfrm>
              <a:off x="2942" y="3252"/>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5" name="Freeform 782"/>
            <p:cNvSpPr>
              <a:spLocks/>
            </p:cNvSpPr>
            <p:nvPr/>
          </p:nvSpPr>
          <p:spPr bwMode="auto">
            <a:xfrm>
              <a:off x="2749" y="3437"/>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6" name="Freeform 783"/>
            <p:cNvSpPr>
              <a:spLocks/>
            </p:cNvSpPr>
            <p:nvPr/>
          </p:nvSpPr>
          <p:spPr bwMode="auto">
            <a:xfrm>
              <a:off x="3250" y="3141"/>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7" name="Freeform 784"/>
            <p:cNvSpPr>
              <a:spLocks/>
            </p:cNvSpPr>
            <p:nvPr/>
          </p:nvSpPr>
          <p:spPr bwMode="auto">
            <a:xfrm>
              <a:off x="2798" y="3223"/>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8" name="Freeform 785"/>
            <p:cNvSpPr>
              <a:spLocks/>
            </p:cNvSpPr>
            <p:nvPr/>
          </p:nvSpPr>
          <p:spPr bwMode="auto">
            <a:xfrm>
              <a:off x="3254" y="3108"/>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9" name="Freeform 786"/>
            <p:cNvSpPr>
              <a:spLocks/>
            </p:cNvSpPr>
            <p:nvPr/>
          </p:nvSpPr>
          <p:spPr bwMode="auto">
            <a:xfrm>
              <a:off x="3464" y="2821"/>
              <a:ext cx="25" cy="24"/>
            </a:xfrm>
            <a:custGeom>
              <a:avLst/>
              <a:gdLst>
                <a:gd name="T0" fmla="*/ 0 w 25"/>
                <a:gd name="T1" fmla="*/ 24 h 24"/>
                <a:gd name="T2" fmla="*/ 12 w 25"/>
                <a:gd name="T3" fmla="*/ 0 h 24"/>
                <a:gd name="T4" fmla="*/ 25 w 25"/>
                <a:gd name="T5" fmla="*/ 24 h 24"/>
                <a:gd name="T6" fmla="*/ 0 w 25"/>
                <a:gd name="T7" fmla="*/ 24 h 24"/>
              </a:gdLst>
              <a:ahLst/>
              <a:cxnLst>
                <a:cxn ang="0">
                  <a:pos x="T0" y="T1"/>
                </a:cxn>
                <a:cxn ang="0">
                  <a:pos x="T2" y="T3"/>
                </a:cxn>
                <a:cxn ang="0">
                  <a:pos x="T4" y="T5"/>
                </a:cxn>
                <a:cxn ang="0">
                  <a:pos x="T6" y="T7"/>
                </a:cxn>
              </a:cxnLst>
              <a:rect l="0" t="0" r="r" b="b"/>
              <a:pathLst>
                <a:path w="25" h="24">
                  <a:moveTo>
                    <a:pt x="0" y="24"/>
                  </a:moveTo>
                  <a:lnTo>
                    <a:pt x="12" y="0"/>
                  </a:lnTo>
                  <a:lnTo>
                    <a:pt x="25"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790" name="Freeform 787"/>
            <p:cNvSpPr>
              <a:spLocks/>
            </p:cNvSpPr>
            <p:nvPr/>
          </p:nvSpPr>
          <p:spPr bwMode="auto">
            <a:xfrm>
              <a:off x="2790" y="3112"/>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1" name="Freeform 788"/>
            <p:cNvSpPr>
              <a:spLocks/>
            </p:cNvSpPr>
            <p:nvPr/>
          </p:nvSpPr>
          <p:spPr bwMode="auto">
            <a:xfrm>
              <a:off x="2917" y="3289"/>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2" name="Freeform 789"/>
            <p:cNvSpPr>
              <a:spLocks/>
            </p:cNvSpPr>
            <p:nvPr/>
          </p:nvSpPr>
          <p:spPr bwMode="auto">
            <a:xfrm>
              <a:off x="3217" y="3100"/>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3" name="Freeform 790"/>
            <p:cNvSpPr>
              <a:spLocks/>
            </p:cNvSpPr>
            <p:nvPr/>
          </p:nvSpPr>
          <p:spPr bwMode="auto">
            <a:xfrm>
              <a:off x="2999" y="3055"/>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4" name="Freeform 791"/>
            <p:cNvSpPr>
              <a:spLocks/>
            </p:cNvSpPr>
            <p:nvPr/>
          </p:nvSpPr>
          <p:spPr bwMode="auto">
            <a:xfrm>
              <a:off x="3188" y="3244"/>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5" name="Freeform 792"/>
            <p:cNvSpPr>
              <a:spLocks/>
            </p:cNvSpPr>
            <p:nvPr/>
          </p:nvSpPr>
          <p:spPr bwMode="auto">
            <a:xfrm>
              <a:off x="3049" y="3195"/>
              <a:ext cx="24" cy="24"/>
            </a:xfrm>
            <a:custGeom>
              <a:avLst/>
              <a:gdLst>
                <a:gd name="T0" fmla="*/ 0 w 24"/>
                <a:gd name="T1" fmla="*/ 24 h 24"/>
                <a:gd name="T2" fmla="*/ 12 w 24"/>
                <a:gd name="T3" fmla="*/ 0 h 24"/>
                <a:gd name="T4" fmla="*/ 24 w 24"/>
                <a:gd name="T5" fmla="*/ 24 h 24"/>
                <a:gd name="T6" fmla="*/ 0 w 24"/>
                <a:gd name="T7" fmla="*/ 24 h 24"/>
              </a:gdLst>
              <a:ahLst/>
              <a:cxnLst>
                <a:cxn ang="0">
                  <a:pos x="T0" y="T1"/>
                </a:cxn>
                <a:cxn ang="0">
                  <a:pos x="T2" y="T3"/>
                </a:cxn>
                <a:cxn ang="0">
                  <a:pos x="T4" y="T5"/>
                </a:cxn>
                <a:cxn ang="0">
                  <a:pos x="T6" y="T7"/>
                </a:cxn>
              </a:cxnLst>
              <a:rect l="0" t="0" r="r" b="b"/>
              <a:pathLst>
                <a:path w="24" h="24">
                  <a:moveTo>
                    <a:pt x="0" y="24"/>
                  </a:moveTo>
                  <a:lnTo>
                    <a:pt x="12" y="0"/>
                  </a:lnTo>
                  <a:lnTo>
                    <a:pt x="24"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796" name="Freeform 793"/>
            <p:cNvSpPr>
              <a:spLocks/>
            </p:cNvSpPr>
            <p:nvPr/>
          </p:nvSpPr>
          <p:spPr bwMode="auto">
            <a:xfrm>
              <a:off x="3813" y="2693"/>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7" name="Freeform 794"/>
            <p:cNvSpPr>
              <a:spLocks/>
            </p:cNvSpPr>
            <p:nvPr/>
          </p:nvSpPr>
          <p:spPr bwMode="auto">
            <a:xfrm>
              <a:off x="3571" y="2989"/>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8" name="Freeform 795"/>
            <p:cNvSpPr>
              <a:spLocks/>
            </p:cNvSpPr>
            <p:nvPr/>
          </p:nvSpPr>
          <p:spPr bwMode="auto">
            <a:xfrm>
              <a:off x="3184" y="3055"/>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9" name="Freeform 796"/>
            <p:cNvSpPr>
              <a:spLocks/>
            </p:cNvSpPr>
            <p:nvPr/>
          </p:nvSpPr>
          <p:spPr bwMode="auto">
            <a:xfrm>
              <a:off x="3386" y="3022"/>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0" name="Freeform 797"/>
            <p:cNvSpPr>
              <a:spLocks/>
            </p:cNvSpPr>
            <p:nvPr/>
          </p:nvSpPr>
          <p:spPr bwMode="auto">
            <a:xfrm>
              <a:off x="3817" y="2533"/>
              <a:ext cx="25" cy="24"/>
            </a:xfrm>
            <a:custGeom>
              <a:avLst/>
              <a:gdLst>
                <a:gd name="T0" fmla="*/ 0 w 25"/>
                <a:gd name="T1" fmla="*/ 24 h 24"/>
                <a:gd name="T2" fmla="*/ 13 w 25"/>
                <a:gd name="T3" fmla="*/ 0 h 24"/>
                <a:gd name="T4" fmla="*/ 25 w 25"/>
                <a:gd name="T5" fmla="*/ 24 h 24"/>
                <a:gd name="T6" fmla="*/ 0 w 25"/>
                <a:gd name="T7" fmla="*/ 24 h 24"/>
              </a:gdLst>
              <a:ahLst/>
              <a:cxnLst>
                <a:cxn ang="0">
                  <a:pos x="T0" y="T1"/>
                </a:cxn>
                <a:cxn ang="0">
                  <a:pos x="T2" y="T3"/>
                </a:cxn>
                <a:cxn ang="0">
                  <a:pos x="T4" y="T5"/>
                </a:cxn>
                <a:cxn ang="0">
                  <a:pos x="T6" y="T7"/>
                </a:cxn>
              </a:cxnLst>
              <a:rect l="0" t="0" r="r" b="b"/>
              <a:pathLst>
                <a:path w="25" h="24">
                  <a:moveTo>
                    <a:pt x="0" y="24"/>
                  </a:moveTo>
                  <a:lnTo>
                    <a:pt x="13" y="0"/>
                  </a:lnTo>
                  <a:lnTo>
                    <a:pt x="25"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01" name="Freeform 798"/>
            <p:cNvSpPr>
              <a:spLocks/>
            </p:cNvSpPr>
            <p:nvPr/>
          </p:nvSpPr>
          <p:spPr bwMode="auto">
            <a:xfrm>
              <a:off x="2901" y="2977"/>
              <a:ext cx="24" cy="24"/>
            </a:xfrm>
            <a:custGeom>
              <a:avLst/>
              <a:gdLst>
                <a:gd name="T0" fmla="*/ 0 w 24"/>
                <a:gd name="T1" fmla="*/ 24 h 24"/>
                <a:gd name="T2" fmla="*/ 12 w 24"/>
                <a:gd name="T3" fmla="*/ 0 h 24"/>
                <a:gd name="T4" fmla="*/ 24 w 24"/>
                <a:gd name="T5" fmla="*/ 24 h 24"/>
                <a:gd name="T6" fmla="*/ 0 w 24"/>
                <a:gd name="T7" fmla="*/ 24 h 24"/>
              </a:gdLst>
              <a:ahLst/>
              <a:cxnLst>
                <a:cxn ang="0">
                  <a:pos x="T0" y="T1"/>
                </a:cxn>
                <a:cxn ang="0">
                  <a:pos x="T2" y="T3"/>
                </a:cxn>
                <a:cxn ang="0">
                  <a:pos x="T4" y="T5"/>
                </a:cxn>
                <a:cxn ang="0">
                  <a:pos x="T6" y="T7"/>
                </a:cxn>
              </a:cxnLst>
              <a:rect l="0" t="0" r="r" b="b"/>
              <a:pathLst>
                <a:path w="24" h="24">
                  <a:moveTo>
                    <a:pt x="0" y="24"/>
                  </a:moveTo>
                  <a:lnTo>
                    <a:pt x="12" y="0"/>
                  </a:lnTo>
                  <a:lnTo>
                    <a:pt x="24"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02" name="Freeform 799"/>
            <p:cNvSpPr>
              <a:spLocks/>
            </p:cNvSpPr>
            <p:nvPr/>
          </p:nvSpPr>
          <p:spPr bwMode="auto">
            <a:xfrm>
              <a:off x="2851" y="3507"/>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3" name="Freeform 800"/>
            <p:cNvSpPr>
              <a:spLocks/>
            </p:cNvSpPr>
            <p:nvPr/>
          </p:nvSpPr>
          <p:spPr bwMode="auto">
            <a:xfrm>
              <a:off x="3554" y="2985"/>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4" name="Freeform 801"/>
            <p:cNvSpPr>
              <a:spLocks/>
            </p:cNvSpPr>
            <p:nvPr/>
          </p:nvSpPr>
          <p:spPr bwMode="auto">
            <a:xfrm>
              <a:off x="2975" y="3260"/>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5" name="Freeform 802"/>
            <p:cNvSpPr>
              <a:spLocks/>
            </p:cNvSpPr>
            <p:nvPr/>
          </p:nvSpPr>
          <p:spPr bwMode="auto">
            <a:xfrm>
              <a:off x="3147" y="3022"/>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6" name="Freeform 803"/>
            <p:cNvSpPr>
              <a:spLocks/>
            </p:cNvSpPr>
            <p:nvPr/>
          </p:nvSpPr>
          <p:spPr bwMode="auto">
            <a:xfrm>
              <a:off x="3464" y="2870"/>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7" name="Freeform 804"/>
            <p:cNvSpPr>
              <a:spLocks/>
            </p:cNvSpPr>
            <p:nvPr/>
          </p:nvSpPr>
          <p:spPr bwMode="auto">
            <a:xfrm>
              <a:off x="3538" y="2989"/>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8" name="Freeform 805"/>
            <p:cNvSpPr>
              <a:spLocks/>
            </p:cNvSpPr>
            <p:nvPr/>
          </p:nvSpPr>
          <p:spPr bwMode="auto">
            <a:xfrm>
              <a:off x="3398" y="2779"/>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9" name="Freeform 806"/>
            <p:cNvSpPr>
              <a:spLocks/>
            </p:cNvSpPr>
            <p:nvPr/>
          </p:nvSpPr>
          <p:spPr bwMode="auto">
            <a:xfrm>
              <a:off x="2132" y="3766"/>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0" name="Freeform 807"/>
            <p:cNvSpPr>
              <a:spLocks/>
            </p:cNvSpPr>
            <p:nvPr/>
          </p:nvSpPr>
          <p:spPr bwMode="auto">
            <a:xfrm>
              <a:off x="3550" y="3207"/>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1" name="Freeform 808"/>
            <p:cNvSpPr>
              <a:spLocks/>
            </p:cNvSpPr>
            <p:nvPr/>
          </p:nvSpPr>
          <p:spPr bwMode="auto">
            <a:xfrm>
              <a:off x="3526" y="3121"/>
              <a:ext cx="24" cy="24"/>
            </a:xfrm>
            <a:custGeom>
              <a:avLst/>
              <a:gdLst>
                <a:gd name="T0" fmla="*/ 0 w 24"/>
                <a:gd name="T1" fmla="*/ 24 h 24"/>
                <a:gd name="T2" fmla="*/ 12 w 24"/>
                <a:gd name="T3" fmla="*/ 0 h 24"/>
                <a:gd name="T4" fmla="*/ 24 w 24"/>
                <a:gd name="T5" fmla="*/ 24 h 24"/>
                <a:gd name="T6" fmla="*/ 0 w 24"/>
                <a:gd name="T7" fmla="*/ 24 h 24"/>
              </a:gdLst>
              <a:ahLst/>
              <a:cxnLst>
                <a:cxn ang="0">
                  <a:pos x="T0" y="T1"/>
                </a:cxn>
                <a:cxn ang="0">
                  <a:pos x="T2" y="T3"/>
                </a:cxn>
                <a:cxn ang="0">
                  <a:pos x="T4" y="T5"/>
                </a:cxn>
                <a:cxn ang="0">
                  <a:pos x="T6" y="T7"/>
                </a:cxn>
              </a:cxnLst>
              <a:rect l="0" t="0" r="r" b="b"/>
              <a:pathLst>
                <a:path w="24" h="24">
                  <a:moveTo>
                    <a:pt x="0" y="24"/>
                  </a:moveTo>
                  <a:lnTo>
                    <a:pt x="12" y="0"/>
                  </a:lnTo>
                  <a:lnTo>
                    <a:pt x="24"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12" name="Freeform 809"/>
            <p:cNvSpPr>
              <a:spLocks/>
            </p:cNvSpPr>
            <p:nvPr/>
          </p:nvSpPr>
          <p:spPr bwMode="auto">
            <a:xfrm>
              <a:off x="3805" y="2788"/>
              <a:ext cx="25" cy="24"/>
            </a:xfrm>
            <a:custGeom>
              <a:avLst/>
              <a:gdLst>
                <a:gd name="T0" fmla="*/ 0 w 25"/>
                <a:gd name="T1" fmla="*/ 24 h 24"/>
                <a:gd name="T2" fmla="*/ 12 w 25"/>
                <a:gd name="T3" fmla="*/ 0 h 24"/>
                <a:gd name="T4" fmla="*/ 25 w 25"/>
                <a:gd name="T5" fmla="*/ 24 h 24"/>
                <a:gd name="T6" fmla="*/ 0 w 25"/>
                <a:gd name="T7" fmla="*/ 24 h 24"/>
              </a:gdLst>
              <a:ahLst/>
              <a:cxnLst>
                <a:cxn ang="0">
                  <a:pos x="T0" y="T1"/>
                </a:cxn>
                <a:cxn ang="0">
                  <a:pos x="T2" y="T3"/>
                </a:cxn>
                <a:cxn ang="0">
                  <a:pos x="T4" y="T5"/>
                </a:cxn>
                <a:cxn ang="0">
                  <a:pos x="T6" y="T7"/>
                </a:cxn>
              </a:cxnLst>
              <a:rect l="0" t="0" r="r" b="b"/>
              <a:pathLst>
                <a:path w="25" h="24">
                  <a:moveTo>
                    <a:pt x="0" y="24"/>
                  </a:moveTo>
                  <a:lnTo>
                    <a:pt x="12" y="0"/>
                  </a:lnTo>
                  <a:lnTo>
                    <a:pt x="25"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13" name="Freeform 810"/>
            <p:cNvSpPr>
              <a:spLocks/>
            </p:cNvSpPr>
            <p:nvPr/>
          </p:nvSpPr>
          <p:spPr bwMode="auto">
            <a:xfrm>
              <a:off x="3431" y="2969"/>
              <a:ext cx="25" cy="24"/>
            </a:xfrm>
            <a:custGeom>
              <a:avLst/>
              <a:gdLst>
                <a:gd name="T0" fmla="*/ 0 w 25"/>
                <a:gd name="T1" fmla="*/ 24 h 24"/>
                <a:gd name="T2" fmla="*/ 12 w 25"/>
                <a:gd name="T3" fmla="*/ 0 h 24"/>
                <a:gd name="T4" fmla="*/ 25 w 25"/>
                <a:gd name="T5" fmla="*/ 24 h 24"/>
                <a:gd name="T6" fmla="*/ 0 w 25"/>
                <a:gd name="T7" fmla="*/ 24 h 24"/>
              </a:gdLst>
              <a:ahLst/>
              <a:cxnLst>
                <a:cxn ang="0">
                  <a:pos x="T0" y="T1"/>
                </a:cxn>
                <a:cxn ang="0">
                  <a:pos x="T2" y="T3"/>
                </a:cxn>
                <a:cxn ang="0">
                  <a:pos x="T4" y="T5"/>
                </a:cxn>
                <a:cxn ang="0">
                  <a:pos x="T6" y="T7"/>
                </a:cxn>
              </a:cxnLst>
              <a:rect l="0" t="0" r="r" b="b"/>
              <a:pathLst>
                <a:path w="25" h="24">
                  <a:moveTo>
                    <a:pt x="0" y="24"/>
                  </a:moveTo>
                  <a:lnTo>
                    <a:pt x="12" y="0"/>
                  </a:lnTo>
                  <a:lnTo>
                    <a:pt x="25"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14" name="Freeform 811"/>
            <p:cNvSpPr>
              <a:spLocks/>
            </p:cNvSpPr>
            <p:nvPr/>
          </p:nvSpPr>
          <p:spPr bwMode="auto">
            <a:xfrm>
              <a:off x="3505" y="3034"/>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5" name="Freeform 812"/>
            <p:cNvSpPr>
              <a:spLocks/>
            </p:cNvSpPr>
            <p:nvPr/>
          </p:nvSpPr>
          <p:spPr bwMode="auto">
            <a:xfrm>
              <a:off x="3373" y="3203"/>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6" name="Freeform 813"/>
            <p:cNvSpPr>
              <a:spLocks/>
            </p:cNvSpPr>
            <p:nvPr/>
          </p:nvSpPr>
          <p:spPr bwMode="auto">
            <a:xfrm>
              <a:off x="3361" y="3038"/>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7" name="Freeform 814"/>
            <p:cNvSpPr>
              <a:spLocks/>
            </p:cNvSpPr>
            <p:nvPr/>
          </p:nvSpPr>
          <p:spPr bwMode="auto">
            <a:xfrm>
              <a:off x="3435" y="2927"/>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8" name="Freeform 815"/>
            <p:cNvSpPr>
              <a:spLocks/>
            </p:cNvSpPr>
            <p:nvPr/>
          </p:nvSpPr>
          <p:spPr bwMode="auto">
            <a:xfrm>
              <a:off x="3176" y="2927"/>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9" name="Freeform 816"/>
            <p:cNvSpPr>
              <a:spLocks/>
            </p:cNvSpPr>
            <p:nvPr/>
          </p:nvSpPr>
          <p:spPr bwMode="auto">
            <a:xfrm>
              <a:off x="2165" y="3778"/>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0" name="Freeform 817"/>
            <p:cNvSpPr>
              <a:spLocks/>
            </p:cNvSpPr>
            <p:nvPr/>
          </p:nvSpPr>
          <p:spPr bwMode="auto">
            <a:xfrm>
              <a:off x="2033" y="3647"/>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1" name="Freeform 818"/>
            <p:cNvSpPr>
              <a:spLocks/>
            </p:cNvSpPr>
            <p:nvPr/>
          </p:nvSpPr>
          <p:spPr bwMode="auto">
            <a:xfrm>
              <a:off x="3472" y="2952"/>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2" name="Freeform 819"/>
            <p:cNvSpPr>
              <a:spLocks/>
            </p:cNvSpPr>
            <p:nvPr/>
          </p:nvSpPr>
          <p:spPr bwMode="auto">
            <a:xfrm>
              <a:off x="3665" y="2701"/>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3" name="Freeform 820"/>
            <p:cNvSpPr>
              <a:spLocks/>
            </p:cNvSpPr>
            <p:nvPr/>
          </p:nvSpPr>
          <p:spPr bwMode="auto">
            <a:xfrm>
              <a:off x="3299" y="2895"/>
              <a:ext cx="25" cy="24"/>
            </a:xfrm>
            <a:custGeom>
              <a:avLst/>
              <a:gdLst>
                <a:gd name="T0" fmla="*/ 0 w 25"/>
                <a:gd name="T1" fmla="*/ 24 h 24"/>
                <a:gd name="T2" fmla="*/ 13 w 25"/>
                <a:gd name="T3" fmla="*/ 0 h 24"/>
                <a:gd name="T4" fmla="*/ 25 w 25"/>
                <a:gd name="T5" fmla="*/ 24 h 24"/>
                <a:gd name="T6" fmla="*/ 0 w 25"/>
                <a:gd name="T7" fmla="*/ 24 h 24"/>
              </a:gdLst>
              <a:ahLst/>
              <a:cxnLst>
                <a:cxn ang="0">
                  <a:pos x="T0" y="T1"/>
                </a:cxn>
                <a:cxn ang="0">
                  <a:pos x="T2" y="T3"/>
                </a:cxn>
                <a:cxn ang="0">
                  <a:pos x="T4" y="T5"/>
                </a:cxn>
                <a:cxn ang="0">
                  <a:pos x="T6" y="T7"/>
                </a:cxn>
              </a:cxnLst>
              <a:rect l="0" t="0" r="r" b="b"/>
              <a:pathLst>
                <a:path w="25" h="24">
                  <a:moveTo>
                    <a:pt x="0" y="24"/>
                  </a:moveTo>
                  <a:lnTo>
                    <a:pt x="13" y="0"/>
                  </a:lnTo>
                  <a:lnTo>
                    <a:pt x="25"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24" name="Freeform 821"/>
            <p:cNvSpPr>
              <a:spLocks/>
            </p:cNvSpPr>
            <p:nvPr/>
          </p:nvSpPr>
          <p:spPr bwMode="auto">
            <a:xfrm>
              <a:off x="3686" y="2734"/>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5" name="Freeform 822"/>
            <p:cNvSpPr>
              <a:spLocks/>
            </p:cNvSpPr>
            <p:nvPr/>
          </p:nvSpPr>
          <p:spPr bwMode="auto">
            <a:xfrm>
              <a:off x="3435" y="2771"/>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6" name="Freeform 823"/>
            <p:cNvSpPr>
              <a:spLocks/>
            </p:cNvSpPr>
            <p:nvPr/>
          </p:nvSpPr>
          <p:spPr bwMode="auto">
            <a:xfrm>
              <a:off x="2773" y="3297"/>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7" name="Freeform 824"/>
            <p:cNvSpPr>
              <a:spLocks/>
            </p:cNvSpPr>
            <p:nvPr/>
          </p:nvSpPr>
          <p:spPr bwMode="auto">
            <a:xfrm>
              <a:off x="3234" y="2829"/>
              <a:ext cx="24" cy="24"/>
            </a:xfrm>
            <a:custGeom>
              <a:avLst/>
              <a:gdLst>
                <a:gd name="T0" fmla="*/ 0 w 24"/>
                <a:gd name="T1" fmla="*/ 24 h 24"/>
                <a:gd name="T2" fmla="*/ 12 w 24"/>
                <a:gd name="T3" fmla="*/ 0 h 24"/>
                <a:gd name="T4" fmla="*/ 24 w 24"/>
                <a:gd name="T5" fmla="*/ 24 h 24"/>
                <a:gd name="T6" fmla="*/ 0 w 24"/>
                <a:gd name="T7" fmla="*/ 24 h 24"/>
              </a:gdLst>
              <a:ahLst/>
              <a:cxnLst>
                <a:cxn ang="0">
                  <a:pos x="T0" y="T1"/>
                </a:cxn>
                <a:cxn ang="0">
                  <a:pos x="T2" y="T3"/>
                </a:cxn>
                <a:cxn ang="0">
                  <a:pos x="T4" y="T5"/>
                </a:cxn>
                <a:cxn ang="0">
                  <a:pos x="T6" y="T7"/>
                </a:cxn>
              </a:cxnLst>
              <a:rect l="0" t="0" r="r" b="b"/>
              <a:pathLst>
                <a:path w="24" h="24">
                  <a:moveTo>
                    <a:pt x="0" y="24"/>
                  </a:moveTo>
                  <a:lnTo>
                    <a:pt x="12" y="0"/>
                  </a:lnTo>
                  <a:lnTo>
                    <a:pt x="24"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28" name="Freeform 825"/>
            <p:cNvSpPr>
              <a:spLocks/>
            </p:cNvSpPr>
            <p:nvPr/>
          </p:nvSpPr>
          <p:spPr bwMode="auto">
            <a:xfrm>
              <a:off x="2695" y="3285"/>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9" name="Freeform 826"/>
            <p:cNvSpPr>
              <a:spLocks/>
            </p:cNvSpPr>
            <p:nvPr/>
          </p:nvSpPr>
          <p:spPr bwMode="auto">
            <a:xfrm>
              <a:off x="3188" y="3026"/>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30" name="Freeform 827"/>
            <p:cNvSpPr>
              <a:spLocks/>
            </p:cNvSpPr>
            <p:nvPr/>
          </p:nvSpPr>
          <p:spPr bwMode="auto">
            <a:xfrm>
              <a:off x="2375" y="3626"/>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grpSp>
    </p:spTree>
    <p:extLst>
      <p:ext uri="{BB962C8B-B14F-4D97-AF65-F5344CB8AC3E}">
        <p14:creationId xmlns:p14="http://schemas.microsoft.com/office/powerpoint/2010/main" val="100918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fade">
                                      <p:cBhvr>
                                        <p:cTn id="15" dur="500"/>
                                        <p:tgtEl>
                                          <p:spTgt spid="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fade">
                                      <p:cBhvr>
                                        <p:cTn id="18" dur="500"/>
                                        <p:tgtEl>
                                          <p:spTgt spid="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8" end="8"/>
                                            </p:txEl>
                                          </p:spTgt>
                                        </p:tgtEl>
                                        <p:attrNameLst>
                                          <p:attrName>style.visibility</p:attrName>
                                        </p:attrNameLst>
                                      </p:cBhvr>
                                      <p:to>
                                        <p:strVal val="visible"/>
                                      </p:to>
                                    </p:set>
                                    <p:animEffect transition="in" filter="fade">
                                      <p:cBhvr>
                                        <p:cTn id="26" dur="500"/>
                                        <p:tgtEl>
                                          <p:spTgt spid="5">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animEffect transition="in" filter="fade">
                                      <p:cBhvr>
                                        <p:cTn id="29" dur="500"/>
                                        <p:tgtEl>
                                          <p:spTgt spid="5">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fade">
                                      <p:cBhvr>
                                        <p:cTn id="32" dur="500"/>
                                        <p:tgtEl>
                                          <p:spTgt spid="7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animEffect transition="in" filter="fade">
                                      <p:cBhvr>
                                        <p:cTn id="37" dur="500"/>
                                        <p:tgtEl>
                                          <p:spTgt spid="5">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41"/>
                                        </p:tgtEl>
                                        <p:attrNameLst>
                                          <p:attrName>style.visibility</p:attrName>
                                        </p:attrNameLst>
                                      </p:cBhvr>
                                      <p:to>
                                        <p:strVal val="visible"/>
                                      </p:to>
                                    </p:set>
                                    <p:animEffect transition="in" filter="fade">
                                      <p:cBhvr>
                                        <p:cTn id="40" dur="500"/>
                                        <p:tgtEl>
                                          <p:spTgt spid="441"/>
                                        </p:tgtEl>
                                      </p:cBhvr>
                                    </p:animEffect>
                                  </p:childTnLst>
                                </p:cTn>
                              </p:par>
                              <p:par>
                                <p:cTn id="41" presetID="10" presetClass="entr" presetSubtype="0" fill="hold" nodeType="withEffect">
                                  <p:stCondLst>
                                    <p:cond delay="0"/>
                                  </p:stCondLst>
                                  <p:childTnLst>
                                    <p:set>
                                      <p:cBhvr>
                                        <p:cTn id="42" dur="1" fill="hold">
                                          <p:stCondLst>
                                            <p:cond delay="0"/>
                                          </p:stCondLst>
                                        </p:cTn>
                                        <p:tgtEl>
                                          <p:spTgt spid="5">
                                            <p:txEl>
                                              <p:pRg st="13" end="13"/>
                                            </p:txEl>
                                          </p:spTgt>
                                        </p:tgtEl>
                                        <p:attrNameLst>
                                          <p:attrName>style.visibility</p:attrName>
                                        </p:attrNameLst>
                                      </p:cBhvr>
                                      <p:to>
                                        <p:strVal val="visible"/>
                                      </p:to>
                                    </p:set>
                                    <p:animEffect transition="in" filter="fade">
                                      <p:cBhvr>
                                        <p:cTn id="43" dur="500"/>
                                        <p:tgtEl>
                                          <p:spTgt spid="5">
                                            <p:txEl>
                                              <p:pRg st="13" end="13"/>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
                                            <p:txEl>
                                              <p:pRg st="14" end="14"/>
                                            </p:txEl>
                                          </p:spTgt>
                                        </p:tgtEl>
                                        <p:attrNameLst>
                                          <p:attrName>style.visibility</p:attrName>
                                        </p:attrNameLst>
                                      </p:cBhvr>
                                      <p:to>
                                        <p:strVal val="visible"/>
                                      </p:to>
                                    </p:set>
                                    <p:animEffect transition="in" filter="fade">
                                      <p:cBhvr>
                                        <p:cTn id="46" dur="500"/>
                                        <p:tgtEl>
                                          <p:spTgt spid="5">
                                            <p:txEl>
                                              <p:pRg st="14" end="14"/>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5">
                                            <p:txEl>
                                              <p:pRg st="15" end="15"/>
                                            </p:txEl>
                                          </p:spTgt>
                                        </p:tgtEl>
                                        <p:attrNameLst>
                                          <p:attrName>style.visibility</p:attrName>
                                        </p:attrNameLst>
                                      </p:cBhvr>
                                      <p:to>
                                        <p:strVal val="visible"/>
                                      </p:to>
                                    </p:set>
                                    <p:animEffect transition="in" filter="fade">
                                      <p:cBhvr>
                                        <p:cTn id="49" dur="500"/>
                                        <p:tgtEl>
                                          <p:spTgt spid="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609600"/>
            <a:ext cx="8686799" cy="10156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b="1" u="sng" dirty="0">
                <a:solidFill>
                  <a:schemeClr val="tx1">
                    <a:lumMod val="75000"/>
                    <a:lumOff val="25000"/>
                  </a:schemeClr>
                </a:solidFill>
              </a:rPr>
              <a:t>Multivariate</a:t>
            </a:r>
            <a:r>
              <a:rPr lang="en-US" sz="2000" dirty="0">
                <a:solidFill>
                  <a:schemeClr val="tx1">
                    <a:lumMod val="75000"/>
                    <a:lumOff val="25000"/>
                  </a:schemeClr>
                </a:solidFill>
              </a:rPr>
              <a:t> refers to the </a:t>
            </a:r>
            <a:r>
              <a:rPr lang="en-US" sz="2000" i="1" dirty="0">
                <a:solidFill>
                  <a:schemeClr val="tx1">
                    <a:lumMod val="75000"/>
                    <a:lumOff val="25000"/>
                  </a:schemeClr>
                </a:solidFill>
              </a:rPr>
              <a:t>response </a:t>
            </a:r>
            <a:r>
              <a:rPr lang="en-US" sz="2000" dirty="0">
                <a:solidFill>
                  <a:schemeClr val="tx1">
                    <a:lumMod val="75000"/>
                    <a:lumOff val="25000"/>
                  </a:schemeClr>
                </a:solidFill>
              </a:rPr>
              <a:t>variable(s) Y</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Sometimes the term “</a:t>
            </a:r>
            <a:r>
              <a:rPr lang="en-US" sz="2000" i="1" dirty="0">
                <a:solidFill>
                  <a:schemeClr val="tx1">
                    <a:lumMod val="75000"/>
                    <a:lumOff val="25000"/>
                  </a:schemeClr>
                </a:solidFill>
              </a:rPr>
              <a:t>multiple</a:t>
            </a:r>
            <a:r>
              <a:rPr lang="en-US" sz="2000" dirty="0">
                <a:solidFill>
                  <a:schemeClr val="tx1">
                    <a:lumMod val="75000"/>
                    <a:lumOff val="25000"/>
                  </a:schemeClr>
                </a:solidFill>
              </a:rPr>
              <a:t>” is used to denote &gt; 1 explanatory variables (X)</a:t>
            </a:r>
            <a:endParaRPr lang="el-GR" sz="2000" dirty="0">
              <a:solidFill>
                <a:schemeClr val="tx1">
                  <a:lumMod val="75000"/>
                  <a:lumOff val="25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403163828"/>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lumMod val="75000"/>
                            </a:schemeClr>
                          </a:solidFill>
                        </a:rPr>
                        <a:t>More thoughts</a:t>
                      </a:r>
                      <a:r>
                        <a:rPr lang="en-US" baseline="0" dirty="0">
                          <a:solidFill>
                            <a:schemeClr val="tx2">
                              <a:lumMod val="75000"/>
                            </a:schemeClr>
                          </a:solidFill>
                        </a:rPr>
                        <a:t> </a:t>
                      </a:r>
                      <a:r>
                        <a:rPr lang="en-US" dirty="0">
                          <a:solidFill>
                            <a:schemeClr val="tx2">
                              <a:lumMod val="75000"/>
                            </a:schemeClr>
                          </a:solidFill>
                        </a:rPr>
                        <a:t>on nomenclature</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8</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6" name="Group 61"/>
          <p:cNvGraphicFramePr>
            <a:graphicFrameLocks noGrp="1"/>
          </p:cNvGraphicFramePr>
          <p:nvPr>
            <p:extLst>
              <p:ext uri="{D42A27DB-BD31-4B8C-83A1-F6EECF244321}">
                <p14:modId xmlns:p14="http://schemas.microsoft.com/office/powerpoint/2010/main" val="268285439"/>
              </p:ext>
            </p:extLst>
          </p:nvPr>
        </p:nvGraphicFramePr>
        <p:xfrm>
          <a:off x="204788" y="2738120"/>
          <a:ext cx="8786812" cy="2824480"/>
        </p:xfrm>
        <a:graphic>
          <a:graphicData uri="http://schemas.openxmlformats.org/drawingml/2006/table">
            <a:tbl>
              <a:tblPr/>
              <a:tblGrid>
                <a:gridCol w="862012">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635000">
                <a:tc rowSpan="2"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rowSpan="2"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Explanatory variable(s) (X)</a:t>
                      </a:r>
                    </a:p>
                  </a:txBody>
                  <a:tcPr marL="45720" marR="4572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40000"/>
                        <a:lumOff val="60000"/>
                      </a:schemeClr>
                    </a:solid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5000">
                <a:tc gridSpan="2"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1 Categorical</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&gt;1 Categorical</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1 Continuous</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&gt;1 Continuous</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Both</a:t>
                      </a:r>
                    </a:p>
                  </a:txBody>
                  <a:tcPr marL="45720" marR="4572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1"/>
                  </a:ext>
                </a:extLst>
              </a:tr>
              <a:tr h="615950">
                <a:tc row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Response variable(s)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Y</a:t>
                      </a:r>
                    </a:p>
                  </a:txBody>
                  <a:tcPr marL="45720" marR="45720" vert="vert27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1 Continuous </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ANOVA</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Factorial ANOVA</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Regression</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lumMod val="75000"/>
                              <a:lumOff val="25000"/>
                            </a:schemeClr>
                          </a:solidFill>
                          <a:effectLst/>
                          <a:latin typeface="+mn-lt"/>
                        </a:rPr>
                        <a:t>Multiple Regression</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lumMod val="75000"/>
                              <a:lumOff val="25000"/>
                            </a:schemeClr>
                          </a:solidFill>
                          <a:effectLst/>
                          <a:latin typeface="+mn-lt"/>
                        </a:rPr>
                        <a:t>ANCOVA</a:t>
                      </a:r>
                    </a:p>
                  </a:txBody>
                  <a:tcPr marL="45720" marR="4572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5950">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&gt;1 Continuous </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MANOVA</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Factorial MANOVA</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Multivariate Regression</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Multivariate Multiple Regression</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MANCOVA</a:t>
                      </a:r>
                    </a:p>
                  </a:txBody>
                  <a:tcPr marL="45720" marR="4572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7248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304801" y="609600"/>
                <a:ext cx="8610599" cy="6093976"/>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sz="2000" i="1" smtClean="0">
                          <a:solidFill>
                            <a:schemeClr val="tx1">
                              <a:lumMod val="75000"/>
                              <a:lumOff val="25000"/>
                            </a:schemeClr>
                          </a:solidFill>
                          <a:latin typeface="Cambria Math"/>
                        </a:rPr>
                        <m:t>𝑌</m:t>
                      </m:r>
                      <m:r>
                        <a:rPr lang="en-US" sz="2000" i="1" smtClean="0">
                          <a:solidFill>
                            <a:schemeClr val="tx1">
                              <a:lumMod val="75000"/>
                              <a:lumOff val="25000"/>
                            </a:schemeClr>
                          </a:solidFill>
                          <a:latin typeface="Cambria Math"/>
                        </a:rPr>
                        <m:t>= </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0</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1</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1</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2</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2</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ea typeface="Cambria Math"/>
                            </a:rPr>
                            <m:t>𝑛</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𝑛</m:t>
                          </m:r>
                        </m:sub>
                      </m:sSub>
                      <m:r>
                        <a:rPr lang="en-US" sz="2000" i="1">
                          <a:solidFill>
                            <a:schemeClr val="tx1">
                              <a:lumMod val="75000"/>
                              <a:lumOff val="25000"/>
                            </a:schemeClr>
                          </a:solidFill>
                          <a:latin typeface="Cambria Math"/>
                        </a:rPr>
                        <m:t>+</m:t>
                      </m:r>
                      <m:r>
                        <a:rPr lang="en-US" sz="2000" i="1">
                          <a:solidFill>
                            <a:schemeClr val="tx1">
                              <a:lumMod val="75000"/>
                              <a:lumOff val="25000"/>
                            </a:schemeClr>
                          </a:solidFill>
                          <a:latin typeface="Cambria Math"/>
                          <a:ea typeface="Cambria Math"/>
                        </a:rPr>
                        <m:t>𝜀</m:t>
                      </m:r>
                    </m:oMath>
                  </m:oMathPara>
                </a14:m>
                <a:endParaRPr lang="en-US" sz="2000" dirty="0">
                  <a:solidFill>
                    <a:schemeClr val="tx1">
                      <a:lumMod val="75000"/>
                      <a:lumOff val="25000"/>
                    </a:schemeClr>
                  </a:solidFill>
                  <a:ea typeface="Cambria Math"/>
                </a:endParaRPr>
              </a:p>
              <a:p>
                <a:pPr>
                  <a:lnSpc>
                    <a:spcPct val="150000"/>
                  </a:lnSpc>
                </a:pPr>
                <a14:m>
                  <m:oMathPara xmlns:m="http://schemas.openxmlformats.org/officeDocument/2006/math">
                    <m:oMathParaPr>
                      <m:jc m:val="centerGroup"/>
                    </m:oMathParaPr>
                    <m:oMath xmlns:m="http://schemas.openxmlformats.org/officeDocument/2006/math">
                      <m:r>
                        <a:rPr lang="en-US" sz="2000" b="1">
                          <a:solidFill>
                            <a:schemeClr val="tx1">
                              <a:lumMod val="75000"/>
                              <a:lumOff val="25000"/>
                            </a:schemeClr>
                          </a:solidFill>
                          <a:latin typeface="Cambria Math"/>
                        </a:rPr>
                        <m:t>𝐘</m:t>
                      </m:r>
                      <m:r>
                        <a:rPr lang="en-US" sz="2000" b="1">
                          <a:solidFill>
                            <a:schemeClr val="tx1">
                              <a:lumMod val="75000"/>
                              <a:lumOff val="25000"/>
                            </a:schemeClr>
                          </a:solidFill>
                          <a:latin typeface="Cambria Math"/>
                        </a:rPr>
                        <m:t>= </m:t>
                      </m:r>
                      <m:r>
                        <a:rPr lang="en-US" sz="2000" b="1">
                          <a:solidFill>
                            <a:schemeClr val="tx1">
                              <a:lumMod val="75000"/>
                              <a:lumOff val="25000"/>
                            </a:schemeClr>
                          </a:solidFill>
                          <a:latin typeface="Cambria Math"/>
                          <a:ea typeface="Cambria Math"/>
                        </a:rPr>
                        <m:t>𝐗</m:t>
                      </m:r>
                      <m:r>
                        <a:rPr lang="en-US" sz="2000" b="1">
                          <a:solidFill>
                            <a:schemeClr val="tx1">
                              <a:lumMod val="75000"/>
                              <a:lumOff val="25000"/>
                            </a:schemeClr>
                          </a:solidFill>
                          <a:latin typeface="Cambria Math"/>
                          <a:ea typeface="Cambria Math"/>
                        </a:rPr>
                        <m:t>𝛃</m:t>
                      </m:r>
                      <m:r>
                        <a:rPr lang="en-US" sz="2000" b="1" i="1">
                          <a:solidFill>
                            <a:schemeClr val="tx1">
                              <a:lumMod val="75000"/>
                              <a:lumOff val="25000"/>
                            </a:schemeClr>
                          </a:solidFill>
                          <a:latin typeface="Cambria Math"/>
                          <a:ea typeface="Cambria Math"/>
                        </a:rPr>
                        <m:t>+</m:t>
                      </m:r>
                      <m:r>
                        <a:rPr lang="en-US" sz="2000" b="1">
                          <a:solidFill>
                            <a:schemeClr val="tx1">
                              <a:lumMod val="75000"/>
                              <a:lumOff val="25000"/>
                            </a:schemeClr>
                          </a:solidFill>
                          <a:latin typeface="Cambria Math"/>
                          <a:ea typeface="Cambria Math"/>
                        </a:rPr>
                        <m:t>𝐄</m:t>
                      </m:r>
                    </m:oMath>
                  </m:oMathPara>
                </a14:m>
                <a:endParaRPr lang="en-US" sz="2000" b="1" dirty="0">
                  <a:solidFill>
                    <a:schemeClr val="tx1">
                      <a:lumMod val="75000"/>
                      <a:lumOff val="25000"/>
                    </a:schemeClr>
                  </a:solidFill>
                </a:endParaRPr>
              </a:p>
              <a:p>
                <a:pPr marL="285750" indent="-285750">
                  <a:buFont typeface="Arial" panose="020B0604020202020204" pitchFamily="34" charset="0"/>
                  <a:buChar char="•"/>
                </a:pPr>
                <a:r>
                  <a:rPr lang="en-US" sz="2000" dirty="0">
                    <a:solidFill>
                      <a:schemeClr val="tx1">
                        <a:lumMod val="75000"/>
                        <a:lumOff val="25000"/>
                      </a:schemeClr>
                    </a:solidFill>
                  </a:rPr>
                  <a:t>They are </a:t>
                </a:r>
                <a:r>
                  <a:rPr lang="en-US" sz="2000" b="1" u="sng" dirty="0">
                    <a:solidFill>
                      <a:schemeClr val="tx1">
                        <a:lumMod val="75000"/>
                        <a:lumOff val="25000"/>
                      </a:schemeClr>
                    </a:solidFill>
                  </a:rPr>
                  <a:t>all the same model!</a:t>
                </a:r>
              </a:p>
              <a:p>
                <a:pPr marL="285750" indent="-285750">
                  <a:buFont typeface="Arial" panose="020B0604020202020204" pitchFamily="34" charset="0"/>
                  <a:buChar char="•"/>
                </a:pPr>
                <a:r>
                  <a:rPr lang="en-US" sz="2000" dirty="0">
                    <a:solidFill>
                      <a:schemeClr val="tx1">
                        <a:lumMod val="75000"/>
                        <a:lumOff val="25000"/>
                      </a:schemeClr>
                    </a:solidFill>
                  </a:rPr>
                  <a:t>Only difference: type of data in X</a:t>
                </a:r>
              </a:p>
              <a:p>
                <a:pPr marL="285750" indent="-285750">
                  <a:buFont typeface="Arial" panose="020B0604020202020204" pitchFamily="34" charset="0"/>
                  <a:buChar char="•"/>
                </a:pPr>
                <a:r>
                  <a:rPr lang="en-US" sz="2000" dirty="0">
                    <a:solidFill>
                      <a:schemeClr val="tx1">
                        <a:lumMod val="75000"/>
                        <a:lumOff val="25000"/>
                      </a:schemeClr>
                    </a:solidFill>
                  </a:rPr>
                  <a:t>Works the same for univariate and multivariate Y</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Dependent variable(s)</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Independent (predictor) variables(s)</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Solve for coefficients</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a:lnSpc>
                    <a:spcPct val="150000"/>
                  </a:lnSpc>
                </a:pPr>
                <a:r>
                  <a:rPr lang="en-US" sz="2000" dirty="0">
                    <a:solidFill>
                      <a:schemeClr val="tx1">
                        <a:lumMod val="75000"/>
                        <a:lumOff val="25000"/>
                      </a:schemeClr>
                    </a:solidFill>
                  </a:rPr>
                  <a:t>				      found as</a:t>
                </a:r>
                <a:endParaRPr lang="en-US" dirty="0">
                  <a:solidFill>
                    <a:schemeClr val="tx1">
                      <a:lumMod val="75000"/>
                      <a:lumOff val="25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04801" y="609600"/>
                <a:ext cx="8610599" cy="6093976"/>
              </a:xfrm>
              <a:prstGeom prst="rect">
                <a:avLst/>
              </a:prstGeom>
              <a:blipFill rotWithShape="0">
                <a:blip r:embed="rId3"/>
                <a:stretch>
                  <a:fillRect l="-637"/>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869096461"/>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General Linear Models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9</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2" name="TextBox 1"/>
              <p:cNvSpPr txBox="1"/>
              <p:nvPr/>
            </p:nvSpPr>
            <p:spPr>
              <a:xfrm>
                <a:off x="3200400" y="3142098"/>
                <a:ext cx="2468561" cy="10705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0" smtClean="0">
                          <a:solidFill>
                            <a:schemeClr val="tx1">
                              <a:lumMod val="75000"/>
                              <a:lumOff val="25000"/>
                            </a:schemeClr>
                          </a:solidFill>
                          <a:latin typeface="Cambria Math"/>
                        </a:rPr>
                        <m:t>𝐘</m:t>
                      </m:r>
                      <m:r>
                        <a:rPr lang="en-US" sz="2000" b="0" i="0" smtClean="0">
                          <a:solidFill>
                            <a:schemeClr val="tx1">
                              <a:lumMod val="75000"/>
                              <a:lumOff val="25000"/>
                            </a:schemeClr>
                          </a:solidFill>
                          <a:latin typeface="Cambria Math"/>
                        </a:rPr>
                        <m:t>= </m:t>
                      </m:r>
                      <m:d>
                        <m:dPr>
                          <m:begChr m:val="["/>
                          <m:endChr m:val="]"/>
                          <m:ctrlPr>
                            <a:rPr lang="en-US" sz="2000" b="0" i="1" smtClean="0">
                              <a:solidFill>
                                <a:schemeClr val="tx1">
                                  <a:lumMod val="75000"/>
                                  <a:lumOff val="25000"/>
                                </a:schemeClr>
                              </a:solidFill>
                              <a:latin typeface="Cambria Math" panose="02040503050406030204" pitchFamily="18" charset="0"/>
                            </a:rPr>
                          </m:ctrlPr>
                        </m:dPr>
                        <m:e>
                          <m:m>
                            <m:mPr>
                              <m:mcs>
                                <m:mc>
                                  <m:mcPr>
                                    <m:count m:val="3"/>
                                    <m:mcJc m:val="center"/>
                                  </m:mcPr>
                                </m:mc>
                              </m:mcs>
                              <m:ctrlPr>
                                <a:rPr lang="en-US" sz="2000" b="0" i="1" smtClean="0">
                                  <a:solidFill>
                                    <a:schemeClr val="tx1">
                                      <a:lumMod val="75000"/>
                                      <a:lumOff val="25000"/>
                                    </a:schemeClr>
                                  </a:solidFill>
                                  <a:latin typeface="Cambria Math" panose="02040503050406030204" pitchFamily="18" charset="0"/>
                                </a:rPr>
                              </m:ctrlPr>
                            </m:mPr>
                            <m:mr>
                              <m:e>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𝑌</m:t>
                                    </m:r>
                                  </m:e>
                                  <m:sub>
                                    <m:r>
                                      <a:rPr lang="en-US" sz="2000" b="0" i="1" smtClean="0">
                                        <a:solidFill>
                                          <a:schemeClr val="tx1">
                                            <a:lumMod val="75000"/>
                                            <a:lumOff val="25000"/>
                                          </a:schemeClr>
                                        </a:solidFill>
                                        <a:latin typeface="Cambria Math"/>
                                      </a:rPr>
                                      <m:t>11</m:t>
                                    </m:r>
                                  </m:sub>
                                </m:sSub>
                              </m:e>
                              <m:e>
                                <m:r>
                                  <a:rPr lang="en-US" sz="2000" b="0" i="1" smtClean="0">
                                    <a:solidFill>
                                      <a:schemeClr val="tx1">
                                        <a:lumMod val="75000"/>
                                        <a:lumOff val="25000"/>
                                      </a:schemeClr>
                                    </a:solidFill>
                                    <a:latin typeface="Cambria Math"/>
                                  </a:rPr>
                                  <m:t>⋯</m:t>
                                </m:r>
                              </m:e>
                              <m:e>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𝑌</m:t>
                                    </m:r>
                                  </m:e>
                                  <m:sub>
                                    <m:r>
                                      <a:rPr lang="en-US" sz="2000" i="1">
                                        <a:solidFill>
                                          <a:schemeClr val="tx1">
                                            <a:lumMod val="75000"/>
                                            <a:lumOff val="25000"/>
                                          </a:schemeClr>
                                        </a:solidFill>
                                        <a:latin typeface="Cambria Math"/>
                                      </a:rPr>
                                      <m:t>1</m:t>
                                    </m:r>
                                    <m:r>
                                      <a:rPr lang="en-US" sz="2000" b="0" i="1" smtClean="0">
                                        <a:solidFill>
                                          <a:schemeClr val="tx1">
                                            <a:lumMod val="75000"/>
                                            <a:lumOff val="25000"/>
                                          </a:schemeClr>
                                        </a:solidFill>
                                        <a:latin typeface="Cambria Math"/>
                                      </a:rPr>
                                      <m:t>𝑝</m:t>
                                    </m:r>
                                  </m:sub>
                                </m:sSub>
                              </m:e>
                            </m:mr>
                            <m:mr>
                              <m:e>
                                <m:r>
                                  <a:rPr lang="en-US" sz="2000" b="0" i="1" smtClean="0">
                                    <a:solidFill>
                                      <a:schemeClr val="tx1">
                                        <a:lumMod val="75000"/>
                                        <a:lumOff val="25000"/>
                                      </a:schemeClr>
                                    </a:solidFill>
                                    <a:latin typeface="Cambria Math"/>
                                  </a:rPr>
                                  <m:t>⋮</m:t>
                                </m:r>
                              </m:e>
                              <m:e/>
                              <m:e>
                                <m:r>
                                  <a:rPr lang="en-US" sz="2000" b="0" i="1" smtClean="0">
                                    <a:solidFill>
                                      <a:schemeClr val="tx1">
                                        <a:lumMod val="75000"/>
                                        <a:lumOff val="25000"/>
                                      </a:schemeClr>
                                    </a:solidFill>
                                    <a:latin typeface="Cambria Math"/>
                                  </a:rPr>
                                  <m:t>⋮</m:t>
                                </m:r>
                              </m:e>
                            </m:mr>
                            <m:mr>
                              <m:e>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𝑌</m:t>
                                    </m:r>
                                  </m:e>
                                  <m:sub>
                                    <m:r>
                                      <a:rPr lang="en-US" sz="2000" b="0" i="1" smtClean="0">
                                        <a:solidFill>
                                          <a:schemeClr val="tx1">
                                            <a:lumMod val="75000"/>
                                            <a:lumOff val="25000"/>
                                          </a:schemeClr>
                                        </a:solidFill>
                                        <a:latin typeface="Cambria Math"/>
                                      </a:rPr>
                                      <m:t>𝑛</m:t>
                                    </m:r>
                                    <m:r>
                                      <a:rPr lang="en-US" sz="2000" i="1">
                                        <a:solidFill>
                                          <a:schemeClr val="tx1">
                                            <a:lumMod val="75000"/>
                                            <a:lumOff val="25000"/>
                                          </a:schemeClr>
                                        </a:solidFill>
                                        <a:latin typeface="Cambria Math"/>
                                      </a:rPr>
                                      <m:t>1</m:t>
                                    </m:r>
                                  </m:sub>
                                </m:sSub>
                              </m:e>
                              <m:e>
                                <m:r>
                                  <a:rPr lang="en-US" sz="2000" b="0" i="1" smtClean="0">
                                    <a:solidFill>
                                      <a:schemeClr val="tx1">
                                        <a:lumMod val="75000"/>
                                        <a:lumOff val="25000"/>
                                      </a:schemeClr>
                                    </a:solidFill>
                                    <a:latin typeface="Cambria Math"/>
                                  </a:rPr>
                                  <m:t>⋯</m:t>
                                </m:r>
                              </m:e>
                              <m:e>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𝑌</m:t>
                                    </m:r>
                                  </m:e>
                                  <m:sub>
                                    <m:r>
                                      <a:rPr lang="en-US" sz="2000" b="0" i="1" smtClean="0">
                                        <a:solidFill>
                                          <a:schemeClr val="tx1">
                                            <a:lumMod val="75000"/>
                                            <a:lumOff val="25000"/>
                                          </a:schemeClr>
                                        </a:solidFill>
                                        <a:latin typeface="Cambria Math"/>
                                      </a:rPr>
                                      <m:t>𝑛𝑝</m:t>
                                    </m:r>
                                  </m:sub>
                                </m:sSub>
                              </m:e>
                            </m:mr>
                          </m:m>
                        </m:e>
                      </m:d>
                    </m:oMath>
                  </m:oMathPara>
                </a14:m>
                <a:endParaRPr lang="en-US" sz="2000" dirty="0">
                  <a:solidFill>
                    <a:schemeClr val="tx1">
                      <a:lumMod val="75000"/>
                      <a:lumOff val="25000"/>
                    </a:schemeClr>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3200400" y="3142098"/>
                <a:ext cx="2468561" cy="1070549"/>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651376" y="4038600"/>
                <a:ext cx="2941896" cy="10705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0" smtClean="0">
                          <a:solidFill>
                            <a:schemeClr val="tx1">
                              <a:lumMod val="75000"/>
                              <a:lumOff val="25000"/>
                            </a:schemeClr>
                          </a:solidFill>
                          <a:latin typeface="Cambria Math"/>
                        </a:rPr>
                        <m:t>𝐗</m:t>
                      </m:r>
                      <m:r>
                        <a:rPr lang="en-US" sz="2000" b="0" i="0" smtClean="0">
                          <a:solidFill>
                            <a:schemeClr val="tx1">
                              <a:lumMod val="75000"/>
                              <a:lumOff val="25000"/>
                            </a:schemeClr>
                          </a:solidFill>
                          <a:latin typeface="Cambria Math"/>
                        </a:rPr>
                        <m:t>= </m:t>
                      </m:r>
                      <m:d>
                        <m:dPr>
                          <m:begChr m:val="["/>
                          <m:endChr m:val="]"/>
                          <m:ctrlPr>
                            <a:rPr lang="en-US" sz="2000" b="0" i="1" smtClean="0">
                              <a:solidFill>
                                <a:schemeClr val="tx1">
                                  <a:lumMod val="75000"/>
                                  <a:lumOff val="25000"/>
                                </a:schemeClr>
                              </a:solidFill>
                              <a:latin typeface="Cambria Math" panose="02040503050406030204" pitchFamily="18" charset="0"/>
                            </a:rPr>
                          </m:ctrlPr>
                        </m:dPr>
                        <m:e>
                          <m:m>
                            <m:mPr>
                              <m:mcs>
                                <m:mc>
                                  <m:mcPr>
                                    <m:count m:val="4"/>
                                    <m:mcJc m:val="center"/>
                                  </m:mcPr>
                                </m:mc>
                              </m:mcs>
                              <m:ctrlPr>
                                <a:rPr lang="en-US" sz="2000" b="0" i="1" smtClean="0">
                                  <a:solidFill>
                                    <a:schemeClr val="tx1">
                                      <a:lumMod val="75000"/>
                                      <a:lumOff val="25000"/>
                                    </a:schemeClr>
                                  </a:solidFill>
                                  <a:latin typeface="Cambria Math" panose="02040503050406030204" pitchFamily="18" charset="0"/>
                                </a:rPr>
                              </m:ctrlPr>
                            </m:mPr>
                            <m:mr>
                              <m:e>
                                <m:r>
                                  <a:rPr lang="en-US" sz="2000" b="0" i="1" smtClean="0">
                                    <a:solidFill>
                                      <a:schemeClr val="tx1">
                                        <a:lumMod val="75000"/>
                                        <a:lumOff val="25000"/>
                                      </a:schemeClr>
                                    </a:solidFill>
                                    <a:latin typeface="Cambria Math"/>
                                  </a:rPr>
                                  <m:t>1</m:t>
                                </m:r>
                              </m:e>
                              <m:e>
                                <m:sSub>
                                  <m:sSubPr>
                                    <m:ctrlPr>
                                      <a:rPr lang="en-US" sz="2000" i="1">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11</m:t>
                                    </m:r>
                                  </m:sub>
                                </m:sSub>
                              </m:e>
                              <m:e>
                                <m:r>
                                  <a:rPr lang="en-US" sz="2000" b="0" i="1" smtClean="0">
                                    <a:solidFill>
                                      <a:schemeClr val="tx1">
                                        <a:lumMod val="75000"/>
                                        <a:lumOff val="25000"/>
                                      </a:schemeClr>
                                    </a:solidFill>
                                    <a:latin typeface="Cambria Math"/>
                                  </a:rPr>
                                  <m:t>⋯</m:t>
                                </m:r>
                              </m:e>
                              <m:e>
                                <m:sSub>
                                  <m:sSubPr>
                                    <m:ctrlPr>
                                      <a:rPr lang="en-US" sz="2000" i="1">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1</m:t>
                                    </m:r>
                                    <m:r>
                                      <a:rPr lang="en-US" sz="2000" b="0" i="1" smtClean="0">
                                        <a:solidFill>
                                          <a:schemeClr val="tx1">
                                            <a:lumMod val="75000"/>
                                            <a:lumOff val="25000"/>
                                          </a:schemeClr>
                                        </a:solidFill>
                                        <a:latin typeface="Cambria Math"/>
                                      </a:rPr>
                                      <m:t>𝑘</m:t>
                                    </m:r>
                                  </m:sub>
                                </m:sSub>
                              </m:e>
                            </m:mr>
                            <m:mr>
                              <m:e>
                                <m:r>
                                  <a:rPr lang="en-US" sz="2000" b="0" i="1" smtClean="0">
                                    <a:solidFill>
                                      <a:schemeClr val="tx1">
                                        <a:lumMod val="75000"/>
                                        <a:lumOff val="25000"/>
                                      </a:schemeClr>
                                    </a:solidFill>
                                    <a:latin typeface="Cambria Math"/>
                                  </a:rPr>
                                  <m:t>1</m:t>
                                </m:r>
                              </m:e>
                              <m:e>
                                <m:r>
                                  <a:rPr lang="en-US" sz="2000" b="0" i="1" smtClean="0">
                                    <a:solidFill>
                                      <a:schemeClr val="tx1">
                                        <a:lumMod val="75000"/>
                                        <a:lumOff val="25000"/>
                                      </a:schemeClr>
                                    </a:solidFill>
                                    <a:latin typeface="Cambria Math"/>
                                  </a:rPr>
                                  <m:t>⋮</m:t>
                                </m:r>
                              </m:e>
                              <m:e/>
                              <m:e>
                                <m:r>
                                  <a:rPr lang="en-US" sz="2000" b="0" i="1" smtClean="0">
                                    <a:solidFill>
                                      <a:schemeClr val="tx1">
                                        <a:lumMod val="75000"/>
                                        <a:lumOff val="25000"/>
                                      </a:schemeClr>
                                    </a:solidFill>
                                    <a:latin typeface="Cambria Math"/>
                                  </a:rPr>
                                  <m:t>⋮</m:t>
                                </m:r>
                              </m:e>
                            </m:mr>
                            <m:mr>
                              <m:e>
                                <m:r>
                                  <a:rPr lang="en-US" sz="2000" b="0" i="1" smtClean="0">
                                    <a:solidFill>
                                      <a:schemeClr val="tx1">
                                        <a:lumMod val="75000"/>
                                        <a:lumOff val="25000"/>
                                      </a:schemeClr>
                                    </a:solidFill>
                                    <a:latin typeface="Cambria Math"/>
                                  </a:rPr>
                                  <m:t>1</m:t>
                                </m:r>
                              </m:e>
                              <m:e>
                                <m:sSub>
                                  <m:sSubPr>
                                    <m:ctrlPr>
                                      <a:rPr lang="en-US" sz="200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𝑋</m:t>
                                    </m:r>
                                  </m:e>
                                  <m:sub>
                                    <m:r>
                                      <a:rPr lang="en-US" sz="2000" b="0" i="1" smtClean="0">
                                        <a:solidFill>
                                          <a:schemeClr val="tx1">
                                            <a:lumMod val="75000"/>
                                            <a:lumOff val="25000"/>
                                          </a:schemeClr>
                                        </a:solidFill>
                                        <a:latin typeface="Cambria Math"/>
                                      </a:rPr>
                                      <m:t>𝑛</m:t>
                                    </m:r>
                                    <m:r>
                                      <a:rPr lang="en-US" sz="2000" i="1">
                                        <a:solidFill>
                                          <a:schemeClr val="tx1">
                                            <a:lumMod val="75000"/>
                                            <a:lumOff val="25000"/>
                                          </a:schemeClr>
                                        </a:solidFill>
                                        <a:latin typeface="Cambria Math"/>
                                      </a:rPr>
                                      <m:t>1</m:t>
                                    </m:r>
                                  </m:sub>
                                </m:sSub>
                              </m:e>
                              <m:e>
                                <m:r>
                                  <a:rPr lang="en-US" sz="2000" b="0" i="1" smtClean="0">
                                    <a:solidFill>
                                      <a:schemeClr val="tx1">
                                        <a:lumMod val="75000"/>
                                        <a:lumOff val="25000"/>
                                      </a:schemeClr>
                                    </a:solidFill>
                                    <a:latin typeface="Cambria Math"/>
                                  </a:rPr>
                                  <m:t>⋯</m:t>
                                </m:r>
                              </m:e>
                              <m:e>
                                <m:sSub>
                                  <m:sSubPr>
                                    <m:ctrlPr>
                                      <a:rPr lang="en-US" sz="2000" i="1">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𝑋</m:t>
                                    </m:r>
                                  </m:e>
                                  <m:sub>
                                    <m:r>
                                      <a:rPr lang="en-US" sz="2000" b="0" i="1" smtClean="0">
                                        <a:solidFill>
                                          <a:schemeClr val="tx1">
                                            <a:lumMod val="75000"/>
                                            <a:lumOff val="25000"/>
                                          </a:schemeClr>
                                        </a:solidFill>
                                        <a:latin typeface="Cambria Math"/>
                                      </a:rPr>
                                      <m:t>𝑛𝑘</m:t>
                                    </m:r>
                                  </m:sub>
                                </m:sSub>
                              </m:e>
                            </m:mr>
                          </m:m>
                        </m:e>
                      </m:d>
                    </m:oMath>
                  </m:oMathPara>
                </a14:m>
                <a:endParaRPr lang="en-US" sz="2000" dirty="0">
                  <a:solidFill>
                    <a:schemeClr val="tx1">
                      <a:lumMod val="75000"/>
                      <a:lumOff val="25000"/>
                    </a:schemeClr>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651376" y="4038600"/>
                <a:ext cx="2941896" cy="1070549"/>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203331" y="4953000"/>
                <a:ext cx="1270604" cy="10705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0" smtClean="0">
                          <a:solidFill>
                            <a:schemeClr val="tx1">
                              <a:lumMod val="75000"/>
                              <a:lumOff val="25000"/>
                            </a:schemeClr>
                          </a:solidFill>
                          <a:latin typeface="Cambria Math"/>
                          <a:ea typeface="Cambria Math"/>
                        </a:rPr>
                        <m:t>𝛃</m:t>
                      </m:r>
                      <m:r>
                        <a:rPr lang="en-US" sz="2000" b="0" i="0" smtClean="0">
                          <a:solidFill>
                            <a:schemeClr val="tx1">
                              <a:lumMod val="75000"/>
                              <a:lumOff val="25000"/>
                            </a:schemeClr>
                          </a:solidFill>
                          <a:latin typeface="Cambria Math"/>
                        </a:rPr>
                        <m:t>= </m:t>
                      </m:r>
                      <m:d>
                        <m:dPr>
                          <m:begChr m:val="["/>
                          <m:endChr m:val="]"/>
                          <m:ctrlPr>
                            <a:rPr lang="en-US" sz="2000" b="0" i="1" smtClean="0">
                              <a:solidFill>
                                <a:schemeClr val="tx1">
                                  <a:lumMod val="75000"/>
                                  <a:lumOff val="25000"/>
                                </a:schemeClr>
                              </a:solidFill>
                              <a:latin typeface="Cambria Math" panose="02040503050406030204" pitchFamily="18" charset="0"/>
                            </a:rPr>
                          </m:ctrlPr>
                        </m:dPr>
                        <m:e>
                          <m:m>
                            <m:mPr>
                              <m:mcs>
                                <m:mc>
                                  <m:mcPr>
                                    <m:count m:val="1"/>
                                    <m:mcJc m:val="center"/>
                                  </m:mcPr>
                                </m:mc>
                              </m:mcs>
                              <m:ctrlPr>
                                <a:rPr lang="en-US" sz="2000" b="0" i="1" smtClean="0">
                                  <a:solidFill>
                                    <a:schemeClr val="tx1">
                                      <a:lumMod val="75000"/>
                                      <a:lumOff val="25000"/>
                                    </a:schemeClr>
                                  </a:solidFill>
                                  <a:latin typeface="Cambria Math" panose="02040503050406030204" pitchFamily="18" charset="0"/>
                                </a:rPr>
                              </m:ctrlPr>
                            </m:mPr>
                            <m:mr>
                              <m:e>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ea typeface="Cambria Math"/>
                                      </a:rPr>
                                      <m:t>𝛽</m:t>
                                    </m:r>
                                  </m:e>
                                  <m:sub>
                                    <m:r>
                                      <a:rPr lang="en-US" sz="2000" b="0" i="1" smtClean="0">
                                        <a:solidFill>
                                          <a:schemeClr val="tx1">
                                            <a:lumMod val="75000"/>
                                            <a:lumOff val="25000"/>
                                          </a:schemeClr>
                                        </a:solidFill>
                                        <a:latin typeface="Cambria Math"/>
                                      </a:rPr>
                                      <m:t>0</m:t>
                                    </m:r>
                                  </m:sub>
                                </m:sSub>
                              </m:e>
                            </m:mr>
                            <m:mr>
                              <m:e>
                                <m:r>
                                  <a:rPr lang="en-US" sz="2000" b="0" i="1" smtClean="0">
                                    <a:solidFill>
                                      <a:schemeClr val="tx1">
                                        <a:lumMod val="75000"/>
                                        <a:lumOff val="25000"/>
                                      </a:schemeClr>
                                    </a:solidFill>
                                    <a:latin typeface="Cambria Math"/>
                                  </a:rPr>
                                  <m:t>⋮</m:t>
                                </m:r>
                              </m:e>
                            </m:mr>
                            <m:mr>
                              <m:e>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ea typeface="Cambria Math"/>
                                      </a:rPr>
                                      <m:t>𝛽</m:t>
                                    </m:r>
                                  </m:e>
                                  <m:sub>
                                    <m:r>
                                      <a:rPr lang="en-US" sz="2000" b="0" i="1" smtClean="0">
                                        <a:solidFill>
                                          <a:schemeClr val="tx1">
                                            <a:lumMod val="75000"/>
                                            <a:lumOff val="25000"/>
                                          </a:schemeClr>
                                        </a:solidFill>
                                        <a:latin typeface="Cambria Math"/>
                                      </a:rPr>
                                      <m:t>𝑝</m:t>
                                    </m:r>
                                  </m:sub>
                                </m:sSub>
                              </m:e>
                            </m:mr>
                          </m:m>
                        </m:e>
                      </m:d>
                    </m:oMath>
                  </m:oMathPara>
                </a14:m>
                <a:endParaRPr lang="en-US" sz="2000" dirty="0">
                  <a:solidFill>
                    <a:schemeClr val="tx1">
                      <a:lumMod val="75000"/>
                      <a:lumOff val="25000"/>
                    </a:schemeClr>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203331" y="4953000"/>
                <a:ext cx="1270604" cy="1070549"/>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5257800" y="6199152"/>
                <a:ext cx="2180853" cy="4070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chemeClr val="tx1">
                              <a:lumMod val="75000"/>
                              <a:lumOff val="25000"/>
                            </a:schemeClr>
                          </a:solidFill>
                          <a:latin typeface="Cambria Math"/>
                          <a:ea typeface="Cambria Math"/>
                        </a:rPr>
                        <m:t>𝛃</m:t>
                      </m:r>
                      <m:r>
                        <a:rPr lang="en-US" sz="2000" b="1" i="1" smtClean="0">
                          <a:solidFill>
                            <a:schemeClr val="tx1">
                              <a:lumMod val="75000"/>
                              <a:lumOff val="25000"/>
                            </a:schemeClr>
                          </a:solidFill>
                          <a:latin typeface="Cambria Math"/>
                          <a:ea typeface="Cambria Math"/>
                        </a:rPr>
                        <m:t>= </m:t>
                      </m:r>
                      <m:sSup>
                        <m:sSupPr>
                          <m:ctrlPr>
                            <a:rPr lang="en-US" sz="2000" b="1" i="1" smtClean="0">
                              <a:solidFill>
                                <a:schemeClr val="tx1">
                                  <a:lumMod val="75000"/>
                                  <a:lumOff val="25000"/>
                                </a:schemeClr>
                              </a:solidFill>
                              <a:latin typeface="Cambria Math" panose="02040503050406030204" pitchFamily="18" charset="0"/>
                              <a:ea typeface="Cambria Math"/>
                            </a:rPr>
                          </m:ctrlPr>
                        </m:sSupPr>
                        <m:e>
                          <m:r>
                            <a:rPr lang="en-US" sz="2000" b="1" i="1" smtClean="0">
                              <a:solidFill>
                                <a:schemeClr val="tx1">
                                  <a:lumMod val="75000"/>
                                  <a:lumOff val="25000"/>
                                </a:schemeClr>
                              </a:solidFill>
                              <a:latin typeface="Cambria Math"/>
                              <a:ea typeface="Cambria Math"/>
                            </a:rPr>
                            <m:t>(</m:t>
                          </m:r>
                          <m:sSup>
                            <m:sSupPr>
                              <m:ctrlPr>
                                <a:rPr lang="en-US" sz="2000" b="1" i="1" smtClean="0">
                                  <a:solidFill>
                                    <a:schemeClr val="tx1">
                                      <a:lumMod val="75000"/>
                                      <a:lumOff val="25000"/>
                                    </a:schemeClr>
                                  </a:solidFill>
                                  <a:latin typeface="Cambria Math" panose="02040503050406030204" pitchFamily="18" charset="0"/>
                                  <a:ea typeface="Cambria Math"/>
                                </a:rPr>
                              </m:ctrlPr>
                            </m:sSupPr>
                            <m:e>
                              <m:r>
                                <a:rPr lang="en-US" sz="2000" b="1" i="0" smtClean="0">
                                  <a:solidFill>
                                    <a:schemeClr val="tx1">
                                      <a:lumMod val="75000"/>
                                      <a:lumOff val="25000"/>
                                    </a:schemeClr>
                                  </a:solidFill>
                                  <a:latin typeface="Cambria Math"/>
                                  <a:ea typeface="Cambria Math"/>
                                </a:rPr>
                                <m:t>𝐗</m:t>
                              </m:r>
                            </m:e>
                            <m:sup>
                              <m:r>
                                <a:rPr lang="en-US" sz="2000" b="1" i="0" smtClean="0">
                                  <a:solidFill>
                                    <a:schemeClr val="tx1">
                                      <a:lumMod val="75000"/>
                                      <a:lumOff val="25000"/>
                                    </a:schemeClr>
                                  </a:solidFill>
                                  <a:latin typeface="Cambria Math"/>
                                  <a:ea typeface="Cambria Math"/>
                                </a:rPr>
                                <m:t>𝐓</m:t>
                              </m:r>
                            </m:sup>
                          </m:sSup>
                          <m:r>
                            <a:rPr lang="en-US" sz="2000" b="1" i="0" smtClean="0">
                              <a:solidFill>
                                <a:schemeClr val="tx1">
                                  <a:lumMod val="75000"/>
                                  <a:lumOff val="25000"/>
                                </a:schemeClr>
                              </a:solidFill>
                              <a:latin typeface="Cambria Math"/>
                              <a:ea typeface="Cambria Math"/>
                            </a:rPr>
                            <m:t>𝐗</m:t>
                          </m:r>
                          <m:r>
                            <a:rPr lang="en-US" sz="2000" b="1" i="1" smtClean="0">
                              <a:solidFill>
                                <a:schemeClr val="tx1">
                                  <a:lumMod val="75000"/>
                                  <a:lumOff val="25000"/>
                                </a:schemeClr>
                              </a:solidFill>
                              <a:latin typeface="Cambria Math"/>
                              <a:ea typeface="Cambria Math"/>
                            </a:rPr>
                            <m:t>)</m:t>
                          </m:r>
                        </m:e>
                        <m:sup>
                          <m:r>
                            <a:rPr lang="en-US" sz="2000" b="1" i="1" smtClean="0">
                              <a:solidFill>
                                <a:schemeClr val="tx1">
                                  <a:lumMod val="75000"/>
                                  <a:lumOff val="25000"/>
                                </a:schemeClr>
                              </a:solidFill>
                              <a:latin typeface="Cambria Math"/>
                              <a:ea typeface="Cambria Math"/>
                            </a:rPr>
                            <m:t>−</m:t>
                          </m:r>
                          <m:r>
                            <a:rPr lang="en-US" sz="2000" b="1" i="1" smtClean="0">
                              <a:solidFill>
                                <a:schemeClr val="tx1">
                                  <a:lumMod val="75000"/>
                                  <a:lumOff val="25000"/>
                                </a:schemeClr>
                              </a:solidFill>
                              <a:latin typeface="Cambria Math"/>
                              <a:ea typeface="Cambria Math"/>
                            </a:rPr>
                            <m:t>𝟏</m:t>
                          </m:r>
                        </m:sup>
                      </m:sSup>
                      <m:sSup>
                        <m:sSupPr>
                          <m:ctrlPr>
                            <a:rPr lang="en-US" sz="2000" b="1" i="1">
                              <a:solidFill>
                                <a:schemeClr val="tx1">
                                  <a:lumMod val="75000"/>
                                  <a:lumOff val="25000"/>
                                </a:schemeClr>
                              </a:solidFill>
                              <a:latin typeface="Cambria Math" panose="02040503050406030204" pitchFamily="18" charset="0"/>
                              <a:ea typeface="Cambria Math"/>
                            </a:rPr>
                          </m:ctrlPr>
                        </m:sSupPr>
                        <m:e>
                          <m:r>
                            <a:rPr lang="en-US" sz="2000" b="1">
                              <a:solidFill>
                                <a:schemeClr val="tx1">
                                  <a:lumMod val="75000"/>
                                  <a:lumOff val="25000"/>
                                </a:schemeClr>
                              </a:solidFill>
                              <a:latin typeface="Cambria Math"/>
                              <a:ea typeface="Cambria Math"/>
                            </a:rPr>
                            <m:t>𝐗</m:t>
                          </m:r>
                        </m:e>
                        <m:sup>
                          <m:r>
                            <a:rPr lang="en-US" sz="2000" b="1">
                              <a:solidFill>
                                <a:schemeClr val="tx1">
                                  <a:lumMod val="75000"/>
                                  <a:lumOff val="25000"/>
                                </a:schemeClr>
                              </a:solidFill>
                              <a:latin typeface="Cambria Math"/>
                              <a:ea typeface="Cambria Math"/>
                            </a:rPr>
                            <m:t>𝐓</m:t>
                          </m:r>
                        </m:sup>
                      </m:sSup>
                      <m:r>
                        <a:rPr lang="en-US" sz="2000" b="1" i="0" smtClean="0">
                          <a:solidFill>
                            <a:schemeClr val="tx1">
                              <a:lumMod val="75000"/>
                              <a:lumOff val="25000"/>
                            </a:schemeClr>
                          </a:solidFill>
                          <a:latin typeface="Cambria Math"/>
                          <a:ea typeface="Cambria Math"/>
                        </a:rPr>
                        <m:t>𝐘</m:t>
                      </m:r>
                    </m:oMath>
                  </m:oMathPara>
                </a14:m>
                <a:endParaRPr lang="en-US" sz="2000" b="1" dirty="0">
                  <a:solidFill>
                    <a:schemeClr val="tx1">
                      <a:lumMod val="75000"/>
                      <a:lumOff val="25000"/>
                    </a:schemeClr>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5257800" y="6199152"/>
                <a:ext cx="2180853" cy="407099"/>
              </a:xfrm>
              <a:prstGeom prst="rect">
                <a:avLst/>
              </a:prstGeom>
              <a:blipFill rotWithShape="0">
                <a:blip r:embed="rId7"/>
                <a:stretch>
                  <a:fillRect t="-94030" b="-123881"/>
                </a:stretch>
              </a:blipFill>
            </p:spPr>
            <p:txBody>
              <a:bodyPr/>
              <a:lstStyle/>
              <a:p>
                <a:r>
                  <a:rPr lang="en-US">
                    <a:noFill/>
                  </a:rPr>
                  <a:t> </a:t>
                </a:r>
              </a:p>
            </p:txBody>
          </p:sp>
        </mc:Fallback>
      </mc:AlternateContent>
    </p:spTree>
    <p:extLst>
      <p:ext uri="{BB962C8B-B14F-4D97-AF65-F5344CB8AC3E}">
        <p14:creationId xmlns:p14="http://schemas.microsoft.com/office/powerpoint/2010/main" val="1935393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xEl>
                                              <p:pRg st="7" end="7"/>
                                            </p:txEl>
                                          </p:spTgt>
                                        </p:tgtEl>
                                        <p:attrNameLst>
                                          <p:attrName>style.visibility</p:attrName>
                                        </p:attrNameLst>
                                      </p:cBhvr>
                                      <p:to>
                                        <p:strVal val="visible"/>
                                      </p:to>
                                    </p:set>
                                    <p:animEffect transition="in" filter="fade">
                                      <p:cBhvr>
                                        <p:cTn id="24" dur="500"/>
                                        <p:tgtEl>
                                          <p:spTgt spid="5">
                                            <p:txEl>
                                              <p:pRg st="7" end="7"/>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fade">
                                      <p:cBhvr>
                                        <p:cTn id="32" dur="500"/>
                                        <p:tgtEl>
                                          <p:spTgt spid="5">
                                            <p:txEl>
                                              <p:pRg st="9" end="9"/>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xEl>
                                              <p:pRg st="11" end="11"/>
                                            </p:txEl>
                                          </p:spTgt>
                                        </p:tgtEl>
                                        <p:attrNameLst>
                                          <p:attrName>style.visibility</p:attrName>
                                        </p:attrNameLst>
                                      </p:cBhvr>
                                      <p:to>
                                        <p:strVal val="visible"/>
                                      </p:to>
                                    </p:set>
                                    <p:animEffect transition="in" filter="fade">
                                      <p:cBhvr>
                                        <p:cTn id="40" dur="500"/>
                                        <p:tgtEl>
                                          <p:spTgt spid="5">
                                            <p:txEl>
                                              <p:pRg st="11" end="11"/>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5">
                                            <p:txEl>
                                              <p:pRg st="13" end="13"/>
                                            </p:txEl>
                                          </p:spTgt>
                                        </p:tgtEl>
                                        <p:attrNameLst>
                                          <p:attrName>style.visibility</p:attrName>
                                        </p:attrNameLst>
                                      </p:cBhvr>
                                      <p:to>
                                        <p:strVal val="visible"/>
                                      </p:to>
                                    </p:set>
                                    <p:animEffect transition="in" filter="fade">
                                      <p:cBhvr>
                                        <p:cTn id="47" dur="500"/>
                                        <p:tgtEl>
                                          <p:spTgt spid="5">
                                            <p:txEl>
                                              <p:pRg st="13" end="13"/>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fade">
                                      <p:cBhvr>
                                        <p:cTn id="5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446396603"/>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Solving for </a:t>
                      </a:r>
                      <a:r>
                        <a:rPr lang="el-GR" dirty="0">
                          <a:solidFill>
                            <a:schemeClr val="tx2">
                              <a:lumMod val="75000"/>
                            </a:schemeClr>
                          </a:solidFill>
                        </a:rPr>
                        <a:t>β</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10</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3581400" y="685800"/>
                <a:ext cx="2582054" cy="470000"/>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chemeClr val="tx1">
                              <a:lumMod val="75000"/>
                              <a:lumOff val="25000"/>
                            </a:schemeClr>
                          </a:solidFill>
                          <a:latin typeface="Cambria Math"/>
                          <a:ea typeface="Cambria Math"/>
                        </a:rPr>
                        <m:t>𝛃</m:t>
                      </m:r>
                      <m:r>
                        <a:rPr lang="en-US" sz="2400" b="1" i="1" smtClean="0">
                          <a:solidFill>
                            <a:schemeClr val="tx1">
                              <a:lumMod val="75000"/>
                              <a:lumOff val="25000"/>
                            </a:schemeClr>
                          </a:solidFill>
                          <a:latin typeface="Cambria Math"/>
                          <a:ea typeface="Cambria Math"/>
                        </a:rPr>
                        <m:t>= </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1" smtClean="0">
                              <a:solidFill>
                                <a:schemeClr val="tx1">
                                  <a:lumMod val="75000"/>
                                  <a:lumOff val="25000"/>
                                </a:schemeClr>
                              </a:solidFill>
                              <a:latin typeface="Cambria Math"/>
                              <a:ea typeface="Cambria Math"/>
                            </a:rPr>
                            <m:t>(</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0" smtClean="0">
                                  <a:solidFill>
                                    <a:schemeClr val="tx1">
                                      <a:lumMod val="75000"/>
                                      <a:lumOff val="25000"/>
                                    </a:schemeClr>
                                  </a:solidFill>
                                  <a:latin typeface="Cambria Math"/>
                                  <a:ea typeface="Cambria Math"/>
                                </a:rPr>
                                <m:t>𝐗</m:t>
                              </m:r>
                            </m:e>
                            <m:sup>
                              <m:r>
                                <a:rPr lang="en-US" sz="2400" b="1" i="0" smtClean="0">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𝐗</m:t>
                          </m:r>
                          <m:r>
                            <a:rPr lang="en-US" sz="2400" b="1" i="1" smtClean="0">
                              <a:solidFill>
                                <a:schemeClr val="tx1">
                                  <a:lumMod val="75000"/>
                                  <a:lumOff val="25000"/>
                                </a:schemeClr>
                              </a:solidFill>
                              <a:latin typeface="Cambria Math"/>
                              <a:ea typeface="Cambria Math"/>
                            </a:rPr>
                            <m:t>)</m:t>
                          </m:r>
                        </m:e>
                        <m:sup>
                          <m:r>
                            <a:rPr lang="en-US" sz="2400" b="1" i="1" smtClean="0">
                              <a:solidFill>
                                <a:schemeClr val="tx1">
                                  <a:lumMod val="75000"/>
                                  <a:lumOff val="25000"/>
                                </a:schemeClr>
                              </a:solidFill>
                              <a:latin typeface="Cambria Math"/>
                              <a:ea typeface="Cambria Math"/>
                            </a:rPr>
                            <m:t>−</m:t>
                          </m:r>
                          <m:r>
                            <a:rPr lang="en-US" sz="2400" b="1" i="1" smtClean="0">
                              <a:solidFill>
                                <a:schemeClr val="tx1">
                                  <a:lumMod val="75000"/>
                                  <a:lumOff val="25000"/>
                                </a:schemeClr>
                              </a:solidFill>
                              <a:latin typeface="Cambria Math"/>
                              <a:ea typeface="Cambria Math"/>
                            </a:rPr>
                            <m:t>𝟏</m:t>
                          </m:r>
                        </m:sup>
                      </m:sSup>
                      <m:sSup>
                        <m:sSupPr>
                          <m:ctrlPr>
                            <a:rPr lang="en-US" sz="2400" b="1" i="1">
                              <a:solidFill>
                                <a:schemeClr val="tx1">
                                  <a:lumMod val="75000"/>
                                  <a:lumOff val="25000"/>
                                </a:schemeClr>
                              </a:solidFill>
                              <a:latin typeface="Cambria Math" panose="02040503050406030204" pitchFamily="18" charset="0"/>
                              <a:ea typeface="Cambria Math"/>
                            </a:rPr>
                          </m:ctrlPr>
                        </m:sSupPr>
                        <m:e>
                          <m:r>
                            <a:rPr lang="en-US" sz="2400" b="1">
                              <a:solidFill>
                                <a:schemeClr val="tx1">
                                  <a:lumMod val="75000"/>
                                  <a:lumOff val="25000"/>
                                </a:schemeClr>
                              </a:solidFill>
                              <a:latin typeface="Cambria Math"/>
                              <a:ea typeface="Cambria Math"/>
                            </a:rPr>
                            <m:t>𝐗</m:t>
                          </m:r>
                        </m:e>
                        <m:sup>
                          <m:r>
                            <a:rPr lang="en-US" sz="2400" b="1">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𝐘</m:t>
                      </m:r>
                    </m:oMath>
                  </m:oMathPara>
                </a14:m>
                <a:endParaRPr lang="en-US" sz="2400" b="1" dirty="0">
                  <a:solidFill>
                    <a:schemeClr val="tx1">
                      <a:lumMod val="75000"/>
                      <a:lumOff val="25000"/>
                    </a:schemeClr>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3581400" y="685800"/>
                <a:ext cx="2582054" cy="470000"/>
              </a:xfrm>
              <a:prstGeom prst="rect">
                <a:avLst/>
              </a:prstGeom>
              <a:blipFill rotWithShape="1">
                <a:blip r:embed="rId2"/>
                <a:stretch>
                  <a:fillRect/>
                </a:stretch>
              </a:blipFill>
              <a:effectLst>
                <a:outerShdw blurRad="50800" dist="38100" dir="18900000" algn="b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04800" y="1143000"/>
                <a:ext cx="8686799" cy="387798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How do we get to this?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Start here:	 </a:t>
                </a:r>
                <a14:m>
                  <m:oMath xmlns:m="http://schemas.openxmlformats.org/officeDocument/2006/math">
                    <m:r>
                      <a:rPr lang="en-US" sz="2400" b="1">
                        <a:solidFill>
                          <a:schemeClr val="tx1">
                            <a:lumMod val="75000"/>
                            <a:lumOff val="25000"/>
                          </a:schemeClr>
                        </a:solidFill>
                        <a:latin typeface="Cambria Math"/>
                      </a:rPr>
                      <m:t>𝐘</m:t>
                    </m:r>
                    <m:r>
                      <a:rPr lang="en-US" sz="2400" b="1">
                        <a:solidFill>
                          <a:schemeClr val="tx1">
                            <a:lumMod val="75000"/>
                            <a:lumOff val="25000"/>
                          </a:schemeClr>
                        </a:solidFill>
                        <a:latin typeface="Cambria Math"/>
                      </a:rPr>
                      <m:t>= </m:t>
                    </m:r>
                    <m:r>
                      <a:rPr lang="en-US" sz="2400" b="1">
                        <a:solidFill>
                          <a:schemeClr val="tx1">
                            <a:lumMod val="75000"/>
                            <a:lumOff val="25000"/>
                          </a:schemeClr>
                        </a:solidFill>
                        <a:latin typeface="Cambria Math"/>
                        <a:ea typeface="Cambria Math"/>
                      </a:rPr>
                      <m:t>𝐗</m:t>
                    </m:r>
                    <m:r>
                      <a:rPr lang="en-US" sz="2400" b="1">
                        <a:solidFill>
                          <a:schemeClr val="tx1">
                            <a:lumMod val="75000"/>
                            <a:lumOff val="25000"/>
                          </a:schemeClr>
                        </a:solidFill>
                        <a:latin typeface="Cambria Math"/>
                        <a:ea typeface="Cambria Math"/>
                      </a:rPr>
                      <m:t>𝛃</m:t>
                    </m:r>
                  </m:oMath>
                </a14:m>
                <a:endParaRPr lang="en-US" sz="2400" b="1" dirty="0">
                  <a:solidFill>
                    <a:schemeClr val="tx1">
                      <a:lumMod val="75000"/>
                      <a:lumOff val="25000"/>
                    </a:schemeClr>
                  </a:solidFill>
                </a:endParaRPr>
              </a:p>
              <a:p>
                <a:pPr marL="285750" indent="-285750">
                  <a:buFont typeface="Arial" panose="020B0604020202020204" pitchFamily="34" charset="0"/>
                  <a:buChar char="•"/>
                </a:pPr>
                <a:r>
                  <a:rPr lang="en-US" sz="2000" dirty="0">
                    <a:solidFill>
                      <a:schemeClr val="tx1">
                        <a:lumMod val="75000"/>
                        <a:lumOff val="25000"/>
                      </a:schemeClr>
                    </a:solidFill>
                  </a:rPr>
                  <a:t>Ideally, we want to “divide” by X. For matrices, this could be done by multiplying both sides with the inverse of X. However, X is not square-symmetric, so it cannot be inverted. So, we use this trick:  </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Now we can multiply with the inverse:</a:t>
                </a:r>
              </a:p>
            </p:txBody>
          </p:sp>
        </mc:Choice>
        <mc:Fallback xmlns="">
          <p:sp>
            <p:nvSpPr>
              <p:cNvPr id="11" name="TextBox 10"/>
              <p:cNvSpPr txBox="1">
                <a:spLocks noRot="1" noChangeAspect="1" noMove="1" noResize="1" noEditPoints="1" noAdjustHandles="1" noChangeArrowheads="1" noChangeShapeType="1" noTextEdit="1"/>
              </p:cNvSpPr>
              <p:nvPr/>
            </p:nvSpPr>
            <p:spPr>
              <a:xfrm>
                <a:off x="304800" y="1143000"/>
                <a:ext cx="8686799" cy="3877985"/>
              </a:xfrm>
              <a:prstGeom prst="rect">
                <a:avLst/>
              </a:prstGeom>
              <a:blipFill rotWithShape="1">
                <a:blip r:embed="rId3"/>
                <a:stretch>
                  <a:fillRect l="-561" b="-4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3581400" y="3124200"/>
                <a:ext cx="2014654" cy="4682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smtClean="0">
                              <a:solidFill>
                                <a:schemeClr val="tx1">
                                  <a:lumMod val="75000"/>
                                  <a:lumOff val="25000"/>
                                </a:schemeClr>
                              </a:solidFill>
                              <a:latin typeface="Cambria Math" panose="02040503050406030204" pitchFamily="18" charset="0"/>
                            </a:rPr>
                          </m:ctrlPr>
                        </m:sSupPr>
                        <m:e>
                          <m:r>
                            <a:rPr lang="en-US" sz="2400" b="1" i="0" smtClean="0">
                              <a:solidFill>
                                <a:schemeClr val="tx1">
                                  <a:lumMod val="75000"/>
                                  <a:lumOff val="25000"/>
                                </a:schemeClr>
                              </a:solidFill>
                              <a:latin typeface="Cambria Math"/>
                            </a:rPr>
                            <m:t>𝐗</m:t>
                          </m:r>
                        </m:e>
                        <m:sup>
                          <m:r>
                            <a:rPr lang="en-US" sz="2400" b="1" i="0" smtClean="0">
                              <a:solidFill>
                                <a:schemeClr val="tx1">
                                  <a:lumMod val="75000"/>
                                  <a:lumOff val="25000"/>
                                </a:schemeClr>
                              </a:solidFill>
                              <a:latin typeface="Cambria Math"/>
                            </a:rPr>
                            <m:t>𝐓</m:t>
                          </m:r>
                        </m:sup>
                      </m:sSup>
                      <m:r>
                        <a:rPr lang="en-US" sz="2400" b="1" i="0" smtClean="0">
                          <a:solidFill>
                            <a:schemeClr val="tx1">
                              <a:lumMod val="75000"/>
                              <a:lumOff val="25000"/>
                            </a:schemeClr>
                          </a:solidFill>
                          <a:latin typeface="Cambria Math"/>
                        </a:rPr>
                        <m:t>𝐘</m:t>
                      </m:r>
                      <m:r>
                        <a:rPr lang="en-US" sz="2400" b="1" i="0" smtClean="0">
                          <a:solidFill>
                            <a:schemeClr val="tx1">
                              <a:lumMod val="75000"/>
                              <a:lumOff val="25000"/>
                            </a:schemeClr>
                          </a:solidFill>
                          <a:latin typeface="Cambria Math"/>
                        </a:rPr>
                        <m:t>= </m:t>
                      </m:r>
                      <m:sSup>
                        <m:sSupPr>
                          <m:ctrlPr>
                            <a:rPr lang="en-US" sz="2400" b="1" i="1" smtClean="0">
                              <a:solidFill>
                                <a:schemeClr val="tx1">
                                  <a:lumMod val="75000"/>
                                  <a:lumOff val="25000"/>
                                </a:schemeClr>
                              </a:solidFill>
                              <a:latin typeface="Cambria Math" panose="02040503050406030204" pitchFamily="18" charset="0"/>
                            </a:rPr>
                          </m:ctrlPr>
                        </m:sSupPr>
                        <m:e>
                          <m:r>
                            <a:rPr lang="en-US" sz="2400" b="1" i="0" smtClean="0">
                              <a:solidFill>
                                <a:schemeClr val="tx1">
                                  <a:lumMod val="75000"/>
                                  <a:lumOff val="25000"/>
                                </a:schemeClr>
                              </a:solidFill>
                              <a:latin typeface="Cambria Math"/>
                            </a:rPr>
                            <m:t>𝐗</m:t>
                          </m:r>
                        </m:e>
                        <m:sup>
                          <m:r>
                            <a:rPr lang="en-US" sz="2400" b="1" i="0" smtClean="0">
                              <a:solidFill>
                                <a:schemeClr val="tx1">
                                  <a:lumMod val="75000"/>
                                  <a:lumOff val="25000"/>
                                </a:schemeClr>
                              </a:solidFill>
                              <a:latin typeface="Cambria Math"/>
                            </a:rPr>
                            <m:t>𝐓</m:t>
                          </m:r>
                        </m:sup>
                      </m:sSup>
                      <m:r>
                        <a:rPr lang="en-US" sz="2400" b="1" i="0" smtClean="0">
                          <a:solidFill>
                            <a:schemeClr val="tx1">
                              <a:lumMod val="75000"/>
                              <a:lumOff val="25000"/>
                            </a:schemeClr>
                          </a:solidFill>
                          <a:latin typeface="Cambria Math"/>
                        </a:rPr>
                        <m:t>𝐗</m:t>
                      </m:r>
                      <m:r>
                        <a:rPr lang="en-US" sz="2400" b="1" i="0" smtClean="0">
                          <a:solidFill>
                            <a:schemeClr val="tx1">
                              <a:lumMod val="75000"/>
                              <a:lumOff val="25000"/>
                            </a:schemeClr>
                          </a:solidFill>
                          <a:latin typeface="Cambria Math"/>
                          <a:ea typeface="Cambria Math"/>
                        </a:rPr>
                        <m:t>𝛃</m:t>
                      </m:r>
                    </m:oMath>
                  </m:oMathPara>
                </a14:m>
                <a:endParaRPr lang="en-US" sz="2000" b="1" dirty="0"/>
              </a:p>
            </p:txBody>
          </p:sp>
        </mc:Choice>
        <mc:Fallback xmlns="">
          <p:sp>
            <p:nvSpPr>
              <p:cNvPr id="2" name="TextBox 1"/>
              <p:cNvSpPr txBox="1">
                <a:spLocks noRot="1" noChangeAspect="1" noMove="1" noResize="1" noEditPoints="1" noAdjustHandles="1" noChangeArrowheads="1" noChangeShapeType="1" noTextEdit="1"/>
              </p:cNvSpPr>
              <p:nvPr/>
            </p:nvSpPr>
            <p:spPr>
              <a:xfrm>
                <a:off x="3581400" y="3124200"/>
                <a:ext cx="2014654" cy="468205"/>
              </a:xfrm>
              <a:prstGeom prst="rect">
                <a:avLst/>
              </a:prstGeom>
              <a:blipFill rotWithShape="1">
                <a:blip r:embed="rId4"/>
                <a:stretch>
                  <a:fillRect r="-606" b="-17105"/>
                </a:stretch>
              </a:blipFill>
            </p:spPr>
            <p:txBody>
              <a:bodyPr/>
              <a:lstStyle/>
              <a:p>
                <a:r>
                  <a:rPr lang="en-US">
                    <a:noFill/>
                  </a:rPr>
                  <a:t> </a:t>
                </a:r>
              </a:p>
            </p:txBody>
          </p:sp>
        </mc:Fallback>
      </mc:AlternateContent>
      <p:sp>
        <p:nvSpPr>
          <p:cNvPr id="5" name="TextBox 4"/>
          <p:cNvSpPr txBox="1"/>
          <p:nvPr/>
        </p:nvSpPr>
        <p:spPr>
          <a:xfrm>
            <a:off x="3587836" y="3445261"/>
            <a:ext cx="450764" cy="307777"/>
          </a:xfrm>
          <a:prstGeom prst="rect">
            <a:avLst/>
          </a:prstGeom>
          <a:noFill/>
        </p:spPr>
        <p:txBody>
          <a:bodyPr wrap="none" rtlCol="0">
            <a:spAutoFit/>
          </a:bodyPr>
          <a:lstStyle/>
          <a:p>
            <a:r>
              <a:rPr lang="en-US" sz="1400" dirty="0" err="1">
                <a:solidFill>
                  <a:schemeClr val="tx1">
                    <a:lumMod val="75000"/>
                    <a:lumOff val="25000"/>
                  </a:schemeClr>
                </a:solidFill>
              </a:rPr>
              <a:t>k×n</a:t>
            </a:r>
            <a:endParaRPr lang="en-US" sz="1400" dirty="0">
              <a:solidFill>
                <a:schemeClr val="tx1">
                  <a:lumMod val="75000"/>
                  <a:lumOff val="25000"/>
                </a:schemeClr>
              </a:solidFill>
            </a:endParaRPr>
          </a:p>
        </p:txBody>
      </p:sp>
      <p:sp>
        <p:nvSpPr>
          <p:cNvPr id="7" name="TextBox 6"/>
          <p:cNvSpPr txBox="1"/>
          <p:nvPr/>
        </p:nvSpPr>
        <p:spPr>
          <a:xfrm>
            <a:off x="3875314" y="3445261"/>
            <a:ext cx="463588" cy="307777"/>
          </a:xfrm>
          <a:prstGeom prst="rect">
            <a:avLst/>
          </a:prstGeom>
          <a:noFill/>
        </p:spPr>
        <p:txBody>
          <a:bodyPr wrap="none" rtlCol="0">
            <a:spAutoFit/>
          </a:bodyPr>
          <a:lstStyle/>
          <a:p>
            <a:r>
              <a:rPr lang="en-US" sz="1400" dirty="0" err="1">
                <a:solidFill>
                  <a:schemeClr val="tx1">
                    <a:lumMod val="75000"/>
                    <a:lumOff val="25000"/>
                  </a:schemeClr>
                </a:solidFill>
              </a:rPr>
              <a:t>n×p</a:t>
            </a:r>
            <a:endParaRPr lang="en-US" sz="1400" dirty="0">
              <a:solidFill>
                <a:schemeClr val="tx1">
                  <a:lumMod val="75000"/>
                  <a:lumOff val="25000"/>
                </a:schemeClr>
              </a:solidFill>
            </a:endParaRPr>
          </a:p>
        </p:txBody>
      </p:sp>
      <p:grpSp>
        <p:nvGrpSpPr>
          <p:cNvPr id="19" name="Group 18"/>
          <p:cNvGrpSpPr/>
          <p:nvPr/>
        </p:nvGrpSpPr>
        <p:grpSpPr>
          <a:xfrm>
            <a:off x="4953001" y="3515508"/>
            <a:ext cx="3541347" cy="747465"/>
            <a:chOff x="4953001" y="3591708"/>
            <a:chExt cx="3541347" cy="747465"/>
          </a:xfrm>
        </p:grpSpPr>
        <p:sp>
          <p:nvSpPr>
            <p:cNvPr id="8" name="TextBox 7"/>
            <p:cNvSpPr txBox="1"/>
            <p:nvPr/>
          </p:nvSpPr>
          <p:spPr>
            <a:xfrm>
              <a:off x="5471020" y="3815953"/>
              <a:ext cx="3023328" cy="523220"/>
            </a:xfrm>
            <a:prstGeom prst="rect">
              <a:avLst/>
            </a:prstGeom>
            <a:solidFill>
              <a:schemeClr val="accent1">
                <a:lumMod val="20000"/>
                <a:lumOff val="80000"/>
              </a:schemeClr>
            </a:solidFill>
          </p:spPr>
          <p:txBody>
            <a:bodyPr wrap="none" rtlCol="0">
              <a:spAutoFit/>
            </a:bodyPr>
            <a:lstStyle/>
            <a:p>
              <a:r>
                <a:rPr lang="en-US" sz="1400" dirty="0">
                  <a:solidFill>
                    <a:schemeClr val="tx1">
                      <a:lumMod val="75000"/>
                      <a:lumOff val="25000"/>
                    </a:schemeClr>
                  </a:solidFill>
                </a:rPr>
                <a:t>(</a:t>
              </a:r>
              <a:r>
                <a:rPr lang="en-US" sz="1400" dirty="0" err="1">
                  <a:solidFill>
                    <a:schemeClr val="tx1">
                      <a:lumMod val="75000"/>
                      <a:lumOff val="25000"/>
                    </a:schemeClr>
                  </a:solidFill>
                </a:rPr>
                <a:t>k×n</a:t>
              </a:r>
              <a:r>
                <a:rPr lang="en-US" sz="1400" dirty="0">
                  <a:solidFill>
                    <a:schemeClr val="tx1">
                      <a:lumMod val="75000"/>
                      <a:lumOff val="25000"/>
                    </a:schemeClr>
                  </a:solidFill>
                </a:rPr>
                <a:t>)·(</a:t>
              </a:r>
              <a:r>
                <a:rPr lang="en-US" sz="1400" dirty="0" err="1">
                  <a:solidFill>
                    <a:schemeClr val="tx1">
                      <a:lumMod val="75000"/>
                      <a:lumOff val="25000"/>
                    </a:schemeClr>
                  </a:solidFill>
                </a:rPr>
                <a:t>n×k</a:t>
              </a:r>
              <a:r>
                <a:rPr lang="en-US" sz="1400" dirty="0">
                  <a:solidFill>
                    <a:schemeClr val="tx1">
                      <a:lumMod val="75000"/>
                      <a:lumOff val="25000"/>
                    </a:schemeClr>
                  </a:solidFill>
                </a:rPr>
                <a:t>) → </a:t>
              </a:r>
              <a:r>
                <a:rPr lang="en-US" sz="1400" dirty="0" err="1">
                  <a:solidFill>
                    <a:schemeClr val="tx1">
                      <a:lumMod val="75000"/>
                      <a:lumOff val="25000"/>
                    </a:schemeClr>
                  </a:solidFill>
                </a:rPr>
                <a:t>k×k</a:t>
              </a:r>
              <a:endParaRPr lang="en-US" sz="1400" dirty="0">
                <a:solidFill>
                  <a:schemeClr val="tx1">
                    <a:lumMod val="75000"/>
                    <a:lumOff val="25000"/>
                  </a:schemeClr>
                </a:solidFill>
              </a:endParaRPr>
            </a:p>
            <a:p>
              <a:r>
                <a:rPr lang="en-US" sz="1400" dirty="0">
                  <a:solidFill>
                    <a:schemeClr val="tx1">
                      <a:lumMod val="75000"/>
                      <a:lumOff val="25000"/>
                    </a:schemeClr>
                  </a:solidFill>
                </a:rPr>
                <a:t>Square-symmetric → can be inverted ;)</a:t>
              </a:r>
            </a:p>
          </p:txBody>
        </p:sp>
        <p:cxnSp>
          <p:nvCxnSpPr>
            <p:cNvPr id="10" name="Straight Arrow Connector 9"/>
            <p:cNvCxnSpPr/>
            <p:nvPr/>
          </p:nvCxnSpPr>
          <p:spPr>
            <a:xfrm flipH="1" flipV="1">
              <a:off x="4953001" y="3591708"/>
              <a:ext cx="518019" cy="23753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 name="TextBox 13"/>
              <p:cNvSpPr txBox="1"/>
              <p:nvPr/>
            </p:nvSpPr>
            <p:spPr>
              <a:xfrm>
                <a:off x="2553330" y="5042077"/>
                <a:ext cx="4189737" cy="470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smtClean="0">
                              <a:solidFill>
                                <a:schemeClr val="tx1">
                                  <a:lumMod val="75000"/>
                                  <a:lumOff val="25000"/>
                                </a:schemeClr>
                              </a:solidFill>
                              <a:latin typeface="Cambria Math" panose="02040503050406030204" pitchFamily="18" charset="0"/>
                            </a:rPr>
                          </m:ctrlPr>
                        </m:sSupPr>
                        <m:e>
                          <m:sSup>
                            <m:sSupPr>
                              <m:ctrlPr>
                                <a:rPr lang="en-US" sz="2400" b="1" i="1" smtClean="0">
                                  <a:solidFill>
                                    <a:schemeClr val="tx1">
                                      <a:lumMod val="75000"/>
                                      <a:lumOff val="25000"/>
                                    </a:schemeClr>
                                  </a:solidFill>
                                  <a:latin typeface="Cambria Math" panose="02040503050406030204" pitchFamily="18" charset="0"/>
                                </a:rPr>
                              </m:ctrlPr>
                            </m:sSupPr>
                            <m:e>
                              <m:r>
                                <a:rPr lang="en-US" sz="2400" b="1" i="1" smtClean="0">
                                  <a:solidFill>
                                    <a:schemeClr val="tx1">
                                      <a:lumMod val="75000"/>
                                      <a:lumOff val="25000"/>
                                    </a:schemeClr>
                                  </a:solidFill>
                                  <a:latin typeface="Cambria Math"/>
                                </a:rPr>
                                <m:t>(</m:t>
                              </m:r>
                              <m:sSup>
                                <m:sSupPr>
                                  <m:ctrlPr>
                                    <a:rPr lang="en-US" sz="2400" b="1" i="1" smtClean="0">
                                      <a:solidFill>
                                        <a:schemeClr val="tx1">
                                          <a:lumMod val="75000"/>
                                          <a:lumOff val="25000"/>
                                        </a:schemeClr>
                                      </a:solidFill>
                                      <a:latin typeface="Cambria Math" panose="02040503050406030204" pitchFamily="18" charset="0"/>
                                    </a:rPr>
                                  </m:ctrlPr>
                                </m:sSupPr>
                                <m:e>
                                  <m:r>
                                    <a:rPr lang="en-US" sz="2400" b="1" i="0" smtClean="0">
                                      <a:solidFill>
                                        <a:schemeClr val="tx1">
                                          <a:lumMod val="75000"/>
                                          <a:lumOff val="25000"/>
                                        </a:schemeClr>
                                      </a:solidFill>
                                      <a:latin typeface="Cambria Math"/>
                                    </a:rPr>
                                    <m:t>𝐗</m:t>
                                  </m:r>
                                </m:e>
                                <m:sup>
                                  <m:r>
                                    <a:rPr lang="en-US" sz="2400" b="1" i="0" smtClean="0">
                                      <a:solidFill>
                                        <a:schemeClr val="tx1">
                                          <a:lumMod val="75000"/>
                                          <a:lumOff val="25000"/>
                                        </a:schemeClr>
                                      </a:solidFill>
                                      <a:latin typeface="Cambria Math"/>
                                    </a:rPr>
                                    <m:t>𝐓</m:t>
                                  </m:r>
                                </m:sup>
                              </m:sSup>
                              <m:r>
                                <a:rPr lang="en-US" sz="2400" b="1" i="0" smtClean="0">
                                  <a:solidFill>
                                    <a:schemeClr val="tx1">
                                      <a:lumMod val="75000"/>
                                      <a:lumOff val="25000"/>
                                    </a:schemeClr>
                                  </a:solidFill>
                                  <a:latin typeface="Cambria Math"/>
                                </a:rPr>
                                <m:t>𝐗</m:t>
                              </m:r>
                              <m:r>
                                <a:rPr lang="en-US" sz="2400" b="1" i="1" smtClean="0">
                                  <a:solidFill>
                                    <a:schemeClr val="tx1">
                                      <a:lumMod val="75000"/>
                                      <a:lumOff val="25000"/>
                                    </a:schemeClr>
                                  </a:solidFill>
                                  <a:latin typeface="Cambria Math"/>
                                </a:rPr>
                                <m:t>)</m:t>
                              </m:r>
                            </m:e>
                            <m:sup>
                              <m:r>
                                <a:rPr lang="en-US" sz="2400" b="1" i="1" smtClean="0">
                                  <a:solidFill>
                                    <a:schemeClr val="tx1">
                                      <a:lumMod val="75000"/>
                                      <a:lumOff val="25000"/>
                                    </a:schemeClr>
                                  </a:solidFill>
                                  <a:latin typeface="Cambria Math"/>
                                </a:rPr>
                                <m:t>−</m:t>
                              </m:r>
                              <m:r>
                                <a:rPr lang="en-US" sz="2400" b="1" i="1" smtClean="0">
                                  <a:solidFill>
                                    <a:schemeClr val="tx1">
                                      <a:lumMod val="75000"/>
                                      <a:lumOff val="25000"/>
                                    </a:schemeClr>
                                  </a:solidFill>
                                  <a:latin typeface="Cambria Math"/>
                                </a:rPr>
                                <m:t>𝟏</m:t>
                              </m:r>
                            </m:sup>
                          </m:sSup>
                          <m:r>
                            <a:rPr lang="en-US" sz="2400" b="1" i="0" smtClean="0">
                              <a:solidFill>
                                <a:schemeClr val="tx1">
                                  <a:lumMod val="75000"/>
                                  <a:lumOff val="25000"/>
                                </a:schemeClr>
                              </a:solidFill>
                              <a:latin typeface="Cambria Math"/>
                            </a:rPr>
                            <m:t>𝐗</m:t>
                          </m:r>
                        </m:e>
                        <m:sup>
                          <m:r>
                            <a:rPr lang="en-US" sz="2400" b="1" i="0" smtClean="0">
                              <a:solidFill>
                                <a:schemeClr val="tx1">
                                  <a:lumMod val="75000"/>
                                  <a:lumOff val="25000"/>
                                </a:schemeClr>
                              </a:solidFill>
                              <a:latin typeface="Cambria Math"/>
                            </a:rPr>
                            <m:t>𝐓</m:t>
                          </m:r>
                        </m:sup>
                      </m:sSup>
                      <m:r>
                        <a:rPr lang="en-US" sz="2400" b="1" i="0" smtClean="0">
                          <a:solidFill>
                            <a:schemeClr val="tx1">
                              <a:lumMod val="75000"/>
                              <a:lumOff val="25000"/>
                            </a:schemeClr>
                          </a:solidFill>
                          <a:latin typeface="Cambria Math"/>
                        </a:rPr>
                        <m:t>𝐘</m:t>
                      </m:r>
                      <m:r>
                        <a:rPr lang="en-US" sz="2400" b="1" i="0" smtClean="0">
                          <a:solidFill>
                            <a:schemeClr val="tx1">
                              <a:lumMod val="75000"/>
                              <a:lumOff val="25000"/>
                            </a:schemeClr>
                          </a:solidFill>
                          <a:latin typeface="Cambria Math"/>
                        </a:rPr>
                        <m:t>=</m:t>
                      </m:r>
                      <m:sSup>
                        <m:sSupPr>
                          <m:ctrlPr>
                            <a:rPr lang="en-US" sz="2400" b="1" i="1">
                              <a:solidFill>
                                <a:schemeClr val="tx1">
                                  <a:lumMod val="75000"/>
                                  <a:lumOff val="25000"/>
                                </a:schemeClr>
                              </a:solidFill>
                              <a:latin typeface="Cambria Math" panose="02040503050406030204" pitchFamily="18" charset="0"/>
                            </a:rPr>
                          </m:ctrlPr>
                        </m:sSupPr>
                        <m:e>
                          <m:r>
                            <a:rPr lang="en-US" sz="2400" b="1" i="1">
                              <a:solidFill>
                                <a:schemeClr val="tx1">
                                  <a:lumMod val="75000"/>
                                  <a:lumOff val="25000"/>
                                </a:schemeClr>
                              </a:solidFill>
                              <a:latin typeface="Cambria Math"/>
                            </a:rPr>
                            <m:t>(</m:t>
                          </m:r>
                          <m:sSup>
                            <m:sSupPr>
                              <m:ctrlPr>
                                <a:rPr lang="en-US" sz="2400" b="1" i="1">
                                  <a:solidFill>
                                    <a:schemeClr val="tx1">
                                      <a:lumMod val="75000"/>
                                      <a:lumOff val="25000"/>
                                    </a:schemeClr>
                                  </a:solidFill>
                                  <a:latin typeface="Cambria Math" panose="02040503050406030204" pitchFamily="18" charset="0"/>
                                </a:rPr>
                              </m:ctrlPr>
                            </m:sSupPr>
                            <m:e>
                              <m:r>
                                <a:rPr lang="en-US" sz="2400" b="1">
                                  <a:solidFill>
                                    <a:schemeClr val="tx1">
                                      <a:lumMod val="75000"/>
                                      <a:lumOff val="25000"/>
                                    </a:schemeClr>
                                  </a:solidFill>
                                  <a:latin typeface="Cambria Math"/>
                                </a:rPr>
                                <m:t>𝐗</m:t>
                              </m:r>
                            </m:e>
                            <m:sup>
                              <m:r>
                                <a:rPr lang="en-US" sz="2400" b="1">
                                  <a:solidFill>
                                    <a:schemeClr val="tx1">
                                      <a:lumMod val="75000"/>
                                      <a:lumOff val="25000"/>
                                    </a:schemeClr>
                                  </a:solidFill>
                                  <a:latin typeface="Cambria Math"/>
                                </a:rPr>
                                <m:t>𝐓</m:t>
                              </m:r>
                            </m:sup>
                          </m:sSup>
                          <m:r>
                            <a:rPr lang="en-US" sz="2400" b="1">
                              <a:solidFill>
                                <a:schemeClr val="tx1">
                                  <a:lumMod val="75000"/>
                                  <a:lumOff val="25000"/>
                                </a:schemeClr>
                              </a:solidFill>
                              <a:latin typeface="Cambria Math"/>
                            </a:rPr>
                            <m:t>𝐗</m:t>
                          </m:r>
                          <m:r>
                            <a:rPr lang="en-US" sz="2400" b="1" i="1">
                              <a:solidFill>
                                <a:schemeClr val="tx1">
                                  <a:lumMod val="75000"/>
                                  <a:lumOff val="25000"/>
                                </a:schemeClr>
                              </a:solidFill>
                              <a:latin typeface="Cambria Math"/>
                            </a:rPr>
                            <m:t>)</m:t>
                          </m:r>
                        </m:e>
                        <m:sup>
                          <m:r>
                            <a:rPr lang="en-US" sz="2400" b="1" i="1">
                              <a:solidFill>
                                <a:schemeClr val="tx1">
                                  <a:lumMod val="75000"/>
                                  <a:lumOff val="25000"/>
                                </a:schemeClr>
                              </a:solidFill>
                              <a:latin typeface="Cambria Math"/>
                            </a:rPr>
                            <m:t>−</m:t>
                          </m:r>
                          <m:r>
                            <a:rPr lang="en-US" sz="2400" b="1" i="1">
                              <a:solidFill>
                                <a:schemeClr val="tx1">
                                  <a:lumMod val="75000"/>
                                  <a:lumOff val="25000"/>
                                </a:schemeClr>
                              </a:solidFill>
                              <a:latin typeface="Cambria Math"/>
                            </a:rPr>
                            <m:t>𝟏</m:t>
                          </m:r>
                        </m:sup>
                      </m:sSup>
                      <m:sSup>
                        <m:sSupPr>
                          <m:ctrlPr>
                            <a:rPr lang="en-US" sz="2400" b="1" i="1" smtClean="0">
                              <a:solidFill>
                                <a:schemeClr val="tx1">
                                  <a:lumMod val="75000"/>
                                  <a:lumOff val="25000"/>
                                </a:schemeClr>
                              </a:solidFill>
                              <a:latin typeface="Cambria Math" panose="02040503050406030204" pitchFamily="18" charset="0"/>
                            </a:rPr>
                          </m:ctrlPr>
                        </m:sSupPr>
                        <m:e>
                          <m:r>
                            <a:rPr lang="en-US" sz="2400" b="1" i="0" smtClean="0">
                              <a:solidFill>
                                <a:schemeClr val="tx1">
                                  <a:lumMod val="75000"/>
                                  <a:lumOff val="25000"/>
                                </a:schemeClr>
                              </a:solidFill>
                              <a:latin typeface="Cambria Math"/>
                            </a:rPr>
                            <m:t>𝐗</m:t>
                          </m:r>
                        </m:e>
                        <m:sup>
                          <m:r>
                            <a:rPr lang="en-US" sz="2400" b="1" i="0" smtClean="0">
                              <a:solidFill>
                                <a:schemeClr val="tx1">
                                  <a:lumMod val="75000"/>
                                  <a:lumOff val="25000"/>
                                </a:schemeClr>
                              </a:solidFill>
                              <a:latin typeface="Cambria Math"/>
                            </a:rPr>
                            <m:t>𝐓</m:t>
                          </m:r>
                        </m:sup>
                      </m:sSup>
                      <m:r>
                        <a:rPr lang="en-US" sz="2400" b="1" i="0" smtClean="0">
                          <a:solidFill>
                            <a:schemeClr val="tx1">
                              <a:lumMod val="75000"/>
                              <a:lumOff val="25000"/>
                            </a:schemeClr>
                          </a:solidFill>
                          <a:latin typeface="Cambria Math"/>
                        </a:rPr>
                        <m:t>𝐗</m:t>
                      </m:r>
                      <m:r>
                        <a:rPr lang="en-US" sz="2400" b="1" i="0" smtClean="0">
                          <a:solidFill>
                            <a:schemeClr val="tx1">
                              <a:lumMod val="75000"/>
                              <a:lumOff val="25000"/>
                            </a:schemeClr>
                          </a:solidFill>
                          <a:latin typeface="Cambria Math"/>
                          <a:ea typeface="Cambria Math"/>
                        </a:rPr>
                        <m:t>𝛃</m:t>
                      </m:r>
                    </m:oMath>
                  </m:oMathPara>
                </a14:m>
                <a:endParaRPr lang="en-US" sz="2000" b="1" dirty="0"/>
              </a:p>
            </p:txBody>
          </p:sp>
        </mc:Choice>
        <mc:Fallback xmlns="">
          <p:sp>
            <p:nvSpPr>
              <p:cNvPr id="14" name="TextBox 13"/>
              <p:cNvSpPr txBox="1">
                <a:spLocks noRot="1" noChangeAspect="1" noMove="1" noResize="1" noEditPoints="1" noAdjustHandles="1" noChangeArrowheads="1" noChangeShapeType="1" noTextEdit="1"/>
              </p:cNvSpPr>
              <p:nvPr/>
            </p:nvSpPr>
            <p:spPr>
              <a:xfrm>
                <a:off x="2553330" y="5042077"/>
                <a:ext cx="4189737" cy="470000"/>
              </a:xfrm>
              <a:prstGeom prst="rect">
                <a:avLst/>
              </a:prstGeom>
              <a:blipFill rotWithShape="1">
                <a:blip r:embed="rId5"/>
                <a:stretch>
                  <a:fillRect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3297700" y="5715000"/>
                <a:ext cx="2582054" cy="470000"/>
              </a:xfrm>
              <a:prstGeom prst="rect">
                <a:avLst/>
              </a:prstGeom>
              <a:noFill/>
              <a:effectLst/>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chemeClr val="tx1">
                              <a:lumMod val="75000"/>
                              <a:lumOff val="25000"/>
                            </a:schemeClr>
                          </a:solidFill>
                          <a:latin typeface="Cambria Math"/>
                          <a:ea typeface="Cambria Math"/>
                        </a:rPr>
                        <m:t>𝛃</m:t>
                      </m:r>
                      <m:r>
                        <a:rPr lang="en-US" sz="2400" b="1" i="1" smtClean="0">
                          <a:solidFill>
                            <a:schemeClr val="tx1">
                              <a:lumMod val="75000"/>
                              <a:lumOff val="25000"/>
                            </a:schemeClr>
                          </a:solidFill>
                          <a:latin typeface="Cambria Math"/>
                          <a:ea typeface="Cambria Math"/>
                        </a:rPr>
                        <m:t>= </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1" smtClean="0">
                              <a:solidFill>
                                <a:schemeClr val="tx1">
                                  <a:lumMod val="75000"/>
                                  <a:lumOff val="25000"/>
                                </a:schemeClr>
                              </a:solidFill>
                              <a:latin typeface="Cambria Math"/>
                              <a:ea typeface="Cambria Math"/>
                            </a:rPr>
                            <m:t>(</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0" smtClean="0">
                                  <a:solidFill>
                                    <a:schemeClr val="tx1">
                                      <a:lumMod val="75000"/>
                                      <a:lumOff val="25000"/>
                                    </a:schemeClr>
                                  </a:solidFill>
                                  <a:latin typeface="Cambria Math"/>
                                  <a:ea typeface="Cambria Math"/>
                                </a:rPr>
                                <m:t>𝐗</m:t>
                              </m:r>
                            </m:e>
                            <m:sup>
                              <m:r>
                                <a:rPr lang="en-US" sz="2400" b="1" i="0" smtClean="0">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𝐗</m:t>
                          </m:r>
                          <m:r>
                            <a:rPr lang="en-US" sz="2400" b="1" i="1" smtClean="0">
                              <a:solidFill>
                                <a:schemeClr val="tx1">
                                  <a:lumMod val="75000"/>
                                  <a:lumOff val="25000"/>
                                </a:schemeClr>
                              </a:solidFill>
                              <a:latin typeface="Cambria Math"/>
                              <a:ea typeface="Cambria Math"/>
                            </a:rPr>
                            <m:t>)</m:t>
                          </m:r>
                        </m:e>
                        <m:sup>
                          <m:r>
                            <a:rPr lang="en-US" sz="2400" b="1" i="1" smtClean="0">
                              <a:solidFill>
                                <a:schemeClr val="tx1">
                                  <a:lumMod val="75000"/>
                                  <a:lumOff val="25000"/>
                                </a:schemeClr>
                              </a:solidFill>
                              <a:latin typeface="Cambria Math"/>
                              <a:ea typeface="Cambria Math"/>
                            </a:rPr>
                            <m:t>−</m:t>
                          </m:r>
                          <m:r>
                            <a:rPr lang="en-US" sz="2400" b="1" i="1" smtClean="0">
                              <a:solidFill>
                                <a:schemeClr val="tx1">
                                  <a:lumMod val="75000"/>
                                  <a:lumOff val="25000"/>
                                </a:schemeClr>
                              </a:solidFill>
                              <a:latin typeface="Cambria Math"/>
                              <a:ea typeface="Cambria Math"/>
                            </a:rPr>
                            <m:t>𝟏</m:t>
                          </m:r>
                        </m:sup>
                      </m:sSup>
                      <m:sSup>
                        <m:sSupPr>
                          <m:ctrlPr>
                            <a:rPr lang="en-US" sz="2400" b="1" i="1">
                              <a:solidFill>
                                <a:schemeClr val="tx1">
                                  <a:lumMod val="75000"/>
                                  <a:lumOff val="25000"/>
                                </a:schemeClr>
                              </a:solidFill>
                              <a:latin typeface="Cambria Math" panose="02040503050406030204" pitchFamily="18" charset="0"/>
                              <a:ea typeface="Cambria Math"/>
                            </a:rPr>
                          </m:ctrlPr>
                        </m:sSupPr>
                        <m:e>
                          <m:r>
                            <a:rPr lang="en-US" sz="2400" b="1">
                              <a:solidFill>
                                <a:schemeClr val="tx1">
                                  <a:lumMod val="75000"/>
                                  <a:lumOff val="25000"/>
                                </a:schemeClr>
                              </a:solidFill>
                              <a:latin typeface="Cambria Math"/>
                              <a:ea typeface="Cambria Math"/>
                            </a:rPr>
                            <m:t>𝐗</m:t>
                          </m:r>
                        </m:e>
                        <m:sup>
                          <m:r>
                            <a:rPr lang="en-US" sz="2400" b="1">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𝐘</m:t>
                      </m:r>
                    </m:oMath>
                  </m:oMathPara>
                </a14:m>
                <a:endParaRPr lang="en-US" sz="2400" b="1" dirty="0">
                  <a:solidFill>
                    <a:schemeClr val="tx1">
                      <a:lumMod val="75000"/>
                      <a:lumOff val="25000"/>
                    </a:schemeClr>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3297700" y="5715000"/>
                <a:ext cx="2582054" cy="470000"/>
              </a:xfrm>
              <a:prstGeom prst="rect">
                <a:avLst/>
              </a:prstGeom>
              <a:blipFill rotWithShape="1">
                <a:blip r:embed="rId6"/>
                <a:stretch>
                  <a:fillRect l="-236" b="-16883"/>
                </a:stretch>
              </a:blipFill>
              <a:effectLst/>
            </p:spPr>
            <p:txBody>
              <a:bodyPr/>
              <a:lstStyle/>
              <a:p>
                <a:r>
                  <a:rPr lang="en-US">
                    <a:noFill/>
                  </a:rPr>
                  <a:t> </a:t>
                </a:r>
              </a:p>
            </p:txBody>
          </p:sp>
        </mc:Fallback>
      </mc:AlternateContent>
      <p:cxnSp>
        <p:nvCxnSpPr>
          <p:cNvPr id="17" name="Straight Connector 16"/>
          <p:cNvCxnSpPr/>
          <p:nvPr/>
        </p:nvCxnSpPr>
        <p:spPr>
          <a:xfrm flipV="1">
            <a:off x="4872427" y="5042077"/>
            <a:ext cx="842573" cy="4700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652728" y="5049631"/>
            <a:ext cx="842573" cy="4700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5845414" y="6255712"/>
                <a:ext cx="3298586" cy="598241"/>
              </a:xfrm>
              <a:prstGeom prst="rect">
                <a:avLst/>
              </a:prstGeom>
              <a:noFill/>
            </p:spPr>
            <p:txBody>
              <a:bodyPr wrap="square" rtlCol="0">
                <a:spAutoFit/>
              </a:bodyPr>
              <a:lstStyle/>
              <a:p>
                <a:r>
                  <a:rPr lang="en-US" sz="1600" dirty="0">
                    <a:solidFill>
                      <a:schemeClr val="tx1">
                        <a:lumMod val="75000"/>
                        <a:lumOff val="25000"/>
                      </a:schemeClr>
                    </a:solidFill>
                  </a:rPr>
                  <a:t>* In reality here we are </a:t>
                </a:r>
                <a:r>
                  <a:rPr lang="en-US" sz="1600" i="1" dirty="0">
                    <a:solidFill>
                      <a:schemeClr val="tx1">
                        <a:lumMod val="75000"/>
                        <a:lumOff val="25000"/>
                      </a:schemeClr>
                    </a:solidFill>
                  </a:rPr>
                  <a:t>estimating </a:t>
                </a:r>
                <a14:m>
                  <m:oMath xmlns:m="http://schemas.openxmlformats.org/officeDocument/2006/math">
                    <m:r>
                      <a:rPr lang="en-US" sz="1600" i="1" smtClean="0">
                        <a:solidFill>
                          <a:schemeClr val="tx1">
                            <a:lumMod val="75000"/>
                            <a:lumOff val="25000"/>
                          </a:schemeClr>
                        </a:solidFill>
                        <a:latin typeface="Cambria Math"/>
                        <a:ea typeface="Cambria Math"/>
                      </a:rPr>
                      <m:t>𝛽</m:t>
                    </m:r>
                  </m:oMath>
                </a14:m>
                <a:r>
                  <a:rPr lang="en-US" sz="1600" dirty="0">
                    <a:solidFill>
                      <a:schemeClr val="tx1">
                        <a:lumMod val="75000"/>
                        <a:lumOff val="25000"/>
                      </a:schemeClr>
                    </a:solidFill>
                  </a:rPr>
                  <a:t>, so we obtain </a:t>
                </a:r>
                <a14:m>
                  <m:oMath xmlns:m="http://schemas.openxmlformats.org/officeDocument/2006/math">
                    <m:sSup>
                      <m:sSupPr>
                        <m:ctrlPr>
                          <a:rPr lang="en-US" sz="1600" b="1" i="1">
                            <a:solidFill>
                              <a:schemeClr val="tx1">
                                <a:lumMod val="75000"/>
                                <a:lumOff val="25000"/>
                              </a:schemeClr>
                            </a:solidFill>
                            <a:latin typeface="Cambria Math" panose="02040503050406030204" pitchFamily="18" charset="0"/>
                            <a:ea typeface="Cambria Math"/>
                          </a:rPr>
                        </m:ctrlPr>
                      </m:sSupPr>
                      <m:e>
                        <m:acc>
                          <m:accPr>
                            <m:chr m:val="̂"/>
                            <m:ctrlPr>
                              <a:rPr lang="en-US" sz="1600" b="1" i="1" smtClean="0">
                                <a:solidFill>
                                  <a:schemeClr val="tx1">
                                    <a:lumMod val="75000"/>
                                    <a:lumOff val="25000"/>
                                  </a:schemeClr>
                                </a:solidFill>
                                <a:latin typeface="Cambria Math" panose="02040503050406030204" pitchFamily="18" charset="0"/>
                                <a:ea typeface="Cambria Math"/>
                              </a:rPr>
                            </m:ctrlPr>
                          </m:accPr>
                          <m:e>
                            <m:r>
                              <a:rPr lang="en-US" sz="1600" b="1" i="0" smtClean="0">
                                <a:solidFill>
                                  <a:schemeClr val="tx1">
                                    <a:lumMod val="75000"/>
                                    <a:lumOff val="25000"/>
                                  </a:schemeClr>
                                </a:solidFill>
                                <a:latin typeface="Cambria Math"/>
                                <a:ea typeface="Cambria Math"/>
                              </a:rPr>
                              <m:t>𝛃</m:t>
                            </m:r>
                          </m:e>
                        </m:acc>
                        <m:r>
                          <a:rPr lang="en-US" sz="1600" b="1" i="0" smtClean="0">
                            <a:solidFill>
                              <a:schemeClr val="tx1">
                                <a:lumMod val="75000"/>
                                <a:lumOff val="25000"/>
                              </a:schemeClr>
                            </a:solidFill>
                            <a:latin typeface="Cambria Math"/>
                            <a:ea typeface="Cambria Math"/>
                          </a:rPr>
                          <m:t>=</m:t>
                        </m:r>
                        <m:r>
                          <a:rPr lang="en-US" sz="1600" b="1" i="0" smtClean="0">
                            <a:solidFill>
                              <a:schemeClr val="tx1">
                                <a:lumMod val="75000"/>
                                <a:lumOff val="25000"/>
                              </a:schemeClr>
                            </a:solidFill>
                            <a:latin typeface="Cambria Math"/>
                            <a:ea typeface="Cambria Math"/>
                          </a:rPr>
                          <m:t>𝐛</m:t>
                        </m:r>
                        <m:r>
                          <a:rPr lang="en-US" sz="1600" b="1" i="1" smtClean="0">
                            <a:solidFill>
                              <a:schemeClr val="tx1">
                                <a:lumMod val="75000"/>
                                <a:lumOff val="25000"/>
                              </a:schemeClr>
                            </a:solidFill>
                            <a:latin typeface="Cambria Math"/>
                            <a:ea typeface="Cambria Math"/>
                          </a:rPr>
                          <m:t>=</m:t>
                        </m:r>
                        <m:r>
                          <a:rPr lang="en-US" sz="1600" b="1" i="1">
                            <a:solidFill>
                              <a:schemeClr val="tx1">
                                <a:lumMod val="75000"/>
                                <a:lumOff val="25000"/>
                              </a:schemeClr>
                            </a:solidFill>
                            <a:latin typeface="Cambria Math"/>
                            <a:ea typeface="Cambria Math"/>
                          </a:rPr>
                          <m:t>(</m:t>
                        </m:r>
                        <m:sSup>
                          <m:sSupPr>
                            <m:ctrlPr>
                              <a:rPr lang="en-US" sz="1600" b="1" i="1">
                                <a:solidFill>
                                  <a:schemeClr val="tx1">
                                    <a:lumMod val="75000"/>
                                    <a:lumOff val="25000"/>
                                  </a:schemeClr>
                                </a:solidFill>
                                <a:latin typeface="Cambria Math" panose="02040503050406030204" pitchFamily="18" charset="0"/>
                                <a:ea typeface="Cambria Math"/>
                              </a:rPr>
                            </m:ctrlPr>
                          </m:sSupPr>
                          <m:e>
                            <m:r>
                              <a:rPr lang="en-US" sz="1600" b="1">
                                <a:solidFill>
                                  <a:schemeClr val="tx1">
                                    <a:lumMod val="75000"/>
                                    <a:lumOff val="25000"/>
                                  </a:schemeClr>
                                </a:solidFill>
                                <a:latin typeface="Cambria Math"/>
                                <a:ea typeface="Cambria Math"/>
                              </a:rPr>
                              <m:t>𝐗</m:t>
                            </m:r>
                          </m:e>
                          <m:sup>
                            <m:r>
                              <a:rPr lang="en-US" sz="1600" b="1">
                                <a:solidFill>
                                  <a:schemeClr val="tx1">
                                    <a:lumMod val="75000"/>
                                    <a:lumOff val="25000"/>
                                  </a:schemeClr>
                                </a:solidFill>
                                <a:latin typeface="Cambria Math"/>
                                <a:ea typeface="Cambria Math"/>
                              </a:rPr>
                              <m:t>𝐓</m:t>
                            </m:r>
                          </m:sup>
                        </m:sSup>
                        <m:r>
                          <a:rPr lang="en-US" sz="1600" b="1">
                            <a:solidFill>
                              <a:schemeClr val="tx1">
                                <a:lumMod val="75000"/>
                                <a:lumOff val="25000"/>
                              </a:schemeClr>
                            </a:solidFill>
                            <a:latin typeface="Cambria Math"/>
                            <a:ea typeface="Cambria Math"/>
                          </a:rPr>
                          <m:t>𝐗</m:t>
                        </m:r>
                        <m:r>
                          <a:rPr lang="en-US" sz="1600" b="1" i="1">
                            <a:solidFill>
                              <a:schemeClr val="tx1">
                                <a:lumMod val="75000"/>
                                <a:lumOff val="25000"/>
                              </a:schemeClr>
                            </a:solidFill>
                            <a:latin typeface="Cambria Math"/>
                            <a:ea typeface="Cambria Math"/>
                          </a:rPr>
                          <m:t>)</m:t>
                        </m:r>
                      </m:e>
                      <m:sup>
                        <m:r>
                          <a:rPr lang="en-US" sz="1600" b="1" i="1">
                            <a:solidFill>
                              <a:schemeClr val="tx1">
                                <a:lumMod val="75000"/>
                                <a:lumOff val="25000"/>
                              </a:schemeClr>
                            </a:solidFill>
                            <a:latin typeface="Cambria Math"/>
                            <a:ea typeface="Cambria Math"/>
                          </a:rPr>
                          <m:t>−</m:t>
                        </m:r>
                        <m:r>
                          <a:rPr lang="en-US" sz="1600" b="1" i="1">
                            <a:solidFill>
                              <a:schemeClr val="tx1">
                                <a:lumMod val="75000"/>
                                <a:lumOff val="25000"/>
                              </a:schemeClr>
                            </a:solidFill>
                            <a:latin typeface="Cambria Math"/>
                            <a:ea typeface="Cambria Math"/>
                          </a:rPr>
                          <m:t>𝟏</m:t>
                        </m:r>
                      </m:sup>
                    </m:sSup>
                    <m:sSup>
                      <m:sSupPr>
                        <m:ctrlPr>
                          <a:rPr lang="en-US" sz="1600" b="1" i="1">
                            <a:solidFill>
                              <a:schemeClr val="tx1">
                                <a:lumMod val="75000"/>
                                <a:lumOff val="25000"/>
                              </a:schemeClr>
                            </a:solidFill>
                            <a:latin typeface="Cambria Math" panose="02040503050406030204" pitchFamily="18" charset="0"/>
                            <a:ea typeface="Cambria Math"/>
                          </a:rPr>
                        </m:ctrlPr>
                      </m:sSupPr>
                      <m:e>
                        <m:r>
                          <a:rPr lang="en-US" sz="1600" b="1">
                            <a:solidFill>
                              <a:schemeClr val="tx1">
                                <a:lumMod val="75000"/>
                                <a:lumOff val="25000"/>
                              </a:schemeClr>
                            </a:solidFill>
                            <a:latin typeface="Cambria Math"/>
                            <a:ea typeface="Cambria Math"/>
                          </a:rPr>
                          <m:t>𝐗</m:t>
                        </m:r>
                      </m:e>
                      <m:sup>
                        <m:r>
                          <a:rPr lang="en-US" sz="1600" b="1">
                            <a:solidFill>
                              <a:schemeClr val="tx1">
                                <a:lumMod val="75000"/>
                                <a:lumOff val="25000"/>
                              </a:schemeClr>
                            </a:solidFill>
                            <a:latin typeface="Cambria Math"/>
                            <a:ea typeface="Cambria Math"/>
                          </a:rPr>
                          <m:t>𝐓</m:t>
                        </m:r>
                      </m:sup>
                    </m:sSup>
                    <m:r>
                      <a:rPr lang="en-US" sz="1600" b="1">
                        <a:solidFill>
                          <a:schemeClr val="tx1">
                            <a:lumMod val="75000"/>
                            <a:lumOff val="25000"/>
                          </a:schemeClr>
                        </a:solidFill>
                        <a:latin typeface="Cambria Math"/>
                        <a:ea typeface="Cambria Math"/>
                      </a:rPr>
                      <m:t>𝐘</m:t>
                    </m:r>
                  </m:oMath>
                </a14:m>
                <a:endParaRPr lang="en-US" sz="1600" b="1" dirty="0">
                  <a:solidFill>
                    <a:schemeClr val="tx1">
                      <a:lumMod val="75000"/>
                      <a:lumOff val="25000"/>
                    </a:schemeClr>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5845414" y="6255712"/>
                <a:ext cx="3298586" cy="598241"/>
              </a:xfrm>
              <a:prstGeom prst="rect">
                <a:avLst/>
              </a:prstGeom>
              <a:blipFill rotWithShape="1">
                <a:blip r:embed="rId7"/>
                <a:stretch>
                  <a:fillRect l="-1109" t="-3061" r="-370" b="-13265"/>
                </a:stretch>
              </a:blipFill>
            </p:spPr>
            <p:txBody>
              <a:bodyPr/>
              <a:lstStyle/>
              <a:p>
                <a:r>
                  <a:rPr lang="en-US">
                    <a:noFill/>
                  </a:rPr>
                  <a:t> </a:t>
                </a:r>
              </a:p>
            </p:txBody>
          </p:sp>
        </mc:Fallback>
      </mc:AlternateContent>
    </p:spTree>
    <p:extLst>
      <p:ext uri="{BB962C8B-B14F-4D97-AF65-F5344CB8AC3E}">
        <p14:creationId xmlns:p14="http://schemas.microsoft.com/office/powerpoint/2010/main" val="73483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fade">
                                      <p:cBhvr>
                                        <p:cTn id="15" dur="500"/>
                                        <p:tgtEl>
                                          <p:spTgt spid="11">
                                            <p:txEl>
                                              <p:pRg st="1" end="1"/>
                                            </p:txEl>
                                          </p:spTgt>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Effect transition="in" filter="fade">
                                      <p:cBhvr>
                                        <p:cTn id="19" dur="500"/>
                                        <p:tgtEl>
                                          <p:spTgt spid="11">
                                            <p:txEl>
                                              <p:pRg st="2" end="2"/>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right)">
                                      <p:cBhvr>
                                        <p:cTn id="33" dur="25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1">
                                            <p:txEl>
                                              <p:pRg st="6" end="6"/>
                                            </p:txEl>
                                          </p:spTgt>
                                        </p:tgtEl>
                                        <p:attrNameLst>
                                          <p:attrName>style.visibility</p:attrName>
                                        </p:attrNameLst>
                                      </p:cBhvr>
                                      <p:to>
                                        <p:strVal val="visible"/>
                                      </p:to>
                                    </p:set>
                                    <p:animEffect transition="in" filter="fade">
                                      <p:cBhvr>
                                        <p:cTn id="38" dur="500"/>
                                        <p:tgtEl>
                                          <p:spTgt spid="11">
                                            <p:txEl>
                                              <p:pRg st="6" end="6"/>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down)">
                                      <p:cBhvr>
                                        <p:cTn id="46" dur="500"/>
                                        <p:tgtEl>
                                          <p:spTgt spid="17"/>
                                        </p:tgtEl>
                                      </p:cBhvr>
                                    </p:animEffect>
                                  </p:childTnLst>
                                </p:cTn>
                              </p:par>
                            </p:childTnLst>
                          </p:cTn>
                        </p:par>
                        <p:par>
                          <p:cTn id="47" fill="hold">
                            <p:stCondLst>
                              <p:cond delay="500"/>
                            </p:stCondLst>
                            <p:childTnLst>
                              <p:par>
                                <p:cTn id="48" presetID="22" presetClass="entr" presetSubtype="4"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down)">
                                      <p:cBhvr>
                                        <p:cTn id="50" dur="500"/>
                                        <p:tgtEl>
                                          <p:spTgt spid="18"/>
                                        </p:tgtEl>
                                      </p:cBhvr>
                                    </p:animEffect>
                                  </p:childTnLst>
                                </p:cTn>
                              </p:par>
                            </p:childTnLst>
                          </p:cTn>
                        </p:par>
                        <p:par>
                          <p:cTn id="51" fill="hold">
                            <p:stCondLst>
                              <p:cond delay="100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P spid="2" grpId="0"/>
      <p:bldP spid="5" grpId="0"/>
      <p:bldP spid="7" grpId="0"/>
      <p:bldP spid="14" grpId="0"/>
      <p:bldP spid="15"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1306354"/>
            <a:ext cx="8686799" cy="42473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This expresses </a:t>
            </a:r>
            <a:r>
              <a:rPr lang="en-US" sz="2000" b="1" dirty="0">
                <a:solidFill>
                  <a:schemeClr val="tx1">
                    <a:lumMod val="75000"/>
                    <a:lumOff val="25000"/>
                  </a:schemeClr>
                </a:solidFill>
              </a:rPr>
              <a:t>ALL</a:t>
            </a:r>
            <a:r>
              <a:rPr lang="en-US" sz="2000" dirty="0">
                <a:solidFill>
                  <a:schemeClr val="tx1">
                    <a:lumMod val="75000"/>
                    <a:lumOff val="25000"/>
                  </a:schemeClr>
                </a:solidFill>
              </a:rPr>
              <a:t> types of General Linear Models! It is modified by including different types of data in X</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X may include categorical variables (</a:t>
            </a:r>
            <a:r>
              <a:rPr lang="en-US" sz="2000" i="1" dirty="0">
                <a:solidFill>
                  <a:schemeClr val="tx1">
                    <a:lumMod val="75000"/>
                    <a:lumOff val="25000"/>
                  </a:schemeClr>
                </a:solidFill>
              </a:rPr>
              <a:t>factors</a:t>
            </a:r>
            <a:r>
              <a:rPr lang="en-US" sz="2000" dirty="0">
                <a:solidFill>
                  <a:schemeClr val="tx1">
                    <a:lumMod val="75000"/>
                    <a:lumOff val="25000"/>
                  </a:schemeClr>
                </a:solidFill>
              </a:rPr>
              <a:t>), continuous predictors (</a:t>
            </a:r>
            <a:r>
              <a:rPr lang="en-US" sz="2000" i="1" dirty="0">
                <a:solidFill>
                  <a:schemeClr val="tx1">
                    <a:lumMod val="75000"/>
                    <a:lumOff val="25000"/>
                  </a:schemeClr>
                </a:solidFill>
              </a:rPr>
              <a:t>covariates</a:t>
            </a:r>
            <a:r>
              <a:rPr lang="en-US" sz="2000" dirty="0">
                <a:solidFill>
                  <a:schemeClr val="tx1">
                    <a:lumMod val="75000"/>
                    <a:lumOff val="25000"/>
                  </a:schemeClr>
                </a:solidFill>
              </a:rPr>
              <a:t>), combinations of the two, and interactions between them</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Solving b this way minimizes the sum of squared residuals (</a:t>
            </a:r>
            <a:r>
              <a:rPr lang="en-US" sz="2000" i="1" dirty="0">
                <a:solidFill>
                  <a:schemeClr val="tx1">
                    <a:lumMod val="75000"/>
                    <a:lumOff val="25000"/>
                  </a:schemeClr>
                </a:solidFill>
              </a:rPr>
              <a:t>error</a:t>
            </a:r>
            <a:r>
              <a:rPr lang="en-US" sz="2000" dirty="0">
                <a:solidFill>
                  <a:schemeClr val="tx1">
                    <a:lumMod val="75000"/>
                    <a:lumOff val="25000"/>
                  </a:schemeClr>
                </a:solidFill>
              </a:rPr>
              <a:t>) and it is usually referred to as “</a:t>
            </a:r>
            <a:r>
              <a:rPr lang="en-US" sz="2000" i="1" dirty="0">
                <a:solidFill>
                  <a:schemeClr val="tx1">
                    <a:lumMod val="75000"/>
                    <a:lumOff val="25000"/>
                  </a:schemeClr>
                </a:solidFill>
              </a:rPr>
              <a:t>Least-Squares</a:t>
            </a:r>
            <a:r>
              <a:rPr lang="en-US" sz="2000" dirty="0">
                <a:solidFill>
                  <a:schemeClr val="tx1">
                    <a:lumMod val="75000"/>
                    <a:lumOff val="25000"/>
                  </a:schemeClr>
                </a:solidFill>
              </a:rPr>
              <a:t>” estimation</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As such, the error is an indication of how good the </a:t>
            </a:r>
            <a:r>
              <a:rPr lang="en-US" sz="2000" i="1" dirty="0">
                <a:solidFill>
                  <a:schemeClr val="tx1">
                    <a:lumMod val="75000"/>
                    <a:lumOff val="25000"/>
                  </a:schemeClr>
                </a:solidFill>
              </a:rPr>
              <a:t>fit of the model </a:t>
            </a:r>
            <a:r>
              <a:rPr lang="en-US" sz="2000" dirty="0">
                <a:solidFill>
                  <a:schemeClr val="tx1">
                    <a:lumMod val="75000"/>
                    <a:lumOff val="25000"/>
                  </a:schemeClr>
                </a:solidFill>
              </a:rPr>
              <a:t>is</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853439568"/>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General Linear Model</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11</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6" name="TextBox 5"/>
              <p:cNvSpPr txBox="1"/>
              <p:nvPr/>
            </p:nvSpPr>
            <p:spPr>
              <a:xfrm>
                <a:off x="3581400" y="685800"/>
                <a:ext cx="2582054" cy="470000"/>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solidFill>
                            <a:schemeClr val="tx1">
                              <a:lumMod val="75000"/>
                              <a:lumOff val="25000"/>
                            </a:schemeClr>
                          </a:solidFill>
                          <a:latin typeface="Cambria Math"/>
                          <a:ea typeface="Cambria Math"/>
                        </a:rPr>
                        <m:t>𝐛</m:t>
                      </m:r>
                      <m:r>
                        <a:rPr lang="en-US" sz="2400" b="1" i="1" smtClean="0">
                          <a:solidFill>
                            <a:schemeClr val="tx1">
                              <a:lumMod val="75000"/>
                              <a:lumOff val="25000"/>
                            </a:schemeClr>
                          </a:solidFill>
                          <a:latin typeface="Cambria Math"/>
                          <a:ea typeface="Cambria Math"/>
                        </a:rPr>
                        <m:t>= </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1" smtClean="0">
                              <a:solidFill>
                                <a:schemeClr val="tx1">
                                  <a:lumMod val="75000"/>
                                  <a:lumOff val="25000"/>
                                </a:schemeClr>
                              </a:solidFill>
                              <a:latin typeface="Cambria Math"/>
                              <a:ea typeface="Cambria Math"/>
                            </a:rPr>
                            <m:t>(</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0" smtClean="0">
                                  <a:solidFill>
                                    <a:schemeClr val="tx1">
                                      <a:lumMod val="75000"/>
                                      <a:lumOff val="25000"/>
                                    </a:schemeClr>
                                  </a:solidFill>
                                  <a:latin typeface="Cambria Math"/>
                                  <a:ea typeface="Cambria Math"/>
                                </a:rPr>
                                <m:t>𝐗</m:t>
                              </m:r>
                            </m:e>
                            <m:sup>
                              <m:r>
                                <a:rPr lang="en-US" sz="2400" b="1" i="0" smtClean="0">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𝐗</m:t>
                          </m:r>
                          <m:r>
                            <a:rPr lang="en-US" sz="2400" b="1" i="1" smtClean="0">
                              <a:solidFill>
                                <a:schemeClr val="tx1">
                                  <a:lumMod val="75000"/>
                                  <a:lumOff val="25000"/>
                                </a:schemeClr>
                              </a:solidFill>
                              <a:latin typeface="Cambria Math"/>
                              <a:ea typeface="Cambria Math"/>
                            </a:rPr>
                            <m:t>)</m:t>
                          </m:r>
                        </m:e>
                        <m:sup>
                          <m:r>
                            <a:rPr lang="en-US" sz="2400" b="1" i="1" smtClean="0">
                              <a:solidFill>
                                <a:schemeClr val="tx1">
                                  <a:lumMod val="75000"/>
                                  <a:lumOff val="25000"/>
                                </a:schemeClr>
                              </a:solidFill>
                              <a:latin typeface="Cambria Math"/>
                              <a:ea typeface="Cambria Math"/>
                            </a:rPr>
                            <m:t>−</m:t>
                          </m:r>
                          <m:r>
                            <a:rPr lang="en-US" sz="2400" b="1" i="1" smtClean="0">
                              <a:solidFill>
                                <a:schemeClr val="tx1">
                                  <a:lumMod val="75000"/>
                                  <a:lumOff val="25000"/>
                                </a:schemeClr>
                              </a:solidFill>
                              <a:latin typeface="Cambria Math"/>
                              <a:ea typeface="Cambria Math"/>
                            </a:rPr>
                            <m:t>𝟏</m:t>
                          </m:r>
                        </m:sup>
                      </m:sSup>
                      <m:sSup>
                        <m:sSupPr>
                          <m:ctrlPr>
                            <a:rPr lang="en-US" sz="2400" b="1" i="1">
                              <a:solidFill>
                                <a:schemeClr val="tx1">
                                  <a:lumMod val="75000"/>
                                  <a:lumOff val="25000"/>
                                </a:schemeClr>
                              </a:solidFill>
                              <a:latin typeface="Cambria Math" panose="02040503050406030204" pitchFamily="18" charset="0"/>
                              <a:ea typeface="Cambria Math"/>
                            </a:rPr>
                          </m:ctrlPr>
                        </m:sSupPr>
                        <m:e>
                          <m:r>
                            <a:rPr lang="en-US" sz="2400" b="1">
                              <a:solidFill>
                                <a:schemeClr val="tx1">
                                  <a:lumMod val="75000"/>
                                  <a:lumOff val="25000"/>
                                </a:schemeClr>
                              </a:solidFill>
                              <a:latin typeface="Cambria Math"/>
                              <a:ea typeface="Cambria Math"/>
                            </a:rPr>
                            <m:t>𝐗</m:t>
                          </m:r>
                        </m:e>
                        <m:sup>
                          <m:r>
                            <a:rPr lang="en-US" sz="2400" b="1">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𝐘</m:t>
                      </m:r>
                    </m:oMath>
                  </m:oMathPara>
                </a14:m>
                <a:endParaRPr lang="en-US" sz="2400" b="1" dirty="0">
                  <a:solidFill>
                    <a:schemeClr val="tx1">
                      <a:lumMod val="75000"/>
                      <a:lumOff val="25000"/>
                    </a:schemeClr>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581400" y="685800"/>
                <a:ext cx="2582054" cy="470000"/>
              </a:xfrm>
              <a:prstGeom prst="rect">
                <a:avLst/>
              </a:prstGeom>
              <a:blipFill rotWithShape="1">
                <a:blip r:embed="rId2"/>
                <a:stretch>
                  <a:fillRect/>
                </a:stretch>
              </a:blipFill>
              <a:effectLst>
                <a:outerShdw blurRad="50800" dist="38100" dir="18900000" algn="bl" rotWithShape="0">
                  <a:prstClr val="black">
                    <a:alpha val="40000"/>
                  </a:prstClr>
                </a:outerShdw>
              </a:effectLst>
            </p:spPr>
            <p:txBody>
              <a:bodyPr/>
              <a:lstStyle/>
              <a:p>
                <a:r>
                  <a:rPr lang="en-US">
                    <a:noFill/>
                  </a:rPr>
                  <a:t> </a:t>
                </a:r>
              </a:p>
            </p:txBody>
          </p:sp>
        </mc:Fallback>
      </mc:AlternateContent>
    </p:spTree>
    <p:extLst>
      <p:ext uri="{BB962C8B-B14F-4D97-AF65-F5344CB8AC3E}">
        <p14:creationId xmlns:p14="http://schemas.microsoft.com/office/powerpoint/2010/main" val="107344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304800" y="609600"/>
                <a:ext cx="8686799" cy="333450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err="1">
                    <a:solidFill>
                      <a:schemeClr val="tx1">
                        <a:lumMod val="75000"/>
                        <a:lumOff val="25000"/>
                      </a:schemeClr>
                    </a:solidFill>
                  </a:rPr>
                  <a:t>ANalysis</a:t>
                </a:r>
                <a:r>
                  <a:rPr lang="en-US" sz="2000" dirty="0">
                    <a:solidFill>
                      <a:schemeClr val="tx1">
                        <a:lumMod val="75000"/>
                        <a:lumOff val="25000"/>
                      </a:schemeClr>
                    </a:solidFill>
                  </a:rPr>
                  <a:t> Of </a:t>
                </a:r>
                <a:r>
                  <a:rPr lang="en-US" sz="2000" dirty="0" err="1">
                    <a:solidFill>
                      <a:schemeClr val="tx1">
                        <a:lumMod val="75000"/>
                        <a:lumOff val="25000"/>
                      </a:schemeClr>
                    </a:solidFill>
                  </a:rPr>
                  <a:t>VAriance</a:t>
                </a:r>
                <a:r>
                  <a:rPr lang="en-US" sz="2000" dirty="0">
                    <a:solidFill>
                      <a:schemeClr val="tx1">
                        <a:lumMod val="75000"/>
                        <a:lumOff val="25000"/>
                      </a:schemeClr>
                    </a:solidFill>
                  </a:rPr>
                  <a:t>: the procedure of evaluating any GLM by testing whether the inclusion of a term in a model causes a change in residual variance</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More loosely (and generally) used to describe a GLM where X is a grouping factor</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Same model  </a:t>
                </a:r>
                <a14:m>
                  <m:oMath xmlns:m="http://schemas.openxmlformats.org/officeDocument/2006/math">
                    <m:r>
                      <a:rPr lang="en-US" sz="2000" b="1">
                        <a:solidFill>
                          <a:schemeClr val="tx1">
                            <a:lumMod val="75000"/>
                            <a:lumOff val="25000"/>
                          </a:schemeClr>
                        </a:solidFill>
                        <a:latin typeface="Cambria Math"/>
                      </a:rPr>
                      <m:t>𝐘</m:t>
                    </m:r>
                    <m:r>
                      <a:rPr lang="en-US" sz="2000" b="1">
                        <a:solidFill>
                          <a:schemeClr val="tx1">
                            <a:lumMod val="75000"/>
                            <a:lumOff val="25000"/>
                          </a:schemeClr>
                        </a:solidFill>
                        <a:latin typeface="Cambria Math"/>
                      </a:rPr>
                      <m:t>=</m:t>
                    </m:r>
                    <m:r>
                      <a:rPr lang="en-US" sz="2000" b="1">
                        <a:solidFill>
                          <a:schemeClr val="tx1">
                            <a:lumMod val="75000"/>
                            <a:lumOff val="25000"/>
                          </a:schemeClr>
                        </a:solidFill>
                        <a:latin typeface="Cambria Math"/>
                      </a:rPr>
                      <m:t>𝐗</m:t>
                    </m:r>
                    <m:r>
                      <a:rPr lang="en-US" sz="2000" b="1">
                        <a:solidFill>
                          <a:schemeClr val="tx1">
                            <a:lumMod val="75000"/>
                            <a:lumOff val="25000"/>
                          </a:schemeClr>
                        </a:solidFill>
                        <a:latin typeface="Cambria Math"/>
                        <a:ea typeface="Cambria Math"/>
                      </a:rPr>
                      <m:t>𝛃</m:t>
                    </m:r>
                  </m:oMath>
                </a14:m>
                <a:r>
                  <a:rPr lang="en-US" sz="2000" dirty="0">
                    <a:solidFill>
                      <a:schemeClr val="tx1">
                        <a:lumMod val="75000"/>
                        <a:lumOff val="25000"/>
                      </a:schemeClr>
                    </a:solidFill>
                  </a:rPr>
                  <a:t>, same estimators </a:t>
                </a:r>
                <a14:m>
                  <m:oMath xmlns:m="http://schemas.openxmlformats.org/officeDocument/2006/math">
                    <m:r>
                      <a:rPr lang="en-US" sz="2000" b="1">
                        <a:solidFill>
                          <a:schemeClr val="tx1">
                            <a:lumMod val="75000"/>
                            <a:lumOff val="25000"/>
                          </a:schemeClr>
                        </a:solidFill>
                        <a:latin typeface="Cambria Math"/>
                        <a:ea typeface="Cambria Math"/>
                      </a:rPr>
                      <m:t>𝐛</m:t>
                    </m:r>
                    <m:r>
                      <a:rPr lang="en-US" sz="2000" b="1" i="1">
                        <a:solidFill>
                          <a:schemeClr val="tx1">
                            <a:lumMod val="75000"/>
                            <a:lumOff val="25000"/>
                          </a:schemeClr>
                        </a:solidFill>
                        <a:latin typeface="Cambria Math"/>
                        <a:ea typeface="Cambria Math"/>
                      </a:rPr>
                      <m:t>= </m:t>
                    </m:r>
                    <m:sSup>
                      <m:sSupPr>
                        <m:ctrlPr>
                          <a:rPr lang="en-US" sz="2000" b="1" i="1">
                            <a:solidFill>
                              <a:schemeClr val="tx1">
                                <a:lumMod val="75000"/>
                                <a:lumOff val="25000"/>
                              </a:schemeClr>
                            </a:solidFill>
                            <a:latin typeface="Cambria Math" panose="02040503050406030204" pitchFamily="18" charset="0"/>
                            <a:ea typeface="Cambria Math"/>
                          </a:rPr>
                        </m:ctrlPr>
                      </m:sSupPr>
                      <m:e>
                        <m:r>
                          <a:rPr lang="en-US" sz="2000" b="1" i="1">
                            <a:solidFill>
                              <a:schemeClr val="tx1">
                                <a:lumMod val="75000"/>
                                <a:lumOff val="25000"/>
                              </a:schemeClr>
                            </a:solidFill>
                            <a:latin typeface="Cambria Math"/>
                            <a:ea typeface="Cambria Math"/>
                          </a:rPr>
                          <m:t>(</m:t>
                        </m:r>
                        <m:sSup>
                          <m:sSupPr>
                            <m:ctrlPr>
                              <a:rPr lang="en-US" sz="2000" b="1" i="1">
                                <a:solidFill>
                                  <a:schemeClr val="tx1">
                                    <a:lumMod val="75000"/>
                                    <a:lumOff val="25000"/>
                                  </a:schemeClr>
                                </a:solidFill>
                                <a:latin typeface="Cambria Math" panose="02040503050406030204" pitchFamily="18" charset="0"/>
                                <a:ea typeface="Cambria Math"/>
                              </a:rPr>
                            </m:ctrlPr>
                          </m:sSupPr>
                          <m:e>
                            <m:r>
                              <a:rPr lang="en-US" sz="2000" b="1">
                                <a:solidFill>
                                  <a:schemeClr val="tx1">
                                    <a:lumMod val="75000"/>
                                    <a:lumOff val="25000"/>
                                  </a:schemeClr>
                                </a:solidFill>
                                <a:latin typeface="Cambria Math"/>
                                <a:ea typeface="Cambria Math"/>
                              </a:rPr>
                              <m:t>𝐗</m:t>
                            </m:r>
                          </m:e>
                          <m:sup>
                            <m:r>
                              <a:rPr lang="en-US" sz="2000" b="1">
                                <a:solidFill>
                                  <a:schemeClr val="tx1">
                                    <a:lumMod val="75000"/>
                                    <a:lumOff val="25000"/>
                                  </a:schemeClr>
                                </a:solidFill>
                                <a:latin typeface="Cambria Math"/>
                                <a:ea typeface="Cambria Math"/>
                              </a:rPr>
                              <m:t>𝐓</m:t>
                            </m:r>
                          </m:sup>
                        </m:sSup>
                        <m:r>
                          <a:rPr lang="en-US" sz="2000" b="1">
                            <a:solidFill>
                              <a:schemeClr val="tx1">
                                <a:lumMod val="75000"/>
                                <a:lumOff val="25000"/>
                              </a:schemeClr>
                            </a:solidFill>
                            <a:latin typeface="Cambria Math"/>
                            <a:ea typeface="Cambria Math"/>
                          </a:rPr>
                          <m:t>𝐗</m:t>
                        </m:r>
                        <m:r>
                          <a:rPr lang="en-US" sz="2000" b="1" i="1">
                            <a:solidFill>
                              <a:schemeClr val="tx1">
                                <a:lumMod val="75000"/>
                                <a:lumOff val="25000"/>
                              </a:schemeClr>
                            </a:solidFill>
                            <a:latin typeface="Cambria Math"/>
                            <a:ea typeface="Cambria Math"/>
                          </a:rPr>
                          <m:t>)</m:t>
                        </m:r>
                      </m:e>
                      <m:sup>
                        <m:r>
                          <a:rPr lang="en-US" sz="2000" b="1" i="1">
                            <a:solidFill>
                              <a:schemeClr val="tx1">
                                <a:lumMod val="75000"/>
                                <a:lumOff val="25000"/>
                              </a:schemeClr>
                            </a:solidFill>
                            <a:latin typeface="Cambria Math"/>
                            <a:ea typeface="Cambria Math"/>
                          </a:rPr>
                          <m:t>−</m:t>
                        </m:r>
                        <m:r>
                          <a:rPr lang="en-US" sz="2000" b="1" i="1">
                            <a:solidFill>
                              <a:schemeClr val="tx1">
                                <a:lumMod val="75000"/>
                                <a:lumOff val="25000"/>
                              </a:schemeClr>
                            </a:solidFill>
                            <a:latin typeface="Cambria Math"/>
                            <a:ea typeface="Cambria Math"/>
                          </a:rPr>
                          <m:t>𝟏</m:t>
                        </m:r>
                      </m:sup>
                    </m:sSup>
                    <m:sSup>
                      <m:sSupPr>
                        <m:ctrlPr>
                          <a:rPr lang="en-US" sz="2000" b="1" i="1">
                            <a:solidFill>
                              <a:schemeClr val="tx1">
                                <a:lumMod val="75000"/>
                                <a:lumOff val="25000"/>
                              </a:schemeClr>
                            </a:solidFill>
                            <a:latin typeface="Cambria Math" panose="02040503050406030204" pitchFamily="18" charset="0"/>
                            <a:ea typeface="Cambria Math"/>
                          </a:rPr>
                        </m:ctrlPr>
                      </m:sSupPr>
                      <m:e>
                        <m:r>
                          <a:rPr lang="en-US" sz="2000" b="1">
                            <a:solidFill>
                              <a:schemeClr val="tx1">
                                <a:lumMod val="75000"/>
                                <a:lumOff val="25000"/>
                              </a:schemeClr>
                            </a:solidFill>
                            <a:latin typeface="Cambria Math"/>
                            <a:ea typeface="Cambria Math"/>
                          </a:rPr>
                          <m:t>𝐗</m:t>
                        </m:r>
                      </m:e>
                      <m:sup>
                        <m:r>
                          <a:rPr lang="en-US" sz="2000" b="1">
                            <a:solidFill>
                              <a:schemeClr val="tx1">
                                <a:lumMod val="75000"/>
                                <a:lumOff val="25000"/>
                              </a:schemeClr>
                            </a:solidFill>
                            <a:latin typeface="Cambria Math"/>
                            <a:ea typeface="Cambria Math"/>
                          </a:rPr>
                          <m:t>𝐓</m:t>
                        </m:r>
                      </m:sup>
                    </m:sSup>
                    <m:r>
                      <a:rPr lang="en-US" sz="2000" b="1">
                        <a:solidFill>
                          <a:schemeClr val="tx1">
                            <a:lumMod val="75000"/>
                            <a:lumOff val="25000"/>
                          </a:schemeClr>
                        </a:solidFill>
                        <a:latin typeface="Cambria Math"/>
                        <a:ea typeface="Cambria Math"/>
                      </a:rPr>
                      <m:t>𝐘</m:t>
                    </m:r>
                  </m:oMath>
                </a14:m>
                <a:endParaRPr lang="en-US" sz="2000" b="1"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X describes group membership, and this is recoded into </a:t>
                </a:r>
                <a:r>
                  <a:rPr lang="en-US" sz="2000" i="1" dirty="0">
                    <a:solidFill>
                      <a:schemeClr val="tx1">
                        <a:lumMod val="75000"/>
                        <a:lumOff val="25000"/>
                      </a:schemeClr>
                    </a:solidFill>
                  </a:rPr>
                  <a:t>g</a:t>
                </a:r>
                <a:r>
                  <a:rPr lang="en-US" sz="2000" dirty="0">
                    <a:solidFill>
                      <a:schemeClr val="tx1">
                        <a:lumMod val="75000"/>
                        <a:lumOff val="25000"/>
                      </a:schemeClr>
                    </a:solidFill>
                  </a:rPr>
                  <a:t>-1 </a:t>
                </a:r>
                <a:r>
                  <a:rPr lang="en-US" sz="2000" b="1" dirty="0">
                    <a:solidFill>
                      <a:schemeClr val="tx1">
                        <a:lumMod val="75000"/>
                        <a:lumOff val="25000"/>
                      </a:schemeClr>
                    </a:solidFill>
                  </a:rPr>
                  <a:t>dummy variables</a:t>
                </a: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04800" y="609600"/>
                <a:ext cx="8686799" cy="3334503"/>
              </a:xfrm>
              <a:prstGeom prst="rect">
                <a:avLst/>
              </a:prstGeom>
              <a:blipFill rotWithShape="0">
                <a:blip r:embed="rId2"/>
                <a:stretch>
                  <a:fillRect l="-632"/>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077354393"/>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ANOVA</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12</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4224924328"/>
              </p:ext>
            </p:extLst>
          </p:nvPr>
        </p:nvGraphicFramePr>
        <p:xfrm>
          <a:off x="2616199" y="3429000"/>
          <a:ext cx="4064000" cy="329184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tblGrid>
              <a:tr h="349069">
                <a:tc>
                  <a:txBody>
                    <a:bodyPr/>
                    <a:lstStyle/>
                    <a:p>
                      <a:r>
                        <a:rPr lang="en-US" dirty="0">
                          <a:solidFill>
                            <a:schemeClr val="tx1">
                              <a:lumMod val="75000"/>
                              <a:lumOff val="25000"/>
                            </a:schemeClr>
                          </a:solidFill>
                        </a:rPr>
                        <a:t>GROUP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X1</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X2</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X3</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49069">
                <a:tc>
                  <a:txBody>
                    <a:bodyPr/>
                    <a:lstStyle/>
                    <a:p>
                      <a:r>
                        <a:rPr lang="en-US" dirty="0">
                          <a:solidFill>
                            <a:schemeClr val="tx1">
                              <a:lumMod val="75000"/>
                              <a:lumOff val="25000"/>
                            </a:schemeClr>
                          </a:solidFill>
                        </a:rPr>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49069">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49069">
                <a:tc>
                  <a:txBody>
                    <a:bodyPr/>
                    <a:lstStyle/>
                    <a:p>
                      <a:r>
                        <a:rPr lang="en-US" dirty="0">
                          <a:solidFill>
                            <a:schemeClr val="tx1">
                              <a:lumMod val="75000"/>
                              <a:lumOff val="25000"/>
                            </a:schemeClr>
                          </a:solidFill>
                        </a:rPr>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49069">
                <a:tc>
                  <a:txBody>
                    <a:bodyPr/>
                    <a:lstStyle/>
                    <a:p>
                      <a:r>
                        <a:rPr lang="en-US" dirty="0">
                          <a:solidFill>
                            <a:schemeClr val="tx1">
                              <a:lumMod val="75000"/>
                              <a:lumOff val="25000"/>
                            </a:schemeClr>
                          </a:solidFill>
                        </a:rPr>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49069">
                <a:tc>
                  <a:txBody>
                    <a:bodyPr/>
                    <a:lstStyle/>
                    <a:p>
                      <a:r>
                        <a:rPr lang="en-US" dirty="0">
                          <a:solidFill>
                            <a:schemeClr val="tx1">
                              <a:lumMod val="75000"/>
                              <a:lumOff val="25000"/>
                            </a:schemeClr>
                          </a:solidFill>
                        </a:rPr>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49069">
                <a:tc>
                  <a:txBody>
                    <a:bodyPr/>
                    <a:lstStyle/>
                    <a:p>
                      <a:r>
                        <a:rPr lang="en-US" dirty="0">
                          <a:solidFill>
                            <a:schemeClr val="tx1">
                              <a:lumMod val="75000"/>
                              <a:lumOff val="25000"/>
                            </a:schemeClr>
                          </a:solidFill>
                        </a:rPr>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49069">
                <a:tc>
                  <a:txBody>
                    <a:bodyPr/>
                    <a:lstStyle/>
                    <a:p>
                      <a:r>
                        <a:rPr lang="en-US" dirty="0">
                          <a:solidFill>
                            <a:schemeClr val="tx1">
                              <a:lumMod val="75000"/>
                              <a:lumOff val="25000"/>
                            </a:schemeClr>
                          </a:solidFill>
                        </a:rPr>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49069">
                <a:tc>
                  <a:txBody>
                    <a:bodyPr/>
                    <a:lstStyle/>
                    <a:p>
                      <a:r>
                        <a:rPr lang="en-US" dirty="0">
                          <a:solidFill>
                            <a:schemeClr val="tx1">
                              <a:lumMod val="75000"/>
                              <a:lumOff val="25000"/>
                            </a:schemeClr>
                          </a:solidFill>
                        </a:rPr>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10" name="Rectangle 9"/>
          <p:cNvSpPr/>
          <p:nvPr/>
        </p:nvSpPr>
        <p:spPr>
          <a:xfrm>
            <a:off x="2467707" y="5996354"/>
            <a:ext cx="2942493"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491156" y="5234354"/>
            <a:ext cx="1547444"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333999" y="3505200"/>
            <a:ext cx="867507" cy="32531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66492" y="3505200"/>
            <a:ext cx="867507" cy="24911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6310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0" nodeType="clickEffect">
                                  <p:stCondLst>
                                    <p:cond delay="0"/>
                                  </p:stCondLst>
                                  <p:childTnLst>
                                    <p:animEffect transition="out" filter="fade">
                                      <p:cBhvr>
                                        <p:cTn id="25" dur="500"/>
                                        <p:tgtEl>
                                          <p:spTgt spid="12"/>
                                        </p:tgtEl>
                                      </p:cBhvr>
                                    </p:animEffect>
                                    <p:set>
                                      <p:cBhvr>
                                        <p:cTn id="26" dur="1" fill="hold">
                                          <p:stCondLst>
                                            <p:cond delay="499"/>
                                          </p:stCondLst>
                                        </p:cTn>
                                        <p:tgtEl>
                                          <p:spTgt spid="12"/>
                                        </p:tgtEl>
                                        <p:attrNameLst>
                                          <p:attrName>style.visibility</p:attrName>
                                        </p:attrNameLst>
                                      </p:cBhvr>
                                      <p:to>
                                        <p:strVal val="hidden"/>
                                      </p:to>
                                    </p:set>
                                  </p:childTnLst>
                                </p:cTn>
                              </p:par>
                              <p:par>
                                <p:cTn id="27" presetID="10" presetClass="exit" presetSubtype="0" fill="hold" grpId="0" nodeType="withEffect">
                                  <p:stCondLst>
                                    <p:cond delay="500"/>
                                  </p:stCondLst>
                                  <p:childTnLst>
                                    <p:animEffect transition="out" filter="fade">
                                      <p:cBhvr>
                                        <p:cTn id="28" dur="500"/>
                                        <p:tgtEl>
                                          <p:spTgt spid="14"/>
                                        </p:tgtEl>
                                      </p:cBhvr>
                                    </p:animEffect>
                                    <p:set>
                                      <p:cBhvr>
                                        <p:cTn id="29" dur="1" fill="hold">
                                          <p:stCondLst>
                                            <p:cond delay="499"/>
                                          </p:stCondLst>
                                        </p:cTn>
                                        <p:tgtEl>
                                          <p:spTgt spid="14"/>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0" nodeType="clickEffect">
                                  <p:stCondLst>
                                    <p:cond delay="0"/>
                                  </p:stCondLst>
                                  <p:childTnLst>
                                    <p:animEffect transition="out" filter="fade">
                                      <p:cBhvr>
                                        <p:cTn id="33" dur="500"/>
                                        <p:tgtEl>
                                          <p:spTgt spid="10"/>
                                        </p:tgtEl>
                                      </p:cBhvr>
                                    </p:animEffect>
                                    <p:set>
                                      <p:cBhvr>
                                        <p:cTn id="34" dur="1" fill="hold">
                                          <p:stCondLst>
                                            <p:cond delay="499"/>
                                          </p:stCondLst>
                                        </p:cTn>
                                        <p:tgtEl>
                                          <p:spTgt spid="10"/>
                                        </p:tgtEl>
                                        <p:attrNameLst>
                                          <p:attrName>style.visibility</p:attrName>
                                        </p:attrNameLst>
                                      </p:cBhvr>
                                      <p:to>
                                        <p:strVal val="hidden"/>
                                      </p:to>
                                    </p:set>
                                  </p:childTnLst>
                                </p:cTn>
                              </p:par>
                              <p:par>
                                <p:cTn id="35" presetID="10" presetClass="exit" presetSubtype="0" fill="hold" grpId="0" nodeType="withEffect">
                                  <p:stCondLst>
                                    <p:cond delay="500"/>
                                  </p:stCondLst>
                                  <p:childTnLst>
                                    <p:animEffect transition="out" filter="fade">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609600"/>
            <a:ext cx="8686799" cy="9679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In ANOVA designs, the estimated parameters represent the mean of the first group and the difference of the means of other groups from it</a:t>
            </a:r>
          </a:p>
        </p:txBody>
      </p:sp>
      <p:graphicFrame>
        <p:nvGraphicFramePr>
          <p:cNvPr id="4" name="Table 3"/>
          <p:cNvGraphicFramePr>
            <a:graphicFrameLocks noGrp="1"/>
          </p:cNvGraphicFramePr>
          <p:nvPr>
            <p:extLst>
              <p:ext uri="{D42A27DB-BD31-4B8C-83A1-F6EECF244321}">
                <p14:modId xmlns:p14="http://schemas.microsoft.com/office/powerpoint/2010/main" val="204153100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ANOVA:</a:t>
                      </a:r>
                      <a:r>
                        <a:rPr lang="en-US" baseline="0" dirty="0">
                          <a:solidFill>
                            <a:schemeClr val="tx2">
                              <a:lumMod val="75000"/>
                            </a:schemeClr>
                          </a:solidFill>
                        </a:rPr>
                        <a:t> the meaning of b</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13</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2" name="TextBox 1"/>
              <p:cNvSpPr txBox="1"/>
              <p:nvPr/>
            </p:nvSpPr>
            <p:spPr>
              <a:xfrm>
                <a:off x="624021" y="2819400"/>
                <a:ext cx="2048638" cy="21781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0" smtClean="0">
                          <a:solidFill>
                            <a:schemeClr val="tx1">
                              <a:lumMod val="75000"/>
                              <a:lumOff val="25000"/>
                            </a:schemeClr>
                          </a:solidFill>
                          <a:latin typeface="Cambria Math"/>
                        </a:rPr>
                        <m:t>𝐗</m:t>
                      </m:r>
                      <m:r>
                        <a:rPr lang="en-US" b="0" i="1" smtClean="0">
                          <a:solidFill>
                            <a:schemeClr val="tx1">
                              <a:lumMod val="75000"/>
                              <a:lumOff val="25000"/>
                            </a:schemeClr>
                          </a:solidFill>
                          <a:latin typeface="Cambria Math"/>
                        </a:rPr>
                        <m:t>=</m:t>
                      </m:r>
                      <m:d>
                        <m:dPr>
                          <m:begChr m:val="["/>
                          <m:endChr m:val="]"/>
                          <m:ctrlPr>
                            <a:rPr lang="en-US" b="0" i="1" smtClean="0">
                              <a:solidFill>
                                <a:schemeClr val="tx1">
                                  <a:lumMod val="75000"/>
                                  <a:lumOff val="25000"/>
                                </a:schemeClr>
                              </a:solidFill>
                              <a:latin typeface="Cambria Math" panose="02040503050406030204" pitchFamily="18" charset="0"/>
                            </a:rPr>
                          </m:ctrlPr>
                        </m:dPr>
                        <m:e>
                          <m:m>
                            <m:mPr>
                              <m:mcs>
                                <m:mc>
                                  <m:mcPr>
                                    <m:count m:val="4"/>
                                    <m:mcJc m:val="center"/>
                                  </m:mcPr>
                                </m:mc>
                              </m:mcs>
                              <m:ctrlPr>
                                <a:rPr lang="en-US" b="0" i="1" smtClean="0">
                                  <a:solidFill>
                                    <a:schemeClr val="tx1">
                                      <a:lumMod val="75000"/>
                                      <a:lumOff val="25000"/>
                                    </a:schemeClr>
                                  </a:solidFill>
                                  <a:latin typeface="Cambria Math" panose="02040503050406030204" pitchFamily="18" charset="0"/>
                                </a:rPr>
                              </m:ctrlPr>
                            </m:mPr>
                            <m:mr>
                              <m:e>
                                <m:r>
                                  <m:rPr>
                                    <m:brk m:alnAt="7"/>
                                  </m:rP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1</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m:t>
                                </m:r>
                              </m:e>
                              <m:e>
                                <m:r>
                                  <a:rPr lang="en-US" i="1">
                                    <a:solidFill>
                                      <a:schemeClr val="tx1">
                                        <a:lumMod val="75000"/>
                                        <a:lumOff val="25000"/>
                                      </a:schemeClr>
                                    </a:solidFill>
                                    <a:latin typeface="Cambria Math"/>
                                  </a:rPr>
                                  <m:t>⋮</m:t>
                                </m:r>
                              </m:e>
                              <m:e>
                                <m:r>
                                  <a:rPr lang="en-US" i="1">
                                    <a:solidFill>
                                      <a:schemeClr val="tx1">
                                        <a:lumMod val="75000"/>
                                        <a:lumOff val="25000"/>
                                      </a:schemeClr>
                                    </a:solidFill>
                                    <a:latin typeface="Cambria Math"/>
                                  </a:rPr>
                                  <m:t>⋮</m:t>
                                </m:r>
                              </m:e>
                              <m:e>
                                <m:r>
                                  <a:rPr lang="en-US" i="1">
                                    <a:solidFill>
                                      <a:schemeClr val="tx1">
                                        <a:lumMod val="75000"/>
                                        <a:lumOff val="25000"/>
                                      </a:schemeClr>
                                    </a:solidFill>
                                    <a:latin typeface="Cambria Math"/>
                                  </a:rPr>
                                  <m:t>⋮</m:t>
                                </m:r>
                              </m:e>
                            </m:mr>
                          </m:m>
                        </m:e>
                      </m:d>
                    </m:oMath>
                  </m:oMathPara>
                </a14:m>
                <a:endParaRPr lang="en-US" dirty="0">
                  <a:solidFill>
                    <a:schemeClr val="tx1">
                      <a:lumMod val="75000"/>
                      <a:lumOff val="25000"/>
                    </a:schemeClr>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24021" y="2819400"/>
                <a:ext cx="2048638" cy="2178160"/>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715000" y="1857325"/>
                <a:ext cx="2667000" cy="646331"/>
              </a:xfrm>
              <a:prstGeom prst="rect">
                <a:avLst/>
              </a:prstGeom>
              <a:solidFill>
                <a:schemeClr val="accent1">
                  <a:lumMod val="20000"/>
                  <a:lumOff val="80000"/>
                </a:schemeClr>
              </a:solidFill>
            </p:spPr>
            <p:txBody>
              <a:bodyPr wrap="square" rtlCol="0">
                <a:spAutoFit/>
              </a:bodyPr>
              <a:lstStyle/>
              <a:p>
                <a14:m>
                  <m:oMath xmlns:m="http://schemas.openxmlformats.org/officeDocument/2006/math">
                    <m:sSub>
                      <m:sSubPr>
                        <m:ctrlPr>
                          <a:rPr lang="en-US"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𝑏</m:t>
                        </m:r>
                      </m:e>
                      <m:sub>
                        <m:r>
                          <a:rPr lang="en-US" b="0" i="1" smtClean="0">
                            <a:solidFill>
                              <a:schemeClr val="tx1">
                                <a:lumMod val="75000"/>
                                <a:lumOff val="25000"/>
                              </a:schemeClr>
                            </a:solidFill>
                            <a:latin typeface="Cambria Math"/>
                          </a:rPr>
                          <m:t>2</m:t>
                        </m:r>
                      </m:sub>
                    </m:sSub>
                  </m:oMath>
                </a14:m>
                <a:r>
                  <a:rPr lang="en-US" dirty="0">
                    <a:solidFill>
                      <a:schemeClr val="tx1">
                        <a:lumMod val="75000"/>
                        <a:lumOff val="25000"/>
                      </a:schemeClr>
                    </a:solidFill>
                  </a:rPr>
                  <a:t>: difference of mean of group 3 from group 1… </a:t>
                </a:r>
                <a:r>
                  <a:rPr lang="en-US" dirty="0" err="1">
                    <a:solidFill>
                      <a:schemeClr val="tx1">
                        <a:lumMod val="75000"/>
                        <a:lumOff val="25000"/>
                      </a:schemeClr>
                    </a:solidFill>
                  </a:rPr>
                  <a:t>etc</a:t>
                </a:r>
                <a:endParaRPr lang="en-US" dirty="0">
                  <a:solidFill>
                    <a:schemeClr val="tx1">
                      <a:lumMod val="75000"/>
                      <a:lumOff val="25000"/>
                    </a:schemeClr>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5715000" y="1857325"/>
                <a:ext cx="2667000" cy="646331"/>
              </a:xfrm>
              <a:prstGeom prst="rect">
                <a:avLst/>
              </a:prstGeom>
              <a:blipFill rotWithShape="1">
                <a:blip r:embed="rId3"/>
                <a:stretch>
                  <a:fillRect l="-2059" t="-4717" r="-1831" b="-14151"/>
                </a:stretch>
              </a:blipFill>
            </p:spPr>
            <p:txBody>
              <a:bodyPr/>
              <a:lstStyle/>
              <a:p>
                <a:r>
                  <a:rPr lang="en-US">
                    <a:noFill/>
                  </a:rPr>
                  <a:t> </a:t>
                </a:r>
              </a:p>
            </p:txBody>
          </p:sp>
        </mc:Fallback>
      </mc:AlternateContent>
      <p:grpSp>
        <p:nvGrpSpPr>
          <p:cNvPr id="25" name="Group 24"/>
          <p:cNvGrpSpPr/>
          <p:nvPr/>
        </p:nvGrpSpPr>
        <p:grpSpPr>
          <a:xfrm>
            <a:off x="35169" y="1995826"/>
            <a:ext cx="2151615" cy="841159"/>
            <a:chOff x="35169" y="1995826"/>
            <a:chExt cx="2151615" cy="841159"/>
          </a:xfrm>
        </p:grpSpPr>
        <mc:AlternateContent xmlns:mc="http://schemas.openxmlformats.org/markup-compatibility/2006" xmlns:a14="http://schemas.microsoft.com/office/drawing/2010/main">
          <mc:Choice Requires="a14">
            <p:sp>
              <p:nvSpPr>
                <p:cNvPr id="6" name="TextBox 5"/>
                <p:cNvSpPr txBox="1"/>
                <p:nvPr/>
              </p:nvSpPr>
              <p:spPr>
                <a:xfrm>
                  <a:off x="35169" y="1995826"/>
                  <a:ext cx="2151615" cy="369332"/>
                </a:xfrm>
                <a:prstGeom prst="rect">
                  <a:avLst/>
                </a:prstGeom>
                <a:solidFill>
                  <a:schemeClr val="accent1">
                    <a:lumMod val="20000"/>
                    <a:lumOff val="80000"/>
                  </a:schemeClr>
                </a:solidFill>
              </p:spPr>
              <p:txBody>
                <a:bodyPr wrap="none" rtlCol="0">
                  <a:spAutoFit/>
                </a:bodyPr>
                <a:lstStyle/>
                <a:p>
                  <a14:m>
                    <m:oMath xmlns:m="http://schemas.openxmlformats.org/officeDocument/2006/math">
                      <m:sSub>
                        <m:sSubPr>
                          <m:ctrlPr>
                            <a:rPr lang="en-US"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𝑏</m:t>
                          </m:r>
                        </m:e>
                        <m:sub>
                          <m:r>
                            <a:rPr lang="en-US" b="0" i="1" smtClean="0">
                              <a:solidFill>
                                <a:schemeClr val="tx1">
                                  <a:lumMod val="75000"/>
                                  <a:lumOff val="25000"/>
                                </a:schemeClr>
                              </a:solidFill>
                              <a:latin typeface="Cambria Math"/>
                            </a:rPr>
                            <m:t>0</m:t>
                          </m:r>
                        </m:sub>
                      </m:sSub>
                    </m:oMath>
                  </a14:m>
                  <a:r>
                    <a:rPr lang="en-US" dirty="0">
                      <a:solidFill>
                        <a:schemeClr val="tx1">
                          <a:lumMod val="75000"/>
                          <a:lumOff val="25000"/>
                        </a:schemeClr>
                      </a:solidFill>
                    </a:rPr>
                    <a:t>: mean for group 1</a:t>
                  </a:r>
                </a:p>
              </p:txBody>
            </p:sp>
          </mc:Choice>
          <mc:Fallback xmlns="">
            <p:sp>
              <p:nvSpPr>
                <p:cNvPr id="6" name="TextBox 5"/>
                <p:cNvSpPr txBox="1">
                  <a:spLocks noRot="1" noChangeAspect="1" noMove="1" noResize="1" noEditPoints="1" noAdjustHandles="1" noChangeArrowheads="1" noChangeShapeType="1" noTextEdit="1"/>
                </p:cNvSpPr>
                <p:nvPr/>
              </p:nvSpPr>
              <p:spPr>
                <a:xfrm>
                  <a:off x="35169" y="1995826"/>
                  <a:ext cx="2151615" cy="369332"/>
                </a:xfrm>
                <a:prstGeom prst="rect">
                  <a:avLst/>
                </a:prstGeom>
                <a:blipFill rotWithShape="1">
                  <a:blip r:embed="rId4"/>
                  <a:stretch>
                    <a:fillRect t="-8197" r="-1416" b="-24590"/>
                  </a:stretch>
                </a:blipFill>
              </p:spPr>
              <p:txBody>
                <a:bodyPr/>
                <a:lstStyle/>
                <a:p>
                  <a:r>
                    <a:rPr lang="en-US">
                      <a:noFill/>
                    </a:rPr>
                    <a:t> </a:t>
                  </a:r>
                </a:p>
              </p:txBody>
            </p:sp>
          </mc:Fallback>
        </mc:AlternateContent>
        <p:cxnSp>
          <p:nvCxnSpPr>
            <p:cNvPr id="8" name="Straight Arrow Connector 7"/>
            <p:cNvCxnSpPr>
              <a:stCxn id="6" idx="2"/>
            </p:cNvCxnSpPr>
            <p:nvPr/>
          </p:nvCxnSpPr>
          <p:spPr>
            <a:xfrm>
              <a:off x="1110977" y="2365158"/>
              <a:ext cx="146323" cy="47182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1752600" y="1857326"/>
            <a:ext cx="3810000" cy="979659"/>
            <a:chOff x="1752600" y="1857326"/>
            <a:chExt cx="3810000" cy="979659"/>
          </a:xfrm>
        </p:grpSpPr>
        <mc:AlternateContent xmlns:mc="http://schemas.openxmlformats.org/markup-compatibility/2006" xmlns:a14="http://schemas.microsoft.com/office/drawing/2010/main">
          <mc:Choice Requires="a14">
            <p:sp>
              <p:nvSpPr>
                <p:cNvPr id="11" name="TextBox 10"/>
                <p:cNvSpPr txBox="1"/>
                <p:nvPr/>
              </p:nvSpPr>
              <p:spPr>
                <a:xfrm>
                  <a:off x="2895600" y="1857326"/>
                  <a:ext cx="2667000" cy="646331"/>
                </a:xfrm>
                <a:prstGeom prst="rect">
                  <a:avLst/>
                </a:prstGeom>
                <a:solidFill>
                  <a:schemeClr val="accent1">
                    <a:lumMod val="20000"/>
                    <a:lumOff val="80000"/>
                  </a:schemeClr>
                </a:solidFill>
              </p:spPr>
              <p:txBody>
                <a:bodyPr wrap="square" rtlCol="0">
                  <a:spAutoFit/>
                </a:bodyPr>
                <a:lstStyle/>
                <a:p>
                  <a14:m>
                    <m:oMath xmlns:m="http://schemas.openxmlformats.org/officeDocument/2006/math">
                      <m:sSub>
                        <m:sSubPr>
                          <m:ctrlPr>
                            <a:rPr lang="en-US"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𝑏</m:t>
                          </m:r>
                        </m:e>
                        <m:sub>
                          <m:r>
                            <a:rPr lang="en-US" b="0" i="1" smtClean="0">
                              <a:solidFill>
                                <a:schemeClr val="tx1">
                                  <a:lumMod val="75000"/>
                                  <a:lumOff val="25000"/>
                                </a:schemeClr>
                              </a:solidFill>
                              <a:latin typeface="Cambria Math"/>
                            </a:rPr>
                            <m:t>1</m:t>
                          </m:r>
                        </m:sub>
                      </m:sSub>
                    </m:oMath>
                  </a14:m>
                  <a:r>
                    <a:rPr lang="en-US" dirty="0">
                      <a:solidFill>
                        <a:schemeClr val="tx1">
                          <a:lumMod val="75000"/>
                          <a:lumOff val="25000"/>
                        </a:schemeClr>
                      </a:solidFill>
                    </a:rPr>
                    <a:t>: difference of mean of group 2 from group 1</a:t>
                  </a:r>
                </a:p>
              </p:txBody>
            </p:sp>
          </mc:Choice>
          <mc:Fallback xmlns="">
            <p:sp>
              <p:nvSpPr>
                <p:cNvPr id="11" name="TextBox 10"/>
                <p:cNvSpPr txBox="1">
                  <a:spLocks noRot="1" noChangeAspect="1" noMove="1" noResize="1" noEditPoints="1" noAdjustHandles="1" noChangeArrowheads="1" noChangeShapeType="1" noTextEdit="1"/>
                </p:cNvSpPr>
                <p:nvPr/>
              </p:nvSpPr>
              <p:spPr>
                <a:xfrm>
                  <a:off x="2895600" y="1857326"/>
                  <a:ext cx="2667000" cy="646331"/>
                </a:xfrm>
                <a:prstGeom prst="rect">
                  <a:avLst/>
                </a:prstGeom>
                <a:blipFill rotWithShape="1">
                  <a:blip r:embed="rId5"/>
                  <a:stretch>
                    <a:fillRect l="-1826" t="-4717" b="-14151"/>
                  </a:stretch>
                </a:blipFill>
              </p:spPr>
              <p:txBody>
                <a:bodyPr/>
                <a:lstStyle/>
                <a:p>
                  <a:r>
                    <a:rPr lang="en-US">
                      <a:noFill/>
                    </a:rPr>
                    <a:t> </a:t>
                  </a:r>
                </a:p>
              </p:txBody>
            </p:sp>
          </mc:Fallback>
        </mc:AlternateContent>
        <p:cxnSp>
          <p:nvCxnSpPr>
            <p:cNvPr id="17" name="Straight Arrow Connector 16"/>
            <p:cNvCxnSpPr>
              <a:stCxn id="11" idx="1"/>
            </p:cNvCxnSpPr>
            <p:nvPr/>
          </p:nvCxnSpPr>
          <p:spPr>
            <a:xfrm flipH="1">
              <a:off x="1752600" y="2180492"/>
              <a:ext cx="1143000" cy="65649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9" name="TextBox 18"/>
              <p:cNvSpPr txBox="1"/>
              <p:nvPr/>
            </p:nvSpPr>
            <p:spPr>
              <a:xfrm>
                <a:off x="3733801" y="2590800"/>
                <a:ext cx="5257799" cy="42473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Dummy variables work like switches: 0 turns the light off; 1 turns the light on</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For instance, for group 3:</a:t>
                </a:r>
              </a:p>
              <a:p>
                <a:pPr algn="ctr">
                  <a:lnSpc>
                    <a:spcPct val="150000"/>
                  </a:lnSpc>
                </a:pPr>
                <a14:m>
                  <m:oMathPara xmlns:m="http://schemas.openxmlformats.org/officeDocument/2006/math">
                    <m:oMathParaPr>
                      <m:jc m:val="center"/>
                    </m:oMathParaPr>
                    <m:oMath xmlns:m="http://schemas.openxmlformats.org/officeDocument/2006/math">
                      <m:acc>
                        <m:accPr>
                          <m:chr m:val="̂"/>
                          <m:ctrlPr>
                            <a:rPr lang="en-US" sz="2000" i="1" smtClean="0">
                              <a:solidFill>
                                <a:schemeClr val="tx1">
                                  <a:lumMod val="75000"/>
                                  <a:lumOff val="25000"/>
                                </a:schemeClr>
                              </a:solidFill>
                              <a:latin typeface="Cambria Math" panose="02040503050406030204" pitchFamily="18" charset="0"/>
                            </a:rPr>
                          </m:ctrlPr>
                        </m:accPr>
                        <m:e>
                          <m:r>
                            <a:rPr lang="en-US" sz="2000" b="0" i="1" smtClean="0">
                              <a:solidFill>
                                <a:schemeClr val="tx1">
                                  <a:lumMod val="75000"/>
                                  <a:lumOff val="25000"/>
                                </a:schemeClr>
                              </a:solidFill>
                              <a:latin typeface="Cambria Math"/>
                            </a:rPr>
                            <m:t>𝑦</m:t>
                          </m:r>
                        </m:e>
                      </m:acc>
                      <m:r>
                        <a:rPr lang="en-US" sz="2000" b="0" i="1" smtClean="0">
                          <a:solidFill>
                            <a:schemeClr val="tx1">
                              <a:lumMod val="75000"/>
                              <a:lumOff val="25000"/>
                            </a:schemeClr>
                          </a:solidFill>
                          <a:latin typeface="Cambria Math"/>
                        </a:rPr>
                        <m:t>= </m:t>
                      </m:r>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0</m:t>
                          </m:r>
                        </m:sub>
                      </m:sSub>
                      <m:r>
                        <a:rPr lang="en-US" sz="2000" b="0" i="1" smtClean="0">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1</m:t>
                          </m:r>
                        </m:sub>
                      </m:sSub>
                      <m:sSub>
                        <m:sSubPr>
                          <m:ctrlPr>
                            <a:rPr lang="en-US" sz="2000" i="1">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𝑥</m:t>
                          </m:r>
                        </m:e>
                        <m:sub>
                          <m:r>
                            <a:rPr lang="en-US" sz="2000" b="0" i="1" smtClean="0">
                              <a:solidFill>
                                <a:schemeClr val="tx1">
                                  <a:lumMod val="75000"/>
                                  <a:lumOff val="25000"/>
                                </a:schemeClr>
                              </a:solidFill>
                              <a:latin typeface="Cambria Math"/>
                            </a:rPr>
                            <m:t>1</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2</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𝑥</m:t>
                          </m:r>
                        </m:e>
                        <m:sub>
                          <m:r>
                            <a:rPr lang="en-US" sz="2000" b="0" i="1" smtClean="0">
                              <a:solidFill>
                                <a:schemeClr val="tx1">
                                  <a:lumMod val="75000"/>
                                  <a:lumOff val="25000"/>
                                </a:schemeClr>
                              </a:solidFill>
                              <a:latin typeface="Cambria Math"/>
                            </a:rPr>
                            <m:t>2</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3</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𝑥</m:t>
                          </m:r>
                        </m:e>
                        <m:sub>
                          <m:r>
                            <a:rPr lang="en-US" sz="2000" b="0" i="1" smtClean="0">
                              <a:solidFill>
                                <a:schemeClr val="tx1">
                                  <a:lumMod val="75000"/>
                                  <a:lumOff val="25000"/>
                                </a:schemeClr>
                              </a:solidFill>
                              <a:latin typeface="Cambria Math"/>
                            </a:rPr>
                            <m:t>3</m:t>
                          </m:r>
                        </m:sub>
                      </m:sSub>
                    </m:oMath>
                  </m:oMathPara>
                </a14:m>
                <a:endParaRPr lang="en-US" sz="2000" dirty="0">
                  <a:solidFill>
                    <a:schemeClr val="tx1">
                      <a:lumMod val="75000"/>
                      <a:lumOff val="25000"/>
                    </a:schemeClr>
                  </a:solidFill>
                </a:endParaRPr>
              </a:p>
              <a:p>
                <a:pPr algn="ctr">
                  <a:lnSpc>
                    <a:spcPct val="150000"/>
                  </a:lnSpc>
                </a:pPr>
                <a14:m>
                  <m:oMathPara xmlns:m="http://schemas.openxmlformats.org/officeDocument/2006/math">
                    <m:oMathParaPr>
                      <m:jc m:val="center"/>
                    </m:oMathParaPr>
                    <m:oMath xmlns:m="http://schemas.openxmlformats.org/officeDocument/2006/math">
                      <m:acc>
                        <m:accPr>
                          <m:chr m:val="̂"/>
                          <m:ctrlPr>
                            <a:rPr lang="en-US" sz="2000" i="1">
                              <a:solidFill>
                                <a:schemeClr val="tx1">
                                  <a:lumMod val="75000"/>
                                  <a:lumOff val="25000"/>
                                </a:schemeClr>
                              </a:solidFill>
                              <a:latin typeface="Cambria Math" panose="02040503050406030204" pitchFamily="18" charset="0"/>
                            </a:rPr>
                          </m:ctrlPr>
                        </m:accPr>
                        <m:e>
                          <m:r>
                            <a:rPr lang="en-US" sz="2000" i="1">
                              <a:solidFill>
                                <a:schemeClr val="tx1">
                                  <a:lumMod val="75000"/>
                                  <a:lumOff val="25000"/>
                                </a:schemeClr>
                              </a:solidFill>
                              <a:latin typeface="Cambria Math"/>
                            </a:rPr>
                            <m:t>𝑦</m:t>
                          </m:r>
                        </m:e>
                      </m:acc>
                      <m:r>
                        <a:rPr lang="en-US" sz="2000" i="1">
                          <a:solidFill>
                            <a:schemeClr val="tx1">
                              <a:lumMod val="75000"/>
                              <a:lumOff val="25000"/>
                            </a:schemeClr>
                          </a:solidFill>
                          <a:latin typeface="Cambria Math"/>
                        </a:rPr>
                        <m:t>= </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0</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1</m:t>
                          </m:r>
                        </m:sub>
                      </m:sSub>
                      <m:r>
                        <a:rPr lang="en-US" sz="2000" b="0" i="1" smtClean="0">
                          <a:solidFill>
                            <a:schemeClr val="tx1">
                              <a:lumMod val="75000"/>
                              <a:lumOff val="25000"/>
                            </a:schemeClr>
                          </a:solidFill>
                          <a:latin typeface="Cambria Math"/>
                        </a:rPr>
                        <m:t>0</m:t>
                      </m:r>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2</m:t>
                          </m:r>
                        </m:sub>
                      </m:sSub>
                      <m:r>
                        <a:rPr lang="en-US" sz="2000" b="0" i="1" smtClean="0">
                          <a:solidFill>
                            <a:schemeClr val="tx1">
                              <a:lumMod val="75000"/>
                              <a:lumOff val="25000"/>
                            </a:schemeClr>
                          </a:solidFill>
                          <a:latin typeface="Cambria Math"/>
                        </a:rPr>
                        <m:t>1</m:t>
                      </m:r>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3</m:t>
                          </m:r>
                        </m:sub>
                      </m:sSub>
                      <m:r>
                        <a:rPr lang="en-US" sz="2000" b="0" i="1" smtClean="0">
                          <a:solidFill>
                            <a:schemeClr val="tx1">
                              <a:lumMod val="75000"/>
                              <a:lumOff val="25000"/>
                            </a:schemeClr>
                          </a:solidFill>
                          <a:latin typeface="Cambria Math"/>
                        </a:rPr>
                        <m:t>0</m:t>
                      </m:r>
                    </m:oMath>
                  </m:oMathPara>
                </a14:m>
                <a:endParaRPr lang="en-US" sz="2000" dirty="0">
                  <a:solidFill>
                    <a:schemeClr val="tx1">
                      <a:lumMod val="75000"/>
                      <a:lumOff val="25000"/>
                    </a:schemeClr>
                  </a:solidFill>
                </a:endParaRPr>
              </a:p>
              <a:p>
                <a:pPr algn="ctr">
                  <a:lnSpc>
                    <a:spcPct val="150000"/>
                  </a:lnSpc>
                </a:pPr>
                <a14:m>
                  <m:oMathPara xmlns:m="http://schemas.openxmlformats.org/officeDocument/2006/math">
                    <m:oMathParaPr>
                      <m:jc m:val="center"/>
                    </m:oMathParaPr>
                    <m:oMath xmlns:m="http://schemas.openxmlformats.org/officeDocument/2006/math">
                      <m:acc>
                        <m:accPr>
                          <m:chr m:val="̂"/>
                          <m:ctrlPr>
                            <a:rPr lang="en-US" sz="2000" i="1">
                              <a:solidFill>
                                <a:schemeClr val="tx1">
                                  <a:lumMod val="75000"/>
                                  <a:lumOff val="25000"/>
                                </a:schemeClr>
                              </a:solidFill>
                              <a:latin typeface="Cambria Math" panose="02040503050406030204" pitchFamily="18" charset="0"/>
                            </a:rPr>
                          </m:ctrlPr>
                        </m:accPr>
                        <m:e>
                          <m:r>
                            <a:rPr lang="en-US" sz="2000" i="1">
                              <a:solidFill>
                                <a:schemeClr val="tx1">
                                  <a:lumMod val="75000"/>
                                  <a:lumOff val="25000"/>
                                </a:schemeClr>
                              </a:solidFill>
                              <a:latin typeface="Cambria Math"/>
                            </a:rPr>
                            <m:t>𝑦</m:t>
                          </m:r>
                        </m:e>
                      </m:acc>
                      <m:r>
                        <a:rPr lang="en-US" sz="2000" i="1">
                          <a:solidFill>
                            <a:schemeClr val="tx1">
                              <a:lumMod val="75000"/>
                              <a:lumOff val="25000"/>
                            </a:schemeClr>
                          </a:solidFill>
                          <a:latin typeface="Cambria Math"/>
                        </a:rPr>
                        <m:t>= </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0</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2</m:t>
                          </m:r>
                        </m:sub>
                      </m:sSub>
                    </m:oMath>
                  </m:oMathPara>
                </a14:m>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The mean (predicted value) for group 3 is the mean of group 1 (b</a:t>
                </a:r>
                <a:r>
                  <a:rPr lang="en-US" sz="2000" baseline="-25000" dirty="0">
                    <a:solidFill>
                      <a:schemeClr val="tx1">
                        <a:lumMod val="75000"/>
                        <a:lumOff val="25000"/>
                      </a:schemeClr>
                    </a:solidFill>
                  </a:rPr>
                  <a:t>0</a:t>
                </a:r>
                <a:r>
                  <a:rPr lang="en-US" sz="2000" dirty="0">
                    <a:solidFill>
                      <a:schemeClr val="tx1">
                        <a:lumMod val="75000"/>
                        <a:lumOff val="25000"/>
                      </a:schemeClr>
                    </a:solidFill>
                  </a:rPr>
                  <a:t>) plus the adjustment for group 3 (b</a:t>
                </a:r>
                <a:r>
                  <a:rPr lang="en-US" sz="2000" baseline="-25000" dirty="0">
                    <a:solidFill>
                      <a:schemeClr val="tx1">
                        <a:lumMod val="75000"/>
                        <a:lumOff val="25000"/>
                      </a:schemeClr>
                    </a:solidFill>
                  </a:rPr>
                  <a:t>2</a:t>
                </a:r>
                <a:r>
                  <a:rPr lang="en-US" sz="2000" dirty="0">
                    <a:solidFill>
                      <a:schemeClr val="tx1">
                        <a:lumMod val="75000"/>
                        <a:lumOff val="25000"/>
                      </a:schemeClr>
                    </a:solidFill>
                  </a:rPr>
                  <a:t>)</a:t>
                </a:r>
              </a:p>
            </p:txBody>
          </p:sp>
        </mc:Choice>
        <mc:Fallback xmlns="">
          <p:sp>
            <p:nvSpPr>
              <p:cNvPr id="19" name="TextBox 18"/>
              <p:cNvSpPr txBox="1">
                <a:spLocks noRot="1" noChangeAspect="1" noMove="1" noResize="1" noEditPoints="1" noAdjustHandles="1" noChangeArrowheads="1" noChangeShapeType="1" noTextEdit="1"/>
              </p:cNvSpPr>
              <p:nvPr/>
            </p:nvSpPr>
            <p:spPr>
              <a:xfrm>
                <a:off x="3733801" y="2590800"/>
                <a:ext cx="5257799" cy="4247317"/>
              </a:xfrm>
              <a:prstGeom prst="rect">
                <a:avLst/>
              </a:prstGeom>
              <a:blipFill rotWithShape="1">
                <a:blip r:embed="rId6"/>
                <a:stretch>
                  <a:fillRect l="-1044" b="-430"/>
                </a:stretch>
              </a:blipFill>
            </p:spPr>
            <p:txBody>
              <a:bodyPr/>
              <a:lstStyle/>
              <a:p>
                <a:r>
                  <a:rPr lang="en-US">
                    <a:noFill/>
                  </a:rPr>
                  <a:t> </a:t>
                </a:r>
              </a:p>
            </p:txBody>
          </p:sp>
        </mc:Fallback>
      </mc:AlternateContent>
      <p:sp>
        <p:nvSpPr>
          <p:cNvPr id="24" name="Rectangle 23"/>
          <p:cNvSpPr/>
          <p:nvPr/>
        </p:nvSpPr>
        <p:spPr>
          <a:xfrm>
            <a:off x="1905000" y="2836985"/>
            <a:ext cx="281784" cy="2160575"/>
          </a:xfrm>
          <a:prstGeom prst="rect">
            <a:avLst/>
          </a:prstGeom>
          <a:solidFill>
            <a:schemeClr val="accent3">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852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wipe(up)">
                                      <p:cBhvr>
                                        <p:cTn id="14" dur="500"/>
                                        <p:tgtEl>
                                          <p:spTgt spid="25"/>
                                        </p:tgtEl>
                                      </p:cBhvr>
                                    </p:animEffect>
                                  </p:childTnLst>
                                </p:cTn>
                              </p:par>
                            </p:childTnLst>
                          </p:cTn>
                        </p:par>
                        <p:par>
                          <p:cTn id="15" fill="hold">
                            <p:stCondLst>
                              <p:cond delay="1000"/>
                            </p:stCondLst>
                            <p:childTnLst>
                              <p:par>
                                <p:cTn id="16" presetID="22" presetClass="entr" presetSubtype="2" fill="hold" nodeType="after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right)">
                                      <p:cBhvr>
                                        <p:cTn id="18" dur="500"/>
                                        <p:tgtEl>
                                          <p:spTgt spid="26"/>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animEffect transition="in" filter="fade">
                                      <p:cBhvr>
                                        <p:cTn id="27" dur="500"/>
                                        <p:tgtEl>
                                          <p:spTgt spid="19">
                                            <p:txEl>
                                              <p:pRg st="0" end="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xEl>
                                              <p:pRg st="1" end="1"/>
                                            </p:txEl>
                                          </p:spTgt>
                                        </p:tgtEl>
                                        <p:attrNameLst>
                                          <p:attrName>style.visibility</p:attrName>
                                        </p:attrNameLst>
                                      </p:cBhvr>
                                      <p:to>
                                        <p:strVal val="visible"/>
                                      </p:to>
                                    </p:set>
                                    <p:animEffect transition="in" filter="fade">
                                      <p:cBhvr>
                                        <p:cTn id="30" dur="500"/>
                                        <p:tgtEl>
                                          <p:spTgt spid="19">
                                            <p:txEl>
                                              <p:pRg st="1" end="1"/>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9">
                                            <p:txEl>
                                              <p:pRg st="2" end="2"/>
                                            </p:txEl>
                                          </p:spTgt>
                                        </p:tgtEl>
                                        <p:attrNameLst>
                                          <p:attrName>style.visibility</p:attrName>
                                        </p:attrNameLst>
                                      </p:cBhvr>
                                      <p:to>
                                        <p:strVal val="visible"/>
                                      </p:to>
                                    </p:set>
                                    <p:animEffect transition="in" filter="fade">
                                      <p:cBhvr>
                                        <p:cTn id="33" dur="500"/>
                                        <p:tgtEl>
                                          <p:spTgt spid="19">
                                            <p:txEl>
                                              <p:pRg st="2" end="2"/>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9">
                                            <p:txEl>
                                              <p:pRg st="3" end="3"/>
                                            </p:txEl>
                                          </p:spTgt>
                                        </p:tgtEl>
                                        <p:attrNameLst>
                                          <p:attrName>style.visibility</p:attrName>
                                        </p:attrNameLst>
                                      </p:cBhvr>
                                      <p:to>
                                        <p:strVal val="visible"/>
                                      </p:to>
                                    </p:set>
                                    <p:animEffect transition="in" filter="fade">
                                      <p:cBhvr>
                                        <p:cTn id="36" dur="500"/>
                                        <p:tgtEl>
                                          <p:spTgt spid="19">
                                            <p:txEl>
                                              <p:pRg st="3" end="3"/>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19">
                                            <p:txEl>
                                              <p:pRg st="4" end="4"/>
                                            </p:txEl>
                                          </p:spTgt>
                                        </p:tgtEl>
                                        <p:attrNameLst>
                                          <p:attrName>style.visibility</p:attrName>
                                        </p:attrNameLst>
                                      </p:cBhvr>
                                      <p:to>
                                        <p:strVal val="visible"/>
                                      </p:to>
                                    </p:set>
                                    <p:animEffect transition="in" filter="fade">
                                      <p:cBhvr>
                                        <p:cTn id="39" dur="500"/>
                                        <p:tgtEl>
                                          <p:spTgt spid="19">
                                            <p:txEl>
                                              <p:pRg st="4" end="4"/>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xEl>
                                              <p:pRg st="5" end="5"/>
                                            </p:txEl>
                                          </p:spTgt>
                                        </p:tgtEl>
                                        <p:attrNameLst>
                                          <p:attrName>style.visibility</p:attrName>
                                        </p:attrNameLst>
                                      </p:cBhvr>
                                      <p:to>
                                        <p:strVal val="visible"/>
                                      </p:to>
                                    </p:set>
                                    <p:animEffect transition="in" filter="fade">
                                      <p:cBhvr>
                                        <p:cTn id="42" dur="500"/>
                                        <p:tgtEl>
                                          <p:spTgt spid="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055283100"/>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ANOVA:</a:t>
                      </a:r>
                      <a:r>
                        <a:rPr lang="en-US" baseline="0" dirty="0">
                          <a:solidFill>
                            <a:schemeClr val="tx2">
                              <a:lumMod val="75000"/>
                            </a:schemeClr>
                          </a:solidFill>
                        </a:rPr>
                        <a:t> the meaning of b</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14</a:t>
                      </a:r>
                    </a:p>
                  </a:txBody>
                  <a:tcPr anchor="ctr"/>
                </a:tc>
                <a:extLst>
                  <a:ext uri="{0D108BD9-81ED-4DB2-BD59-A6C34878D82A}">
                    <a16:rowId xmlns:a16="http://schemas.microsoft.com/office/drawing/2014/main" val="10000"/>
                  </a:ext>
                </a:extLst>
              </a:tr>
            </a:tbl>
          </a:graphicData>
        </a:graphic>
      </p:graphicFrame>
      <p:pic>
        <p:nvPicPr>
          <p:cNvPr id="18" name="Picture 17"/>
          <p:cNvPicPr>
            <a:picLocks noChangeAspect="1"/>
          </p:cNvPicPr>
          <p:nvPr/>
        </p:nvPicPr>
        <p:blipFill rotWithShape="1">
          <a:blip r:embed="rId2">
            <a:extLst>
              <a:ext uri="{28A0092B-C50C-407E-A947-70E740481C1C}">
                <a14:useLocalDpi xmlns:a14="http://schemas.microsoft.com/office/drawing/2010/main" val="0"/>
              </a:ext>
            </a:extLst>
          </a:blip>
          <a:srcRect t="10786" r="4731"/>
          <a:stretch/>
        </p:blipFill>
        <p:spPr>
          <a:xfrm>
            <a:off x="4349406" y="3079014"/>
            <a:ext cx="4333016" cy="3778986"/>
          </a:xfrm>
          <a:prstGeom prst="rect">
            <a:avLst/>
          </a:prstGeom>
        </p:spPr>
      </p:pic>
      <p:pic>
        <p:nvPicPr>
          <p:cNvPr id="20" name="Picture 19"/>
          <p:cNvPicPr>
            <a:picLocks noChangeAspect="1"/>
          </p:cNvPicPr>
          <p:nvPr/>
        </p:nvPicPr>
        <p:blipFill rotWithShape="1">
          <a:blip r:embed="rId3">
            <a:extLst>
              <a:ext uri="{28A0092B-C50C-407E-A947-70E740481C1C}">
                <a14:useLocalDpi xmlns:a14="http://schemas.microsoft.com/office/drawing/2010/main" val="0"/>
              </a:ext>
            </a:extLst>
          </a:blip>
          <a:srcRect t="10786" r="4731"/>
          <a:stretch/>
        </p:blipFill>
        <p:spPr>
          <a:xfrm>
            <a:off x="4349406" y="3079013"/>
            <a:ext cx="4333015" cy="3778987"/>
          </a:xfrm>
          <a:prstGeom prst="rect">
            <a:avLst/>
          </a:prstGeom>
        </p:spPr>
      </p:pic>
      <p:pic>
        <p:nvPicPr>
          <p:cNvPr id="21" name="Picture 20"/>
          <p:cNvPicPr>
            <a:picLocks noChangeAspect="1"/>
          </p:cNvPicPr>
          <p:nvPr/>
        </p:nvPicPr>
        <p:blipFill rotWithShape="1">
          <a:blip r:embed="rId4">
            <a:extLst>
              <a:ext uri="{28A0092B-C50C-407E-A947-70E740481C1C}">
                <a14:useLocalDpi xmlns:a14="http://schemas.microsoft.com/office/drawing/2010/main" val="0"/>
              </a:ext>
            </a:extLst>
          </a:blip>
          <a:srcRect t="10786" r="4731"/>
          <a:stretch/>
        </p:blipFill>
        <p:spPr>
          <a:xfrm>
            <a:off x="4349406" y="3079013"/>
            <a:ext cx="4333016" cy="3778985"/>
          </a:xfrm>
          <a:prstGeom prst="rect">
            <a:avLst/>
          </a:prstGeom>
        </p:spPr>
      </p:pic>
      <p:pic>
        <p:nvPicPr>
          <p:cNvPr id="22" name="Picture 21"/>
          <p:cNvPicPr>
            <a:picLocks noChangeAspect="1"/>
          </p:cNvPicPr>
          <p:nvPr/>
        </p:nvPicPr>
        <p:blipFill rotWithShape="1">
          <a:blip r:embed="rId5">
            <a:extLst>
              <a:ext uri="{28A0092B-C50C-407E-A947-70E740481C1C}">
                <a14:useLocalDpi xmlns:a14="http://schemas.microsoft.com/office/drawing/2010/main" val="0"/>
              </a:ext>
            </a:extLst>
          </a:blip>
          <a:srcRect t="10786" r="4731"/>
          <a:stretch/>
        </p:blipFill>
        <p:spPr>
          <a:xfrm>
            <a:off x="4353785" y="3079011"/>
            <a:ext cx="4333015" cy="3778987"/>
          </a:xfrm>
          <a:prstGeom prst="rect">
            <a:avLst/>
          </a:prstGeom>
        </p:spPr>
      </p:pic>
      <p:sp>
        <p:nvSpPr>
          <p:cNvPr id="23" name="TextBox 22"/>
          <p:cNvSpPr txBox="1"/>
          <p:nvPr/>
        </p:nvSpPr>
        <p:spPr>
          <a:xfrm>
            <a:off x="524496" y="801231"/>
            <a:ext cx="3514104" cy="2246769"/>
          </a:xfrm>
          <a:prstGeom prst="rect">
            <a:avLst/>
          </a:prstGeom>
          <a:noFill/>
          <a:ln>
            <a:solidFill>
              <a:schemeClr val="tx2">
                <a:lumMod val="40000"/>
                <a:lumOff val="60000"/>
              </a:schemeClr>
            </a:solidFill>
          </a:ln>
        </p:spPr>
        <p:txBody>
          <a:bodyPr wrap="none" rtlCol="0">
            <a:spAutoFit/>
          </a:bodyPr>
          <a:lstStyle/>
          <a:p>
            <a:r>
              <a:rPr lang="en-US" sz="1400" dirty="0">
                <a:latin typeface="Courier New" panose="02070309020205020404" pitchFamily="49" charset="0"/>
                <a:cs typeface="Courier New" panose="02070309020205020404" pitchFamily="49" charset="0"/>
              </a:rPr>
              <a:t>&gt; Y &lt;- </a:t>
            </a:r>
            <a:r>
              <a:rPr lang="en-US" sz="1400" dirty="0" err="1">
                <a:latin typeface="Courier New" panose="02070309020205020404" pitchFamily="49" charset="0"/>
                <a:cs typeface="Courier New" panose="02070309020205020404" pitchFamily="49" charset="0"/>
              </a:rPr>
              <a:t>bumpus$TL</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&gt; X &lt;- </a:t>
            </a:r>
            <a:r>
              <a:rPr lang="en-US" sz="1400" dirty="0" err="1">
                <a:latin typeface="Courier New" panose="02070309020205020404" pitchFamily="49" charset="0"/>
                <a:cs typeface="Courier New" panose="02070309020205020404" pitchFamily="49" charset="0"/>
              </a:rPr>
              <a:t>as.numeric</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bumpus$sex</a:t>
            </a:r>
            <a:r>
              <a:rPr lang="en-US" sz="1400" dirty="0">
                <a:latin typeface="Courier New" panose="02070309020205020404" pitchFamily="49" charset="0"/>
                <a:cs typeface="Courier New" panose="02070309020205020404" pitchFamily="49" charset="0"/>
              </a:rPr>
              <a:t>)-1</a:t>
            </a:r>
          </a:p>
          <a:p>
            <a:r>
              <a:rPr lang="en-US" sz="1400" dirty="0">
                <a:latin typeface="Courier New" panose="02070309020205020404" pitchFamily="49" charset="0"/>
                <a:cs typeface="Courier New" panose="02070309020205020404" pitchFamily="49" charset="0"/>
              </a:rPr>
              <a:t>&gt; lm(Y~X)</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Call:</a:t>
            </a:r>
          </a:p>
          <a:p>
            <a:r>
              <a:rPr lang="en-US" sz="1400" dirty="0">
                <a:latin typeface="Courier New" panose="02070309020205020404" pitchFamily="49" charset="0"/>
                <a:cs typeface="Courier New" panose="02070309020205020404" pitchFamily="49" charset="0"/>
              </a:rPr>
              <a:t>lm(formula = Y ~ X)</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Coefficients:</a:t>
            </a:r>
          </a:p>
          <a:p>
            <a:r>
              <a:rPr lang="en-US" sz="1400" dirty="0">
                <a:latin typeface="Courier New" panose="02070309020205020404" pitchFamily="49" charset="0"/>
                <a:cs typeface="Courier New" panose="02070309020205020404" pitchFamily="49" charset="0"/>
              </a:rPr>
              <a:t>(Intercept)           </a:t>
            </a:r>
            <a:r>
              <a:rPr lang="en-US" sz="1400" dirty="0" err="1">
                <a:latin typeface="Courier New" panose="02070309020205020404" pitchFamily="49" charset="0"/>
                <a:cs typeface="Courier New" panose="02070309020205020404" pitchFamily="49" charset="0"/>
              </a:rPr>
              <a:t>Xn</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157.980        2.446 </a:t>
            </a:r>
          </a:p>
        </p:txBody>
      </p:sp>
      <p:grpSp>
        <p:nvGrpSpPr>
          <p:cNvPr id="32" name="Group 31"/>
          <p:cNvGrpSpPr/>
          <p:nvPr/>
        </p:nvGrpSpPr>
        <p:grpSpPr>
          <a:xfrm>
            <a:off x="3141078" y="4768450"/>
            <a:ext cx="1677593" cy="400110"/>
            <a:chOff x="2606197" y="4526421"/>
            <a:chExt cx="1677593" cy="400110"/>
          </a:xfrm>
        </p:grpSpPr>
        <mc:AlternateContent xmlns:mc="http://schemas.openxmlformats.org/markup-compatibility/2006" xmlns:a14="http://schemas.microsoft.com/office/drawing/2010/main">
          <mc:Choice Requires="a14">
            <p:sp>
              <p:nvSpPr>
                <p:cNvPr id="27" name="TextBox 26"/>
                <p:cNvSpPr txBox="1"/>
                <p:nvPr/>
              </p:nvSpPr>
              <p:spPr>
                <a:xfrm>
                  <a:off x="2606197" y="4526421"/>
                  <a:ext cx="975203" cy="400110"/>
                </a:xfrm>
                <a:prstGeom prst="rect">
                  <a:avLst/>
                </a:prstGeom>
                <a:solidFill>
                  <a:schemeClr val="accent3">
                    <a:lumMod val="40000"/>
                    <a:lumOff val="6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2000" b="0" i="1" smtClean="0">
                                <a:solidFill>
                                  <a:schemeClr val="tx1">
                                    <a:lumMod val="75000"/>
                                    <a:lumOff val="25000"/>
                                  </a:schemeClr>
                                </a:solidFill>
                                <a:latin typeface="Cambria Math" panose="02040503050406030204" pitchFamily="18" charset="0"/>
                              </a:rPr>
                            </m:ctrlPr>
                          </m:accPr>
                          <m:e>
                            <m:r>
                              <a:rPr lang="en-US" sz="2000" b="0" i="1" smtClean="0">
                                <a:solidFill>
                                  <a:schemeClr val="tx1">
                                    <a:lumMod val="75000"/>
                                    <a:lumOff val="25000"/>
                                  </a:schemeClr>
                                </a:solidFill>
                                <a:latin typeface="Cambria Math"/>
                              </a:rPr>
                              <m:t>𝑦</m:t>
                            </m:r>
                          </m:e>
                        </m:acc>
                        <m:r>
                          <a:rPr lang="en-US" sz="2000" b="0" i="1" smtClean="0">
                            <a:solidFill>
                              <a:schemeClr val="tx1">
                                <a:lumMod val="75000"/>
                                <a:lumOff val="25000"/>
                              </a:schemeClr>
                            </a:solidFill>
                            <a:latin typeface="Cambria Math"/>
                          </a:rPr>
                          <m:t>=</m:t>
                        </m:r>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0</m:t>
                            </m:r>
                          </m:sub>
                        </m:sSub>
                      </m:oMath>
                    </m:oMathPara>
                  </a14:m>
                  <a:endParaRPr lang="en-US" sz="2000" dirty="0">
                    <a:solidFill>
                      <a:schemeClr val="tx1">
                        <a:lumMod val="75000"/>
                        <a:lumOff val="25000"/>
                      </a:schemeClr>
                    </a:solidFill>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2606197" y="4526421"/>
                  <a:ext cx="975203" cy="400110"/>
                </a:xfrm>
                <a:prstGeom prst="rect">
                  <a:avLst/>
                </a:prstGeom>
                <a:blipFill rotWithShape="1">
                  <a:blip r:embed="rId6"/>
                  <a:stretch>
                    <a:fillRect t="-6061" b="-6061"/>
                  </a:stretch>
                </a:blipFill>
              </p:spPr>
              <p:txBody>
                <a:bodyPr/>
                <a:lstStyle/>
                <a:p>
                  <a:r>
                    <a:rPr lang="en-US">
                      <a:noFill/>
                    </a:rPr>
                    <a:t> </a:t>
                  </a:r>
                </a:p>
              </p:txBody>
            </p:sp>
          </mc:Fallback>
        </mc:AlternateContent>
        <p:cxnSp>
          <p:nvCxnSpPr>
            <p:cNvPr id="31" name="Straight Arrow Connector 30"/>
            <p:cNvCxnSpPr/>
            <p:nvPr/>
          </p:nvCxnSpPr>
          <p:spPr>
            <a:xfrm flipV="1">
              <a:off x="3581400" y="4726476"/>
              <a:ext cx="702390" cy="2"/>
            </a:xfrm>
            <a:prstGeom prst="straightConnector1">
              <a:avLst/>
            </a:prstGeom>
            <a:ln w="28575">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7012247" y="3347121"/>
            <a:ext cx="1524968" cy="1238308"/>
            <a:chOff x="3941328" y="4126313"/>
            <a:chExt cx="1524968" cy="1238308"/>
          </a:xfrm>
        </p:grpSpPr>
        <mc:AlternateContent xmlns:mc="http://schemas.openxmlformats.org/markup-compatibility/2006" xmlns:a14="http://schemas.microsoft.com/office/drawing/2010/main">
          <mc:Choice Requires="a14">
            <p:sp>
              <p:nvSpPr>
                <p:cNvPr id="34" name="TextBox 33"/>
                <p:cNvSpPr txBox="1"/>
                <p:nvPr/>
              </p:nvSpPr>
              <p:spPr>
                <a:xfrm>
                  <a:off x="3941328" y="4126313"/>
                  <a:ext cx="1524968" cy="400110"/>
                </a:xfrm>
                <a:prstGeom prst="rect">
                  <a:avLst/>
                </a:prstGeom>
                <a:solidFill>
                  <a:schemeClr val="accent6">
                    <a:lumMod val="40000"/>
                    <a:lumOff val="6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2000" b="0" i="1" smtClean="0">
                                <a:solidFill>
                                  <a:schemeClr val="tx1">
                                    <a:lumMod val="75000"/>
                                    <a:lumOff val="25000"/>
                                  </a:schemeClr>
                                </a:solidFill>
                                <a:latin typeface="Cambria Math" panose="02040503050406030204" pitchFamily="18" charset="0"/>
                              </a:rPr>
                            </m:ctrlPr>
                          </m:accPr>
                          <m:e>
                            <m:r>
                              <a:rPr lang="en-US" sz="2000" b="0" i="1" smtClean="0">
                                <a:solidFill>
                                  <a:schemeClr val="tx1">
                                    <a:lumMod val="75000"/>
                                    <a:lumOff val="25000"/>
                                  </a:schemeClr>
                                </a:solidFill>
                                <a:latin typeface="Cambria Math"/>
                              </a:rPr>
                              <m:t>𝑦</m:t>
                            </m:r>
                          </m:e>
                        </m:acc>
                        <m:r>
                          <a:rPr lang="en-US" sz="2000" b="0" i="1" smtClean="0">
                            <a:solidFill>
                              <a:schemeClr val="tx1">
                                <a:lumMod val="75000"/>
                                <a:lumOff val="25000"/>
                              </a:schemeClr>
                            </a:solidFill>
                            <a:latin typeface="Cambria Math"/>
                          </a:rPr>
                          <m:t>=</m:t>
                        </m:r>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0</m:t>
                            </m:r>
                          </m:sub>
                        </m:sSub>
                        <m:r>
                          <a:rPr lang="en-US" sz="2000" b="0" i="1" smtClean="0">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1</m:t>
                            </m:r>
                          </m:sub>
                        </m:sSub>
                      </m:oMath>
                    </m:oMathPara>
                  </a14:m>
                  <a:endParaRPr lang="en-US" sz="2000" dirty="0">
                    <a:solidFill>
                      <a:schemeClr val="tx1">
                        <a:lumMod val="75000"/>
                        <a:lumOff val="25000"/>
                      </a:schemeClr>
                    </a:solidFill>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3941328" y="4126313"/>
                  <a:ext cx="1524968" cy="400110"/>
                </a:xfrm>
                <a:prstGeom prst="rect">
                  <a:avLst/>
                </a:prstGeom>
                <a:blipFill rotWithShape="1">
                  <a:blip r:embed="rId7"/>
                  <a:stretch>
                    <a:fillRect t="-6061" b="-6061"/>
                  </a:stretch>
                </a:blipFill>
              </p:spPr>
              <p:txBody>
                <a:bodyPr/>
                <a:lstStyle/>
                <a:p>
                  <a:r>
                    <a:rPr lang="en-US">
                      <a:noFill/>
                    </a:rPr>
                    <a:t> </a:t>
                  </a:r>
                </a:p>
              </p:txBody>
            </p:sp>
          </mc:Fallback>
        </mc:AlternateContent>
        <p:cxnSp>
          <p:nvCxnSpPr>
            <p:cNvPr id="35" name="Straight Arrow Connector 34"/>
            <p:cNvCxnSpPr/>
            <p:nvPr/>
          </p:nvCxnSpPr>
          <p:spPr>
            <a:xfrm flipH="1">
              <a:off x="4398162" y="4526423"/>
              <a:ext cx="305650" cy="838198"/>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0336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left)">
                                      <p:cBhvr>
                                        <p:cTn id="21" dur="500"/>
                                        <p:tgtEl>
                                          <p:spTgt spid="3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up)">
                                      <p:cBhvr>
                                        <p:cTn id="3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0129" y="1187019"/>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Oval 2"/>
          <p:cNvSpPr/>
          <p:nvPr/>
        </p:nvSpPr>
        <p:spPr>
          <a:xfrm>
            <a:off x="2884299" y="2623311"/>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4652864" y="5007778"/>
            <a:ext cx="3525254" cy="1200329"/>
          </a:xfrm>
          <a:prstGeom prst="rect">
            <a:avLst/>
          </a:prstGeom>
          <a:noFill/>
        </p:spPr>
        <p:txBody>
          <a:bodyPr wrap="square" rtlCol="0">
            <a:spAutoFit/>
          </a:bodyPr>
          <a:lstStyle/>
          <a:p>
            <a:r>
              <a:rPr lang="en-US" dirty="0">
                <a:solidFill>
                  <a:schemeClr val="tx1">
                    <a:lumMod val="75000"/>
                    <a:lumOff val="25000"/>
                  </a:schemeClr>
                </a:solidFill>
              </a:rPr>
              <a:t>Imagine a data space with one observation.  It is defined by its location in the space, maybe from a reference (origin)</a:t>
            </a:r>
          </a:p>
        </p:txBody>
      </p:sp>
      <p:cxnSp>
        <p:nvCxnSpPr>
          <p:cNvPr id="6" name="Straight Connector 5"/>
          <p:cNvCxnSpPr>
            <a:stCxn id="2" idx="0"/>
            <a:endCxn id="2" idx="2"/>
          </p:cNvCxnSpPr>
          <p:nvPr/>
        </p:nvCxnSpPr>
        <p:spPr>
          <a:xfrm>
            <a:off x="4605384" y="1187019"/>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2" idx="1"/>
            <a:endCxn id="2" idx="3"/>
          </p:cNvCxnSpPr>
          <p:nvPr/>
        </p:nvCxnSpPr>
        <p:spPr>
          <a:xfrm>
            <a:off x="1080129" y="3697563"/>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endCxn id="3" idx="5"/>
          </p:cNvCxnSpPr>
          <p:nvPr/>
        </p:nvCxnSpPr>
        <p:spPr>
          <a:xfrm flipH="1" flipV="1">
            <a:off x="3076794" y="2815816"/>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53660279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Data as points</a:t>
                      </a:r>
                      <a:r>
                        <a:rPr lang="en-US" baseline="0" dirty="0">
                          <a:solidFill>
                            <a:schemeClr val="tx2">
                              <a:lumMod val="75000"/>
                            </a:schemeClr>
                          </a:solidFill>
                        </a:rPr>
                        <a:t> in multivariate space</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15</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6740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0129" y="1187019"/>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Oval 2"/>
          <p:cNvSpPr/>
          <p:nvPr/>
        </p:nvSpPr>
        <p:spPr>
          <a:xfrm>
            <a:off x="2884299" y="2623311"/>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4774759" y="5272168"/>
            <a:ext cx="3350092" cy="923330"/>
          </a:xfrm>
          <a:prstGeom prst="rect">
            <a:avLst/>
          </a:prstGeom>
          <a:noFill/>
        </p:spPr>
        <p:txBody>
          <a:bodyPr wrap="square" rtlCol="0">
            <a:spAutoFit/>
          </a:bodyPr>
          <a:lstStyle/>
          <a:p>
            <a:r>
              <a:rPr lang="en-US" dirty="0">
                <a:solidFill>
                  <a:schemeClr val="tx1">
                    <a:lumMod val="75000"/>
                    <a:lumOff val="25000"/>
                  </a:schemeClr>
                </a:solidFill>
              </a:rPr>
              <a:t>Imagine a second observation.  </a:t>
            </a:r>
          </a:p>
          <a:p>
            <a:r>
              <a:rPr lang="en-US" dirty="0">
                <a:solidFill>
                  <a:schemeClr val="tx1">
                    <a:lumMod val="75000"/>
                    <a:lumOff val="25000"/>
                  </a:schemeClr>
                </a:solidFill>
              </a:rPr>
              <a:t>It can be defined as a vector from the origin, or from the first point</a:t>
            </a:r>
          </a:p>
        </p:txBody>
      </p:sp>
      <p:cxnSp>
        <p:nvCxnSpPr>
          <p:cNvPr id="6" name="Straight Connector 5"/>
          <p:cNvCxnSpPr>
            <a:stCxn id="2" idx="0"/>
            <a:endCxn id="2" idx="2"/>
          </p:cNvCxnSpPr>
          <p:nvPr/>
        </p:nvCxnSpPr>
        <p:spPr>
          <a:xfrm>
            <a:off x="4605384" y="1187019"/>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2" idx="1"/>
            <a:endCxn id="2" idx="3"/>
          </p:cNvCxnSpPr>
          <p:nvPr/>
        </p:nvCxnSpPr>
        <p:spPr>
          <a:xfrm>
            <a:off x="1080129" y="3697563"/>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endCxn id="3" idx="5"/>
          </p:cNvCxnSpPr>
          <p:nvPr/>
        </p:nvCxnSpPr>
        <p:spPr>
          <a:xfrm flipH="1" flipV="1">
            <a:off x="3076794" y="2815816"/>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490736" y="1576822"/>
            <a:ext cx="225522" cy="225534"/>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Arrow Connector 11"/>
          <p:cNvCxnSpPr>
            <a:endCxn id="11" idx="3"/>
          </p:cNvCxnSpPr>
          <p:nvPr/>
        </p:nvCxnSpPr>
        <p:spPr>
          <a:xfrm flipV="1">
            <a:off x="4593515" y="1769327"/>
            <a:ext cx="1930248" cy="1930678"/>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3109821" y="1733717"/>
            <a:ext cx="3413942" cy="9667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14" name="Table 13"/>
          <p:cNvGraphicFramePr>
            <a:graphicFrameLocks noGrp="1"/>
          </p:cNvGraphicFramePr>
          <p:nvPr>
            <p:extLst>
              <p:ext uri="{D42A27DB-BD31-4B8C-83A1-F6EECF244321}">
                <p14:modId xmlns:p14="http://schemas.microsoft.com/office/powerpoint/2010/main" val="1540264636"/>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Data as points</a:t>
                      </a:r>
                      <a:r>
                        <a:rPr lang="en-US" baseline="0" dirty="0">
                          <a:solidFill>
                            <a:schemeClr val="tx2">
                              <a:lumMod val="75000"/>
                            </a:schemeClr>
                          </a:solidFill>
                        </a:rPr>
                        <a:t> in multivariate space</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16</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9148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0129" y="1187019"/>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Oval 2"/>
          <p:cNvSpPr/>
          <p:nvPr/>
        </p:nvSpPr>
        <p:spPr>
          <a:xfrm>
            <a:off x="2884299" y="2623311"/>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4652864" y="5007778"/>
            <a:ext cx="3525254" cy="1200329"/>
          </a:xfrm>
          <a:prstGeom prst="rect">
            <a:avLst/>
          </a:prstGeom>
          <a:noFill/>
        </p:spPr>
        <p:txBody>
          <a:bodyPr wrap="square" rtlCol="0">
            <a:spAutoFit/>
          </a:bodyPr>
          <a:lstStyle/>
          <a:p>
            <a:r>
              <a:rPr lang="en-US" dirty="0">
                <a:solidFill>
                  <a:schemeClr val="tx1">
                    <a:lumMod val="75000"/>
                    <a:lumOff val="25000"/>
                  </a:schemeClr>
                </a:solidFill>
              </a:rPr>
              <a:t>Imagine a third observation. </a:t>
            </a:r>
          </a:p>
          <a:p>
            <a:r>
              <a:rPr lang="en-US" dirty="0">
                <a:solidFill>
                  <a:schemeClr val="tx1">
                    <a:lumMod val="75000"/>
                    <a:lumOff val="25000"/>
                  </a:schemeClr>
                </a:solidFill>
              </a:rPr>
              <a:t>This can also be described as a vector from the origin or any of the other points.</a:t>
            </a:r>
          </a:p>
        </p:txBody>
      </p:sp>
      <p:cxnSp>
        <p:nvCxnSpPr>
          <p:cNvPr id="6" name="Straight Connector 5"/>
          <p:cNvCxnSpPr>
            <a:stCxn id="2" idx="0"/>
            <a:endCxn id="2" idx="2"/>
          </p:cNvCxnSpPr>
          <p:nvPr/>
        </p:nvCxnSpPr>
        <p:spPr>
          <a:xfrm>
            <a:off x="4605384" y="1187019"/>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2" idx="1"/>
            <a:endCxn id="2" idx="3"/>
          </p:cNvCxnSpPr>
          <p:nvPr/>
        </p:nvCxnSpPr>
        <p:spPr>
          <a:xfrm>
            <a:off x="1080129" y="3697563"/>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endCxn id="3" idx="5"/>
          </p:cNvCxnSpPr>
          <p:nvPr/>
        </p:nvCxnSpPr>
        <p:spPr>
          <a:xfrm flipH="1" flipV="1">
            <a:off x="3076794" y="2815816"/>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490736" y="1576822"/>
            <a:ext cx="225522" cy="225534"/>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Arrow Connector 11"/>
          <p:cNvCxnSpPr>
            <a:endCxn id="11" idx="3"/>
          </p:cNvCxnSpPr>
          <p:nvPr/>
        </p:nvCxnSpPr>
        <p:spPr>
          <a:xfrm flipV="1">
            <a:off x="4593515" y="1769327"/>
            <a:ext cx="1930248" cy="1930678"/>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3109821" y="1733717"/>
            <a:ext cx="3413942" cy="9667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964033" y="5007778"/>
            <a:ext cx="225522" cy="225534"/>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 name="Straight Arrow Connector 14"/>
          <p:cNvCxnSpPr>
            <a:endCxn id="14" idx="7"/>
          </p:cNvCxnSpPr>
          <p:nvPr/>
        </p:nvCxnSpPr>
        <p:spPr>
          <a:xfrm flipH="1">
            <a:off x="3156528" y="3690050"/>
            <a:ext cx="1436987" cy="1350757"/>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3" idx="4"/>
            <a:endCxn id="14" idx="0"/>
          </p:cNvCxnSpPr>
          <p:nvPr/>
        </p:nvCxnSpPr>
        <p:spPr>
          <a:xfrm>
            <a:off x="2997060" y="2848845"/>
            <a:ext cx="79734" cy="2158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extLst>
              <p:ext uri="{D42A27DB-BD31-4B8C-83A1-F6EECF244321}">
                <p14:modId xmlns:p14="http://schemas.microsoft.com/office/powerpoint/2010/main" val="11554335"/>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Data as points</a:t>
                      </a:r>
                      <a:r>
                        <a:rPr lang="en-US" baseline="0" dirty="0">
                          <a:solidFill>
                            <a:schemeClr val="tx2">
                              <a:lumMod val="75000"/>
                            </a:schemeClr>
                          </a:solidFill>
                        </a:rPr>
                        <a:t> in multivariate space</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17</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89418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0129" y="1187019"/>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Oval 2"/>
          <p:cNvSpPr/>
          <p:nvPr/>
        </p:nvSpPr>
        <p:spPr>
          <a:xfrm>
            <a:off x="2884299" y="2623311"/>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4652864" y="3915724"/>
            <a:ext cx="3525254" cy="2308324"/>
          </a:xfrm>
          <a:prstGeom prst="rect">
            <a:avLst/>
          </a:prstGeom>
          <a:noFill/>
        </p:spPr>
        <p:txBody>
          <a:bodyPr wrap="square" rtlCol="0">
            <a:spAutoFit/>
          </a:bodyPr>
          <a:lstStyle/>
          <a:p>
            <a:r>
              <a:rPr lang="en-US" dirty="0">
                <a:solidFill>
                  <a:schemeClr val="tx1">
                    <a:lumMod val="75000"/>
                    <a:lumOff val="25000"/>
                  </a:schemeClr>
                </a:solidFill>
              </a:rPr>
              <a:t>If we know the location of the first point (as a vector from the origin), we can describe the location of the other points as vectors of change from the first point.</a:t>
            </a:r>
          </a:p>
          <a:p>
            <a:endParaRPr lang="en-US" dirty="0">
              <a:solidFill>
                <a:schemeClr val="tx1">
                  <a:lumMod val="75000"/>
                  <a:lumOff val="25000"/>
                </a:schemeClr>
              </a:solidFill>
            </a:endParaRPr>
          </a:p>
          <a:p>
            <a:r>
              <a:rPr lang="en-US" dirty="0">
                <a:solidFill>
                  <a:schemeClr val="tx1">
                    <a:lumMod val="75000"/>
                    <a:lumOff val="25000"/>
                  </a:schemeClr>
                </a:solidFill>
              </a:rPr>
              <a:t>This is how linear models work to define group differences.</a:t>
            </a:r>
          </a:p>
        </p:txBody>
      </p:sp>
      <p:cxnSp>
        <p:nvCxnSpPr>
          <p:cNvPr id="6" name="Straight Connector 5"/>
          <p:cNvCxnSpPr>
            <a:stCxn id="2" idx="0"/>
            <a:endCxn id="2" idx="2"/>
          </p:cNvCxnSpPr>
          <p:nvPr/>
        </p:nvCxnSpPr>
        <p:spPr>
          <a:xfrm>
            <a:off x="4605384" y="1187019"/>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2" idx="1"/>
            <a:endCxn id="2" idx="3"/>
          </p:cNvCxnSpPr>
          <p:nvPr/>
        </p:nvCxnSpPr>
        <p:spPr>
          <a:xfrm>
            <a:off x="1080129" y="3697563"/>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endCxn id="3" idx="5"/>
          </p:cNvCxnSpPr>
          <p:nvPr/>
        </p:nvCxnSpPr>
        <p:spPr>
          <a:xfrm flipH="1" flipV="1">
            <a:off x="3076794" y="2815816"/>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490736" y="1576822"/>
            <a:ext cx="225522" cy="225534"/>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flipV="1">
            <a:off x="3109821" y="1733717"/>
            <a:ext cx="3413942" cy="9667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964033" y="5007778"/>
            <a:ext cx="225522" cy="225534"/>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p:cNvCxnSpPr>
            <a:stCxn id="3" idx="4"/>
            <a:endCxn id="14" idx="0"/>
          </p:cNvCxnSpPr>
          <p:nvPr/>
        </p:nvCxnSpPr>
        <p:spPr>
          <a:xfrm>
            <a:off x="2997060" y="2848845"/>
            <a:ext cx="79734" cy="2158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extLst>
              <p:ext uri="{D42A27DB-BD31-4B8C-83A1-F6EECF244321}">
                <p14:modId xmlns:p14="http://schemas.microsoft.com/office/powerpoint/2010/main" val="1807795677"/>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Data as points</a:t>
                      </a:r>
                      <a:r>
                        <a:rPr lang="en-US" baseline="0" dirty="0">
                          <a:solidFill>
                            <a:schemeClr val="tx2">
                              <a:lumMod val="75000"/>
                            </a:schemeClr>
                          </a:solidFill>
                        </a:rPr>
                        <a:t> in multivariate space</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18</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413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59" y="462940"/>
            <a:ext cx="8629159" cy="4093428"/>
          </a:xfrm>
          <a:prstGeom prst="rect">
            <a:avLst/>
          </a:prstGeom>
          <a:noFill/>
        </p:spPr>
        <p:txBody>
          <a:bodyPr wrap="square" rtlCol="0">
            <a:spAutoFit/>
          </a:bodyPr>
          <a:lstStyle/>
          <a:p>
            <a:r>
              <a:rPr lang="en-US" sz="2000" dirty="0">
                <a:solidFill>
                  <a:schemeClr val="tx1">
                    <a:lumMod val="75000"/>
                    <a:lumOff val="25000"/>
                  </a:schemeClr>
                </a:solidFill>
              </a:rPr>
              <a:t>When there is only a column of ones, the vector of coefficients is the mean vector</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 </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When there are additional columns of dummy variables, the first column vector of coefficients is the mean for group 1; the rest are change vectors to describe other group means.</a:t>
            </a:r>
          </a:p>
        </p:txBody>
      </p:sp>
      <p:graphicFrame>
        <p:nvGraphicFramePr>
          <p:cNvPr id="2" name="Object 1"/>
          <p:cNvGraphicFramePr>
            <a:graphicFrameLocks noChangeAspect="1"/>
          </p:cNvGraphicFramePr>
          <p:nvPr/>
        </p:nvGraphicFramePr>
        <p:xfrm>
          <a:off x="1158855" y="1704082"/>
          <a:ext cx="732806" cy="932662"/>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1158855" y="1704082"/>
                        <a:ext cx="732806" cy="932662"/>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2546219" y="1910798"/>
          <a:ext cx="2359025" cy="468313"/>
        </p:xfrm>
        <a:graphic>
          <a:graphicData uri="http://schemas.openxmlformats.org/presentationml/2006/ole">
            <mc:AlternateContent xmlns:mc="http://schemas.openxmlformats.org/markup-compatibility/2006">
              <mc:Choice xmlns:v="urn:schemas-microsoft-com:vml" Requires="v">
                <p:oleObj name="Equation" r:id="rId4" imgW="1600200" imgH="317500" progId="Equation.3">
                  <p:embed/>
                </p:oleObj>
              </mc:Choice>
              <mc:Fallback>
                <p:oleObj name="Equation" r:id="rId4" imgW="1600200" imgH="317500" progId="Equation.3">
                  <p:embed/>
                  <p:pic>
                    <p:nvPicPr>
                      <p:cNvPr id="0" name=""/>
                      <p:cNvPicPr/>
                      <p:nvPr/>
                    </p:nvPicPr>
                    <p:blipFill>
                      <a:blip r:embed="rId5"/>
                      <a:stretch>
                        <a:fillRect/>
                      </a:stretch>
                    </p:blipFill>
                    <p:spPr>
                      <a:xfrm>
                        <a:off x="2546219" y="1910798"/>
                        <a:ext cx="2359025" cy="468313"/>
                      </a:xfrm>
                      <a:prstGeom prst="rect">
                        <a:avLst/>
                      </a:prstGeom>
                    </p:spPr>
                  </p:pic>
                </p:oleObj>
              </mc:Fallback>
            </mc:AlternateContent>
          </a:graphicData>
        </a:graphic>
      </p:graphicFrame>
      <p:grpSp>
        <p:nvGrpSpPr>
          <p:cNvPr id="3" name="Group 2"/>
          <p:cNvGrpSpPr>
            <a:grpSpLocks noChangeAspect="1"/>
          </p:cNvGrpSpPr>
          <p:nvPr/>
        </p:nvGrpSpPr>
        <p:grpSpPr>
          <a:xfrm>
            <a:off x="5359398" y="4237542"/>
            <a:ext cx="3525255" cy="2510544"/>
            <a:chOff x="1068858" y="2184115"/>
            <a:chExt cx="7050509" cy="5021088"/>
          </a:xfrm>
        </p:grpSpPr>
        <p:sp>
          <p:nvSpPr>
            <p:cNvPr id="19" name="Rectangle 18"/>
            <p:cNvSpPr/>
            <p:nvPr/>
          </p:nvSpPr>
          <p:spPr>
            <a:xfrm>
              <a:off x="1068858" y="2184115"/>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2873028" y="3620407"/>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4594113" y="2184115"/>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1068858" y="4694659"/>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endCxn id="20" idx="5"/>
            </p:cNvCxnSpPr>
            <p:nvPr/>
          </p:nvCxnSpPr>
          <p:spPr>
            <a:xfrm flipH="1" flipV="1">
              <a:off x="3065523" y="3812912"/>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479465" y="2573918"/>
              <a:ext cx="225522" cy="225534"/>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flipV="1">
              <a:off x="3098550" y="2730813"/>
              <a:ext cx="3413942" cy="9667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2952762" y="6004874"/>
              <a:ext cx="225522" cy="225534"/>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Arrow Connector 27"/>
            <p:cNvCxnSpPr>
              <a:stCxn id="20" idx="4"/>
              <a:endCxn id="27" idx="0"/>
            </p:cNvCxnSpPr>
            <p:nvPr/>
          </p:nvCxnSpPr>
          <p:spPr>
            <a:xfrm>
              <a:off x="2985789" y="3845941"/>
              <a:ext cx="79734" cy="2158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aphicFrame>
        <p:nvGraphicFramePr>
          <p:cNvPr id="29" name="Object 28"/>
          <p:cNvGraphicFramePr>
            <a:graphicFrameLocks noChangeAspect="1"/>
          </p:cNvGraphicFramePr>
          <p:nvPr/>
        </p:nvGraphicFramePr>
        <p:xfrm>
          <a:off x="819288" y="4510891"/>
          <a:ext cx="1016234" cy="2237195"/>
        </p:xfrm>
        <a:graphic>
          <a:graphicData uri="http://schemas.openxmlformats.org/presentationml/2006/ole">
            <mc:AlternateContent xmlns:mc="http://schemas.openxmlformats.org/markup-compatibility/2006">
              <mc:Choice xmlns:v="urn:schemas-microsoft-com:vml" Requires="v">
                <p:oleObj name="Equation" r:id="rId6" imgW="1130300" imgH="2489200" progId="Equation.3">
                  <p:embed/>
                </p:oleObj>
              </mc:Choice>
              <mc:Fallback>
                <p:oleObj name="Equation" r:id="rId6" imgW="1130300" imgH="2489200" progId="Equation.3">
                  <p:embed/>
                  <p:pic>
                    <p:nvPicPr>
                      <p:cNvPr id="0" name=""/>
                      <p:cNvPicPr/>
                      <p:nvPr/>
                    </p:nvPicPr>
                    <p:blipFill>
                      <a:blip r:embed="rId7"/>
                      <a:stretch>
                        <a:fillRect/>
                      </a:stretch>
                    </p:blipFill>
                    <p:spPr>
                      <a:xfrm>
                        <a:off x="819288" y="4510891"/>
                        <a:ext cx="1016234" cy="2237195"/>
                      </a:xfrm>
                      <a:prstGeom prst="rect">
                        <a:avLst/>
                      </a:prstGeom>
                    </p:spPr>
                  </p:pic>
                </p:oleObj>
              </mc:Fallback>
            </mc:AlternateContent>
          </a:graphicData>
        </a:graphic>
      </p:graphicFrame>
      <p:graphicFrame>
        <p:nvGraphicFramePr>
          <p:cNvPr id="35" name="Object 34"/>
          <p:cNvGraphicFramePr>
            <a:graphicFrameLocks noChangeAspect="1"/>
          </p:cNvGraphicFramePr>
          <p:nvPr/>
        </p:nvGraphicFramePr>
        <p:xfrm>
          <a:off x="2208938" y="4833938"/>
          <a:ext cx="2865437" cy="1311275"/>
        </p:xfrm>
        <a:graphic>
          <a:graphicData uri="http://schemas.openxmlformats.org/presentationml/2006/ole">
            <mc:AlternateContent xmlns:mc="http://schemas.openxmlformats.org/markup-compatibility/2006">
              <mc:Choice xmlns:v="urn:schemas-microsoft-com:vml" Requires="v">
                <p:oleObj name="Equation" r:id="rId8" imgW="1943100" imgH="889000" progId="Equation.3">
                  <p:embed/>
                </p:oleObj>
              </mc:Choice>
              <mc:Fallback>
                <p:oleObj name="Equation" r:id="rId8" imgW="1943100" imgH="889000" progId="Equation.3">
                  <p:embed/>
                  <p:pic>
                    <p:nvPicPr>
                      <p:cNvPr id="0" name=""/>
                      <p:cNvPicPr/>
                      <p:nvPr/>
                    </p:nvPicPr>
                    <p:blipFill>
                      <a:blip r:embed="rId9"/>
                      <a:stretch>
                        <a:fillRect/>
                      </a:stretch>
                    </p:blipFill>
                    <p:spPr>
                      <a:xfrm>
                        <a:off x="2208938" y="4833938"/>
                        <a:ext cx="2865437" cy="1311275"/>
                      </a:xfrm>
                      <a:prstGeom prst="rect">
                        <a:avLst/>
                      </a:prstGeom>
                    </p:spPr>
                  </p:pic>
                </p:oleObj>
              </mc:Fallback>
            </mc:AlternateContent>
          </a:graphicData>
        </a:graphic>
      </p:graphicFrame>
      <p:grpSp>
        <p:nvGrpSpPr>
          <p:cNvPr id="36" name="Group 35"/>
          <p:cNvGrpSpPr/>
          <p:nvPr/>
        </p:nvGrpSpPr>
        <p:grpSpPr>
          <a:xfrm>
            <a:off x="5353163" y="937163"/>
            <a:ext cx="3525255" cy="2510544"/>
            <a:chOff x="5353163" y="937163"/>
            <a:chExt cx="3525255" cy="2510544"/>
          </a:xfrm>
        </p:grpSpPr>
        <p:sp>
          <p:nvSpPr>
            <p:cNvPr id="37" name="Rectangle 36"/>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9" name="Straight Connector 38"/>
            <p:cNvCxnSpPr>
              <a:stCxn id="37" idx="0"/>
              <a:endCxn id="37"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37" idx="1"/>
              <a:endCxn id="37"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flipV="1">
              <a:off x="6860596" y="1982321"/>
              <a:ext cx="249560" cy="20635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aphicFrame>
        <p:nvGraphicFramePr>
          <p:cNvPr id="30" name="Table 29"/>
          <p:cNvGraphicFramePr>
            <a:graphicFrameLocks noGrp="1"/>
          </p:cNvGraphicFramePr>
          <p:nvPr>
            <p:extLst>
              <p:ext uri="{D42A27DB-BD31-4B8C-83A1-F6EECF244321}">
                <p14:modId xmlns:p14="http://schemas.microsoft.com/office/powerpoint/2010/main" val="1886436821"/>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Group differences</a:t>
                      </a:r>
                      <a:r>
                        <a:rPr lang="en-US" baseline="0" dirty="0">
                          <a:solidFill>
                            <a:schemeClr val="tx2">
                              <a:lumMod val="75000"/>
                            </a:schemeClr>
                          </a:solidFill>
                        </a:rPr>
                        <a:t> in GLMs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19</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2330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fade">
                                      <p:cBhvr>
                                        <p:cTn id="10" dur="500"/>
                                        <p:tgtEl>
                                          <p:spTgt spid="7">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10" end="10"/>
                                            </p:txEl>
                                          </p:spTgt>
                                        </p:tgtEl>
                                        <p:attrNameLst>
                                          <p:attrName>style.visibility</p:attrName>
                                        </p:attrNameLst>
                                      </p:cBhvr>
                                      <p:to>
                                        <p:strVal val="visible"/>
                                      </p:to>
                                    </p:set>
                                    <p:animEffect transition="in" filter="fade">
                                      <p:cBhvr>
                                        <p:cTn id="24" dur="500"/>
                                        <p:tgtEl>
                                          <p:spTgt spid="7">
                                            <p:txEl>
                                              <p:pRg st="10" end="10"/>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par>
                                <p:cTn id="28" presetID="10" presetClass="entr" presetSubtype="0" fill="hold"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par>
                                <p:cTn id="31" presetID="10"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59" y="462940"/>
            <a:ext cx="8629159" cy="707886"/>
          </a:xfrm>
          <a:prstGeom prst="rect">
            <a:avLst/>
          </a:prstGeom>
          <a:noFill/>
        </p:spPr>
        <p:txBody>
          <a:bodyPr wrap="square" rtlCol="0">
            <a:spAutoFit/>
          </a:bodyPr>
          <a:lstStyle/>
          <a:p>
            <a:r>
              <a:rPr lang="en-US" sz="2000" dirty="0">
                <a:solidFill>
                  <a:schemeClr val="tx1">
                    <a:lumMod val="75000"/>
                    <a:lumOff val="25000"/>
                  </a:schemeClr>
                </a:solidFill>
              </a:rPr>
              <a:t>Predicted values are group means, whether there is one group or more.</a:t>
            </a:r>
          </a:p>
          <a:p>
            <a:endParaRPr lang="en-US" sz="2000" dirty="0">
              <a:solidFill>
                <a:schemeClr val="tx1">
                  <a:lumMod val="75000"/>
                  <a:lumOff val="25000"/>
                </a:schemeClr>
              </a:solidFill>
            </a:endParaRPr>
          </a:p>
        </p:txBody>
      </p:sp>
      <p:graphicFrame>
        <p:nvGraphicFramePr>
          <p:cNvPr id="2" name="Object 1"/>
          <p:cNvGraphicFramePr>
            <a:graphicFrameLocks noChangeAspect="1"/>
          </p:cNvGraphicFramePr>
          <p:nvPr/>
        </p:nvGraphicFramePr>
        <p:xfrm>
          <a:off x="1130859" y="1152439"/>
          <a:ext cx="732806" cy="932662"/>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1130859" y="1152439"/>
                        <a:ext cx="732806" cy="932662"/>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2208938" y="1343192"/>
          <a:ext cx="2359025" cy="468313"/>
        </p:xfrm>
        <a:graphic>
          <a:graphicData uri="http://schemas.openxmlformats.org/presentationml/2006/ole">
            <mc:AlternateContent xmlns:mc="http://schemas.openxmlformats.org/markup-compatibility/2006">
              <mc:Choice xmlns:v="urn:schemas-microsoft-com:vml" Requires="v">
                <p:oleObj name="Equation" r:id="rId4" imgW="1600200" imgH="317500" progId="Equation.3">
                  <p:embed/>
                </p:oleObj>
              </mc:Choice>
              <mc:Fallback>
                <p:oleObj name="Equation" r:id="rId4" imgW="1600200" imgH="317500" progId="Equation.3">
                  <p:embed/>
                  <p:pic>
                    <p:nvPicPr>
                      <p:cNvPr id="0" name=""/>
                      <p:cNvPicPr/>
                      <p:nvPr/>
                    </p:nvPicPr>
                    <p:blipFill>
                      <a:blip r:embed="rId5"/>
                      <a:stretch>
                        <a:fillRect/>
                      </a:stretch>
                    </p:blipFill>
                    <p:spPr>
                      <a:xfrm>
                        <a:off x="2208938" y="1343192"/>
                        <a:ext cx="2359025" cy="468313"/>
                      </a:xfrm>
                      <a:prstGeom prst="rect">
                        <a:avLst/>
                      </a:prstGeom>
                    </p:spPr>
                  </p:pic>
                </p:oleObj>
              </mc:Fallback>
            </mc:AlternateContent>
          </a:graphicData>
        </a:graphic>
      </p:graphicFrame>
      <p:grpSp>
        <p:nvGrpSpPr>
          <p:cNvPr id="3" name="Group 2"/>
          <p:cNvGrpSpPr>
            <a:grpSpLocks noChangeAspect="1"/>
          </p:cNvGrpSpPr>
          <p:nvPr/>
        </p:nvGrpSpPr>
        <p:grpSpPr>
          <a:xfrm>
            <a:off x="5359398" y="4237542"/>
            <a:ext cx="3525255" cy="2510544"/>
            <a:chOff x="1068858" y="2184115"/>
            <a:chExt cx="7050509" cy="5021088"/>
          </a:xfrm>
        </p:grpSpPr>
        <p:sp>
          <p:nvSpPr>
            <p:cNvPr id="19" name="Rectangle 18"/>
            <p:cNvSpPr/>
            <p:nvPr/>
          </p:nvSpPr>
          <p:spPr>
            <a:xfrm>
              <a:off x="1068858" y="2184115"/>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2873028" y="3620407"/>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4594113" y="2184115"/>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1068858" y="4694659"/>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endCxn id="20" idx="5"/>
            </p:cNvCxnSpPr>
            <p:nvPr/>
          </p:nvCxnSpPr>
          <p:spPr>
            <a:xfrm flipH="1" flipV="1">
              <a:off x="3065523" y="3812912"/>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479465" y="2573918"/>
              <a:ext cx="225522" cy="225534"/>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flipV="1">
              <a:off x="3098550" y="2730813"/>
              <a:ext cx="3413942" cy="9667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2952762" y="6004874"/>
              <a:ext cx="225522" cy="225534"/>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Arrow Connector 27"/>
            <p:cNvCxnSpPr>
              <a:stCxn id="20" idx="4"/>
              <a:endCxn id="27" idx="0"/>
            </p:cNvCxnSpPr>
            <p:nvPr/>
          </p:nvCxnSpPr>
          <p:spPr>
            <a:xfrm>
              <a:off x="2985789" y="3845941"/>
              <a:ext cx="79734" cy="2158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aphicFrame>
        <p:nvGraphicFramePr>
          <p:cNvPr id="29" name="Object 28"/>
          <p:cNvGraphicFramePr>
            <a:graphicFrameLocks noChangeAspect="1"/>
          </p:cNvGraphicFramePr>
          <p:nvPr/>
        </p:nvGraphicFramePr>
        <p:xfrm>
          <a:off x="311171" y="3585017"/>
          <a:ext cx="1016234" cy="2237195"/>
        </p:xfrm>
        <a:graphic>
          <a:graphicData uri="http://schemas.openxmlformats.org/presentationml/2006/ole">
            <mc:AlternateContent xmlns:mc="http://schemas.openxmlformats.org/markup-compatibility/2006">
              <mc:Choice xmlns:v="urn:schemas-microsoft-com:vml" Requires="v">
                <p:oleObj name="Equation" r:id="rId6" imgW="1130300" imgH="2489200" progId="Equation.3">
                  <p:embed/>
                </p:oleObj>
              </mc:Choice>
              <mc:Fallback>
                <p:oleObj name="Equation" r:id="rId6" imgW="1130300" imgH="2489200" progId="Equation.3">
                  <p:embed/>
                  <p:pic>
                    <p:nvPicPr>
                      <p:cNvPr id="0" name=""/>
                      <p:cNvPicPr/>
                      <p:nvPr/>
                    </p:nvPicPr>
                    <p:blipFill>
                      <a:blip r:embed="rId7"/>
                      <a:stretch>
                        <a:fillRect/>
                      </a:stretch>
                    </p:blipFill>
                    <p:spPr>
                      <a:xfrm>
                        <a:off x="311171" y="3585017"/>
                        <a:ext cx="1016234" cy="2237195"/>
                      </a:xfrm>
                      <a:prstGeom prst="rect">
                        <a:avLst/>
                      </a:prstGeom>
                    </p:spPr>
                  </p:pic>
                </p:oleObj>
              </mc:Fallback>
            </mc:AlternateContent>
          </a:graphicData>
        </a:graphic>
      </p:graphicFrame>
      <p:graphicFrame>
        <p:nvGraphicFramePr>
          <p:cNvPr id="35" name="Object 34"/>
          <p:cNvGraphicFramePr>
            <a:graphicFrameLocks noChangeAspect="1"/>
          </p:cNvGraphicFramePr>
          <p:nvPr/>
        </p:nvGraphicFramePr>
        <p:xfrm>
          <a:off x="1943233" y="3682992"/>
          <a:ext cx="2865437" cy="1311275"/>
        </p:xfrm>
        <a:graphic>
          <a:graphicData uri="http://schemas.openxmlformats.org/presentationml/2006/ole">
            <mc:AlternateContent xmlns:mc="http://schemas.openxmlformats.org/markup-compatibility/2006">
              <mc:Choice xmlns:v="urn:schemas-microsoft-com:vml" Requires="v">
                <p:oleObj name="Equation" r:id="rId8" imgW="1943100" imgH="889000" progId="Equation.3">
                  <p:embed/>
                </p:oleObj>
              </mc:Choice>
              <mc:Fallback>
                <p:oleObj name="Equation" r:id="rId8" imgW="1943100" imgH="889000" progId="Equation.3">
                  <p:embed/>
                  <p:pic>
                    <p:nvPicPr>
                      <p:cNvPr id="0" name=""/>
                      <p:cNvPicPr/>
                      <p:nvPr/>
                    </p:nvPicPr>
                    <p:blipFill>
                      <a:blip r:embed="rId9"/>
                      <a:stretch>
                        <a:fillRect/>
                      </a:stretch>
                    </p:blipFill>
                    <p:spPr>
                      <a:xfrm>
                        <a:off x="1943233" y="3682992"/>
                        <a:ext cx="2865437" cy="1311275"/>
                      </a:xfrm>
                      <a:prstGeom prst="rect">
                        <a:avLst/>
                      </a:prstGeom>
                    </p:spPr>
                  </p:pic>
                </p:oleObj>
              </mc:Fallback>
            </mc:AlternateContent>
          </a:graphicData>
        </a:graphic>
      </p:graphicFrame>
      <p:graphicFrame>
        <p:nvGraphicFramePr>
          <p:cNvPr id="36" name="Object 35"/>
          <p:cNvGraphicFramePr>
            <a:graphicFrameLocks noChangeAspect="1"/>
          </p:cNvGraphicFramePr>
          <p:nvPr/>
        </p:nvGraphicFramePr>
        <p:xfrm>
          <a:off x="2322682" y="1859886"/>
          <a:ext cx="1462088" cy="1535113"/>
        </p:xfrm>
        <a:graphic>
          <a:graphicData uri="http://schemas.openxmlformats.org/presentationml/2006/ole">
            <mc:AlternateContent xmlns:mc="http://schemas.openxmlformats.org/markup-compatibility/2006">
              <mc:Choice xmlns:v="urn:schemas-microsoft-com:vml" Requires="v">
                <p:oleObj name="Equation" r:id="rId10" imgW="990600" imgH="1041400" progId="Equation.3">
                  <p:embed/>
                </p:oleObj>
              </mc:Choice>
              <mc:Fallback>
                <p:oleObj name="Equation" r:id="rId10" imgW="990600" imgH="1041400" progId="Equation.3">
                  <p:embed/>
                  <p:pic>
                    <p:nvPicPr>
                      <p:cNvPr id="0" name=""/>
                      <p:cNvPicPr/>
                      <p:nvPr/>
                    </p:nvPicPr>
                    <p:blipFill>
                      <a:blip r:embed="rId11"/>
                      <a:stretch>
                        <a:fillRect/>
                      </a:stretch>
                    </p:blipFill>
                    <p:spPr>
                      <a:xfrm>
                        <a:off x="2322682" y="1859886"/>
                        <a:ext cx="1462088" cy="1535113"/>
                      </a:xfrm>
                      <a:prstGeom prst="rect">
                        <a:avLst/>
                      </a:prstGeom>
                    </p:spPr>
                  </p:pic>
                </p:oleObj>
              </mc:Fallback>
            </mc:AlternateContent>
          </a:graphicData>
        </a:graphic>
      </p:graphicFrame>
      <p:graphicFrame>
        <p:nvGraphicFramePr>
          <p:cNvPr id="37" name="Object 36"/>
          <p:cNvGraphicFramePr>
            <a:graphicFrameLocks noChangeAspect="1"/>
          </p:cNvGraphicFramePr>
          <p:nvPr/>
        </p:nvGraphicFramePr>
        <p:xfrm>
          <a:off x="2208938" y="4623175"/>
          <a:ext cx="1423987" cy="2173288"/>
        </p:xfrm>
        <a:graphic>
          <a:graphicData uri="http://schemas.openxmlformats.org/presentationml/2006/ole">
            <mc:AlternateContent xmlns:mc="http://schemas.openxmlformats.org/markup-compatibility/2006">
              <mc:Choice xmlns:v="urn:schemas-microsoft-com:vml" Requires="v">
                <p:oleObj name="Equation" r:id="rId12" imgW="965200" imgH="1473200" progId="Equation.3">
                  <p:embed/>
                </p:oleObj>
              </mc:Choice>
              <mc:Fallback>
                <p:oleObj name="Equation" r:id="rId12" imgW="965200" imgH="1473200" progId="Equation.3">
                  <p:embed/>
                  <p:pic>
                    <p:nvPicPr>
                      <p:cNvPr id="0" name=""/>
                      <p:cNvPicPr/>
                      <p:nvPr/>
                    </p:nvPicPr>
                    <p:blipFill>
                      <a:blip r:embed="rId13"/>
                      <a:stretch>
                        <a:fillRect/>
                      </a:stretch>
                    </p:blipFill>
                    <p:spPr>
                      <a:xfrm>
                        <a:off x="2208938" y="4623175"/>
                        <a:ext cx="1423987" cy="2173288"/>
                      </a:xfrm>
                      <a:prstGeom prst="rect">
                        <a:avLst/>
                      </a:prstGeom>
                    </p:spPr>
                  </p:pic>
                </p:oleObj>
              </mc:Fallback>
            </mc:AlternateContent>
          </a:graphicData>
        </a:graphic>
      </p:graphicFrame>
      <p:grpSp>
        <p:nvGrpSpPr>
          <p:cNvPr id="38" name="Group 37"/>
          <p:cNvGrpSpPr/>
          <p:nvPr/>
        </p:nvGrpSpPr>
        <p:grpSpPr>
          <a:xfrm>
            <a:off x="5353163" y="937163"/>
            <a:ext cx="3525255" cy="2510544"/>
            <a:chOff x="5353163" y="937163"/>
            <a:chExt cx="3525255" cy="2510544"/>
          </a:xfrm>
        </p:grpSpPr>
        <p:sp>
          <p:nvSpPr>
            <p:cNvPr id="39" name="Rectangle 3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Oval 3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1" name="Straight Connector 40"/>
            <p:cNvCxnSpPr>
              <a:stCxn id="39" idx="0"/>
              <a:endCxn id="3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a:stCxn id="39" idx="1"/>
              <a:endCxn id="3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H="1" flipV="1">
              <a:off x="6860596" y="1982321"/>
              <a:ext cx="249560" cy="20635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aphicFrame>
        <p:nvGraphicFramePr>
          <p:cNvPr id="30" name="Table 29"/>
          <p:cNvGraphicFramePr>
            <a:graphicFrameLocks noGrp="1"/>
          </p:cNvGraphicFramePr>
          <p:nvPr>
            <p:extLst>
              <p:ext uri="{D42A27DB-BD31-4B8C-83A1-F6EECF244321}">
                <p14:modId xmlns:p14="http://schemas.microsoft.com/office/powerpoint/2010/main" val="346311515"/>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Group differences</a:t>
                      </a:r>
                      <a:r>
                        <a:rPr lang="en-US" baseline="0" dirty="0">
                          <a:solidFill>
                            <a:schemeClr val="tx2">
                              <a:lumMod val="75000"/>
                            </a:schemeClr>
                          </a:solidFill>
                        </a:rPr>
                        <a:t> in GLMs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20</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647888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462940"/>
            <a:ext cx="5103904" cy="1015663"/>
          </a:xfrm>
          <a:prstGeom prst="rect">
            <a:avLst/>
          </a:prstGeom>
          <a:noFill/>
        </p:spPr>
        <p:txBody>
          <a:bodyPr wrap="square" rtlCol="0">
            <a:spAutoFit/>
          </a:bodyPr>
          <a:lstStyle/>
          <a:p>
            <a:r>
              <a:rPr lang="en-US" sz="2000" dirty="0">
                <a:solidFill>
                  <a:schemeClr val="tx1">
                    <a:lumMod val="75000"/>
                    <a:lumOff val="25000"/>
                  </a:schemeClr>
                </a:solidFill>
              </a:rPr>
              <a:t>Residuals describe within-group dispersion.</a:t>
            </a:r>
          </a:p>
          <a:p>
            <a:r>
              <a:rPr lang="en-US" sz="2000" dirty="0">
                <a:solidFill>
                  <a:schemeClr val="tx1">
                    <a:lumMod val="75000"/>
                    <a:lumOff val="25000"/>
                  </a:schemeClr>
                </a:solidFill>
              </a:rPr>
              <a:t>Diagonal of outer-product of error represents distances from mean</a:t>
            </a:r>
          </a:p>
        </p:txBody>
      </p:sp>
      <p:sp>
        <p:nvSpPr>
          <p:cNvPr id="19" name="Rectangle 18"/>
          <p:cNvSpPr/>
          <p:nvPr/>
        </p:nvSpPr>
        <p:spPr>
          <a:xfrm>
            <a:off x="5359398" y="4237542"/>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6261483" y="4955688"/>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7122026" y="4237542"/>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5359398" y="5492814"/>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064702" y="4432444"/>
            <a:ext cx="112761" cy="112767"/>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6301350" y="6147922"/>
            <a:ext cx="112761" cy="112767"/>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36" name="Object 35"/>
          <p:cNvGraphicFramePr>
            <a:graphicFrameLocks noChangeAspect="1"/>
          </p:cNvGraphicFramePr>
          <p:nvPr/>
        </p:nvGraphicFramePr>
        <p:xfrm>
          <a:off x="804001" y="2014635"/>
          <a:ext cx="1404937" cy="355600"/>
        </p:xfrm>
        <a:graphic>
          <a:graphicData uri="http://schemas.openxmlformats.org/presentationml/2006/ole">
            <mc:AlternateContent xmlns:mc="http://schemas.openxmlformats.org/markup-compatibility/2006">
              <mc:Choice xmlns:v="urn:schemas-microsoft-com:vml" Requires="v">
                <p:oleObj name="Equation" r:id="rId2" imgW="952500" imgH="241300" progId="Equation.3">
                  <p:embed/>
                </p:oleObj>
              </mc:Choice>
              <mc:Fallback>
                <p:oleObj name="Equation" r:id="rId2" imgW="952500" imgH="241300" progId="Equation.3">
                  <p:embed/>
                  <p:pic>
                    <p:nvPicPr>
                      <p:cNvPr id="0" name=""/>
                      <p:cNvPicPr/>
                      <p:nvPr/>
                    </p:nvPicPr>
                    <p:blipFill>
                      <a:blip r:embed="rId3"/>
                      <a:stretch>
                        <a:fillRect/>
                      </a:stretch>
                    </p:blipFill>
                    <p:spPr>
                      <a:xfrm>
                        <a:off x="804001" y="2014635"/>
                        <a:ext cx="1404937" cy="355600"/>
                      </a:xfrm>
                      <a:prstGeom prst="rect">
                        <a:avLst/>
                      </a:prstGeom>
                    </p:spPr>
                  </p:pic>
                </p:oleObj>
              </mc:Fallback>
            </mc:AlternateContent>
          </a:graphicData>
        </a:graphic>
      </p:graphicFrame>
      <p:sp>
        <p:nvSpPr>
          <p:cNvPr id="39" name="Rectangle 3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Oval 3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1" name="Straight Connector 40"/>
          <p:cNvCxnSpPr>
            <a:stCxn id="39" idx="0"/>
            <a:endCxn id="3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a:stCxn id="39" idx="1"/>
            <a:endCxn id="3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graphicFrame>
        <p:nvGraphicFramePr>
          <p:cNvPr id="30" name="Object 29"/>
          <p:cNvGraphicFramePr>
            <a:graphicFrameLocks noChangeAspect="1"/>
          </p:cNvGraphicFramePr>
          <p:nvPr/>
        </p:nvGraphicFramePr>
        <p:xfrm>
          <a:off x="3124200" y="1981200"/>
          <a:ext cx="1611312" cy="468312"/>
        </p:xfrm>
        <a:graphic>
          <a:graphicData uri="http://schemas.openxmlformats.org/presentationml/2006/ole">
            <mc:AlternateContent xmlns:mc="http://schemas.openxmlformats.org/markup-compatibility/2006">
              <mc:Choice xmlns:v="urn:schemas-microsoft-com:vml" Requires="v">
                <p:oleObj name="Equation" r:id="rId4" imgW="1092200" imgH="317500" progId="Equation.3">
                  <p:embed/>
                </p:oleObj>
              </mc:Choice>
              <mc:Fallback>
                <p:oleObj name="Equation" r:id="rId4" imgW="1092200" imgH="317500" progId="Equation.3">
                  <p:embed/>
                  <p:pic>
                    <p:nvPicPr>
                      <p:cNvPr id="0" name=""/>
                      <p:cNvPicPr/>
                      <p:nvPr/>
                    </p:nvPicPr>
                    <p:blipFill>
                      <a:blip r:embed="rId5"/>
                      <a:stretch>
                        <a:fillRect/>
                      </a:stretch>
                    </p:blipFill>
                    <p:spPr>
                      <a:xfrm>
                        <a:off x="3124200" y="1981200"/>
                        <a:ext cx="1611312" cy="468312"/>
                      </a:xfrm>
                      <a:prstGeom prst="rect">
                        <a:avLst/>
                      </a:prstGeom>
                    </p:spPr>
                  </p:pic>
                </p:oleObj>
              </mc:Fallback>
            </mc:AlternateContent>
          </a:graphicData>
        </a:graphic>
      </p:graphicFrame>
      <p:sp>
        <p:nvSpPr>
          <p:cNvPr id="4" name="Oval 3"/>
          <p:cNvSpPr/>
          <p:nvPr/>
        </p:nvSpPr>
        <p:spPr>
          <a:xfrm>
            <a:off x="6065341" y="61123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6645061" y="6264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6334531" y="62034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6217741" y="48165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6117383" y="50772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p:cNvSpPr/>
          <p:nvPr/>
        </p:nvSpPr>
        <p:spPr>
          <a:xfrm>
            <a:off x="6486931" y="4907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p:cNvSpPr/>
          <p:nvPr/>
        </p:nvSpPr>
        <p:spPr>
          <a:xfrm>
            <a:off x="8020071" y="48977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p:cNvSpPr/>
          <p:nvPr/>
        </p:nvSpPr>
        <p:spPr>
          <a:xfrm>
            <a:off x="8552311" y="43023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p:cNvSpPr/>
          <p:nvPr/>
        </p:nvSpPr>
        <p:spPr>
          <a:xfrm>
            <a:off x="7790721" y="42766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Oval 57"/>
          <p:cNvSpPr/>
          <p:nvPr/>
        </p:nvSpPr>
        <p:spPr>
          <a:xfrm>
            <a:off x="6051561" y="28224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Oval 58"/>
          <p:cNvSpPr/>
          <p:nvPr/>
        </p:nvSpPr>
        <p:spPr>
          <a:xfrm>
            <a:off x="6631281" y="2974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Oval 59"/>
          <p:cNvSpPr/>
          <p:nvPr/>
        </p:nvSpPr>
        <p:spPr>
          <a:xfrm>
            <a:off x="6320751" y="29135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Oval 60"/>
          <p:cNvSpPr/>
          <p:nvPr/>
        </p:nvSpPr>
        <p:spPr>
          <a:xfrm>
            <a:off x="6203961" y="15266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Oval 61"/>
          <p:cNvSpPr/>
          <p:nvPr/>
        </p:nvSpPr>
        <p:spPr>
          <a:xfrm>
            <a:off x="6103603" y="17873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Oval 62"/>
          <p:cNvSpPr/>
          <p:nvPr/>
        </p:nvSpPr>
        <p:spPr>
          <a:xfrm>
            <a:off x="6473151" y="1617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Oval 63"/>
          <p:cNvSpPr/>
          <p:nvPr/>
        </p:nvSpPr>
        <p:spPr>
          <a:xfrm>
            <a:off x="8006291" y="16078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Oval 64"/>
          <p:cNvSpPr/>
          <p:nvPr/>
        </p:nvSpPr>
        <p:spPr>
          <a:xfrm>
            <a:off x="8538531" y="10124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Oval 65"/>
          <p:cNvSpPr/>
          <p:nvPr/>
        </p:nvSpPr>
        <p:spPr>
          <a:xfrm>
            <a:off x="7776941" y="9867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p:cNvCxnSpPr>
            <a:stCxn id="58" idx="0"/>
            <a:endCxn id="40" idx="3"/>
          </p:cNvCxnSpPr>
          <p:nvPr/>
        </p:nvCxnSpPr>
        <p:spPr>
          <a:xfrm flipV="1">
            <a:off x="6074421" y="1977092"/>
            <a:ext cx="707750" cy="8453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67" name="Straight Arrow Connector 66"/>
          <p:cNvCxnSpPr>
            <a:stCxn id="60" idx="7"/>
            <a:endCxn id="40" idx="4"/>
          </p:cNvCxnSpPr>
          <p:nvPr/>
        </p:nvCxnSpPr>
        <p:spPr>
          <a:xfrm flipV="1">
            <a:off x="6359775" y="1993606"/>
            <a:ext cx="462264" cy="9266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68" name="Straight Arrow Connector 67"/>
          <p:cNvCxnSpPr>
            <a:stCxn id="59" idx="0"/>
            <a:endCxn id="40" idx="4"/>
          </p:cNvCxnSpPr>
          <p:nvPr/>
        </p:nvCxnSpPr>
        <p:spPr>
          <a:xfrm flipV="1">
            <a:off x="6654141" y="1993606"/>
            <a:ext cx="167898" cy="98120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69" name="Straight Arrow Connector 68"/>
          <p:cNvCxnSpPr>
            <a:stCxn id="40" idx="7"/>
            <a:endCxn id="66" idx="3"/>
          </p:cNvCxnSpPr>
          <p:nvPr/>
        </p:nvCxnSpPr>
        <p:spPr>
          <a:xfrm flipV="1">
            <a:off x="6861906" y="1025816"/>
            <a:ext cx="921730" cy="87153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70" name="Straight Arrow Connector 69"/>
          <p:cNvCxnSpPr>
            <a:stCxn id="40" idx="6"/>
            <a:endCxn id="65" idx="3"/>
          </p:cNvCxnSpPr>
          <p:nvPr/>
        </p:nvCxnSpPr>
        <p:spPr>
          <a:xfrm flipV="1">
            <a:off x="6878419" y="1051466"/>
            <a:ext cx="1666807" cy="8857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a:stCxn id="40" idx="6"/>
            <a:endCxn id="64" idx="3"/>
          </p:cNvCxnSpPr>
          <p:nvPr/>
        </p:nvCxnSpPr>
        <p:spPr>
          <a:xfrm flipV="1">
            <a:off x="6878419" y="1646876"/>
            <a:ext cx="1134567" cy="29034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72" name="Straight Arrow Connector 71"/>
          <p:cNvCxnSpPr>
            <a:stCxn id="62" idx="6"/>
            <a:endCxn id="40" idx="2"/>
          </p:cNvCxnSpPr>
          <p:nvPr/>
        </p:nvCxnSpPr>
        <p:spPr>
          <a:xfrm>
            <a:off x="6149322" y="1810204"/>
            <a:ext cx="616336" cy="12701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a:stCxn id="61" idx="5"/>
            <a:endCxn id="40" idx="1"/>
          </p:cNvCxnSpPr>
          <p:nvPr/>
        </p:nvCxnSpPr>
        <p:spPr>
          <a:xfrm>
            <a:off x="6242985" y="1565696"/>
            <a:ext cx="539186" cy="3316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a:stCxn id="63" idx="5"/>
            <a:endCxn id="40" idx="1"/>
          </p:cNvCxnSpPr>
          <p:nvPr/>
        </p:nvCxnSpPr>
        <p:spPr>
          <a:xfrm>
            <a:off x="6512175" y="1656836"/>
            <a:ext cx="269996" cy="24051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graphicFrame>
        <p:nvGraphicFramePr>
          <p:cNvPr id="75" name="Object 74"/>
          <p:cNvGraphicFramePr>
            <a:graphicFrameLocks noChangeAspect="1"/>
          </p:cNvGraphicFramePr>
          <p:nvPr/>
        </p:nvGraphicFramePr>
        <p:xfrm>
          <a:off x="982663" y="5162550"/>
          <a:ext cx="1349375" cy="355600"/>
        </p:xfrm>
        <a:graphic>
          <a:graphicData uri="http://schemas.openxmlformats.org/presentationml/2006/ole">
            <mc:AlternateContent xmlns:mc="http://schemas.openxmlformats.org/markup-compatibility/2006">
              <mc:Choice xmlns:v="urn:schemas-microsoft-com:vml" Requires="v">
                <p:oleObj name="Equation" r:id="rId6" imgW="914400" imgH="241300" progId="Equation.3">
                  <p:embed/>
                </p:oleObj>
              </mc:Choice>
              <mc:Fallback>
                <p:oleObj name="Equation" r:id="rId6" imgW="914400" imgH="241300" progId="Equation.3">
                  <p:embed/>
                  <p:pic>
                    <p:nvPicPr>
                      <p:cNvPr id="0" name=""/>
                      <p:cNvPicPr/>
                      <p:nvPr/>
                    </p:nvPicPr>
                    <p:blipFill>
                      <a:blip r:embed="rId7"/>
                      <a:stretch>
                        <a:fillRect/>
                      </a:stretch>
                    </p:blipFill>
                    <p:spPr>
                      <a:xfrm>
                        <a:off x="982663" y="5162550"/>
                        <a:ext cx="1349375" cy="355600"/>
                      </a:xfrm>
                      <a:prstGeom prst="rect">
                        <a:avLst/>
                      </a:prstGeom>
                    </p:spPr>
                  </p:pic>
                </p:oleObj>
              </mc:Fallback>
            </mc:AlternateContent>
          </a:graphicData>
        </a:graphic>
      </p:graphicFrame>
      <p:graphicFrame>
        <p:nvGraphicFramePr>
          <p:cNvPr id="76" name="Object 75"/>
          <p:cNvGraphicFramePr>
            <a:graphicFrameLocks noChangeAspect="1"/>
          </p:cNvGraphicFramePr>
          <p:nvPr/>
        </p:nvGraphicFramePr>
        <p:xfrm>
          <a:off x="3476625" y="5126038"/>
          <a:ext cx="1592263" cy="468312"/>
        </p:xfrm>
        <a:graphic>
          <a:graphicData uri="http://schemas.openxmlformats.org/presentationml/2006/ole">
            <mc:AlternateContent xmlns:mc="http://schemas.openxmlformats.org/markup-compatibility/2006">
              <mc:Choice xmlns:v="urn:schemas-microsoft-com:vml" Requires="v">
                <p:oleObj name="Equation" r:id="rId8" imgW="1079500" imgH="317500" progId="Equation.3">
                  <p:embed/>
                </p:oleObj>
              </mc:Choice>
              <mc:Fallback>
                <p:oleObj name="Equation" r:id="rId8" imgW="1079500" imgH="317500" progId="Equation.3">
                  <p:embed/>
                  <p:pic>
                    <p:nvPicPr>
                      <p:cNvPr id="0" name=""/>
                      <p:cNvPicPr/>
                      <p:nvPr/>
                    </p:nvPicPr>
                    <p:blipFill>
                      <a:blip r:embed="rId9"/>
                      <a:stretch>
                        <a:fillRect/>
                      </a:stretch>
                    </p:blipFill>
                    <p:spPr>
                      <a:xfrm>
                        <a:off x="3476625" y="5126038"/>
                        <a:ext cx="1592263" cy="468312"/>
                      </a:xfrm>
                      <a:prstGeom prst="rect">
                        <a:avLst/>
                      </a:prstGeom>
                    </p:spPr>
                  </p:pic>
                </p:oleObj>
              </mc:Fallback>
            </mc:AlternateContent>
          </a:graphicData>
        </a:graphic>
      </p:graphicFrame>
      <p:cxnSp>
        <p:nvCxnSpPr>
          <p:cNvPr id="77" name="Straight Arrow Connector 76"/>
          <p:cNvCxnSpPr>
            <a:stCxn id="4" idx="6"/>
            <a:endCxn id="27" idx="2"/>
          </p:cNvCxnSpPr>
          <p:nvPr/>
        </p:nvCxnSpPr>
        <p:spPr>
          <a:xfrm>
            <a:off x="6111060" y="6135172"/>
            <a:ext cx="190290" cy="69134"/>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a:endCxn id="31" idx="6"/>
          </p:cNvCxnSpPr>
          <p:nvPr/>
        </p:nvCxnSpPr>
        <p:spPr>
          <a:xfrm>
            <a:off x="6414111" y="6207719"/>
            <a:ext cx="276669" cy="79853"/>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a:endCxn id="25" idx="1"/>
          </p:cNvCxnSpPr>
          <p:nvPr/>
        </p:nvCxnSpPr>
        <p:spPr>
          <a:xfrm>
            <a:off x="7818657" y="4302342"/>
            <a:ext cx="262558" cy="146616"/>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a:stCxn id="55" idx="0"/>
            <a:endCxn id="25" idx="4"/>
          </p:cNvCxnSpPr>
          <p:nvPr/>
        </p:nvCxnSpPr>
        <p:spPr>
          <a:xfrm flipV="1">
            <a:off x="8042931" y="4545211"/>
            <a:ext cx="78152" cy="35254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25" idx="6"/>
            <a:endCxn id="56" idx="3"/>
          </p:cNvCxnSpPr>
          <p:nvPr/>
        </p:nvCxnSpPr>
        <p:spPr>
          <a:xfrm flipV="1">
            <a:off x="8177463" y="4341366"/>
            <a:ext cx="381543" cy="147462"/>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stCxn id="20" idx="1"/>
          </p:cNvCxnSpPr>
          <p:nvPr/>
        </p:nvCxnSpPr>
        <p:spPr>
          <a:xfrm flipH="1" flipV="1">
            <a:off x="6241254" y="4834721"/>
            <a:ext cx="36742" cy="13748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stCxn id="20" idx="3"/>
          </p:cNvCxnSpPr>
          <p:nvPr/>
        </p:nvCxnSpPr>
        <p:spPr>
          <a:xfrm flipH="1">
            <a:off x="6144355" y="505194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flipH="1">
            <a:off x="6365174" y="494347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graphicFrame>
        <p:nvGraphicFramePr>
          <p:cNvPr id="133" name="Object 132"/>
          <p:cNvGraphicFramePr>
            <a:graphicFrameLocks noChangeAspect="1"/>
          </p:cNvGraphicFramePr>
          <p:nvPr/>
        </p:nvGraphicFramePr>
        <p:xfrm>
          <a:off x="774700" y="2868613"/>
          <a:ext cx="4119563" cy="468312"/>
        </p:xfrm>
        <a:graphic>
          <a:graphicData uri="http://schemas.openxmlformats.org/presentationml/2006/ole">
            <mc:AlternateContent xmlns:mc="http://schemas.openxmlformats.org/markup-compatibility/2006">
              <mc:Choice xmlns:v="urn:schemas-microsoft-com:vml" Requires="v">
                <p:oleObj name="Equation" r:id="rId10" imgW="2794000" imgH="317500" progId="Equation.3">
                  <p:embed/>
                </p:oleObj>
              </mc:Choice>
              <mc:Fallback>
                <p:oleObj name="Equation" r:id="rId10" imgW="2794000" imgH="317500" progId="Equation.3">
                  <p:embed/>
                  <p:pic>
                    <p:nvPicPr>
                      <p:cNvPr id="0" name=""/>
                      <p:cNvPicPr/>
                      <p:nvPr/>
                    </p:nvPicPr>
                    <p:blipFill>
                      <a:blip r:embed="rId11"/>
                      <a:stretch>
                        <a:fillRect/>
                      </a:stretch>
                    </p:blipFill>
                    <p:spPr>
                      <a:xfrm>
                        <a:off x="774700" y="2868613"/>
                        <a:ext cx="4119563" cy="468312"/>
                      </a:xfrm>
                      <a:prstGeom prst="rect">
                        <a:avLst/>
                      </a:prstGeom>
                    </p:spPr>
                  </p:pic>
                </p:oleObj>
              </mc:Fallback>
            </mc:AlternateContent>
          </a:graphicData>
        </a:graphic>
      </p:graphicFrame>
      <p:graphicFrame>
        <p:nvGraphicFramePr>
          <p:cNvPr id="134" name="Object 133"/>
          <p:cNvGraphicFramePr>
            <a:graphicFrameLocks noChangeAspect="1"/>
          </p:cNvGraphicFramePr>
          <p:nvPr/>
        </p:nvGraphicFramePr>
        <p:xfrm>
          <a:off x="879475" y="5778500"/>
          <a:ext cx="4044950" cy="468313"/>
        </p:xfrm>
        <a:graphic>
          <a:graphicData uri="http://schemas.openxmlformats.org/presentationml/2006/ole">
            <mc:AlternateContent xmlns:mc="http://schemas.openxmlformats.org/markup-compatibility/2006">
              <mc:Choice xmlns:v="urn:schemas-microsoft-com:vml" Requires="v">
                <p:oleObj name="Equation" r:id="rId12" imgW="2743200" imgH="317500" progId="Equation.3">
                  <p:embed/>
                </p:oleObj>
              </mc:Choice>
              <mc:Fallback>
                <p:oleObj name="Equation" r:id="rId12" imgW="2743200" imgH="317500" progId="Equation.3">
                  <p:embed/>
                  <p:pic>
                    <p:nvPicPr>
                      <p:cNvPr id="0" name=""/>
                      <p:cNvPicPr/>
                      <p:nvPr/>
                    </p:nvPicPr>
                    <p:blipFill>
                      <a:blip r:embed="rId13"/>
                      <a:stretch>
                        <a:fillRect/>
                      </a:stretch>
                    </p:blipFill>
                    <p:spPr>
                      <a:xfrm>
                        <a:off x="879475" y="5778500"/>
                        <a:ext cx="4044950" cy="468313"/>
                      </a:xfrm>
                      <a:prstGeom prst="rect">
                        <a:avLst/>
                      </a:prstGeom>
                    </p:spPr>
                  </p:pic>
                </p:oleObj>
              </mc:Fallback>
            </mc:AlternateContent>
          </a:graphicData>
        </a:graphic>
      </p:graphicFrame>
      <p:graphicFrame>
        <p:nvGraphicFramePr>
          <p:cNvPr id="78" name="Table 77"/>
          <p:cNvGraphicFramePr>
            <a:graphicFrameLocks noGrp="1"/>
          </p:cNvGraphicFramePr>
          <p:nvPr>
            <p:extLst>
              <p:ext uri="{D42A27DB-BD31-4B8C-83A1-F6EECF244321}">
                <p14:modId xmlns:p14="http://schemas.microsoft.com/office/powerpoint/2010/main" val="225374846"/>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E</a:t>
                      </a:r>
                      <a:r>
                        <a:rPr lang="en-US" baseline="0" dirty="0">
                          <a:solidFill>
                            <a:schemeClr val="tx2">
                              <a:lumMod val="75000"/>
                            </a:schemeClr>
                          </a:solidFill>
                        </a:rPr>
                        <a:t>rror terms and model comparison</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21</a:t>
                      </a:r>
                    </a:p>
                  </a:txBody>
                  <a:tcPr anchor="ctr"/>
                </a:tc>
                <a:extLst>
                  <a:ext uri="{0D108BD9-81ED-4DB2-BD59-A6C34878D82A}">
                    <a16:rowId xmlns:a16="http://schemas.microsoft.com/office/drawing/2014/main" val="10000"/>
                  </a:ext>
                </a:extLst>
              </a:tr>
            </a:tbl>
          </a:graphicData>
        </a:graphic>
      </p:graphicFrame>
      <p:graphicFrame>
        <p:nvGraphicFramePr>
          <p:cNvPr id="79" name="Object 78"/>
          <p:cNvGraphicFramePr>
            <a:graphicFrameLocks noChangeAspect="1"/>
          </p:cNvGraphicFramePr>
          <p:nvPr/>
        </p:nvGraphicFramePr>
        <p:xfrm>
          <a:off x="225520" y="3579352"/>
          <a:ext cx="5079978" cy="574596"/>
        </p:xfrm>
        <a:graphic>
          <a:graphicData uri="http://schemas.openxmlformats.org/presentationml/2006/ole">
            <mc:AlternateContent xmlns:mc="http://schemas.openxmlformats.org/markup-compatibility/2006">
              <mc:Choice xmlns:v="urn:schemas-microsoft-com:vml" Requires="v">
                <p:oleObj name="Equation" r:id="rId14" imgW="2806700" imgH="317500" progId="Equation.3">
                  <p:embed/>
                </p:oleObj>
              </mc:Choice>
              <mc:Fallback>
                <p:oleObj name="Equation" r:id="rId14" imgW="2806700" imgH="317500" progId="Equation.3">
                  <p:embed/>
                  <p:pic>
                    <p:nvPicPr>
                      <p:cNvPr id="0" name=""/>
                      <p:cNvPicPr/>
                      <p:nvPr/>
                    </p:nvPicPr>
                    <p:blipFill>
                      <a:blip r:embed="rId15"/>
                      <a:stretch>
                        <a:fillRect/>
                      </a:stretch>
                    </p:blipFill>
                    <p:spPr>
                      <a:xfrm>
                        <a:off x="225520" y="3579352"/>
                        <a:ext cx="5079978" cy="574596"/>
                      </a:xfrm>
                      <a:prstGeom prst="rect">
                        <a:avLst/>
                      </a:prstGeom>
                      <a:solidFill>
                        <a:srgbClr val="CCFFCC"/>
                      </a:solidFill>
                    </p:spPr>
                  </p:pic>
                </p:oleObj>
              </mc:Fallback>
            </mc:AlternateContent>
          </a:graphicData>
        </a:graphic>
      </p:graphicFrame>
      <p:cxnSp>
        <p:nvCxnSpPr>
          <p:cNvPr id="80" name="Straight Arrow Connector 79"/>
          <p:cNvCxnSpPr/>
          <p:nvPr/>
        </p:nvCxnSpPr>
        <p:spPr>
          <a:xfrm>
            <a:off x="6349193" y="5051941"/>
            <a:ext cx="442938" cy="155232"/>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81" name="Straight Arrow Connector 80"/>
          <p:cNvCxnSpPr/>
          <p:nvPr/>
        </p:nvCxnSpPr>
        <p:spPr>
          <a:xfrm flipV="1">
            <a:off x="6385444" y="5327730"/>
            <a:ext cx="434401" cy="80888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82" name="Straight Arrow Connector 81"/>
          <p:cNvCxnSpPr/>
          <p:nvPr/>
        </p:nvCxnSpPr>
        <p:spPr>
          <a:xfrm flipV="1">
            <a:off x="6888889" y="4528697"/>
            <a:ext cx="1192326" cy="69216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aphicFrame>
        <p:nvGraphicFramePr>
          <p:cNvPr id="84" name="Object 83"/>
          <p:cNvGraphicFramePr>
            <a:graphicFrameLocks noChangeAspect="1"/>
          </p:cNvGraphicFramePr>
          <p:nvPr/>
        </p:nvGraphicFramePr>
        <p:xfrm>
          <a:off x="7405688" y="5949950"/>
          <a:ext cx="1273175" cy="674688"/>
        </p:xfrm>
        <a:graphic>
          <a:graphicData uri="http://schemas.openxmlformats.org/presentationml/2006/ole">
            <mc:AlternateContent xmlns:mc="http://schemas.openxmlformats.org/markup-compatibility/2006">
              <mc:Choice xmlns:v="urn:schemas-microsoft-com:vml" Requires="v">
                <p:oleObj name="Equation" r:id="rId16" imgW="863600" imgH="457200" progId="Equation.3">
                  <p:embed/>
                </p:oleObj>
              </mc:Choice>
              <mc:Fallback>
                <p:oleObj name="Equation" r:id="rId16" imgW="863600" imgH="457200" progId="Equation.3">
                  <p:embed/>
                  <p:pic>
                    <p:nvPicPr>
                      <p:cNvPr id="0" name=""/>
                      <p:cNvPicPr/>
                      <p:nvPr/>
                    </p:nvPicPr>
                    <p:blipFill>
                      <a:blip r:embed="rId17"/>
                      <a:stretch>
                        <a:fillRect/>
                      </a:stretch>
                    </p:blipFill>
                    <p:spPr>
                      <a:xfrm>
                        <a:off x="7405688" y="5949950"/>
                        <a:ext cx="1273175" cy="674688"/>
                      </a:xfrm>
                      <a:prstGeom prst="rect">
                        <a:avLst/>
                      </a:prstGeom>
                    </p:spPr>
                  </p:pic>
                </p:oleObj>
              </mc:Fallback>
            </mc:AlternateContent>
          </a:graphicData>
        </a:graphic>
      </p:graphicFrame>
      <p:sp>
        <p:nvSpPr>
          <p:cNvPr id="86" name="Oval 85"/>
          <p:cNvSpPr/>
          <p:nvPr/>
        </p:nvSpPr>
        <p:spPr>
          <a:xfrm>
            <a:off x="6775618" y="5190659"/>
            <a:ext cx="112761" cy="112767"/>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Rectangle 86"/>
          <p:cNvSpPr/>
          <p:nvPr/>
        </p:nvSpPr>
        <p:spPr>
          <a:xfrm>
            <a:off x="0" y="6550223"/>
            <a:ext cx="5582347" cy="307777"/>
          </a:xfrm>
          <a:prstGeom prst="rect">
            <a:avLst/>
          </a:prstGeom>
        </p:spPr>
        <p:txBody>
          <a:bodyPr wrap="square">
            <a:spAutoFit/>
          </a:bodyPr>
          <a:lstStyle/>
          <a:p>
            <a:r>
              <a:rPr lang="en-US" sz="1400" dirty="0">
                <a:solidFill>
                  <a:schemeClr val="tx1">
                    <a:lumMod val="75000"/>
                    <a:lumOff val="25000"/>
                  </a:schemeClr>
                </a:solidFill>
              </a:rPr>
              <a:t>Anderson MJ (2001). </a:t>
            </a:r>
            <a:r>
              <a:rPr lang="en-US" sz="1400" i="1" dirty="0">
                <a:solidFill>
                  <a:schemeClr val="tx1">
                    <a:lumMod val="75000"/>
                    <a:lumOff val="25000"/>
                  </a:schemeClr>
                </a:solidFill>
              </a:rPr>
              <a:t>Austral Ecology</a:t>
            </a:r>
            <a:r>
              <a:rPr lang="en-US" sz="1400" dirty="0">
                <a:solidFill>
                  <a:schemeClr val="tx1">
                    <a:lumMod val="75000"/>
                    <a:lumOff val="25000"/>
                  </a:schemeClr>
                </a:solidFill>
              </a:rPr>
              <a:t> 26</a:t>
            </a:r>
            <a:r>
              <a:rPr lang="en-US" sz="1400" b="1" dirty="0">
                <a:solidFill>
                  <a:schemeClr val="tx1">
                    <a:lumMod val="75000"/>
                    <a:lumOff val="25000"/>
                  </a:schemeClr>
                </a:solidFill>
              </a:rPr>
              <a:t>:</a:t>
            </a:r>
            <a:r>
              <a:rPr lang="en-US" sz="1400" dirty="0">
                <a:solidFill>
                  <a:schemeClr val="tx1">
                    <a:lumMod val="75000"/>
                    <a:lumOff val="25000"/>
                  </a:schemeClr>
                </a:solidFill>
              </a:rPr>
              <a:t> 32-46 </a:t>
            </a:r>
          </a:p>
        </p:txBody>
      </p:sp>
    </p:spTree>
    <p:extLst>
      <p:ext uri="{BB962C8B-B14F-4D97-AF65-F5344CB8AC3E}">
        <p14:creationId xmlns:p14="http://schemas.microsoft.com/office/powerpoint/2010/main" val="117547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dissolve">
                                      <p:cBhvr>
                                        <p:cTn id="7" dur="5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dissolve">
                                      <p:cBhvr>
                                        <p:cTn id="12" dur="500"/>
                                        <p:tgtEl>
                                          <p:spTgt spid="80"/>
                                        </p:tgtEl>
                                      </p:cBhvr>
                                    </p:animEffect>
                                  </p:childTnLst>
                                </p:cTn>
                              </p:par>
                              <p:par>
                                <p:cTn id="13" presetID="9" presetClass="entr" presetSubtype="0" fill="hold" nodeType="withEffect">
                                  <p:stCondLst>
                                    <p:cond delay="0"/>
                                  </p:stCondLst>
                                  <p:childTnLst>
                                    <p:set>
                                      <p:cBhvr>
                                        <p:cTn id="14" dur="1" fill="hold">
                                          <p:stCondLst>
                                            <p:cond delay="0"/>
                                          </p:stCondLst>
                                        </p:cTn>
                                        <p:tgtEl>
                                          <p:spTgt spid="81"/>
                                        </p:tgtEl>
                                        <p:attrNameLst>
                                          <p:attrName>style.visibility</p:attrName>
                                        </p:attrNameLst>
                                      </p:cBhvr>
                                      <p:to>
                                        <p:strVal val="visible"/>
                                      </p:to>
                                    </p:set>
                                    <p:animEffect transition="in" filter="dissolve">
                                      <p:cBhvr>
                                        <p:cTn id="15" dur="500"/>
                                        <p:tgtEl>
                                          <p:spTgt spid="81"/>
                                        </p:tgtEl>
                                      </p:cBhvr>
                                    </p:animEffect>
                                  </p:childTnLst>
                                </p:cTn>
                              </p:par>
                              <p:par>
                                <p:cTn id="16" presetID="9" presetClass="entr" presetSubtype="0" fill="hold" nodeType="withEffect">
                                  <p:stCondLst>
                                    <p:cond delay="0"/>
                                  </p:stCondLst>
                                  <p:childTnLst>
                                    <p:set>
                                      <p:cBhvr>
                                        <p:cTn id="17" dur="1" fill="hold">
                                          <p:stCondLst>
                                            <p:cond delay="0"/>
                                          </p:stCondLst>
                                        </p:cTn>
                                        <p:tgtEl>
                                          <p:spTgt spid="82"/>
                                        </p:tgtEl>
                                        <p:attrNameLst>
                                          <p:attrName>style.visibility</p:attrName>
                                        </p:attrNameLst>
                                      </p:cBhvr>
                                      <p:to>
                                        <p:strVal val="visible"/>
                                      </p:to>
                                    </p:set>
                                    <p:animEffect transition="in" filter="dissolve">
                                      <p:cBhvr>
                                        <p:cTn id="18" dur="500"/>
                                        <p:tgtEl>
                                          <p:spTgt spid="82"/>
                                        </p:tgtEl>
                                      </p:cBhvr>
                                    </p:animEffect>
                                  </p:childTnLst>
                                </p:cTn>
                              </p:par>
                              <p:par>
                                <p:cTn id="19" presetID="9" presetClass="entr" presetSubtype="0" fill="hold" nodeType="withEffect">
                                  <p:stCondLst>
                                    <p:cond delay="0"/>
                                  </p:stCondLst>
                                  <p:childTnLst>
                                    <p:set>
                                      <p:cBhvr>
                                        <p:cTn id="20" dur="1" fill="hold">
                                          <p:stCondLst>
                                            <p:cond delay="0"/>
                                          </p:stCondLst>
                                        </p:cTn>
                                        <p:tgtEl>
                                          <p:spTgt spid="84"/>
                                        </p:tgtEl>
                                        <p:attrNameLst>
                                          <p:attrName>style.visibility</p:attrName>
                                        </p:attrNameLst>
                                      </p:cBhvr>
                                      <p:to>
                                        <p:strVal val="visible"/>
                                      </p:to>
                                    </p:set>
                                    <p:animEffect transition="in" filter="dissolve">
                                      <p:cBhvr>
                                        <p:cTn id="21"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462940"/>
            <a:ext cx="5103904" cy="2677656"/>
          </a:xfrm>
          <a:prstGeom prst="rect">
            <a:avLst/>
          </a:prstGeom>
          <a:noFill/>
        </p:spPr>
        <p:txBody>
          <a:bodyPr wrap="square" rtlCol="0">
            <a:spAutoFit/>
          </a:bodyPr>
          <a:lstStyle/>
          <a:p>
            <a:r>
              <a:rPr lang="en-US" sz="2400" dirty="0">
                <a:solidFill>
                  <a:schemeClr val="tx1">
                    <a:lumMod val="75000"/>
                    <a:lumOff val="25000"/>
                  </a:schemeClr>
                </a:solidFill>
              </a:rPr>
              <a:t>Null Hypothesis</a:t>
            </a:r>
          </a:p>
          <a:p>
            <a:endParaRPr lang="en-US" sz="2400" dirty="0">
              <a:solidFill>
                <a:schemeClr val="tx1">
                  <a:lumMod val="75000"/>
                  <a:lumOff val="25000"/>
                </a:schemeClr>
              </a:solidFill>
            </a:endParaRPr>
          </a:p>
          <a:p>
            <a:endParaRPr lang="en-US" sz="2400" dirty="0">
              <a:solidFill>
                <a:schemeClr val="tx1">
                  <a:lumMod val="75000"/>
                  <a:lumOff val="25000"/>
                </a:schemeClr>
              </a:solidFill>
            </a:endParaRPr>
          </a:p>
          <a:p>
            <a:endParaRPr lang="en-US" sz="2400" dirty="0">
              <a:solidFill>
                <a:schemeClr val="tx1">
                  <a:lumMod val="75000"/>
                  <a:lumOff val="25000"/>
                </a:schemeClr>
              </a:solidFill>
            </a:endParaRPr>
          </a:p>
          <a:p>
            <a:endParaRPr lang="en-US" sz="2400" dirty="0">
              <a:solidFill>
                <a:schemeClr val="tx1">
                  <a:lumMod val="75000"/>
                  <a:lumOff val="25000"/>
                </a:schemeClr>
              </a:solidFill>
            </a:endParaRPr>
          </a:p>
          <a:p>
            <a:endParaRPr lang="en-US" sz="2400" dirty="0">
              <a:solidFill>
                <a:schemeClr val="tx1">
                  <a:lumMod val="75000"/>
                  <a:lumOff val="25000"/>
                </a:schemeClr>
              </a:solidFill>
            </a:endParaRPr>
          </a:p>
          <a:p>
            <a:r>
              <a:rPr lang="en-US" sz="2400" dirty="0">
                <a:solidFill>
                  <a:schemeClr val="tx1">
                    <a:lumMod val="75000"/>
                    <a:lumOff val="25000"/>
                  </a:schemeClr>
                </a:solidFill>
              </a:rPr>
              <a:t>Viable test statistics</a:t>
            </a:r>
          </a:p>
        </p:txBody>
      </p:sp>
      <p:sp>
        <p:nvSpPr>
          <p:cNvPr id="19" name="Rectangle 18"/>
          <p:cNvSpPr/>
          <p:nvPr/>
        </p:nvSpPr>
        <p:spPr>
          <a:xfrm>
            <a:off x="5359398" y="4237542"/>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6261483" y="4955688"/>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7122026" y="4237542"/>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5359398" y="5492814"/>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064702" y="4432444"/>
            <a:ext cx="112761" cy="112767"/>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6301350" y="6147922"/>
            <a:ext cx="112761" cy="112767"/>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p:cNvSpPr/>
          <p:nvPr/>
        </p:nvSpPr>
        <p:spPr>
          <a:xfrm>
            <a:off x="6065341" y="61123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6645061" y="6264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6334531" y="62034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6217741" y="48165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6117383" y="50772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p:cNvSpPr/>
          <p:nvPr/>
        </p:nvSpPr>
        <p:spPr>
          <a:xfrm>
            <a:off x="6486931" y="4907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p:cNvSpPr/>
          <p:nvPr/>
        </p:nvSpPr>
        <p:spPr>
          <a:xfrm>
            <a:off x="8020071" y="48977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p:cNvSpPr/>
          <p:nvPr/>
        </p:nvSpPr>
        <p:spPr>
          <a:xfrm>
            <a:off x="8552311" y="43023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p:cNvSpPr/>
          <p:nvPr/>
        </p:nvSpPr>
        <p:spPr>
          <a:xfrm>
            <a:off x="7790721" y="42766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7" name="Straight Arrow Connector 76"/>
          <p:cNvCxnSpPr>
            <a:stCxn id="4" idx="6"/>
            <a:endCxn id="27" idx="2"/>
          </p:cNvCxnSpPr>
          <p:nvPr/>
        </p:nvCxnSpPr>
        <p:spPr>
          <a:xfrm>
            <a:off x="6111060" y="6135172"/>
            <a:ext cx="190290" cy="69134"/>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a:endCxn id="31" idx="6"/>
          </p:cNvCxnSpPr>
          <p:nvPr/>
        </p:nvCxnSpPr>
        <p:spPr>
          <a:xfrm>
            <a:off x="6414111" y="6207719"/>
            <a:ext cx="276669" cy="79853"/>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a:endCxn id="25" idx="1"/>
          </p:cNvCxnSpPr>
          <p:nvPr/>
        </p:nvCxnSpPr>
        <p:spPr>
          <a:xfrm>
            <a:off x="7818657" y="4302342"/>
            <a:ext cx="262558" cy="146616"/>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a:stCxn id="55" idx="0"/>
            <a:endCxn id="25" idx="4"/>
          </p:cNvCxnSpPr>
          <p:nvPr/>
        </p:nvCxnSpPr>
        <p:spPr>
          <a:xfrm flipV="1">
            <a:off x="8042931" y="4545211"/>
            <a:ext cx="78152" cy="35254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25" idx="6"/>
            <a:endCxn id="56" idx="3"/>
          </p:cNvCxnSpPr>
          <p:nvPr/>
        </p:nvCxnSpPr>
        <p:spPr>
          <a:xfrm flipV="1">
            <a:off x="8177463" y="4341366"/>
            <a:ext cx="381543" cy="147462"/>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stCxn id="20" idx="1"/>
          </p:cNvCxnSpPr>
          <p:nvPr/>
        </p:nvCxnSpPr>
        <p:spPr>
          <a:xfrm flipH="1" flipV="1">
            <a:off x="6241254" y="4834721"/>
            <a:ext cx="36742" cy="13748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stCxn id="20" idx="3"/>
          </p:cNvCxnSpPr>
          <p:nvPr/>
        </p:nvCxnSpPr>
        <p:spPr>
          <a:xfrm flipH="1">
            <a:off x="6144355" y="505194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flipH="1">
            <a:off x="6365174" y="494347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Oval 7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1" name="Straight Connector 80"/>
          <p:cNvCxnSpPr>
            <a:stCxn id="79" idx="0"/>
            <a:endCxn id="7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a:stCxn id="79" idx="1"/>
            <a:endCxn id="7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6051561" y="28224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p:cNvSpPr/>
          <p:nvPr/>
        </p:nvSpPr>
        <p:spPr>
          <a:xfrm>
            <a:off x="6631281" y="2974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Oval 86"/>
          <p:cNvSpPr/>
          <p:nvPr/>
        </p:nvSpPr>
        <p:spPr>
          <a:xfrm>
            <a:off x="6320751" y="29135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p:cNvSpPr/>
          <p:nvPr/>
        </p:nvSpPr>
        <p:spPr>
          <a:xfrm>
            <a:off x="6203961" y="15266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p:cNvSpPr/>
          <p:nvPr/>
        </p:nvSpPr>
        <p:spPr>
          <a:xfrm>
            <a:off x="6103603" y="17873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p:cNvSpPr/>
          <p:nvPr/>
        </p:nvSpPr>
        <p:spPr>
          <a:xfrm>
            <a:off x="6473151" y="1617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Oval 91"/>
          <p:cNvSpPr/>
          <p:nvPr/>
        </p:nvSpPr>
        <p:spPr>
          <a:xfrm>
            <a:off x="8006291" y="16078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p:cNvSpPr/>
          <p:nvPr/>
        </p:nvSpPr>
        <p:spPr>
          <a:xfrm>
            <a:off x="8538531" y="10124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p:cNvSpPr/>
          <p:nvPr/>
        </p:nvSpPr>
        <p:spPr>
          <a:xfrm>
            <a:off x="7776941" y="9867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6" name="Straight Arrow Connector 95"/>
          <p:cNvCxnSpPr>
            <a:stCxn id="84" idx="0"/>
            <a:endCxn id="80" idx="3"/>
          </p:cNvCxnSpPr>
          <p:nvPr/>
        </p:nvCxnSpPr>
        <p:spPr>
          <a:xfrm flipV="1">
            <a:off x="6074421" y="1977092"/>
            <a:ext cx="707750" cy="8453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a:stCxn id="87" idx="7"/>
            <a:endCxn id="80" idx="4"/>
          </p:cNvCxnSpPr>
          <p:nvPr/>
        </p:nvCxnSpPr>
        <p:spPr>
          <a:xfrm flipV="1">
            <a:off x="6359775" y="1993606"/>
            <a:ext cx="462264" cy="9266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a:stCxn id="86" idx="0"/>
            <a:endCxn id="80" idx="4"/>
          </p:cNvCxnSpPr>
          <p:nvPr/>
        </p:nvCxnSpPr>
        <p:spPr>
          <a:xfrm flipV="1">
            <a:off x="6654141" y="1993606"/>
            <a:ext cx="167898" cy="98120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a:stCxn id="80" idx="7"/>
            <a:endCxn id="95" idx="3"/>
          </p:cNvCxnSpPr>
          <p:nvPr/>
        </p:nvCxnSpPr>
        <p:spPr>
          <a:xfrm flipV="1">
            <a:off x="6861906" y="1025816"/>
            <a:ext cx="921730" cy="87153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a:stCxn id="80" idx="6"/>
            <a:endCxn id="93" idx="3"/>
          </p:cNvCxnSpPr>
          <p:nvPr/>
        </p:nvCxnSpPr>
        <p:spPr>
          <a:xfrm flipV="1">
            <a:off x="6878419" y="1051466"/>
            <a:ext cx="1666807" cy="8857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a:stCxn id="80" idx="6"/>
            <a:endCxn id="92" idx="3"/>
          </p:cNvCxnSpPr>
          <p:nvPr/>
        </p:nvCxnSpPr>
        <p:spPr>
          <a:xfrm flipV="1">
            <a:off x="6878419" y="1646876"/>
            <a:ext cx="1134567" cy="29034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a:stCxn id="89" idx="6"/>
            <a:endCxn id="80" idx="2"/>
          </p:cNvCxnSpPr>
          <p:nvPr/>
        </p:nvCxnSpPr>
        <p:spPr>
          <a:xfrm>
            <a:off x="6149322" y="1810204"/>
            <a:ext cx="616336" cy="12701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88" idx="5"/>
            <a:endCxn id="80" idx="1"/>
          </p:cNvCxnSpPr>
          <p:nvPr/>
        </p:nvCxnSpPr>
        <p:spPr>
          <a:xfrm>
            <a:off x="6242985" y="1565696"/>
            <a:ext cx="539186" cy="3316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a:stCxn id="90" idx="5"/>
            <a:endCxn id="80" idx="1"/>
          </p:cNvCxnSpPr>
          <p:nvPr/>
        </p:nvCxnSpPr>
        <p:spPr>
          <a:xfrm>
            <a:off x="6512175" y="1656836"/>
            <a:ext cx="269996" cy="24051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775618" y="5190659"/>
            <a:ext cx="112761" cy="112767"/>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Arrow Connector 58"/>
          <p:cNvCxnSpPr>
            <a:endCxn id="58" idx="1"/>
          </p:cNvCxnSpPr>
          <p:nvPr/>
        </p:nvCxnSpPr>
        <p:spPr>
          <a:xfrm>
            <a:off x="6349193" y="5051941"/>
            <a:ext cx="442938" cy="155232"/>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0" name="Straight Arrow Connector 59"/>
          <p:cNvCxnSpPr/>
          <p:nvPr/>
        </p:nvCxnSpPr>
        <p:spPr>
          <a:xfrm flipV="1">
            <a:off x="6385444" y="5327730"/>
            <a:ext cx="434401" cy="80888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aphicFrame>
        <p:nvGraphicFramePr>
          <p:cNvPr id="69" name="Object 68"/>
          <p:cNvGraphicFramePr>
            <a:graphicFrameLocks noChangeAspect="1"/>
          </p:cNvGraphicFramePr>
          <p:nvPr/>
        </p:nvGraphicFramePr>
        <p:xfrm>
          <a:off x="489905" y="943804"/>
          <a:ext cx="2586735" cy="780243"/>
        </p:xfrm>
        <a:graphic>
          <a:graphicData uri="http://schemas.openxmlformats.org/presentationml/2006/ole">
            <mc:AlternateContent xmlns:mc="http://schemas.openxmlformats.org/markup-compatibility/2006">
              <mc:Choice xmlns:v="urn:schemas-microsoft-com:vml" Requires="v">
                <p:oleObj name="Equation" r:id="rId2" imgW="965200" imgH="292100" progId="Equation.3">
                  <p:embed/>
                </p:oleObj>
              </mc:Choice>
              <mc:Fallback>
                <p:oleObj name="Equation" r:id="rId2" imgW="965200" imgH="292100" progId="Equation.3">
                  <p:embed/>
                  <p:pic>
                    <p:nvPicPr>
                      <p:cNvPr id="0" name=""/>
                      <p:cNvPicPr/>
                      <p:nvPr/>
                    </p:nvPicPr>
                    <p:blipFill>
                      <a:blip r:embed="rId3"/>
                      <a:stretch>
                        <a:fillRect/>
                      </a:stretch>
                    </p:blipFill>
                    <p:spPr>
                      <a:xfrm>
                        <a:off x="489905" y="943804"/>
                        <a:ext cx="2586735" cy="780243"/>
                      </a:xfrm>
                      <a:prstGeom prst="rect">
                        <a:avLst/>
                      </a:prstGeom>
                    </p:spPr>
                  </p:pic>
                </p:oleObj>
              </mc:Fallback>
            </mc:AlternateContent>
          </a:graphicData>
        </a:graphic>
      </p:graphicFrame>
      <p:graphicFrame>
        <p:nvGraphicFramePr>
          <p:cNvPr id="70" name="Object 69"/>
          <p:cNvGraphicFramePr>
            <a:graphicFrameLocks noChangeAspect="1"/>
          </p:cNvGraphicFramePr>
          <p:nvPr/>
        </p:nvGraphicFramePr>
        <p:xfrm>
          <a:off x="3252255" y="1313741"/>
          <a:ext cx="1790232" cy="608142"/>
        </p:xfrm>
        <a:graphic>
          <a:graphicData uri="http://schemas.openxmlformats.org/presentationml/2006/ole">
            <mc:AlternateContent xmlns:mc="http://schemas.openxmlformats.org/markup-compatibility/2006">
              <mc:Choice xmlns:v="urn:schemas-microsoft-com:vml" Requires="v">
                <p:oleObj name="Equation" r:id="rId4" imgW="1155700" imgH="393700" progId="Equation.3">
                  <p:embed/>
                </p:oleObj>
              </mc:Choice>
              <mc:Fallback>
                <p:oleObj name="Equation" r:id="rId4" imgW="1155700" imgH="393700" progId="Equation.3">
                  <p:embed/>
                  <p:pic>
                    <p:nvPicPr>
                      <p:cNvPr id="0" name=""/>
                      <p:cNvPicPr/>
                      <p:nvPr/>
                    </p:nvPicPr>
                    <p:blipFill>
                      <a:blip r:embed="rId5"/>
                      <a:stretch>
                        <a:fillRect/>
                      </a:stretch>
                    </p:blipFill>
                    <p:spPr>
                      <a:xfrm>
                        <a:off x="3252255" y="1313741"/>
                        <a:ext cx="1790232" cy="608142"/>
                      </a:xfrm>
                      <a:prstGeom prst="rect">
                        <a:avLst/>
                      </a:prstGeom>
                    </p:spPr>
                  </p:pic>
                </p:oleObj>
              </mc:Fallback>
            </mc:AlternateContent>
          </a:graphicData>
        </a:graphic>
      </p:graphicFrame>
      <p:graphicFrame>
        <p:nvGraphicFramePr>
          <p:cNvPr id="71" name="Object 70"/>
          <p:cNvGraphicFramePr>
            <a:graphicFrameLocks noChangeAspect="1"/>
          </p:cNvGraphicFramePr>
          <p:nvPr/>
        </p:nvGraphicFramePr>
        <p:xfrm>
          <a:off x="473075" y="1601788"/>
          <a:ext cx="2620963" cy="779462"/>
        </p:xfrm>
        <a:graphic>
          <a:graphicData uri="http://schemas.openxmlformats.org/presentationml/2006/ole">
            <mc:AlternateContent xmlns:mc="http://schemas.openxmlformats.org/markup-compatibility/2006">
              <mc:Choice xmlns:v="urn:schemas-microsoft-com:vml" Requires="v">
                <p:oleObj name="Equation" r:id="rId6" imgW="977900" imgH="292100" progId="Equation.3">
                  <p:embed/>
                </p:oleObj>
              </mc:Choice>
              <mc:Fallback>
                <p:oleObj name="Equation" r:id="rId6" imgW="977900" imgH="292100" progId="Equation.3">
                  <p:embed/>
                  <p:pic>
                    <p:nvPicPr>
                      <p:cNvPr id="0" name=""/>
                      <p:cNvPicPr/>
                      <p:nvPr/>
                    </p:nvPicPr>
                    <p:blipFill>
                      <a:blip r:embed="rId7"/>
                      <a:stretch>
                        <a:fillRect/>
                      </a:stretch>
                    </p:blipFill>
                    <p:spPr>
                      <a:xfrm>
                        <a:off x="473075" y="1601788"/>
                        <a:ext cx="2620963" cy="779462"/>
                      </a:xfrm>
                      <a:prstGeom prst="rect">
                        <a:avLst/>
                      </a:prstGeom>
                    </p:spPr>
                  </p:pic>
                </p:oleObj>
              </mc:Fallback>
            </mc:AlternateContent>
          </a:graphicData>
        </a:graphic>
      </p:graphicFrame>
      <p:graphicFrame>
        <p:nvGraphicFramePr>
          <p:cNvPr id="73" name="Object 72"/>
          <p:cNvGraphicFramePr>
            <a:graphicFrameLocks noChangeAspect="1"/>
          </p:cNvGraphicFramePr>
          <p:nvPr/>
        </p:nvGraphicFramePr>
        <p:xfrm>
          <a:off x="516518" y="3263937"/>
          <a:ext cx="2084387" cy="2921000"/>
        </p:xfrm>
        <a:graphic>
          <a:graphicData uri="http://schemas.openxmlformats.org/presentationml/2006/ole">
            <mc:AlternateContent xmlns:mc="http://schemas.openxmlformats.org/markup-compatibility/2006">
              <mc:Choice xmlns:v="urn:schemas-microsoft-com:vml" Requires="v">
                <p:oleObj name="Equation" r:id="rId8" imgW="1346200" imgH="1892300" progId="Equation.3">
                  <p:embed/>
                </p:oleObj>
              </mc:Choice>
              <mc:Fallback>
                <p:oleObj name="Equation" r:id="rId8" imgW="1346200" imgH="1892300" progId="Equation.3">
                  <p:embed/>
                  <p:pic>
                    <p:nvPicPr>
                      <p:cNvPr id="0" name=""/>
                      <p:cNvPicPr/>
                      <p:nvPr/>
                    </p:nvPicPr>
                    <p:blipFill>
                      <a:blip r:embed="rId9"/>
                      <a:stretch>
                        <a:fillRect/>
                      </a:stretch>
                    </p:blipFill>
                    <p:spPr>
                      <a:xfrm>
                        <a:off x="516518" y="3263937"/>
                        <a:ext cx="2084387" cy="2921000"/>
                      </a:xfrm>
                      <a:prstGeom prst="rect">
                        <a:avLst/>
                      </a:prstGeom>
                    </p:spPr>
                  </p:pic>
                </p:oleObj>
              </mc:Fallback>
            </mc:AlternateContent>
          </a:graphicData>
        </a:graphic>
      </p:graphicFrame>
      <p:graphicFrame>
        <p:nvGraphicFramePr>
          <p:cNvPr id="61" name="Object 60"/>
          <p:cNvGraphicFramePr>
            <a:graphicFrameLocks noChangeAspect="1"/>
          </p:cNvGraphicFramePr>
          <p:nvPr/>
        </p:nvGraphicFramePr>
        <p:xfrm>
          <a:off x="7405688" y="5949950"/>
          <a:ext cx="1273175" cy="674688"/>
        </p:xfrm>
        <a:graphic>
          <a:graphicData uri="http://schemas.openxmlformats.org/presentationml/2006/ole">
            <mc:AlternateContent xmlns:mc="http://schemas.openxmlformats.org/markup-compatibility/2006">
              <mc:Choice xmlns:v="urn:schemas-microsoft-com:vml" Requires="v">
                <p:oleObj name="Equation" r:id="rId10" imgW="863600" imgH="457200" progId="Equation.3">
                  <p:embed/>
                </p:oleObj>
              </mc:Choice>
              <mc:Fallback>
                <p:oleObj name="Equation" r:id="rId10" imgW="863600" imgH="457200" progId="Equation.3">
                  <p:embed/>
                  <p:pic>
                    <p:nvPicPr>
                      <p:cNvPr id="0" name=""/>
                      <p:cNvPicPr/>
                      <p:nvPr/>
                    </p:nvPicPr>
                    <p:blipFill>
                      <a:blip r:embed="rId11"/>
                      <a:stretch>
                        <a:fillRect/>
                      </a:stretch>
                    </p:blipFill>
                    <p:spPr>
                      <a:xfrm>
                        <a:off x="7405688" y="5949950"/>
                        <a:ext cx="1273175" cy="674688"/>
                      </a:xfrm>
                      <a:prstGeom prst="rect">
                        <a:avLst/>
                      </a:prstGeom>
                    </p:spPr>
                  </p:pic>
                </p:oleObj>
              </mc:Fallback>
            </mc:AlternateContent>
          </a:graphicData>
        </a:graphic>
      </p:graphicFrame>
      <p:cxnSp>
        <p:nvCxnSpPr>
          <p:cNvPr id="63" name="Straight Arrow Connector 62"/>
          <p:cNvCxnSpPr/>
          <p:nvPr/>
        </p:nvCxnSpPr>
        <p:spPr>
          <a:xfrm flipV="1">
            <a:off x="6888889" y="4528697"/>
            <a:ext cx="1192326" cy="69216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sp>
        <p:nvSpPr>
          <p:cNvPr id="62" name="Rectangle 61"/>
          <p:cNvSpPr/>
          <p:nvPr/>
        </p:nvSpPr>
        <p:spPr>
          <a:xfrm>
            <a:off x="0" y="6550223"/>
            <a:ext cx="5582347" cy="307777"/>
          </a:xfrm>
          <a:prstGeom prst="rect">
            <a:avLst/>
          </a:prstGeom>
        </p:spPr>
        <p:txBody>
          <a:bodyPr wrap="square">
            <a:spAutoFit/>
          </a:bodyPr>
          <a:lstStyle/>
          <a:p>
            <a:r>
              <a:rPr lang="en-US" sz="1400" dirty="0">
                <a:solidFill>
                  <a:schemeClr val="tx1">
                    <a:lumMod val="75000"/>
                    <a:lumOff val="25000"/>
                  </a:schemeClr>
                </a:solidFill>
              </a:rPr>
              <a:t>Anderson MJ (2001). </a:t>
            </a:r>
            <a:r>
              <a:rPr lang="en-US" sz="1400" i="1" dirty="0">
                <a:solidFill>
                  <a:schemeClr val="tx1">
                    <a:lumMod val="75000"/>
                    <a:lumOff val="25000"/>
                  </a:schemeClr>
                </a:solidFill>
              </a:rPr>
              <a:t>Austral Ecology</a:t>
            </a:r>
            <a:r>
              <a:rPr lang="en-US" sz="1400" dirty="0">
                <a:solidFill>
                  <a:schemeClr val="tx1">
                    <a:lumMod val="75000"/>
                    <a:lumOff val="25000"/>
                  </a:schemeClr>
                </a:solidFill>
              </a:rPr>
              <a:t> 26</a:t>
            </a:r>
            <a:r>
              <a:rPr lang="en-US" sz="1400" b="1" dirty="0">
                <a:solidFill>
                  <a:schemeClr val="tx1">
                    <a:lumMod val="75000"/>
                    <a:lumOff val="25000"/>
                  </a:schemeClr>
                </a:solidFill>
              </a:rPr>
              <a:t>:</a:t>
            </a:r>
            <a:r>
              <a:rPr lang="en-US" sz="1400" dirty="0">
                <a:solidFill>
                  <a:schemeClr val="tx1">
                    <a:lumMod val="75000"/>
                    <a:lumOff val="25000"/>
                  </a:schemeClr>
                </a:solidFill>
              </a:rPr>
              <a:t> 32-46 </a:t>
            </a:r>
          </a:p>
        </p:txBody>
      </p:sp>
      <p:graphicFrame>
        <p:nvGraphicFramePr>
          <p:cNvPr id="65" name="Table 64"/>
          <p:cNvGraphicFramePr>
            <a:graphicFrameLocks noGrp="1"/>
          </p:cNvGraphicFramePr>
          <p:nvPr>
            <p:extLst>
              <p:ext uri="{D42A27DB-BD31-4B8C-83A1-F6EECF244321}">
                <p14:modId xmlns:p14="http://schemas.microsoft.com/office/powerpoint/2010/main" val="732312740"/>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Hypothesis testing</a:t>
                      </a:r>
                    </a:p>
                  </a:txBody>
                  <a:tcPr anchor="ctr"/>
                </a:tc>
                <a:tc>
                  <a:txBody>
                    <a:bodyPr/>
                    <a:lstStyle/>
                    <a:p>
                      <a:pPr algn="ctr"/>
                      <a:r>
                        <a:rPr lang="en-US" dirty="0">
                          <a:solidFill>
                            <a:schemeClr val="tx2">
                              <a:lumMod val="75000"/>
                            </a:schemeClr>
                          </a:solidFill>
                        </a:rPr>
                        <a:t>Slide 22</a:t>
                      </a:r>
                    </a:p>
                  </a:txBody>
                  <a:tcPr anchor="ctr"/>
                </a:tc>
                <a:extLst>
                  <a:ext uri="{0D108BD9-81ED-4DB2-BD59-A6C34878D82A}">
                    <a16:rowId xmlns:a16="http://schemas.microsoft.com/office/drawing/2014/main" val="10000"/>
                  </a:ext>
                </a:extLst>
              </a:tr>
            </a:tbl>
          </a:graphicData>
        </a:graphic>
      </p:graphicFrame>
      <p:sp>
        <p:nvSpPr>
          <p:cNvPr id="66" name="TextBox 65"/>
          <p:cNvSpPr txBox="1"/>
          <p:nvPr/>
        </p:nvSpPr>
        <p:spPr>
          <a:xfrm>
            <a:off x="2357096" y="4245451"/>
            <a:ext cx="2712074" cy="738664"/>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square" rtlCol="0">
            <a:spAutoFit/>
          </a:bodyPr>
          <a:lstStyle/>
          <a:p>
            <a:r>
              <a:rPr lang="en-US" sz="1400">
                <a:solidFill>
                  <a:schemeClr val="tx1">
                    <a:lumMod val="75000"/>
                    <a:lumOff val="25000"/>
                  </a:schemeClr>
                </a:solidFill>
              </a:rPr>
              <a:t>* If </a:t>
            </a:r>
            <a:r>
              <a:rPr lang="en-US" sz="1400" dirty="0">
                <a:solidFill>
                  <a:schemeClr val="tx1">
                    <a:lumMod val="75000"/>
                    <a:lumOff val="25000"/>
                  </a:schemeClr>
                </a:solidFill>
              </a:rPr>
              <a:t>the reduced model is different, the coefficient of determination is evaluated using a null model</a:t>
            </a:r>
          </a:p>
        </p:txBody>
      </p:sp>
    </p:spTree>
    <p:extLst>
      <p:ext uri="{BB962C8B-B14F-4D97-AF65-F5344CB8AC3E}">
        <p14:creationId xmlns:p14="http://schemas.microsoft.com/office/powerpoint/2010/main" val="1038006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054094327"/>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Hypothesis testing</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23</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12" name="TextBox 11"/>
          <p:cNvSpPr txBox="1"/>
          <p:nvPr/>
        </p:nvSpPr>
        <p:spPr>
          <a:xfrm>
            <a:off x="152400" y="533400"/>
            <a:ext cx="5181600" cy="1938992"/>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square" rtlCol="0">
            <a:spAutoFit/>
          </a:bodyPr>
          <a:lstStyle/>
          <a:p>
            <a:r>
              <a:rPr lang="en-US" sz="2000" b="1" dirty="0">
                <a:solidFill>
                  <a:schemeClr val="tx1">
                    <a:lumMod val="75000"/>
                    <a:lumOff val="25000"/>
                  </a:schemeClr>
                </a:solidFill>
              </a:rPr>
              <a:t>However</a:t>
            </a:r>
            <a:r>
              <a:rPr lang="en-US" sz="2000" dirty="0">
                <a:solidFill>
                  <a:schemeClr val="tx1">
                    <a:lumMod val="75000"/>
                    <a:lumOff val="25000"/>
                  </a:schemeClr>
                </a:solidFill>
              </a:rPr>
              <a:t>: there is no multivariate F distribution! Solutions:</a:t>
            </a:r>
          </a:p>
          <a:p>
            <a:pPr marL="285750" indent="-285750">
              <a:buFontTx/>
              <a:buChar char="-"/>
            </a:pPr>
            <a:r>
              <a:rPr lang="en-US" sz="2000" dirty="0">
                <a:solidFill>
                  <a:schemeClr val="tx1">
                    <a:lumMod val="75000"/>
                    <a:lumOff val="25000"/>
                  </a:schemeClr>
                </a:solidFill>
              </a:rPr>
              <a:t>Use multivariate approximations and then apply a conversion to an approximate F-value</a:t>
            </a:r>
          </a:p>
          <a:p>
            <a:pPr marL="285750" indent="-285750">
              <a:buFontTx/>
              <a:buChar char="-"/>
            </a:pPr>
            <a:r>
              <a:rPr lang="en-US" sz="2000" b="1" dirty="0">
                <a:solidFill>
                  <a:schemeClr val="tx1">
                    <a:lumMod val="75000"/>
                    <a:lumOff val="25000"/>
                  </a:schemeClr>
                </a:solidFill>
              </a:rPr>
              <a:t>Use randomizations </a:t>
            </a:r>
            <a:r>
              <a:rPr lang="en-US" sz="2000" dirty="0">
                <a:solidFill>
                  <a:schemeClr val="tx1">
                    <a:lumMod val="75000"/>
                    <a:lumOff val="25000"/>
                  </a:schemeClr>
                </a:solidFill>
              </a:rPr>
              <a:t>to obtain an empirical distribution</a:t>
            </a:r>
          </a:p>
        </p:txBody>
      </p:sp>
      <mc:AlternateContent xmlns:mc="http://schemas.openxmlformats.org/markup-compatibility/2006" xmlns:a14="http://schemas.microsoft.com/office/drawing/2010/main">
        <mc:Choice Requires="a14">
          <p:sp>
            <p:nvSpPr>
              <p:cNvPr id="13" name="TextBox 12"/>
              <p:cNvSpPr txBox="1"/>
              <p:nvPr/>
            </p:nvSpPr>
            <p:spPr>
              <a:xfrm>
                <a:off x="370574" y="2514600"/>
                <a:ext cx="4800600" cy="32809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Wilks’ lambda	</a:t>
                </a:r>
                <a14:m>
                  <m:oMath xmlns:m="http://schemas.openxmlformats.org/officeDocument/2006/math">
                    <m:r>
                      <a:rPr lang="el-GR" sz="2400" b="0" i="1" smtClean="0">
                        <a:solidFill>
                          <a:schemeClr val="tx1">
                            <a:lumMod val="75000"/>
                            <a:lumOff val="25000"/>
                          </a:schemeClr>
                        </a:solidFill>
                        <a:latin typeface="Cambria Math"/>
                      </a:rPr>
                      <m:t>𝛬</m:t>
                    </m:r>
                    <m:r>
                      <a:rPr lang="el-GR" sz="2400" b="1" i="0" smtClean="0">
                        <a:solidFill>
                          <a:schemeClr val="tx1">
                            <a:lumMod val="75000"/>
                            <a:lumOff val="25000"/>
                          </a:schemeClr>
                        </a:solidFill>
                        <a:latin typeface="Cambria Math"/>
                      </a:rPr>
                      <m:t>= </m:t>
                    </m:r>
                    <m:f>
                      <m:fPr>
                        <m:ctrlPr>
                          <a:rPr lang="el-GR" sz="2400" b="1" i="1" smtClean="0">
                            <a:solidFill>
                              <a:schemeClr val="tx1">
                                <a:lumMod val="75000"/>
                                <a:lumOff val="25000"/>
                              </a:schemeClr>
                            </a:solidFill>
                            <a:latin typeface="Cambria Math" panose="02040503050406030204" pitchFamily="18" charset="0"/>
                          </a:rPr>
                        </m:ctrlPr>
                      </m:fPr>
                      <m:num>
                        <m:d>
                          <m:dPr>
                            <m:begChr m:val="|"/>
                            <m:endChr m:val="|"/>
                            <m:ctrlPr>
                              <a:rPr lang="el-GR" sz="2400" b="1" i="1" smtClean="0">
                                <a:solidFill>
                                  <a:schemeClr val="tx1">
                                    <a:lumMod val="75000"/>
                                    <a:lumOff val="25000"/>
                                  </a:schemeClr>
                                </a:solidFill>
                                <a:latin typeface="Cambria Math" panose="02040503050406030204" pitchFamily="18" charset="0"/>
                              </a:rPr>
                            </m:ctrlPr>
                          </m:dPr>
                          <m:e>
                            <m:sSub>
                              <m:sSubPr>
                                <m:ctrlPr>
                                  <a:rPr lang="el-GR" sz="2400" b="1" i="1" smtClean="0">
                                    <a:solidFill>
                                      <a:schemeClr val="tx1">
                                        <a:lumMod val="75000"/>
                                        <a:lumOff val="25000"/>
                                      </a:schemeClr>
                                    </a:solidFill>
                                    <a:latin typeface="Cambria Math" panose="02040503050406030204" pitchFamily="18" charset="0"/>
                                  </a:rPr>
                                </m:ctrlPr>
                              </m:sSubPr>
                              <m:e>
                                <m:r>
                                  <a:rPr lang="en-US" sz="2400" b="1" i="0" smtClean="0">
                                    <a:solidFill>
                                      <a:schemeClr val="tx1">
                                        <a:lumMod val="75000"/>
                                        <a:lumOff val="25000"/>
                                      </a:schemeClr>
                                    </a:solidFill>
                                    <a:latin typeface="Cambria Math"/>
                                  </a:rPr>
                                  <m:t>𝐒</m:t>
                                </m:r>
                              </m:e>
                              <m:sub>
                                <m:r>
                                  <a:rPr lang="pt-PT" sz="2400" b="1" i="0" smtClean="0">
                                    <a:solidFill>
                                      <a:schemeClr val="tx1">
                                        <a:lumMod val="75000"/>
                                        <a:lumOff val="25000"/>
                                      </a:schemeClr>
                                    </a:solidFill>
                                    <a:latin typeface="Cambria Math" charset="0"/>
                                  </a:rPr>
                                  <m:t>𝐅</m:t>
                                </m:r>
                              </m:sub>
                            </m:sSub>
                          </m:e>
                        </m:d>
                      </m:num>
                      <m:den>
                        <m:d>
                          <m:dPr>
                            <m:begChr m:val="|"/>
                            <m:endChr m:val="|"/>
                            <m:ctrlPr>
                              <a:rPr lang="el-GR" sz="2400" b="1" i="1" smtClean="0">
                                <a:solidFill>
                                  <a:schemeClr val="tx1">
                                    <a:lumMod val="75000"/>
                                    <a:lumOff val="25000"/>
                                  </a:schemeClr>
                                </a:solidFill>
                                <a:latin typeface="Cambria Math" panose="02040503050406030204" pitchFamily="18" charset="0"/>
                              </a:rPr>
                            </m:ctrlPr>
                          </m:dPr>
                          <m:e>
                            <m:d>
                              <m:dPr>
                                <m:ctrlPr>
                                  <a:rPr lang="en-US" sz="2400" b="1" i="1" smtClean="0">
                                    <a:solidFill>
                                      <a:schemeClr val="tx1">
                                        <a:lumMod val="75000"/>
                                        <a:lumOff val="25000"/>
                                      </a:schemeClr>
                                    </a:solidFill>
                                    <a:latin typeface="Cambria Math" panose="02040503050406030204" pitchFamily="18" charset="0"/>
                                  </a:rPr>
                                </m:ctrlPr>
                              </m:dPr>
                              <m:e>
                                <m:sSub>
                                  <m:sSubPr>
                                    <m:ctrlPr>
                                      <a:rPr lang="en-US" sz="2400" b="1" i="1" smtClean="0">
                                        <a:solidFill>
                                          <a:schemeClr val="tx1">
                                            <a:lumMod val="75000"/>
                                            <a:lumOff val="25000"/>
                                          </a:schemeClr>
                                        </a:solidFill>
                                        <a:latin typeface="Cambria Math" panose="02040503050406030204" pitchFamily="18" charset="0"/>
                                      </a:rPr>
                                    </m:ctrlPr>
                                  </m:sSubPr>
                                  <m:e>
                                    <m:r>
                                      <a:rPr lang="en-US" sz="2400" b="1" i="0" smtClean="0">
                                        <a:solidFill>
                                          <a:schemeClr val="tx1">
                                            <a:lumMod val="75000"/>
                                            <a:lumOff val="25000"/>
                                          </a:schemeClr>
                                        </a:solidFill>
                                        <a:latin typeface="Cambria Math"/>
                                      </a:rPr>
                                      <m:t>𝐒</m:t>
                                    </m:r>
                                  </m:e>
                                  <m:sub>
                                    <m:r>
                                      <a:rPr lang="pt-PT" sz="2400" b="1" i="0" smtClean="0">
                                        <a:solidFill>
                                          <a:schemeClr val="tx1">
                                            <a:lumMod val="75000"/>
                                            <a:lumOff val="25000"/>
                                          </a:schemeClr>
                                        </a:solidFill>
                                        <a:latin typeface="Cambria Math" charset="0"/>
                                      </a:rPr>
                                      <m:t>𝐍</m:t>
                                    </m:r>
                                  </m:sub>
                                </m:sSub>
                                <m:r>
                                  <a:rPr lang="en-US" sz="2400" b="1" i="0" smtClean="0">
                                    <a:solidFill>
                                      <a:schemeClr val="tx1">
                                        <a:lumMod val="75000"/>
                                        <a:lumOff val="25000"/>
                                      </a:schemeClr>
                                    </a:solidFill>
                                    <a:latin typeface="Cambria Math"/>
                                  </a:rPr>
                                  <m:t>−</m:t>
                                </m:r>
                                <m:sSub>
                                  <m:sSubPr>
                                    <m:ctrlPr>
                                      <a:rPr lang="en-US" sz="2400" b="1" i="1" smtClean="0">
                                        <a:solidFill>
                                          <a:schemeClr val="tx1">
                                            <a:lumMod val="75000"/>
                                            <a:lumOff val="25000"/>
                                          </a:schemeClr>
                                        </a:solidFill>
                                        <a:latin typeface="Cambria Math" panose="02040503050406030204" pitchFamily="18" charset="0"/>
                                      </a:rPr>
                                    </m:ctrlPr>
                                  </m:sSubPr>
                                  <m:e>
                                    <m:r>
                                      <a:rPr lang="en-US" sz="2400" b="1" i="0" smtClean="0">
                                        <a:solidFill>
                                          <a:schemeClr val="tx1">
                                            <a:lumMod val="75000"/>
                                            <a:lumOff val="25000"/>
                                          </a:schemeClr>
                                        </a:solidFill>
                                        <a:latin typeface="Cambria Math"/>
                                      </a:rPr>
                                      <m:t>𝐒</m:t>
                                    </m:r>
                                  </m:e>
                                  <m:sub>
                                    <m:r>
                                      <a:rPr lang="pt-PT" sz="2400" b="1" i="0" smtClean="0">
                                        <a:solidFill>
                                          <a:schemeClr val="tx1">
                                            <a:lumMod val="75000"/>
                                            <a:lumOff val="25000"/>
                                          </a:schemeClr>
                                        </a:solidFill>
                                        <a:latin typeface="Cambria Math" charset="0"/>
                                      </a:rPr>
                                      <m:t>𝐅</m:t>
                                    </m:r>
                                  </m:sub>
                                </m:sSub>
                              </m:e>
                            </m:d>
                            <m:r>
                              <a:rPr lang="en-US" sz="2400" b="1" i="0" smtClean="0">
                                <a:solidFill>
                                  <a:schemeClr val="tx1">
                                    <a:lumMod val="75000"/>
                                    <a:lumOff val="25000"/>
                                  </a:schemeClr>
                                </a:solidFill>
                                <a:latin typeface="Cambria Math"/>
                              </a:rPr>
                              <m:t>+</m:t>
                            </m:r>
                            <m:sSub>
                              <m:sSubPr>
                                <m:ctrlPr>
                                  <a:rPr lang="en-US" sz="2400" b="1" i="1" smtClean="0">
                                    <a:solidFill>
                                      <a:schemeClr val="tx1">
                                        <a:lumMod val="75000"/>
                                        <a:lumOff val="25000"/>
                                      </a:schemeClr>
                                    </a:solidFill>
                                    <a:latin typeface="Cambria Math" panose="02040503050406030204" pitchFamily="18" charset="0"/>
                                  </a:rPr>
                                </m:ctrlPr>
                              </m:sSubPr>
                              <m:e>
                                <m:r>
                                  <a:rPr lang="en-US" sz="2400" b="1" i="0" smtClean="0">
                                    <a:solidFill>
                                      <a:schemeClr val="tx1">
                                        <a:lumMod val="75000"/>
                                        <a:lumOff val="25000"/>
                                      </a:schemeClr>
                                    </a:solidFill>
                                    <a:latin typeface="Cambria Math"/>
                                  </a:rPr>
                                  <m:t>𝐒</m:t>
                                </m:r>
                              </m:e>
                              <m:sub>
                                <m:r>
                                  <a:rPr lang="pt-PT" sz="2400" b="1" i="0" smtClean="0">
                                    <a:solidFill>
                                      <a:schemeClr val="tx1">
                                        <a:lumMod val="75000"/>
                                        <a:lumOff val="25000"/>
                                      </a:schemeClr>
                                    </a:solidFill>
                                    <a:latin typeface="Cambria Math" charset="0"/>
                                  </a:rPr>
                                  <m:t>𝐅</m:t>
                                </m:r>
                              </m:sub>
                            </m:sSub>
                          </m:e>
                        </m:d>
                      </m:den>
                    </m:f>
                  </m:oMath>
                </a14:m>
                <a:endParaRPr lang="en-US" sz="2400" b="1"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Pillai’s trace  </a:t>
                </a:r>
                <a14:m>
                  <m:oMath xmlns:m="http://schemas.openxmlformats.org/officeDocument/2006/math">
                    <m:r>
                      <a:rPr lang="en-US" sz="2000" b="0" i="1" smtClean="0">
                        <a:solidFill>
                          <a:schemeClr val="tx1">
                            <a:lumMod val="75000"/>
                            <a:lumOff val="25000"/>
                          </a:schemeClr>
                        </a:solidFill>
                        <a:latin typeface="Cambria Math"/>
                      </a:rPr>
                      <m:t>𝑡𝑟</m:t>
                    </m:r>
                    <m:d>
                      <m:dPr>
                        <m:ctrlPr>
                          <a:rPr lang="en-US" sz="2000" b="0" i="1" smtClean="0">
                            <a:solidFill>
                              <a:schemeClr val="tx1">
                                <a:lumMod val="75000"/>
                                <a:lumOff val="25000"/>
                              </a:schemeClr>
                            </a:solidFill>
                            <a:latin typeface="Cambria Math" panose="02040503050406030204" pitchFamily="18" charset="0"/>
                          </a:rPr>
                        </m:ctrlPr>
                      </m:dPr>
                      <m:e>
                        <m:r>
                          <a:rPr lang="en-US" sz="2000" b="0" i="1" smtClean="0">
                            <a:solidFill>
                              <a:schemeClr val="tx1">
                                <a:lumMod val="75000"/>
                                <a:lumOff val="25000"/>
                              </a:schemeClr>
                            </a:solidFill>
                            <a:latin typeface="Cambria Math"/>
                          </a:rPr>
                          <m:t>(</m:t>
                        </m:r>
                        <m:sSub>
                          <m:sSubPr>
                            <m:ctrlPr>
                              <a:rPr lang="en-US" sz="2000" b="1" i="1" smtClean="0">
                                <a:solidFill>
                                  <a:schemeClr val="tx1">
                                    <a:lumMod val="75000"/>
                                    <a:lumOff val="25000"/>
                                  </a:schemeClr>
                                </a:solidFill>
                                <a:latin typeface="Cambria Math" panose="02040503050406030204" pitchFamily="18" charset="0"/>
                              </a:rPr>
                            </m:ctrlPr>
                          </m:sSubPr>
                          <m:e>
                            <m:r>
                              <a:rPr lang="en-US" sz="2000" b="1" i="0" smtClean="0">
                                <a:solidFill>
                                  <a:schemeClr val="tx1">
                                    <a:lumMod val="75000"/>
                                    <a:lumOff val="25000"/>
                                  </a:schemeClr>
                                </a:solidFill>
                                <a:latin typeface="Cambria Math"/>
                              </a:rPr>
                              <m:t>𝐒</m:t>
                            </m:r>
                          </m:e>
                          <m:sub>
                            <m:r>
                              <a:rPr lang="pt-PT" sz="2000" b="1" i="0" smtClean="0">
                                <a:solidFill>
                                  <a:schemeClr val="tx1">
                                    <a:lumMod val="75000"/>
                                    <a:lumOff val="25000"/>
                                  </a:schemeClr>
                                </a:solidFill>
                                <a:latin typeface="Cambria Math" charset="0"/>
                              </a:rPr>
                              <m:t>𝐑</m:t>
                            </m:r>
                          </m:sub>
                        </m:sSub>
                        <m:r>
                          <a:rPr lang="en-US" sz="2000" b="0" i="1" smtClean="0">
                            <a:solidFill>
                              <a:schemeClr val="tx1">
                                <a:lumMod val="75000"/>
                                <a:lumOff val="25000"/>
                              </a:schemeClr>
                            </a:solidFill>
                            <a:latin typeface="Cambria Math"/>
                          </a:rPr>
                          <m:t>−</m:t>
                        </m:r>
                        <m:sSub>
                          <m:sSubPr>
                            <m:ctrlPr>
                              <a:rPr lang="en-US" sz="2000" b="1" i="1">
                                <a:solidFill>
                                  <a:schemeClr val="tx1">
                                    <a:lumMod val="75000"/>
                                    <a:lumOff val="25000"/>
                                  </a:schemeClr>
                                </a:solidFill>
                                <a:latin typeface="Cambria Math" panose="02040503050406030204" pitchFamily="18" charset="0"/>
                              </a:rPr>
                            </m:ctrlPr>
                          </m:sSubPr>
                          <m:e>
                            <m:r>
                              <a:rPr lang="en-US" sz="2000" b="1">
                                <a:solidFill>
                                  <a:schemeClr val="tx1">
                                    <a:lumMod val="75000"/>
                                    <a:lumOff val="25000"/>
                                  </a:schemeClr>
                                </a:solidFill>
                                <a:latin typeface="Cambria Math"/>
                              </a:rPr>
                              <m:t>𝐒</m:t>
                            </m:r>
                          </m:e>
                          <m:sub>
                            <m:r>
                              <a:rPr lang="pt-PT" sz="2000" b="1" i="0" smtClean="0">
                                <a:solidFill>
                                  <a:schemeClr val="tx1">
                                    <a:lumMod val="75000"/>
                                    <a:lumOff val="25000"/>
                                  </a:schemeClr>
                                </a:solidFill>
                                <a:latin typeface="Cambria Math" charset="0"/>
                              </a:rPr>
                              <m:t>𝐅</m:t>
                            </m:r>
                          </m:sub>
                        </m:sSub>
                        <m:r>
                          <a:rPr lang="en-US" sz="2000" b="0" i="1" smtClean="0">
                            <a:solidFill>
                              <a:schemeClr val="tx1">
                                <a:lumMod val="75000"/>
                                <a:lumOff val="25000"/>
                              </a:schemeClr>
                            </a:solidFill>
                            <a:latin typeface="Cambria Math"/>
                          </a:rPr>
                          <m:t>)</m:t>
                        </m:r>
                        <m:sSup>
                          <m:sSupPr>
                            <m:ctrlPr>
                              <a:rPr lang="en-US" sz="2000" b="0" i="1" smtClean="0">
                                <a:solidFill>
                                  <a:schemeClr val="tx1">
                                    <a:lumMod val="75000"/>
                                    <a:lumOff val="25000"/>
                                  </a:schemeClr>
                                </a:solidFill>
                                <a:latin typeface="Cambria Math" panose="02040503050406030204" pitchFamily="18" charset="0"/>
                              </a:rPr>
                            </m:ctrlPr>
                          </m:sSupPr>
                          <m:e>
                            <m:sSub>
                              <m:sSubPr>
                                <m:ctrlPr>
                                  <a:rPr lang="en-US" sz="2000" b="1" i="1">
                                    <a:solidFill>
                                      <a:schemeClr val="tx1">
                                        <a:lumMod val="75000"/>
                                        <a:lumOff val="25000"/>
                                      </a:schemeClr>
                                    </a:solidFill>
                                    <a:latin typeface="Cambria Math" panose="02040503050406030204" pitchFamily="18" charset="0"/>
                                  </a:rPr>
                                </m:ctrlPr>
                              </m:sSubPr>
                              <m:e>
                                <m:r>
                                  <a:rPr lang="en-US" sz="2000" b="1">
                                    <a:solidFill>
                                      <a:schemeClr val="tx1">
                                        <a:lumMod val="75000"/>
                                        <a:lumOff val="25000"/>
                                      </a:schemeClr>
                                    </a:solidFill>
                                    <a:latin typeface="Cambria Math"/>
                                  </a:rPr>
                                  <m:t>𝐒</m:t>
                                </m:r>
                              </m:e>
                              <m:sub>
                                <m:r>
                                  <a:rPr lang="pt-PT" sz="2000" b="1" i="0" smtClean="0">
                                    <a:solidFill>
                                      <a:schemeClr val="tx1">
                                        <a:lumMod val="75000"/>
                                        <a:lumOff val="25000"/>
                                      </a:schemeClr>
                                    </a:solidFill>
                                    <a:latin typeface="Cambria Math" charset="0"/>
                                  </a:rPr>
                                  <m:t>𝐑</m:t>
                                </m:r>
                              </m:sub>
                            </m:sSub>
                          </m:e>
                          <m:sup>
                            <m:r>
                              <a:rPr lang="en-US" sz="2000" b="0" i="1" smtClean="0">
                                <a:solidFill>
                                  <a:schemeClr val="tx1">
                                    <a:lumMod val="75000"/>
                                    <a:lumOff val="25000"/>
                                  </a:schemeClr>
                                </a:solidFill>
                                <a:latin typeface="Cambria Math"/>
                              </a:rPr>
                              <m:t>−1</m:t>
                            </m:r>
                          </m:sup>
                        </m:sSup>
                      </m:e>
                    </m:d>
                  </m:oMath>
                </a14:m>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err="1">
                    <a:solidFill>
                      <a:schemeClr val="tx1">
                        <a:lumMod val="75000"/>
                        <a:lumOff val="25000"/>
                      </a:schemeClr>
                    </a:solidFill>
                  </a:rPr>
                  <a:t>Hotelling’s</a:t>
                </a:r>
                <a:r>
                  <a:rPr lang="en-US" sz="2000" dirty="0">
                    <a:solidFill>
                      <a:schemeClr val="tx1">
                        <a:lumMod val="75000"/>
                        <a:lumOff val="25000"/>
                      </a:schemeClr>
                    </a:solidFill>
                  </a:rPr>
                  <a:t> trace </a:t>
                </a:r>
                <a14:m>
                  <m:oMath xmlns:m="http://schemas.openxmlformats.org/officeDocument/2006/math">
                    <m:r>
                      <a:rPr lang="en-US" sz="2000" i="1">
                        <a:solidFill>
                          <a:schemeClr val="tx1">
                            <a:lumMod val="75000"/>
                            <a:lumOff val="25000"/>
                          </a:schemeClr>
                        </a:solidFill>
                        <a:latin typeface="Cambria Math"/>
                      </a:rPr>
                      <m:t>𝑡𝑟</m:t>
                    </m:r>
                    <m:d>
                      <m:dPr>
                        <m:ctrlPr>
                          <a:rPr lang="en-US" sz="2000" i="1">
                            <a:solidFill>
                              <a:schemeClr val="tx1">
                                <a:lumMod val="75000"/>
                                <a:lumOff val="25000"/>
                              </a:schemeClr>
                            </a:solidFill>
                            <a:latin typeface="Cambria Math" panose="02040503050406030204" pitchFamily="18" charset="0"/>
                          </a:rPr>
                        </m:ctrlPr>
                      </m:dPr>
                      <m:e>
                        <m:r>
                          <a:rPr lang="en-US" sz="2000" i="1">
                            <a:solidFill>
                              <a:schemeClr val="tx1">
                                <a:lumMod val="75000"/>
                                <a:lumOff val="25000"/>
                              </a:schemeClr>
                            </a:solidFill>
                            <a:latin typeface="Cambria Math"/>
                          </a:rPr>
                          <m:t>(</m:t>
                        </m:r>
                        <m:sSub>
                          <m:sSubPr>
                            <m:ctrlPr>
                              <a:rPr lang="en-US" sz="2000" b="1" i="1">
                                <a:solidFill>
                                  <a:schemeClr val="tx1">
                                    <a:lumMod val="75000"/>
                                    <a:lumOff val="25000"/>
                                  </a:schemeClr>
                                </a:solidFill>
                                <a:latin typeface="Cambria Math" panose="02040503050406030204" pitchFamily="18" charset="0"/>
                              </a:rPr>
                            </m:ctrlPr>
                          </m:sSubPr>
                          <m:e>
                            <m:r>
                              <a:rPr lang="en-US" sz="2000" b="1">
                                <a:solidFill>
                                  <a:schemeClr val="tx1">
                                    <a:lumMod val="75000"/>
                                    <a:lumOff val="25000"/>
                                  </a:schemeClr>
                                </a:solidFill>
                                <a:latin typeface="Cambria Math"/>
                              </a:rPr>
                              <m:t>𝐒</m:t>
                            </m:r>
                          </m:e>
                          <m:sub>
                            <m:r>
                              <a:rPr lang="pt-PT" sz="2000" b="1" i="0" smtClean="0">
                                <a:solidFill>
                                  <a:schemeClr val="tx1">
                                    <a:lumMod val="75000"/>
                                    <a:lumOff val="25000"/>
                                  </a:schemeClr>
                                </a:solidFill>
                                <a:latin typeface="Cambria Math" charset="0"/>
                              </a:rPr>
                              <m:t>𝐑</m:t>
                            </m:r>
                          </m:sub>
                        </m:sSub>
                        <m:r>
                          <a:rPr lang="en-US" sz="2000" i="1">
                            <a:solidFill>
                              <a:schemeClr val="tx1">
                                <a:lumMod val="75000"/>
                                <a:lumOff val="25000"/>
                              </a:schemeClr>
                            </a:solidFill>
                            <a:latin typeface="Cambria Math"/>
                          </a:rPr>
                          <m:t>−</m:t>
                        </m:r>
                        <m:sSub>
                          <m:sSubPr>
                            <m:ctrlPr>
                              <a:rPr lang="en-US" sz="2000" b="1" i="1" smtClean="0">
                                <a:solidFill>
                                  <a:schemeClr val="tx1">
                                    <a:lumMod val="75000"/>
                                    <a:lumOff val="25000"/>
                                  </a:schemeClr>
                                </a:solidFill>
                                <a:latin typeface="Cambria Math" panose="02040503050406030204" pitchFamily="18" charset="0"/>
                              </a:rPr>
                            </m:ctrlPr>
                          </m:sSubPr>
                          <m:e>
                            <m:r>
                              <a:rPr lang="en-US" sz="2000" b="1">
                                <a:solidFill>
                                  <a:schemeClr val="tx1">
                                    <a:lumMod val="75000"/>
                                    <a:lumOff val="25000"/>
                                  </a:schemeClr>
                                </a:solidFill>
                                <a:latin typeface="Cambria Math"/>
                              </a:rPr>
                              <m:t>𝐒</m:t>
                            </m:r>
                          </m:e>
                          <m:sub>
                            <m:r>
                              <a:rPr lang="pt-PT" sz="2000" b="1" i="0" smtClean="0">
                                <a:solidFill>
                                  <a:schemeClr val="tx1">
                                    <a:lumMod val="75000"/>
                                    <a:lumOff val="25000"/>
                                  </a:schemeClr>
                                </a:solidFill>
                                <a:latin typeface="Cambria Math" charset="0"/>
                              </a:rPr>
                              <m:t>𝐅</m:t>
                            </m:r>
                          </m:sub>
                        </m:sSub>
                        <m:r>
                          <a:rPr lang="en-US" sz="2000" i="1">
                            <a:solidFill>
                              <a:schemeClr val="tx1">
                                <a:lumMod val="75000"/>
                                <a:lumOff val="25000"/>
                              </a:schemeClr>
                            </a:solidFill>
                            <a:latin typeface="Cambria Math"/>
                          </a:rPr>
                          <m:t>)</m:t>
                        </m:r>
                        <m:sSup>
                          <m:sSupPr>
                            <m:ctrlPr>
                              <a:rPr lang="en-US" sz="2000" i="1">
                                <a:solidFill>
                                  <a:schemeClr val="tx1">
                                    <a:lumMod val="75000"/>
                                    <a:lumOff val="25000"/>
                                  </a:schemeClr>
                                </a:solidFill>
                                <a:latin typeface="Cambria Math" panose="02040503050406030204" pitchFamily="18" charset="0"/>
                              </a:rPr>
                            </m:ctrlPr>
                          </m:sSupPr>
                          <m:e>
                            <m:sSub>
                              <m:sSubPr>
                                <m:ctrlPr>
                                  <a:rPr lang="en-US" sz="2000" b="1" i="1">
                                    <a:solidFill>
                                      <a:schemeClr val="tx1">
                                        <a:lumMod val="75000"/>
                                        <a:lumOff val="25000"/>
                                      </a:schemeClr>
                                    </a:solidFill>
                                    <a:latin typeface="Cambria Math" panose="02040503050406030204" pitchFamily="18" charset="0"/>
                                  </a:rPr>
                                </m:ctrlPr>
                              </m:sSubPr>
                              <m:e>
                                <m:r>
                                  <a:rPr lang="en-US" sz="2000" b="1">
                                    <a:solidFill>
                                      <a:schemeClr val="tx1">
                                        <a:lumMod val="75000"/>
                                        <a:lumOff val="25000"/>
                                      </a:schemeClr>
                                    </a:solidFill>
                                    <a:latin typeface="Cambria Math"/>
                                  </a:rPr>
                                  <m:t>𝐒</m:t>
                                </m:r>
                              </m:e>
                              <m:sub>
                                <m:r>
                                  <a:rPr lang="pt-PT" sz="2000" b="1" i="1" smtClean="0">
                                    <a:solidFill>
                                      <a:schemeClr val="tx1">
                                        <a:lumMod val="75000"/>
                                        <a:lumOff val="25000"/>
                                      </a:schemeClr>
                                    </a:solidFill>
                                    <a:latin typeface="Cambria Math" charset="0"/>
                                  </a:rPr>
                                  <m:t>𝐅</m:t>
                                </m:r>
                              </m:sub>
                            </m:sSub>
                          </m:e>
                          <m:sup>
                            <m:r>
                              <a:rPr lang="en-US" sz="2000" i="1">
                                <a:solidFill>
                                  <a:schemeClr val="tx1">
                                    <a:lumMod val="75000"/>
                                    <a:lumOff val="25000"/>
                                  </a:schemeClr>
                                </a:solidFill>
                                <a:latin typeface="Cambria Math"/>
                              </a:rPr>
                              <m:t>−1</m:t>
                            </m:r>
                          </m:sup>
                        </m:sSup>
                      </m:e>
                    </m:d>
                  </m:oMath>
                </a14:m>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Converted as </a:t>
                </a:r>
                <a14:m>
                  <m:oMath xmlns:m="http://schemas.openxmlformats.org/officeDocument/2006/math">
                    <m:r>
                      <a:rPr lang="en-US" sz="2000" b="0" i="1" smtClean="0">
                        <a:solidFill>
                          <a:schemeClr val="tx1">
                            <a:lumMod val="75000"/>
                            <a:lumOff val="25000"/>
                          </a:schemeClr>
                        </a:solidFill>
                        <a:latin typeface="Cambria Math"/>
                      </a:rPr>
                      <m:t>𝐹</m:t>
                    </m:r>
                    <m:r>
                      <a:rPr lang="en-US" sz="2000" b="0" i="1" smtClean="0">
                        <a:solidFill>
                          <a:schemeClr val="tx1">
                            <a:lumMod val="75000"/>
                            <a:lumOff val="25000"/>
                          </a:schemeClr>
                        </a:solidFill>
                        <a:latin typeface="Cambria Math"/>
                      </a:rPr>
                      <m:t>=</m:t>
                    </m:r>
                    <m:d>
                      <m:dPr>
                        <m:ctrlPr>
                          <a:rPr lang="en-US" sz="2000" b="0" i="1" smtClean="0">
                            <a:solidFill>
                              <a:schemeClr val="tx1">
                                <a:lumMod val="75000"/>
                                <a:lumOff val="25000"/>
                              </a:schemeClr>
                            </a:solidFill>
                            <a:latin typeface="Cambria Math" panose="02040503050406030204" pitchFamily="18" charset="0"/>
                          </a:rPr>
                        </m:ctrlPr>
                      </m:dPr>
                      <m:e>
                        <m:f>
                          <m:fPr>
                            <m:ctrlPr>
                              <a:rPr lang="en-US" sz="2000" i="1">
                                <a:solidFill>
                                  <a:schemeClr val="tx1">
                                    <a:lumMod val="75000"/>
                                    <a:lumOff val="25000"/>
                                  </a:schemeClr>
                                </a:solidFill>
                                <a:latin typeface="Cambria Math" panose="02040503050406030204" pitchFamily="18" charset="0"/>
                              </a:rPr>
                            </m:ctrlPr>
                          </m:fPr>
                          <m:num>
                            <m:r>
                              <a:rPr lang="en-US" sz="2000" i="1">
                                <a:solidFill>
                                  <a:schemeClr val="tx1">
                                    <a:lumMod val="75000"/>
                                    <a:lumOff val="25000"/>
                                  </a:schemeClr>
                                </a:solidFill>
                                <a:latin typeface="Cambria Math"/>
                              </a:rPr>
                              <m:t>1−</m:t>
                            </m:r>
                            <m:r>
                              <a:rPr lang="el-GR" sz="2000" i="1">
                                <a:solidFill>
                                  <a:schemeClr val="tx1">
                                    <a:lumMod val="75000"/>
                                    <a:lumOff val="25000"/>
                                  </a:schemeClr>
                                </a:solidFill>
                                <a:latin typeface="Cambria Math"/>
                              </a:rPr>
                              <m:t>𝛬</m:t>
                            </m:r>
                          </m:num>
                          <m:den>
                            <m:r>
                              <a:rPr lang="el-GR" sz="2000" i="1">
                                <a:solidFill>
                                  <a:schemeClr val="tx1">
                                    <a:lumMod val="75000"/>
                                    <a:lumOff val="25000"/>
                                  </a:schemeClr>
                                </a:solidFill>
                                <a:latin typeface="Cambria Math"/>
                              </a:rPr>
                              <m:t>𝛬</m:t>
                            </m:r>
                          </m:den>
                        </m:f>
                      </m:e>
                    </m:d>
                    <m:d>
                      <m:dPr>
                        <m:ctrlPr>
                          <a:rPr lang="en-US" sz="2000" b="0" i="1" smtClean="0">
                            <a:solidFill>
                              <a:schemeClr val="tx1">
                                <a:lumMod val="75000"/>
                                <a:lumOff val="25000"/>
                              </a:schemeClr>
                            </a:solidFill>
                            <a:latin typeface="Cambria Math" panose="02040503050406030204" pitchFamily="18" charset="0"/>
                          </a:rPr>
                        </m:ctrlPr>
                      </m:dPr>
                      <m:e>
                        <m:f>
                          <m:fPr>
                            <m:ctrlPr>
                              <a:rPr lang="en-US" sz="2000" i="1">
                                <a:solidFill>
                                  <a:schemeClr val="tx1">
                                    <a:lumMod val="75000"/>
                                    <a:lumOff val="25000"/>
                                  </a:schemeClr>
                                </a:solidFill>
                                <a:latin typeface="Cambria Math" panose="02040503050406030204" pitchFamily="18" charset="0"/>
                              </a:rPr>
                            </m:ctrlPr>
                          </m:fPr>
                          <m:num>
                            <m:r>
                              <a:rPr lang="en-US" sz="2000" b="0" i="1" smtClean="0">
                                <a:solidFill>
                                  <a:schemeClr val="tx1">
                                    <a:lumMod val="75000"/>
                                    <a:lumOff val="25000"/>
                                  </a:schemeClr>
                                </a:solidFill>
                                <a:latin typeface="Cambria Math"/>
                              </a:rPr>
                              <m:t>𝑛</m:t>
                            </m:r>
                            <m:r>
                              <a:rPr lang="en-US" sz="2000" b="0" i="1" smtClean="0">
                                <a:solidFill>
                                  <a:schemeClr val="tx1">
                                    <a:lumMod val="75000"/>
                                    <a:lumOff val="25000"/>
                                  </a:schemeClr>
                                </a:solidFill>
                                <a:latin typeface="Cambria Math"/>
                              </a:rPr>
                              <m:t>−</m:t>
                            </m:r>
                            <m:r>
                              <a:rPr lang="en-US" sz="2000" b="0" i="1" smtClean="0">
                                <a:solidFill>
                                  <a:schemeClr val="tx1">
                                    <a:lumMod val="75000"/>
                                    <a:lumOff val="25000"/>
                                  </a:schemeClr>
                                </a:solidFill>
                                <a:latin typeface="Cambria Math"/>
                              </a:rPr>
                              <m:t>𝑠</m:t>
                            </m:r>
                            <m:r>
                              <a:rPr lang="en-US" sz="2000" b="0" i="1" smtClean="0">
                                <a:solidFill>
                                  <a:schemeClr val="tx1">
                                    <a:lumMod val="75000"/>
                                    <a:lumOff val="25000"/>
                                  </a:schemeClr>
                                </a:solidFill>
                                <a:latin typeface="Cambria Math"/>
                              </a:rPr>
                              <m:t>−</m:t>
                            </m:r>
                            <m:r>
                              <a:rPr lang="en-US" sz="2000" b="0" i="1" smtClean="0">
                                <a:solidFill>
                                  <a:schemeClr val="tx1">
                                    <a:lumMod val="75000"/>
                                    <a:lumOff val="25000"/>
                                  </a:schemeClr>
                                </a:solidFill>
                                <a:latin typeface="Cambria Math"/>
                              </a:rPr>
                              <m:t>𝑝</m:t>
                            </m:r>
                          </m:num>
                          <m:den>
                            <m:r>
                              <a:rPr lang="en-US" sz="2000" b="0" i="1" smtClean="0">
                                <a:solidFill>
                                  <a:schemeClr val="tx1">
                                    <a:lumMod val="75000"/>
                                    <a:lumOff val="25000"/>
                                  </a:schemeClr>
                                </a:solidFill>
                                <a:latin typeface="Cambria Math"/>
                              </a:rPr>
                              <m:t>𝑝</m:t>
                            </m:r>
                          </m:den>
                        </m:f>
                      </m:e>
                    </m:d>
                  </m:oMath>
                </a14:m>
                <a:endParaRPr lang="en-US" sz="2000" i="1" dirty="0">
                  <a:solidFill>
                    <a:schemeClr val="tx1">
                      <a:lumMod val="75000"/>
                      <a:lumOff val="25000"/>
                    </a:schemeClr>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370574" y="2514600"/>
                <a:ext cx="4800600" cy="3280963"/>
              </a:xfrm>
              <a:prstGeom prst="rect">
                <a:avLst/>
              </a:prstGeom>
              <a:blipFill rotWithShape="0">
                <a:blip r:embed="rId2"/>
                <a:stretch>
                  <a:fillRect l="-1144"/>
                </a:stretch>
              </a:blipFill>
            </p:spPr>
            <p:txBody>
              <a:bodyPr/>
              <a:lstStyle/>
              <a:p>
                <a:r>
                  <a:rPr lang="en-US">
                    <a:noFill/>
                  </a:rPr>
                  <a:t> </a:t>
                </a:r>
              </a:p>
            </p:txBody>
          </p:sp>
        </mc:Fallback>
      </mc:AlternateContent>
      <p:sp>
        <p:nvSpPr>
          <p:cNvPr id="2" name="TextBox 1"/>
          <p:cNvSpPr txBox="1"/>
          <p:nvPr/>
        </p:nvSpPr>
        <p:spPr>
          <a:xfrm>
            <a:off x="1371600" y="5662717"/>
            <a:ext cx="2982227" cy="307777"/>
          </a:xfrm>
          <a:prstGeom prst="rect">
            <a:avLst/>
          </a:prstGeom>
          <a:noFill/>
        </p:spPr>
        <p:txBody>
          <a:bodyPr wrap="none" rtlCol="0">
            <a:spAutoFit/>
          </a:bodyPr>
          <a:lstStyle/>
          <a:p>
            <a:r>
              <a:rPr lang="en-US" sz="1400" dirty="0">
                <a:solidFill>
                  <a:schemeClr val="tx1">
                    <a:lumMod val="75000"/>
                    <a:lumOff val="25000"/>
                  </a:schemeClr>
                </a:solidFill>
              </a:rPr>
              <a:t>n: total sample size, s: </a:t>
            </a:r>
            <a:r>
              <a:rPr lang="en-US" sz="1400" dirty="0" err="1">
                <a:solidFill>
                  <a:schemeClr val="tx1">
                    <a:lumMod val="75000"/>
                    <a:lumOff val="25000"/>
                  </a:schemeClr>
                </a:solidFill>
              </a:rPr>
              <a:t>ncol</a:t>
            </a:r>
            <a:r>
              <a:rPr lang="en-US" sz="1400" dirty="0">
                <a:solidFill>
                  <a:schemeClr val="tx1">
                    <a:lumMod val="75000"/>
                    <a:lumOff val="25000"/>
                  </a:schemeClr>
                </a:solidFill>
              </a:rPr>
              <a:t>(</a:t>
            </a:r>
            <a:r>
              <a:rPr lang="en-US" sz="1400" dirty="0" err="1">
                <a:solidFill>
                  <a:schemeClr val="tx1">
                    <a:lumMod val="75000"/>
                    <a:lumOff val="25000"/>
                  </a:schemeClr>
                </a:solidFill>
              </a:rPr>
              <a:t>Xr</a:t>
            </a:r>
            <a:r>
              <a:rPr lang="en-US" sz="1400" dirty="0">
                <a:solidFill>
                  <a:schemeClr val="tx1">
                    <a:lumMod val="75000"/>
                    <a:lumOff val="25000"/>
                  </a:schemeClr>
                </a:solidFill>
              </a:rPr>
              <a:t>), </a:t>
            </a:r>
            <a:r>
              <a:rPr lang="en-US" sz="1400" dirty="0" err="1">
                <a:solidFill>
                  <a:schemeClr val="tx1">
                    <a:lumMod val="75000"/>
                    <a:lumOff val="25000"/>
                  </a:schemeClr>
                </a:solidFill>
              </a:rPr>
              <a:t>ncol</a:t>
            </a:r>
            <a:r>
              <a:rPr lang="en-US" sz="1400" dirty="0">
                <a:solidFill>
                  <a:schemeClr val="tx1">
                    <a:lumMod val="75000"/>
                    <a:lumOff val="25000"/>
                  </a:schemeClr>
                </a:solidFill>
              </a:rPr>
              <a:t>(Y)</a:t>
            </a:r>
          </a:p>
        </p:txBody>
      </p:sp>
      <p:sp>
        <p:nvSpPr>
          <p:cNvPr id="14" name="TextBox 13"/>
          <p:cNvSpPr txBox="1"/>
          <p:nvPr/>
        </p:nvSpPr>
        <p:spPr>
          <a:xfrm>
            <a:off x="4815068" y="3122153"/>
            <a:ext cx="2971800" cy="707886"/>
          </a:xfrm>
          <a:prstGeom prst="rect">
            <a:avLst/>
          </a:prstGeom>
          <a:noFill/>
        </p:spPr>
        <p:txBody>
          <a:bodyPr wrap="square" rtlCol="0">
            <a:spAutoFit/>
          </a:bodyPr>
          <a:lstStyle/>
          <a:p>
            <a:pPr algn="ctr"/>
            <a:r>
              <a:rPr lang="en-US" sz="2000" dirty="0">
                <a:solidFill>
                  <a:schemeClr val="tx1">
                    <a:lumMod val="75000"/>
                    <a:lumOff val="25000"/>
                  </a:schemeClr>
                </a:solidFill>
              </a:rPr>
              <a:t>“Traditional” test statistics</a:t>
            </a:r>
          </a:p>
          <a:p>
            <a:pPr algn="ctr"/>
            <a:r>
              <a:rPr lang="en-US" sz="2000" b="1" dirty="0">
                <a:solidFill>
                  <a:schemeClr val="tx1">
                    <a:lumMod val="75000"/>
                    <a:lumOff val="25000"/>
                  </a:schemeClr>
                </a:solidFill>
              </a:rPr>
              <a:t>Require </a:t>
            </a:r>
            <a:r>
              <a:rPr lang="en-US" sz="2000" b="1" i="1" dirty="0">
                <a:solidFill>
                  <a:schemeClr val="tx1">
                    <a:lumMod val="75000"/>
                    <a:lumOff val="25000"/>
                  </a:schemeClr>
                </a:solidFill>
              </a:rPr>
              <a:t>n</a:t>
            </a:r>
            <a:r>
              <a:rPr lang="en-US" sz="2000" b="1" dirty="0">
                <a:solidFill>
                  <a:schemeClr val="tx1">
                    <a:lumMod val="75000"/>
                    <a:lumOff val="25000"/>
                  </a:schemeClr>
                </a:solidFill>
              </a:rPr>
              <a:t> &gt;&gt; </a:t>
            </a:r>
            <a:r>
              <a:rPr lang="en-US" sz="2000" b="1" i="1" dirty="0">
                <a:solidFill>
                  <a:schemeClr val="tx1">
                    <a:lumMod val="75000"/>
                    <a:lumOff val="25000"/>
                  </a:schemeClr>
                </a:solidFill>
              </a:rPr>
              <a:t>p</a:t>
            </a:r>
            <a:endParaRPr lang="en-US" sz="2000" b="1" dirty="0">
              <a:solidFill>
                <a:schemeClr val="tx1">
                  <a:lumMod val="75000"/>
                  <a:lumOff val="25000"/>
                </a:schemeClr>
              </a:solidFill>
            </a:endParaRPr>
          </a:p>
        </p:txBody>
      </p:sp>
      <p:pic>
        <p:nvPicPr>
          <p:cNvPr id="19" name="Picture 18"/>
          <p:cNvPicPr>
            <a:picLocks noChangeAspect="1"/>
          </p:cNvPicPr>
          <p:nvPr/>
        </p:nvPicPr>
        <p:blipFill>
          <a:blip r:embed="rId3"/>
          <a:stretch>
            <a:fillRect/>
          </a:stretch>
        </p:blipFill>
        <p:spPr>
          <a:xfrm>
            <a:off x="7810982" y="3090692"/>
            <a:ext cx="766355" cy="766355"/>
          </a:xfrm>
          <a:prstGeom prst="rect">
            <a:avLst/>
          </a:prstGeom>
        </p:spPr>
      </p:pic>
      <p:sp>
        <p:nvSpPr>
          <p:cNvPr id="20" name="TextBox 19"/>
          <p:cNvSpPr txBox="1"/>
          <p:nvPr/>
        </p:nvSpPr>
        <p:spPr>
          <a:xfrm>
            <a:off x="5105975" y="4383725"/>
            <a:ext cx="3809425" cy="1015663"/>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sz="2000" dirty="0">
                <a:solidFill>
                  <a:schemeClr val="tx1">
                    <a:lumMod val="75000"/>
                    <a:lumOff val="25000"/>
                  </a:schemeClr>
                </a:solidFill>
              </a:rPr>
              <a:t>Use randomization procedures, which are more powerful for </a:t>
            </a:r>
            <a:r>
              <a:rPr lang="en-US" sz="2000">
                <a:solidFill>
                  <a:schemeClr val="tx1">
                    <a:lumMod val="75000"/>
                    <a:lumOff val="25000"/>
                  </a:schemeClr>
                </a:solidFill>
              </a:rPr>
              <a:t>high-dimensional data</a:t>
            </a:r>
            <a:r>
              <a:rPr lang="en-US" sz="1600">
                <a:solidFill>
                  <a:schemeClr val="tx1">
                    <a:lumMod val="75000"/>
                    <a:lumOff val="25000"/>
                  </a:schemeClr>
                </a:solidFill>
              </a:rPr>
              <a:t> </a:t>
            </a:r>
            <a:endParaRPr lang="en-US" sz="1600" dirty="0">
              <a:solidFill>
                <a:schemeClr val="tx1">
                  <a:lumMod val="75000"/>
                  <a:lumOff val="25000"/>
                </a:schemeClr>
              </a:solidFill>
            </a:endParaRPr>
          </a:p>
        </p:txBody>
      </p:sp>
      <p:sp>
        <p:nvSpPr>
          <p:cNvPr id="5" name="Rectangle 4"/>
          <p:cNvSpPr/>
          <p:nvPr/>
        </p:nvSpPr>
        <p:spPr>
          <a:xfrm>
            <a:off x="4557532" y="6334780"/>
            <a:ext cx="4572000" cy="523220"/>
          </a:xfrm>
          <a:prstGeom prst="rect">
            <a:avLst/>
          </a:prstGeom>
        </p:spPr>
        <p:txBody>
          <a:bodyPr>
            <a:spAutoFit/>
          </a:bodyPr>
          <a:lstStyle/>
          <a:p>
            <a:pPr algn="r"/>
            <a:r>
              <a:rPr lang="en-US" sz="1400" dirty="0">
                <a:solidFill>
                  <a:schemeClr val="tx1">
                    <a:lumMod val="75000"/>
                    <a:lumOff val="25000"/>
                  </a:schemeClr>
                </a:solidFill>
              </a:rPr>
              <a:t>Anderson MJ, </a:t>
            </a:r>
            <a:r>
              <a:rPr lang="en-US" sz="1400" dirty="0" err="1">
                <a:solidFill>
                  <a:schemeClr val="tx1">
                    <a:lumMod val="75000"/>
                    <a:lumOff val="25000"/>
                  </a:schemeClr>
                </a:solidFill>
              </a:rPr>
              <a:t>Ter</a:t>
            </a:r>
            <a:r>
              <a:rPr lang="en-US" sz="1400" dirty="0">
                <a:solidFill>
                  <a:schemeClr val="tx1">
                    <a:lumMod val="75000"/>
                    <a:lumOff val="25000"/>
                  </a:schemeClr>
                </a:solidFill>
              </a:rPr>
              <a:t> </a:t>
            </a:r>
            <a:r>
              <a:rPr lang="en-US" sz="1400" dirty="0" err="1">
                <a:solidFill>
                  <a:schemeClr val="tx1">
                    <a:lumMod val="75000"/>
                    <a:lumOff val="25000"/>
                  </a:schemeClr>
                </a:solidFill>
              </a:rPr>
              <a:t>Braak</a:t>
            </a:r>
            <a:r>
              <a:rPr lang="en-US" sz="1400" dirty="0">
                <a:solidFill>
                  <a:schemeClr val="tx1">
                    <a:lumMod val="75000"/>
                    <a:lumOff val="25000"/>
                  </a:schemeClr>
                </a:solidFill>
              </a:rPr>
              <a:t> CJF (2003). </a:t>
            </a:r>
            <a:r>
              <a:rPr lang="en-US" sz="1400" i="1" dirty="0">
                <a:solidFill>
                  <a:schemeClr val="tx1">
                    <a:lumMod val="75000"/>
                    <a:lumOff val="25000"/>
                  </a:schemeClr>
                </a:solidFill>
              </a:rPr>
              <a:t>Journal of Statistical Computation and Simulation</a:t>
            </a:r>
            <a:r>
              <a:rPr lang="en-US" sz="1400" dirty="0">
                <a:solidFill>
                  <a:schemeClr val="tx1">
                    <a:lumMod val="75000"/>
                    <a:lumOff val="25000"/>
                  </a:schemeClr>
                </a:solidFill>
              </a:rPr>
              <a:t> 73</a:t>
            </a:r>
            <a:r>
              <a:rPr lang="en-US" sz="1400" b="1" dirty="0">
                <a:solidFill>
                  <a:schemeClr val="tx1">
                    <a:lumMod val="75000"/>
                    <a:lumOff val="25000"/>
                  </a:schemeClr>
                </a:solidFill>
              </a:rPr>
              <a:t>:</a:t>
            </a:r>
            <a:r>
              <a:rPr lang="en-US" sz="1400" dirty="0">
                <a:solidFill>
                  <a:schemeClr val="tx1">
                    <a:lumMod val="75000"/>
                    <a:lumOff val="25000"/>
                  </a:schemeClr>
                </a:solidFill>
              </a:rPr>
              <a:t> 85-113</a:t>
            </a:r>
            <a:endParaRPr lang="en-US" sz="1400" dirty="0"/>
          </a:p>
        </p:txBody>
      </p:sp>
      <p:sp>
        <p:nvSpPr>
          <p:cNvPr id="6" name="Right Brace 5"/>
          <p:cNvSpPr/>
          <p:nvPr/>
        </p:nvSpPr>
        <p:spPr>
          <a:xfrm>
            <a:off x="4495800" y="2743200"/>
            <a:ext cx="319268" cy="2919517"/>
          </a:xfrm>
          <a:prstGeom prst="rightBrace">
            <a:avLst>
              <a:gd name="adj1" fmla="val 8333"/>
              <a:gd name="adj2" fmla="val 23834"/>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18679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animBg="1"/>
      <p:bldP spid="5" grpId="0"/>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97900669"/>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One-way ANOVA: example</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24</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14" name="TextBox 13"/>
          <p:cNvSpPr txBox="1"/>
          <p:nvPr/>
        </p:nvSpPr>
        <p:spPr>
          <a:xfrm>
            <a:off x="304800" y="609600"/>
            <a:ext cx="8686799" cy="10156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Do groups of birds differ in body proportions?</a:t>
            </a:r>
          </a:p>
          <a:p>
            <a:pPr>
              <a:lnSpc>
                <a:spcPct val="150000"/>
              </a:lnSpc>
            </a:pPr>
            <a:r>
              <a:rPr lang="en-US" sz="2000" dirty="0">
                <a:solidFill>
                  <a:schemeClr val="tx1">
                    <a:lumMod val="75000"/>
                    <a:lumOff val="25000"/>
                  </a:schemeClr>
                </a:solidFill>
              </a:rPr>
              <a:t>	</a:t>
            </a:r>
            <a:r>
              <a:rPr lang="en-US" dirty="0">
                <a:solidFill>
                  <a:schemeClr val="tx1">
                    <a:lumMod val="75000"/>
                    <a:lumOff val="25000"/>
                  </a:schemeClr>
                </a:solidFill>
              </a:rPr>
              <a:t>Groups: defined based on sex and survival (</a:t>
            </a:r>
            <a:r>
              <a:rPr lang="en-US" dirty="0" err="1">
                <a:solidFill>
                  <a:schemeClr val="tx1">
                    <a:lumMod val="75000"/>
                    <a:lumOff val="25000"/>
                  </a:schemeClr>
                </a:solidFill>
              </a:rPr>
              <a:t>Msurv</a:t>
            </a:r>
            <a:r>
              <a:rPr lang="en-US" dirty="0">
                <a:solidFill>
                  <a:schemeClr val="tx1">
                    <a:lumMod val="75000"/>
                    <a:lumOff val="25000"/>
                  </a:schemeClr>
                </a:solidFill>
              </a:rPr>
              <a:t>, </a:t>
            </a:r>
            <a:r>
              <a:rPr lang="en-US" dirty="0" err="1">
                <a:solidFill>
                  <a:schemeClr val="tx1">
                    <a:lumMod val="75000"/>
                    <a:lumOff val="25000"/>
                  </a:schemeClr>
                </a:solidFill>
              </a:rPr>
              <a:t>Fsurv</a:t>
            </a:r>
            <a:r>
              <a:rPr lang="en-US" dirty="0">
                <a:solidFill>
                  <a:schemeClr val="tx1">
                    <a:lumMod val="75000"/>
                    <a:lumOff val="25000"/>
                  </a:schemeClr>
                </a:solidFill>
              </a:rPr>
              <a:t>, </a:t>
            </a:r>
            <a:r>
              <a:rPr lang="en-US" dirty="0" err="1">
                <a:solidFill>
                  <a:schemeClr val="tx1">
                    <a:lumMod val="75000"/>
                    <a:lumOff val="25000"/>
                  </a:schemeClr>
                </a:solidFill>
              </a:rPr>
              <a:t>Mdied</a:t>
            </a:r>
            <a:r>
              <a:rPr lang="en-US" dirty="0">
                <a:solidFill>
                  <a:schemeClr val="tx1">
                    <a:lumMod val="75000"/>
                    <a:lumOff val="25000"/>
                  </a:schemeClr>
                </a:solidFill>
              </a:rPr>
              <a:t>, </a:t>
            </a:r>
            <a:r>
              <a:rPr lang="en-US" dirty="0" err="1">
                <a:solidFill>
                  <a:schemeClr val="tx1">
                    <a:lumMod val="75000"/>
                    <a:lumOff val="25000"/>
                  </a:schemeClr>
                </a:solidFill>
              </a:rPr>
              <a:t>Fdied</a:t>
            </a:r>
            <a:r>
              <a:rPr lang="en-US" dirty="0">
                <a:solidFill>
                  <a:schemeClr val="tx1">
                    <a:lumMod val="75000"/>
                    <a:lumOff val="25000"/>
                  </a:schemeClr>
                </a:solidFill>
              </a:rPr>
              <a:t>)</a:t>
            </a:r>
          </a:p>
        </p:txBody>
      </p:sp>
      <p:sp>
        <p:nvSpPr>
          <p:cNvPr id="2" name="Rectangle 1"/>
          <p:cNvSpPr/>
          <p:nvPr/>
        </p:nvSpPr>
        <p:spPr>
          <a:xfrm>
            <a:off x="381000" y="1676400"/>
            <a:ext cx="7315200" cy="4185761"/>
          </a:xfrm>
          <a:prstGeom prst="rect">
            <a:avLst/>
          </a:prstGeom>
          <a:ln>
            <a:solidFill>
              <a:schemeClr val="tx2">
                <a:lumMod val="40000"/>
                <a:lumOff val="60000"/>
              </a:schemeClr>
            </a:solidFill>
          </a:ln>
        </p:spPr>
        <p:txBody>
          <a:bodyPr wrap="square">
            <a:spAutoFit/>
          </a:bodyPr>
          <a:lstStyle/>
          <a:p>
            <a:r>
              <a:rPr lang="en-US" sz="1400" dirty="0">
                <a:latin typeface="Courier New" panose="02070309020205020404" pitchFamily="49" charset="0"/>
                <a:cs typeface="Courier New" panose="02070309020205020404" pitchFamily="49" charset="0"/>
              </a:rPr>
              <a:t>&gt; Y &lt;- </a:t>
            </a:r>
            <a:r>
              <a:rPr lang="en-US" sz="1400" dirty="0" err="1">
                <a:latin typeface="Courier New" panose="02070309020205020404" pitchFamily="49" charset="0"/>
                <a:cs typeface="Courier New" panose="02070309020205020404" pitchFamily="49" charset="0"/>
              </a:rPr>
              <a:t>as.matrix</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bumpus</a:t>
            </a:r>
            <a:r>
              <a:rPr lang="en-US" sz="1400" dirty="0">
                <a:latin typeface="Courier New" panose="02070309020205020404" pitchFamily="49" charset="0"/>
                <a:cs typeface="Courier New" panose="02070309020205020404" pitchFamily="49" charset="0"/>
              </a:rPr>
              <a:t>[,5:13])</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&gt; summary(</a:t>
            </a:r>
            <a:r>
              <a:rPr lang="en-US" sz="1400" dirty="0" err="1">
                <a:latin typeface="Courier New" panose="02070309020205020404" pitchFamily="49" charset="0"/>
                <a:cs typeface="Courier New" panose="02070309020205020404" pitchFamily="49" charset="0"/>
              </a:rPr>
              <a:t>manova</a:t>
            </a:r>
            <a:r>
              <a:rPr lang="en-US" sz="1400" dirty="0">
                <a:latin typeface="Courier New" panose="02070309020205020404" pitchFamily="49" charset="0"/>
                <a:cs typeface="Courier New" panose="02070309020205020404" pitchFamily="49" charset="0"/>
              </a:rPr>
              <a:t>(Y ~ </a:t>
            </a:r>
            <a:r>
              <a:rPr lang="en-US" sz="1400" dirty="0" err="1">
                <a:latin typeface="Courier New" panose="02070309020205020404" pitchFamily="49" charset="0"/>
                <a:cs typeface="Courier New" panose="02070309020205020404" pitchFamily="49" charset="0"/>
              </a:rPr>
              <a:t>gp</a:t>
            </a:r>
            <a:r>
              <a:rPr lang="en-US" sz="1400" dirty="0">
                <a:latin typeface="Courier New" panose="02070309020205020404" pitchFamily="49" charset="0"/>
                <a:cs typeface="Courier New" panose="02070309020205020404" pitchFamily="49" charset="0"/>
              </a:rPr>
              <a:t>))</a:t>
            </a:r>
          </a:p>
          <a:p>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Df</a:t>
            </a:r>
            <a:r>
              <a:rPr lang="mr-IN"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Pillai</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approxF</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numDf</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denDf</a:t>
            </a:r>
            <a:r>
              <a:rPr lang="mr-IN"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Pr</a:t>
            </a:r>
            <a:r>
              <a:rPr lang="mr-IN" sz="1400" dirty="0">
                <a:latin typeface="Courier New" panose="02070309020205020404" pitchFamily="49" charset="0"/>
                <a:cs typeface="Courier New" panose="02070309020205020404" pitchFamily="49" charset="0"/>
              </a:rPr>
              <a:t>(&gt;</a:t>
            </a:r>
            <a:r>
              <a:rPr lang="mr-IN" sz="1400" dirty="0" err="1">
                <a:latin typeface="Courier New" panose="02070309020205020404" pitchFamily="49" charset="0"/>
                <a:cs typeface="Courier New" panose="02070309020205020404" pitchFamily="49" charset="0"/>
              </a:rPr>
              <a:t>F</a:t>
            </a:r>
            <a:r>
              <a:rPr lang="mr-IN" sz="1400" dirty="0">
                <a:latin typeface="Courier New" panose="02070309020205020404" pitchFamily="49" charset="0"/>
                <a:cs typeface="Courier New" panose="02070309020205020404" pitchFamily="49" charset="0"/>
              </a:rPr>
              <a:t>)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gp</a:t>
            </a:r>
            <a:r>
              <a:rPr lang="mr-IN" sz="1400" dirty="0">
                <a:latin typeface="Courier New" panose="02070309020205020404" pitchFamily="49" charset="0"/>
                <a:cs typeface="Courier New" panose="02070309020205020404" pitchFamily="49" charset="0"/>
              </a:rPr>
              <a:t>          3 0.86771   5.6971     27    378 </a:t>
            </a:r>
            <a:r>
              <a:rPr lang="pt-PT" sz="1400" dirty="0">
                <a:latin typeface="Courier New" panose="02070309020205020404" pitchFamily="49" charset="0"/>
                <a:cs typeface="Courier New" panose="02070309020205020404" pitchFamily="49" charset="0"/>
              </a:rPr>
              <a:t>  </a:t>
            </a:r>
            <a:r>
              <a:rPr lang="mr-IN" sz="1400" dirty="0">
                <a:latin typeface="Courier New" panose="02070309020205020404" pitchFamily="49" charset="0"/>
                <a:cs typeface="Courier New" panose="02070309020205020404" pitchFamily="49" charset="0"/>
              </a:rPr>
              <a:t>5.362e-16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Residuals</a:t>
            </a:r>
            <a:r>
              <a:rPr lang="mr-IN" sz="1400" dirty="0">
                <a:latin typeface="Courier New" panose="02070309020205020404" pitchFamily="49" charset="0"/>
                <a:cs typeface="Courier New" panose="02070309020205020404" pitchFamily="49" charset="0"/>
              </a:rPr>
              <a:t> 132</a:t>
            </a:r>
            <a:endParaRPr lang="pt-PT" sz="1400" dirty="0">
              <a:latin typeface="Courier New" panose="02070309020205020404" pitchFamily="49" charset="0"/>
              <a:cs typeface="Courier New" panose="02070309020205020404" pitchFamily="49" charset="0"/>
            </a:endParaRPr>
          </a:p>
          <a:p>
            <a:endParaRPr lang="pt-PT"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&gt; </a:t>
            </a:r>
            <a:r>
              <a:rPr lang="mr-IN" sz="1400" dirty="0" err="1">
                <a:latin typeface="Courier New" panose="02070309020205020404" pitchFamily="49" charset="0"/>
                <a:cs typeface="Courier New" panose="02070309020205020404" pitchFamily="49" charset="0"/>
              </a:rPr>
              <a:t>summary</a:t>
            </a:r>
            <a:r>
              <a:rPr lang="mr-IN" sz="1400" dirty="0">
                <a:latin typeface="Courier New" panose="02070309020205020404" pitchFamily="49" charset="0"/>
                <a:cs typeface="Courier New" panose="02070309020205020404" pitchFamily="49" charset="0"/>
              </a:rPr>
              <a:t>(</a:t>
            </a:r>
            <a:r>
              <a:rPr lang="mr-IN" sz="1400" dirty="0" err="1">
                <a:latin typeface="Courier New" panose="02070309020205020404" pitchFamily="49" charset="0"/>
                <a:cs typeface="Courier New" panose="02070309020205020404" pitchFamily="49" charset="0"/>
              </a:rPr>
              <a:t>manova</a:t>
            </a:r>
            <a:r>
              <a:rPr lang="mr-IN" sz="1400" dirty="0">
                <a:latin typeface="Courier New" panose="02070309020205020404" pitchFamily="49" charset="0"/>
                <a:cs typeface="Courier New" panose="02070309020205020404" pitchFamily="49" charset="0"/>
              </a:rPr>
              <a:t>(</a:t>
            </a:r>
            <a:r>
              <a:rPr lang="mr-IN" sz="1400" dirty="0" err="1">
                <a:latin typeface="Courier New" panose="02070309020205020404" pitchFamily="49" charset="0"/>
                <a:cs typeface="Courier New" panose="02070309020205020404" pitchFamily="49" charset="0"/>
              </a:rPr>
              <a:t>Y</a:t>
            </a:r>
            <a:r>
              <a:rPr lang="pt-PT" sz="1400" dirty="0">
                <a:latin typeface="Courier New" panose="02070309020205020404" pitchFamily="49" charset="0"/>
                <a:cs typeface="Courier New" panose="02070309020205020404" pitchFamily="49" charset="0"/>
              </a:rPr>
              <a:t> </a:t>
            </a:r>
            <a:r>
              <a:rPr lang="mr-IN" sz="1400" dirty="0">
                <a:latin typeface="Courier New" panose="02070309020205020404" pitchFamily="49" charset="0"/>
                <a:cs typeface="Courier New" panose="02070309020205020404" pitchFamily="49" charset="0"/>
              </a:rPr>
              <a:t>~</a:t>
            </a:r>
            <a:r>
              <a:rPr lang="pt-PT" sz="1400" dirty="0">
                <a:latin typeface="Courier New" panose="02070309020205020404" pitchFamily="49" charset="0"/>
                <a:cs typeface="Courier New" panose="02070309020205020404" pitchFamily="49" charset="0"/>
              </a:rPr>
              <a:t> </a:t>
            </a:r>
            <a:r>
              <a:rPr lang="pt-PT" sz="1400" dirty="0" err="1">
                <a:latin typeface="Courier New" panose="02070309020205020404" pitchFamily="49" charset="0"/>
                <a:cs typeface="Courier New" panose="02070309020205020404" pitchFamily="49" charset="0"/>
              </a:rPr>
              <a:t>gp</a:t>
            </a:r>
            <a:r>
              <a:rPr lang="mr-IN"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test</a:t>
            </a:r>
            <a:r>
              <a:rPr lang="mr-IN" sz="1400" dirty="0">
                <a:latin typeface="Courier New" panose="02070309020205020404" pitchFamily="49" charset="0"/>
                <a:cs typeface="Courier New" panose="02070309020205020404" pitchFamily="49" charset="0"/>
              </a:rPr>
              <a:t> = "</a:t>
            </a:r>
            <a:r>
              <a:rPr lang="mr-IN" sz="1400" dirty="0" err="1">
                <a:latin typeface="Courier New" panose="02070309020205020404" pitchFamily="49" charset="0"/>
                <a:cs typeface="Courier New" panose="02070309020205020404" pitchFamily="49" charset="0"/>
              </a:rPr>
              <a:t>Wilks</a:t>
            </a:r>
            <a:r>
              <a:rPr lang="mr-IN" sz="1400" dirty="0">
                <a:latin typeface="Courier New" panose="02070309020205020404" pitchFamily="49" charset="0"/>
                <a:cs typeface="Courier New" panose="02070309020205020404" pitchFamily="49" charset="0"/>
              </a:rPr>
              <a:t>")</a:t>
            </a:r>
            <a:endParaRPr lang="pt-PT" sz="1400" dirty="0">
              <a:latin typeface="Courier New" panose="02070309020205020404" pitchFamily="49" charset="0"/>
              <a:cs typeface="Courier New" panose="02070309020205020404" pitchFamily="49" charset="0"/>
            </a:endParaRPr>
          </a:p>
          <a:p>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Df</a:t>
            </a:r>
            <a:r>
              <a:rPr lang="mr-IN"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Wilks</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approxF</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numDf</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denDf</a:t>
            </a:r>
            <a:r>
              <a:rPr lang="mr-IN"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Pr</a:t>
            </a:r>
            <a:r>
              <a:rPr lang="mr-IN" sz="1400" dirty="0">
                <a:latin typeface="Courier New" panose="02070309020205020404" pitchFamily="49" charset="0"/>
                <a:cs typeface="Courier New" panose="02070309020205020404" pitchFamily="49" charset="0"/>
              </a:rPr>
              <a:t>(&gt;</a:t>
            </a:r>
            <a:r>
              <a:rPr lang="mr-IN" sz="1400" dirty="0" err="1">
                <a:latin typeface="Courier New" panose="02070309020205020404" pitchFamily="49" charset="0"/>
                <a:cs typeface="Courier New" panose="02070309020205020404" pitchFamily="49" charset="0"/>
              </a:rPr>
              <a:t>F</a:t>
            </a:r>
            <a:r>
              <a:rPr lang="mr-IN" sz="1400" dirty="0">
                <a:latin typeface="Courier New" panose="02070309020205020404" pitchFamily="49" charset="0"/>
                <a:cs typeface="Courier New" panose="02070309020205020404" pitchFamily="49" charset="0"/>
              </a:rPr>
              <a:t>)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gp</a:t>
            </a:r>
            <a:r>
              <a:rPr lang="mr-IN" sz="1400" dirty="0">
                <a:latin typeface="Courier New" panose="02070309020205020404" pitchFamily="49" charset="0"/>
                <a:cs typeface="Courier New" panose="02070309020205020404" pitchFamily="49" charset="0"/>
              </a:rPr>
              <a:t>          3 0.32297   6.3493     27 362.79 </a:t>
            </a:r>
            <a:r>
              <a:rPr lang="pt-PT" sz="1400" dirty="0">
                <a:latin typeface="Courier New" panose="02070309020205020404" pitchFamily="49" charset="0"/>
                <a:cs typeface="Courier New" panose="02070309020205020404" pitchFamily="49" charset="0"/>
              </a:rPr>
              <a:t>   </a:t>
            </a:r>
            <a:r>
              <a:rPr lang="mr-IN" sz="1400" dirty="0">
                <a:latin typeface="Courier New" panose="02070309020205020404" pitchFamily="49" charset="0"/>
                <a:cs typeface="Courier New" panose="02070309020205020404" pitchFamily="49" charset="0"/>
              </a:rPr>
              <a:t>&lt;2.2e-16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Residuals</a:t>
            </a:r>
            <a:r>
              <a:rPr lang="mr-IN" sz="1400" dirty="0">
                <a:latin typeface="Courier New" panose="02070309020205020404" pitchFamily="49" charset="0"/>
                <a:cs typeface="Courier New" panose="02070309020205020404" pitchFamily="49" charset="0"/>
              </a:rPr>
              <a:t> 132</a:t>
            </a:r>
            <a:endParaRPr lang="en-US" sz="1400" dirty="0">
              <a:latin typeface="Courier New" panose="02070309020205020404" pitchFamily="49" charset="0"/>
              <a:cs typeface="Courier New" panose="02070309020205020404" pitchFamily="49" charset="0"/>
            </a:endParaRPr>
          </a:p>
          <a:p>
            <a:endParaRPr lang="en-US" sz="1400" dirty="0">
              <a:latin typeface="Courier New" panose="02070309020205020404" pitchFamily="49" charset="0"/>
              <a:cs typeface="Courier New" panose="02070309020205020404" pitchFamily="49" charset="0"/>
            </a:endParaRPr>
          </a:p>
          <a:p>
            <a:r>
              <a:rPr lang="de-DE" sz="1400" dirty="0">
                <a:latin typeface="Courier New" panose="02070309020205020404" pitchFamily="49" charset="0"/>
                <a:cs typeface="Courier New" panose="02070309020205020404" pitchFamily="49" charset="0"/>
              </a:rPr>
              <a:t>&gt; </a:t>
            </a:r>
            <a:r>
              <a:rPr lang="de-DE" sz="1400" dirty="0" err="1">
                <a:latin typeface="Courier New" panose="02070309020205020404" pitchFamily="49" charset="0"/>
                <a:cs typeface="Courier New" panose="02070309020205020404" pitchFamily="49" charset="0"/>
              </a:rPr>
              <a:t>library</a:t>
            </a:r>
            <a:r>
              <a:rPr lang="de-DE" sz="1400" dirty="0">
                <a:latin typeface="Courier New" panose="02070309020205020404" pitchFamily="49" charset="0"/>
                <a:cs typeface="Courier New" panose="02070309020205020404" pitchFamily="49" charset="0"/>
              </a:rPr>
              <a:t>(vegan)</a:t>
            </a:r>
          </a:p>
          <a:p>
            <a:r>
              <a:rPr lang="de-DE" sz="1400" dirty="0">
                <a:latin typeface="Courier New" panose="02070309020205020404" pitchFamily="49" charset="0"/>
                <a:cs typeface="Courier New" panose="02070309020205020404" pitchFamily="49" charset="0"/>
              </a:rPr>
              <a:t>&gt; </a:t>
            </a:r>
            <a:r>
              <a:rPr lang="de-DE" sz="1400" dirty="0" err="1">
                <a:latin typeface="Courier New" panose="02070309020205020404" pitchFamily="49" charset="0"/>
                <a:cs typeface="Courier New" panose="02070309020205020404" pitchFamily="49" charset="0"/>
              </a:rPr>
              <a:t>adonis</a:t>
            </a:r>
            <a:r>
              <a:rPr lang="de-DE" sz="1400" dirty="0">
                <a:latin typeface="Courier New" panose="02070309020205020404" pitchFamily="49" charset="0"/>
                <a:cs typeface="Courier New" panose="02070309020205020404" pitchFamily="49" charset="0"/>
              </a:rPr>
              <a:t>(Y ~ </a:t>
            </a:r>
            <a:r>
              <a:rPr lang="de-DE" sz="1400" dirty="0" err="1">
                <a:latin typeface="Courier New" panose="02070309020205020404" pitchFamily="49" charset="0"/>
                <a:cs typeface="Courier New" panose="02070309020205020404" pitchFamily="49" charset="0"/>
              </a:rPr>
              <a:t>gp</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method</a:t>
            </a:r>
            <a:r>
              <a:rPr lang="de-DE" sz="1400">
                <a:latin typeface="Courier New" panose="02070309020205020404" pitchFamily="49" charset="0"/>
                <a:cs typeface="Courier New" panose="02070309020205020404" pitchFamily="49" charset="0"/>
              </a:rPr>
              <a:t> = "</a:t>
            </a:r>
            <a:r>
              <a:rPr lang="de-DE" sz="1400" dirty="0" err="1">
                <a:latin typeface="Courier New" panose="02070309020205020404" pitchFamily="49" charset="0"/>
                <a:cs typeface="Courier New" panose="02070309020205020404" pitchFamily="49" charset="0"/>
              </a:rPr>
              <a:t>euclidean</a:t>
            </a:r>
            <a:r>
              <a:rPr lang="de-DE" sz="1400" dirty="0">
                <a:latin typeface="Courier New" panose="02070309020205020404" pitchFamily="49" charset="0"/>
                <a:cs typeface="Courier New" panose="02070309020205020404" pitchFamily="49" charset="0"/>
              </a:rPr>
              <a:t>")</a:t>
            </a:r>
          </a:p>
          <a:p>
            <a:endParaRPr lang="de-DE" sz="1400" dirty="0">
              <a:latin typeface="Courier New" panose="02070309020205020404" pitchFamily="49" charset="0"/>
              <a:cs typeface="Courier New" panose="02070309020205020404" pitchFamily="49" charset="0"/>
            </a:endParaRPr>
          </a:p>
          <a:p>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Df</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SumsOfSqs</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MeanSqs</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F.Model</a:t>
            </a:r>
            <a:r>
              <a:rPr lang="de-DE" sz="1400" dirty="0">
                <a:latin typeface="Courier New" panose="02070309020205020404" pitchFamily="49" charset="0"/>
                <a:cs typeface="Courier New" panose="02070309020205020404" pitchFamily="49" charset="0"/>
              </a:rPr>
              <a:t>      R2 </a:t>
            </a:r>
            <a:r>
              <a:rPr lang="de-DE" sz="1400" dirty="0" err="1">
                <a:latin typeface="Courier New" panose="02070309020205020404" pitchFamily="49" charset="0"/>
                <a:cs typeface="Courier New" panose="02070309020205020404" pitchFamily="49" charset="0"/>
              </a:rPr>
              <a:t>Pr</a:t>
            </a:r>
            <a:r>
              <a:rPr lang="de-DE" sz="1400" dirty="0">
                <a:latin typeface="Courier New" panose="02070309020205020404" pitchFamily="49" charset="0"/>
                <a:cs typeface="Courier New" panose="02070309020205020404" pitchFamily="49" charset="0"/>
              </a:rPr>
              <a:t>(&gt;F)  </a:t>
            </a:r>
          </a:p>
          <a:p>
            <a:r>
              <a:rPr lang="mr-IN" sz="1400" dirty="0" err="1">
                <a:latin typeface="Courier New" panose="02070309020205020404" pitchFamily="49" charset="0"/>
                <a:cs typeface="Courier New" panose="02070309020205020404" pitchFamily="49" charset="0"/>
              </a:rPr>
              <a:t>gp</a:t>
            </a:r>
            <a:r>
              <a:rPr lang="mr-IN" sz="1400" dirty="0">
                <a:latin typeface="Courier New" panose="02070309020205020404" pitchFamily="49" charset="0"/>
                <a:cs typeface="Courier New" panose="02070309020205020404" pitchFamily="49" charset="0"/>
              </a:rPr>
              <a:t>          3    1585.2  528.40   13.95 0.24072  0.001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Residuals</a:t>
            </a:r>
            <a:r>
              <a:rPr lang="mr-IN" sz="1400" dirty="0">
                <a:latin typeface="Courier New" panose="02070309020205020404" pitchFamily="49" charset="0"/>
                <a:cs typeface="Courier New" panose="02070309020205020404" pitchFamily="49" charset="0"/>
              </a:rPr>
              <a:t> 132    5000.1   37.88         0.75928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Total</a:t>
            </a:r>
            <a:r>
              <a:rPr lang="mr-IN" sz="1400" dirty="0">
                <a:latin typeface="Courier New" panose="02070309020205020404" pitchFamily="49" charset="0"/>
                <a:cs typeface="Courier New" panose="02070309020205020404" pitchFamily="49" charset="0"/>
              </a:rPr>
              <a:t>     135    6585.3                 1.00000</a:t>
            </a:r>
            <a:endParaRPr lang="en-US" sz="1400" dirty="0">
              <a:latin typeface="Courier New" panose="02070309020205020404" pitchFamily="49" charset="0"/>
              <a:cs typeface="Courier New" panose="02070309020205020404" pitchFamily="49" charset="0"/>
            </a:endParaRPr>
          </a:p>
        </p:txBody>
      </p:sp>
      <p:grpSp>
        <p:nvGrpSpPr>
          <p:cNvPr id="6" name="Group 5"/>
          <p:cNvGrpSpPr/>
          <p:nvPr/>
        </p:nvGrpSpPr>
        <p:grpSpPr>
          <a:xfrm>
            <a:off x="4945878" y="3048000"/>
            <a:ext cx="4045722" cy="3657600"/>
            <a:chOff x="1248874" y="938213"/>
            <a:chExt cx="6788922" cy="5919787"/>
          </a:xfrm>
        </p:grpSpPr>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11149" r="5100"/>
            <a:stretch/>
          </p:blipFill>
          <p:spPr>
            <a:xfrm>
              <a:off x="1248874" y="938213"/>
              <a:ext cx="6788922" cy="5919787"/>
            </a:xfrm>
            <a:prstGeom prst="rect">
              <a:avLst/>
            </a:prstGeom>
          </p:spPr>
        </p:pic>
        <p:sp>
          <p:nvSpPr>
            <p:cNvPr id="10" name="TextBox 9"/>
            <p:cNvSpPr txBox="1"/>
            <p:nvPr/>
          </p:nvSpPr>
          <p:spPr>
            <a:xfrm>
              <a:off x="5852100" y="4638080"/>
              <a:ext cx="2136333" cy="1245332"/>
            </a:xfrm>
            <a:prstGeom prst="rect">
              <a:avLst/>
            </a:prstGeom>
            <a:noFill/>
          </p:spPr>
          <p:txBody>
            <a:bodyPr wrap="none" rtlCol="0">
              <a:spAutoFit/>
            </a:bodyPr>
            <a:lstStyle/>
            <a:p>
              <a:r>
                <a:rPr lang="en-US" sz="1100" dirty="0"/>
                <a:t>Males – survived</a:t>
              </a:r>
            </a:p>
            <a:p>
              <a:r>
                <a:rPr lang="en-US" sz="1100" dirty="0"/>
                <a:t>Females – survived</a:t>
              </a:r>
            </a:p>
            <a:p>
              <a:r>
                <a:rPr lang="en-US" sz="1100" dirty="0"/>
                <a:t>Males – died</a:t>
              </a:r>
            </a:p>
            <a:p>
              <a:r>
                <a:rPr lang="en-US" sz="1100" dirty="0"/>
                <a:t>Females – died</a:t>
              </a:r>
            </a:p>
          </p:txBody>
        </p:sp>
        <p:sp>
          <p:nvSpPr>
            <p:cNvPr id="8" name="Oval 7"/>
            <p:cNvSpPr/>
            <p:nvPr/>
          </p:nvSpPr>
          <p:spPr>
            <a:xfrm>
              <a:off x="5724232" y="5042492"/>
              <a:ext cx="152400" cy="152400"/>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724232" y="4784683"/>
              <a:ext cx="152400" cy="152400"/>
            </a:xfrm>
            <a:prstGeom prst="ellips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p:cNvSpPr/>
            <p:nvPr/>
          </p:nvSpPr>
          <p:spPr>
            <a:xfrm flipV="1">
              <a:off x="5724232" y="5580185"/>
              <a:ext cx="152400" cy="152400"/>
            </a:xfrm>
            <a:prstGeom prs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p:cNvSpPr/>
            <p:nvPr/>
          </p:nvSpPr>
          <p:spPr>
            <a:xfrm flipV="1">
              <a:off x="5724232" y="5310036"/>
              <a:ext cx="152400" cy="152400"/>
            </a:xfrm>
            <a:prstGeom prst="triangl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566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Effect transition="in" filter="fade">
                                      <p:cBhvr>
                                        <p:cTn id="11" dur="500"/>
                                        <p:tgtEl>
                                          <p:spTgt spid="2">
                                            <p:txEl>
                                              <p:pRg st="2" end="2"/>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500"/>
                                        <p:tgtEl>
                                          <p:spTgt spid="2">
                                            <p:txEl>
                                              <p:pRg st="3" end="3"/>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fade">
                                      <p:cBhvr>
                                        <p:cTn id="20" dur="500"/>
                                        <p:tgtEl>
                                          <p:spTgt spid="2">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animEffect transition="in" filter="fade">
                                      <p:cBhvr>
                                        <p:cTn id="25" dur="500"/>
                                        <p:tgtEl>
                                          <p:spTgt spid="2">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
                                            <p:txEl>
                                              <p:pRg st="8" end="8"/>
                                            </p:txEl>
                                          </p:spTgt>
                                        </p:tgtEl>
                                        <p:attrNameLst>
                                          <p:attrName>style.visibility</p:attrName>
                                        </p:attrNameLst>
                                      </p:cBhvr>
                                      <p:to>
                                        <p:strVal val="visible"/>
                                      </p:to>
                                    </p:set>
                                    <p:animEffect transition="in" filter="fade">
                                      <p:cBhvr>
                                        <p:cTn id="28" dur="500"/>
                                        <p:tgtEl>
                                          <p:spTgt spid="2">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animEffect transition="in" filter="fade">
                                      <p:cBhvr>
                                        <p:cTn id="31" dur="500"/>
                                        <p:tgtEl>
                                          <p:spTgt spid="2">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
                                            <p:txEl>
                                              <p:pRg st="10" end="10"/>
                                            </p:txEl>
                                          </p:spTgt>
                                        </p:tgtEl>
                                        <p:attrNameLst>
                                          <p:attrName>style.visibility</p:attrName>
                                        </p:attrNameLst>
                                      </p:cBhvr>
                                      <p:to>
                                        <p:strVal val="visible"/>
                                      </p:to>
                                    </p:set>
                                    <p:animEffect transition="in" filter="fade">
                                      <p:cBhvr>
                                        <p:cTn id="34" dur="500"/>
                                        <p:tgtEl>
                                          <p:spTgt spid="2">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
                                            <p:txEl>
                                              <p:pRg st="12" end="12"/>
                                            </p:txEl>
                                          </p:spTgt>
                                        </p:tgtEl>
                                        <p:attrNameLst>
                                          <p:attrName>style.visibility</p:attrName>
                                        </p:attrNameLst>
                                      </p:cBhvr>
                                      <p:to>
                                        <p:strVal val="visible"/>
                                      </p:to>
                                    </p:set>
                                    <p:animEffect transition="in" filter="fade">
                                      <p:cBhvr>
                                        <p:cTn id="39" dur="500"/>
                                        <p:tgtEl>
                                          <p:spTgt spid="2">
                                            <p:txEl>
                                              <p:pRg st="12" end="12"/>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
                                            <p:txEl>
                                              <p:pRg st="13" end="13"/>
                                            </p:txEl>
                                          </p:spTgt>
                                        </p:tgtEl>
                                        <p:attrNameLst>
                                          <p:attrName>style.visibility</p:attrName>
                                        </p:attrNameLst>
                                      </p:cBhvr>
                                      <p:to>
                                        <p:strVal val="visible"/>
                                      </p:to>
                                    </p:set>
                                    <p:animEffect transition="in" filter="fade">
                                      <p:cBhvr>
                                        <p:cTn id="42" dur="500"/>
                                        <p:tgtEl>
                                          <p:spTgt spid="2">
                                            <p:txEl>
                                              <p:pRg st="13" end="1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
                                            <p:txEl>
                                              <p:pRg st="15" end="15"/>
                                            </p:txEl>
                                          </p:spTgt>
                                        </p:tgtEl>
                                        <p:attrNameLst>
                                          <p:attrName>style.visibility</p:attrName>
                                        </p:attrNameLst>
                                      </p:cBhvr>
                                      <p:to>
                                        <p:strVal val="visible"/>
                                      </p:to>
                                    </p:set>
                                    <p:animEffect transition="in" filter="fade">
                                      <p:cBhvr>
                                        <p:cTn id="45" dur="500"/>
                                        <p:tgtEl>
                                          <p:spTgt spid="2">
                                            <p:txEl>
                                              <p:pRg st="15" end="15"/>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
                                            <p:txEl>
                                              <p:pRg st="16" end="16"/>
                                            </p:txEl>
                                          </p:spTgt>
                                        </p:tgtEl>
                                        <p:attrNameLst>
                                          <p:attrName>style.visibility</p:attrName>
                                        </p:attrNameLst>
                                      </p:cBhvr>
                                      <p:to>
                                        <p:strVal val="visible"/>
                                      </p:to>
                                    </p:set>
                                    <p:animEffect transition="in" filter="fade">
                                      <p:cBhvr>
                                        <p:cTn id="48" dur="500"/>
                                        <p:tgtEl>
                                          <p:spTgt spid="2">
                                            <p:txEl>
                                              <p:pRg st="16" end="16"/>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2">
                                            <p:txEl>
                                              <p:pRg st="17" end="17"/>
                                            </p:txEl>
                                          </p:spTgt>
                                        </p:tgtEl>
                                        <p:attrNameLst>
                                          <p:attrName>style.visibility</p:attrName>
                                        </p:attrNameLst>
                                      </p:cBhvr>
                                      <p:to>
                                        <p:strVal val="visible"/>
                                      </p:to>
                                    </p:set>
                                    <p:animEffect transition="in" filter="fade">
                                      <p:cBhvr>
                                        <p:cTn id="51" dur="500"/>
                                        <p:tgtEl>
                                          <p:spTgt spid="2">
                                            <p:txEl>
                                              <p:pRg st="17" end="17"/>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2">
                                            <p:txEl>
                                              <p:pRg st="18" end="18"/>
                                            </p:txEl>
                                          </p:spTgt>
                                        </p:tgtEl>
                                        <p:attrNameLst>
                                          <p:attrName>style.visibility</p:attrName>
                                        </p:attrNameLst>
                                      </p:cBhvr>
                                      <p:to>
                                        <p:strVal val="visible"/>
                                      </p:to>
                                    </p:set>
                                    <p:animEffect transition="in" filter="fade">
                                      <p:cBhvr>
                                        <p:cTn id="54" dur="500"/>
                                        <p:tgtEl>
                                          <p:spTgt spid="2">
                                            <p:txEl>
                                              <p:pRg st="18" end="1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fade">
                                      <p:cBhvr>
                                        <p:cTn id="5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462940"/>
            <a:ext cx="5103904" cy="5016758"/>
          </a:xfrm>
          <a:prstGeom prst="rect">
            <a:avLst/>
          </a:prstGeom>
          <a:noFill/>
        </p:spPr>
        <p:txBody>
          <a:bodyPr wrap="square" rtlCol="0">
            <a:spAutoFit/>
          </a:bodyPr>
          <a:lstStyle/>
          <a:p>
            <a:r>
              <a:rPr lang="en-US" sz="2000" dirty="0">
                <a:solidFill>
                  <a:schemeClr val="tx1">
                    <a:lumMod val="75000"/>
                    <a:lumOff val="25000"/>
                  </a:schemeClr>
                </a:solidFill>
              </a:rPr>
              <a:t>If a null hypothesis is rejected, and alternative hypothesis supported,</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It might be of interest to ascertain why the the alternative hypothesis is supported.  In other words, which means are different?</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The null hypothesis for a pairwise comparison of means can be stated as:</a:t>
            </a:r>
          </a:p>
        </p:txBody>
      </p:sp>
      <p:sp>
        <p:nvSpPr>
          <p:cNvPr id="19" name="Rectangle 18"/>
          <p:cNvSpPr/>
          <p:nvPr/>
        </p:nvSpPr>
        <p:spPr>
          <a:xfrm>
            <a:off x="5359398" y="4237542"/>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6261483" y="4955688"/>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7122026" y="4237542"/>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5359398" y="5492814"/>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064702" y="4432444"/>
            <a:ext cx="112761" cy="112767"/>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6301350" y="6147922"/>
            <a:ext cx="112761" cy="112767"/>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p:cNvSpPr/>
          <p:nvPr/>
        </p:nvSpPr>
        <p:spPr>
          <a:xfrm>
            <a:off x="6065341" y="61123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6645061" y="6264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6334531" y="62034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6217741" y="48165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6117383" y="50772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p:cNvSpPr/>
          <p:nvPr/>
        </p:nvSpPr>
        <p:spPr>
          <a:xfrm>
            <a:off x="6486931" y="4907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p:cNvSpPr/>
          <p:nvPr/>
        </p:nvSpPr>
        <p:spPr>
          <a:xfrm>
            <a:off x="8020071" y="48977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p:cNvSpPr/>
          <p:nvPr/>
        </p:nvSpPr>
        <p:spPr>
          <a:xfrm>
            <a:off x="8552311" y="43023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p:cNvSpPr/>
          <p:nvPr/>
        </p:nvSpPr>
        <p:spPr>
          <a:xfrm>
            <a:off x="7790721" y="42766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7" name="Straight Arrow Connector 76"/>
          <p:cNvCxnSpPr>
            <a:stCxn id="4" idx="6"/>
            <a:endCxn id="27" idx="2"/>
          </p:cNvCxnSpPr>
          <p:nvPr/>
        </p:nvCxnSpPr>
        <p:spPr>
          <a:xfrm>
            <a:off x="6111060" y="6135172"/>
            <a:ext cx="190290" cy="69134"/>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a:endCxn id="31" idx="6"/>
          </p:cNvCxnSpPr>
          <p:nvPr/>
        </p:nvCxnSpPr>
        <p:spPr>
          <a:xfrm>
            <a:off x="6414111" y="6207719"/>
            <a:ext cx="276669" cy="79853"/>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a:endCxn id="25" idx="1"/>
          </p:cNvCxnSpPr>
          <p:nvPr/>
        </p:nvCxnSpPr>
        <p:spPr>
          <a:xfrm>
            <a:off x="7818657" y="4302342"/>
            <a:ext cx="262558" cy="146616"/>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a:stCxn id="55" idx="0"/>
            <a:endCxn id="25" idx="4"/>
          </p:cNvCxnSpPr>
          <p:nvPr/>
        </p:nvCxnSpPr>
        <p:spPr>
          <a:xfrm flipV="1">
            <a:off x="8042931" y="4545211"/>
            <a:ext cx="78152" cy="35254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25" idx="6"/>
            <a:endCxn id="56" idx="3"/>
          </p:cNvCxnSpPr>
          <p:nvPr/>
        </p:nvCxnSpPr>
        <p:spPr>
          <a:xfrm flipV="1">
            <a:off x="8177463" y="4341366"/>
            <a:ext cx="381543" cy="147462"/>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stCxn id="20" idx="1"/>
          </p:cNvCxnSpPr>
          <p:nvPr/>
        </p:nvCxnSpPr>
        <p:spPr>
          <a:xfrm flipH="1" flipV="1">
            <a:off x="6241254" y="4834721"/>
            <a:ext cx="36742" cy="13748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stCxn id="20" idx="3"/>
          </p:cNvCxnSpPr>
          <p:nvPr/>
        </p:nvCxnSpPr>
        <p:spPr>
          <a:xfrm flipH="1">
            <a:off x="6144355" y="505194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flipH="1">
            <a:off x="6365174" y="494347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Oval 7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1" name="Straight Connector 80"/>
          <p:cNvCxnSpPr>
            <a:stCxn id="79" idx="0"/>
            <a:endCxn id="7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a:stCxn id="79" idx="1"/>
            <a:endCxn id="7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6051561" y="28224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p:cNvSpPr/>
          <p:nvPr/>
        </p:nvSpPr>
        <p:spPr>
          <a:xfrm>
            <a:off x="6631281" y="2974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Oval 86"/>
          <p:cNvSpPr/>
          <p:nvPr/>
        </p:nvSpPr>
        <p:spPr>
          <a:xfrm>
            <a:off x="6320751" y="29135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p:cNvSpPr/>
          <p:nvPr/>
        </p:nvSpPr>
        <p:spPr>
          <a:xfrm>
            <a:off x="6203961" y="15266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p:cNvSpPr/>
          <p:nvPr/>
        </p:nvSpPr>
        <p:spPr>
          <a:xfrm>
            <a:off x="6103603" y="17873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p:cNvSpPr/>
          <p:nvPr/>
        </p:nvSpPr>
        <p:spPr>
          <a:xfrm>
            <a:off x="6473151" y="1617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Oval 91"/>
          <p:cNvSpPr/>
          <p:nvPr/>
        </p:nvSpPr>
        <p:spPr>
          <a:xfrm>
            <a:off x="8006291" y="16078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p:cNvSpPr/>
          <p:nvPr/>
        </p:nvSpPr>
        <p:spPr>
          <a:xfrm>
            <a:off x="8538531" y="10124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p:cNvSpPr/>
          <p:nvPr/>
        </p:nvSpPr>
        <p:spPr>
          <a:xfrm>
            <a:off x="7776941" y="9867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6" name="Straight Arrow Connector 95"/>
          <p:cNvCxnSpPr>
            <a:stCxn id="84" idx="0"/>
            <a:endCxn id="80" idx="3"/>
          </p:cNvCxnSpPr>
          <p:nvPr/>
        </p:nvCxnSpPr>
        <p:spPr>
          <a:xfrm flipV="1">
            <a:off x="6074421" y="1977092"/>
            <a:ext cx="707750" cy="8453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a:stCxn id="87" idx="7"/>
            <a:endCxn id="80" idx="4"/>
          </p:cNvCxnSpPr>
          <p:nvPr/>
        </p:nvCxnSpPr>
        <p:spPr>
          <a:xfrm flipV="1">
            <a:off x="6359775" y="1993606"/>
            <a:ext cx="462264" cy="9266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a:stCxn id="86" idx="0"/>
            <a:endCxn id="80" idx="4"/>
          </p:cNvCxnSpPr>
          <p:nvPr/>
        </p:nvCxnSpPr>
        <p:spPr>
          <a:xfrm flipV="1">
            <a:off x="6654141" y="1993606"/>
            <a:ext cx="167898" cy="98120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a:stCxn id="80" idx="7"/>
            <a:endCxn id="95" idx="3"/>
          </p:cNvCxnSpPr>
          <p:nvPr/>
        </p:nvCxnSpPr>
        <p:spPr>
          <a:xfrm flipV="1">
            <a:off x="6861906" y="1025816"/>
            <a:ext cx="921730" cy="87153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a:stCxn id="80" idx="6"/>
            <a:endCxn id="93" idx="3"/>
          </p:cNvCxnSpPr>
          <p:nvPr/>
        </p:nvCxnSpPr>
        <p:spPr>
          <a:xfrm flipV="1">
            <a:off x="6878419" y="1051466"/>
            <a:ext cx="1666807" cy="8857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a:stCxn id="80" idx="6"/>
            <a:endCxn id="92" idx="3"/>
          </p:cNvCxnSpPr>
          <p:nvPr/>
        </p:nvCxnSpPr>
        <p:spPr>
          <a:xfrm flipV="1">
            <a:off x="6878419" y="1646876"/>
            <a:ext cx="1134567" cy="29034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a:stCxn id="89" idx="6"/>
            <a:endCxn id="80" idx="2"/>
          </p:cNvCxnSpPr>
          <p:nvPr/>
        </p:nvCxnSpPr>
        <p:spPr>
          <a:xfrm>
            <a:off x="6149322" y="1810204"/>
            <a:ext cx="616336" cy="12701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88" idx="5"/>
            <a:endCxn id="80" idx="1"/>
          </p:cNvCxnSpPr>
          <p:nvPr/>
        </p:nvCxnSpPr>
        <p:spPr>
          <a:xfrm>
            <a:off x="6242985" y="1565696"/>
            <a:ext cx="539186" cy="3316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a:stCxn id="90" idx="5"/>
            <a:endCxn id="80" idx="1"/>
          </p:cNvCxnSpPr>
          <p:nvPr/>
        </p:nvCxnSpPr>
        <p:spPr>
          <a:xfrm>
            <a:off x="6512175" y="1656836"/>
            <a:ext cx="269996" cy="24051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775618" y="5190659"/>
            <a:ext cx="112761" cy="112767"/>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Arrow Connector 58"/>
          <p:cNvCxnSpPr>
            <a:endCxn id="58" idx="1"/>
          </p:cNvCxnSpPr>
          <p:nvPr/>
        </p:nvCxnSpPr>
        <p:spPr>
          <a:xfrm>
            <a:off x="6349193" y="5051941"/>
            <a:ext cx="442938" cy="155232"/>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0" name="Straight Arrow Connector 59"/>
          <p:cNvCxnSpPr/>
          <p:nvPr/>
        </p:nvCxnSpPr>
        <p:spPr>
          <a:xfrm flipV="1">
            <a:off x="6385444" y="5327730"/>
            <a:ext cx="434401" cy="80888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2" name="Straight Arrow Connector 61"/>
          <p:cNvCxnSpPr>
            <a:endCxn id="25" idx="3"/>
          </p:cNvCxnSpPr>
          <p:nvPr/>
        </p:nvCxnSpPr>
        <p:spPr>
          <a:xfrm flipV="1">
            <a:off x="6888889" y="4528697"/>
            <a:ext cx="1192326" cy="69216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aphicFrame>
        <p:nvGraphicFramePr>
          <p:cNvPr id="67" name="Object 66"/>
          <p:cNvGraphicFramePr>
            <a:graphicFrameLocks noChangeAspect="1"/>
          </p:cNvGraphicFramePr>
          <p:nvPr/>
        </p:nvGraphicFramePr>
        <p:xfrm>
          <a:off x="7423150" y="5949950"/>
          <a:ext cx="1236663" cy="674688"/>
        </p:xfrm>
        <a:graphic>
          <a:graphicData uri="http://schemas.openxmlformats.org/presentationml/2006/ole">
            <mc:AlternateContent xmlns:mc="http://schemas.openxmlformats.org/markup-compatibility/2006">
              <mc:Choice xmlns:v="urn:schemas-microsoft-com:vml" Requires="v">
                <p:oleObj name="Equation" r:id="rId2" imgW="838200" imgH="457200" progId="Equation.3">
                  <p:embed/>
                </p:oleObj>
              </mc:Choice>
              <mc:Fallback>
                <p:oleObj name="Equation" r:id="rId2" imgW="838200" imgH="457200" progId="Equation.3">
                  <p:embed/>
                  <p:pic>
                    <p:nvPicPr>
                      <p:cNvPr id="0" name=""/>
                      <p:cNvPicPr/>
                      <p:nvPr/>
                    </p:nvPicPr>
                    <p:blipFill>
                      <a:blip r:embed="rId3"/>
                      <a:stretch>
                        <a:fillRect/>
                      </a:stretch>
                    </p:blipFill>
                    <p:spPr>
                      <a:xfrm>
                        <a:off x="7423150" y="5949950"/>
                        <a:ext cx="1236663" cy="674688"/>
                      </a:xfrm>
                      <a:prstGeom prst="rect">
                        <a:avLst/>
                      </a:prstGeom>
                    </p:spPr>
                  </p:pic>
                </p:oleObj>
              </mc:Fallback>
            </mc:AlternateContent>
          </a:graphicData>
        </a:graphic>
      </p:graphicFrame>
      <p:graphicFrame>
        <p:nvGraphicFramePr>
          <p:cNvPr id="69" name="Object 68"/>
          <p:cNvGraphicFramePr>
            <a:graphicFrameLocks noChangeAspect="1"/>
          </p:cNvGraphicFramePr>
          <p:nvPr/>
        </p:nvGraphicFramePr>
        <p:xfrm>
          <a:off x="489905" y="1216814"/>
          <a:ext cx="2586735" cy="780243"/>
        </p:xfrm>
        <a:graphic>
          <a:graphicData uri="http://schemas.openxmlformats.org/presentationml/2006/ole">
            <mc:AlternateContent xmlns:mc="http://schemas.openxmlformats.org/markup-compatibility/2006">
              <mc:Choice xmlns:v="urn:schemas-microsoft-com:vml" Requires="v">
                <p:oleObj name="Equation" r:id="rId4" imgW="965200" imgH="292100" progId="Equation.3">
                  <p:embed/>
                </p:oleObj>
              </mc:Choice>
              <mc:Fallback>
                <p:oleObj name="Equation" r:id="rId4" imgW="965200" imgH="292100" progId="Equation.3">
                  <p:embed/>
                  <p:pic>
                    <p:nvPicPr>
                      <p:cNvPr id="0" name=""/>
                      <p:cNvPicPr/>
                      <p:nvPr/>
                    </p:nvPicPr>
                    <p:blipFill>
                      <a:blip r:embed="rId5"/>
                      <a:stretch>
                        <a:fillRect/>
                      </a:stretch>
                    </p:blipFill>
                    <p:spPr>
                      <a:xfrm>
                        <a:off x="489905" y="1216814"/>
                        <a:ext cx="2586735" cy="780243"/>
                      </a:xfrm>
                      <a:prstGeom prst="rect">
                        <a:avLst/>
                      </a:prstGeom>
                    </p:spPr>
                  </p:pic>
                </p:oleObj>
              </mc:Fallback>
            </mc:AlternateContent>
          </a:graphicData>
        </a:graphic>
      </p:graphicFrame>
      <p:graphicFrame>
        <p:nvGraphicFramePr>
          <p:cNvPr id="71" name="Object 70"/>
          <p:cNvGraphicFramePr>
            <a:graphicFrameLocks noChangeAspect="1"/>
          </p:cNvGraphicFramePr>
          <p:nvPr/>
        </p:nvGraphicFramePr>
        <p:xfrm>
          <a:off x="473075" y="1898538"/>
          <a:ext cx="2620963" cy="779462"/>
        </p:xfrm>
        <a:graphic>
          <a:graphicData uri="http://schemas.openxmlformats.org/presentationml/2006/ole">
            <mc:AlternateContent xmlns:mc="http://schemas.openxmlformats.org/markup-compatibility/2006">
              <mc:Choice xmlns:v="urn:schemas-microsoft-com:vml" Requires="v">
                <p:oleObj name="Equation" r:id="rId6" imgW="977900" imgH="292100" progId="Equation.3">
                  <p:embed/>
                </p:oleObj>
              </mc:Choice>
              <mc:Fallback>
                <p:oleObj name="Equation" r:id="rId6" imgW="977900" imgH="292100" progId="Equation.3">
                  <p:embed/>
                  <p:pic>
                    <p:nvPicPr>
                      <p:cNvPr id="0" name=""/>
                      <p:cNvPicPr/>
                      <p:nvPr/>
                    </p:nvPicPr>
                    <p:blipFill>
                      <a:blip r:embed="rId7"/>
                      <a:stretch>
                        <a:fillRect/>
                      </a:stretch>
                    </p:blipFill>
                    <p:spPr>
                      <a:xfrm>
                        <a:off x="473075" y="1898538"/>
                        <a:ext cx="2620963" cy="779462"/>
                      </a:xfrm>
                      <a:prstGeom prst="rect">
                        <a:avLst/>
                      </a:prstGeom>
                      <a:solidFill>
                        <a:srgbClr val="CCFFCC"/>
                      </a:solidFill>
                    </p:spPr>
                  </p:pic>
                </p:oleObj>
              </mc:Fallback>
            </mc:AlternateContent>
          </a:graphicData>
        </a:graphic>
      </p:graphicFrame>
      <p:graphicFrame>
        <p:nvGraphicFramePr>
          <p:cNvPr id="64" name="Object 63"/>
          <p:cNvGraphicFramePr>
            <a:graphicFrameLocks noChangeAspect="1"/>
          </p:cNvGraphicFramePr>
          <p:nvPr/>
        </p:nvGraphicFramePr>
        <p:xfrm>
          <a:off x="510375" y="5356587"/>
          <a:ext cx="3254555" cy="1088627"/>
        </p:xfrm>
        <a:graphic>
          <a:graphicData uri="http://schemas.openxmlformats.org/presentationml/2006/ole">
            <mc:AlternateContent xmlns:mc="http://schemas.openxmlformats.org/markup-compatibility/2006">
              <mc:Choice xmlns:v="urn:schemas-microsoft-com:vml" Requires="v">
                <p:oleObj name="Equation" r:id="rId8" imgW="1701800" imgH="571500" progId="Equation.3">
                  <p:embed/>
                </p:oleObj>
              </mc:Choice>
              <mc:Fallback>
                <p:oleObj name="Equation" r:id="rId8" imgW="1701800" imgH="571500" progId="Equation.3">
                  <p:embed/>
                  <p:pic>
                    <p:nvPicPr>
                      <p:cNvPr id="0" name=""/>
                      <p:cNvPicPr/>
                      <p:nvPr/>
                    </p:nvPicPr>
                    <p:blipFill>
                      <a:blip r:embed="rId9"/>
                      <a:stretch>
                        <a:fillRect/>
                      </a:stretch>
                    </p:blipFill>
                    <p:spPr>
                      <a:xfrm>
                        <a:off x="510375" y="5356587"/>
                        <a:ext cx="3254555" cy="1088627"/>
                      </a:xfrm>
                      <a:prstGeom prst="rect">
                        <a:avLst/>
                      </a:prstGeom>
                    </p:spPr>
                  </p:pic>
                </p:oleObj>
              </mc:Fallback>
            </mc:AlternateContent>
          </a:graphicData>
        </a:graphic>
      </p:graphicFrame>
      <p:sp>
        <p:nvSpPr>
          <p:cNvPr id="2" name="TextBox 1"/>
          <p:cNvSpPr txBox="1"/>
          <p:nvPr/>
        </p:nvSpPr>
        <p:spPr>
          <a:xfrm>
            <a:off x="4038600" y="5257800"/>
            <a:ext cx="4683322" cy="1200329"/>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lumMod val="75000"/>
                    <a:lumOff val="25000"/>
                  </a:schemeClr>
                </a:solidFill>
              </a:rPr>
              <a:t>This is the same as saying the inner-product (squared distance) between means is equal to 0, which is a multivariate analog of saying the difference between means is 0.</a:t>
            </a:r>
          </a:p>
        </p:txBody>
      </p:sp>
      <p:graphicFrame>
        <p:nvGraphicFramePr>
          <p:cNvPr id="61" name="Table 60"/>
          <p:cNvGraphicFramePr>
            <a:graphicFrameLocks noGrp="1"/>
          </p:cNvGraphicFramePr>
          <p:nvPr>
            <p:extLst>
              <p:ext uri="{D42A27DB-BD31-4B8C-83A1-F6EECF244321}">
                <p14:modId xmlns:p14="http://schemas.microsoft.com/office/powerpoint/2010/main" val="1065394793"/>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Multiple (pairwise) comparisons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25</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1333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1" end="11"/>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64"/>
                                        </p:tgtEl>
                                        <p:attrNameLst>
                                          <p:attrName>style.visibility</p:attrName>
                                        </p:attrNameLst>
                                      </p:cBhvr>
                                      <p:to>
                                        <p:strVal val="visible"/>
                                      </p:to>
                                    </p:set>
                                    <p:animEffect transition="in" filter="fade">
                                      <p:cBhvr>
                                        <p:cTn id="9" dur="500"/>
                                        <p:tgtEl>
                                          <p:spTgt spid="64"/>
                                        </p:tgtEl>
                                      </p:cBhvr>
                                    </p:animEffect>
                                  </p:childTnLst>
                                </p:cTn>
                              </p:par>
                            </p:childTnLst>
                          </p:cTn>
                        </p:par>
                        <p:par>
                          <p:cTn id="10" fill="hold">
                            <p:stCondLst>
                              <p:cond delay="500"/>
                            </p:stCondLst>
                            <p:childTnLst>
                              <p:par>
                                <p:cTn id="11" presetID="10" presetClass="entr" presetSubtype="0" fill="hold" grpId="0" nodeType="afterEffect">
                                  <p:stCondLst>
                                    <p:cond delay="5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462940"/>
            <a:ext cx="5103904" cy="5016758"/>
          </a:xfrm>
          <a:prstGeom prst="rect">
            <a:avLst/>
          </a:prstGeom>
          <a:noFill/>
        </p:spPr>
        <p:txBody>
          <a:bodyPr wrap="square" rtlCol="0">
            <a:spAutoFit/>
          </a:bodyPr>
          <a:lstStyle/>
          <a:p>
            <a:r>
              <a:rPr lang="en-US" sz="2000" dirty="0">
                <a:solidFill>
                  <a:schemeClr val="tx1">
                    <a:lumMod val="75000"/>
                    <a:lumOff val="25000"/>
                  </a:schemeClr>
                </a:solidFill>
              </a:rPr>
              <a:t>If a null hypothesis is rejected, and alternative hypothesis supported,</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The null hypothesis for a pairwise comparison of means can be stated as:</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Viable test statistics:</a:t>
            </a:r>
          </a:p>
        </p:txBody>
      </p:sp>
      <p:sp>
        <p:nvSpPr>
          <p:cNvPr id="19" name="Rectangle 18"/>
          <p:cNvSpPr/>
          <p:nvPr/>
        </p:nvSpPr>
        <p:spPr>
          <a:xfrm>
            <a:off x="5359398" y="4237542"/>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6261483" y="4955688"/>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7122026" y="4237542"/>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5359398" y="5492814"/>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064702" y="4432444"/>
            <a:ext cx="112761" cy="112767"/>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6301350" y="6147922"/>
            <a:ext cx="112761" cy="112767"/>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p:cNvSpPr/>
          <p:nvPr/>
        </p:nvSpPr>
        <p:spPr>
          <a:xfrm>
            <a:off x="6065341" y="61123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6645061" y="6264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6334531" y="62034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6217741" y="48165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6117383" y="50772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p:cNvSpPr/>
          <p:nvPr/>
        </p:nvSpPr>
        <p:spPr>
          <a:xfrm>
            <a:off x="6486931" y="4907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p:cNvSpPr/>
          <p:nvPr/>
        </p:nvSpPr>
        <p:spPr>
          <a:xfrm>
            <a:off x="8020071" y="48977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p:cNvSpPr/>
          <p:nvPr/>
        </p:nvSpPr>
        <p:spPr>
          <a:xfrm>
            <a:off x="8552311" y="43023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p:cNvSpPr/>
          <p:nvPr/>
        </p:nvSpPr>
        <p:spPr>
          <a:xfrm>
            <a:off x="7790721" y="42766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7" name="Straight Arrow Connector 76"/>
          <p:cNvCxnSpPr>
            <a:stCxn id="4" idx="6"/>
            <a:endCxn id="27" idx="2"/>
          </p:cNvCxnSpPr>
          <p:nvPr/>
        </p:nvCxnSpPr>
        <p:spPr>
          <a:xfrm>
            <a:off x="6111060" y="6135172"/>
            <a:ext cx="190290" cy="69134"/>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a:endCxn id="31" idx="6"/>
          </p:cNvCxnSpPr>
          <p:nvPr/>
        </p:nvCxnSpPr>
        <p:spPr>
          <a:xfrm>
            <a:off x="6414111" y="6207719"/>
            <a:ext cx="276669" cy="79853"/>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a:endCxn id="25" idx="1"/>
          </p:cNvCxnSpPr>
          <p:nvPr/>
        </p:nvCxnSpPr>
        <p:spPr>
          <a:xfrm>
            <a:off x="7818657" y="4302342"/>
            <a:ext cx="262558" cy="146616"/>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a:stCxn id="55" idx="0"/>
            <a:endCxn id="25" idx="4"/>
          </p:cNvCxnSpPr>
          <p:nvPr/>
        </p:nvCxnSpPr>
        <p:spPr>
          <a:xfrm flipV="1">
            <a:off x="8042931" y="4545211"/>
            <a:ext cx="78152" cy="35254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25" idx="6"/>
            <a:endCxn id="56" idx="3"/>
          </p:cNvCxnSpPr>
          <p:nvPr/>
        </p:nvCxnSpPr>
        <p:spPr>
          <a:xfrm flipV="1">
            <a:off x="8177463" y="4341366"/>
            <a:ext cx="381543" cy="147462"/>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stCxn id="20" idx="1"/>
          </p:cNvCxnSpPr>
          <p:nvPr/>
        </p:nvCxnSpPr>
        <p:spPr>
          <a:xfrm flipH="1" flipV="1">
            <a:off x="6241254" y="4834721"/>
            <a:ext cx="36742" cy="13748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stCxn id="20" idx="3"/>
          </p:cNvCxnSpPr>
          <p:nvPr/>
        </p:nvCxnSpPr>
        <p:spPr>
          <a:xfrm flipH="1">
            <a:off x="6144355" y="505194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flipH="1">
            <a:off x="6365174" y="494347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Oval 7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1" name="Straight Connector 80"/>
          <p:cNvCxnSpPr>
            <a:stCxn id="79" idx="0"/>
            <a:endCxn id="7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a:stCxn id="79" idx="1"/>
            <a:endCxn id="7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6051561" y="28224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p:cNvSpPr/>
          <p:nvPr/>
        </p:nvSpPr>
        <p:spPr>
          <a:xfrm>
            <a:off x="6631281" y="2974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Oval 86"/>
          <p:cNvSpPr/>
          <p:nvPr/>
        </p:nvSpPr>
        <p:spPr>
          <a:xfrm>
            <a:off x="6320751" y="29135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p:cNvSpPr/>
          <p:nvPr/>
        </p:nvSpPr>
        <p:spPr>
          <a:xfrm>
            <a:off x="6203961" y="15266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p:cNvSpPr/>
          <p:nvPr/>
        </p:nvSpPr>
        <p:spPr>
          <a:xfrm>
            <a:off x="6103603" y="17873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p:cNvSpPr/>
          <p:nvPr/>
        </p:nvSpPr>
        <p:spPr>
          <a:xfrm>
            <a:off x="6473151" y="1617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Oval 91"/>
          <p:cNvSpPr/>
          <p:nvPr/>
        </p:nvSpPr>
        <p:spPr>
          <a:xfrm>
            <a:off x="8006291" y="16078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p:cNvSpPr/>
          <p:nvPr/>
        </p:nvSpPr>
        <p:spPr>
          <a:xfrm>
            <a:off x="8538531" y="10124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p:cNvSpPr/>
          <p:nvPr/>
        </p:nvSpPr>
        <p:spPr>
          <a:xfrm>
            <a:off x="7776941" y="9867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6" name="Straight Arrow Connector 95"/>
          <p:cNvCxnSpPr>
            <a:stCxn id="84" idx="0"/>
            <a:endCxn id="80" idx="3"/>
          </p:cNvCxnSpPr>
          <p:nvPr/>
        </p:nvCxnSpPr>
        <p:spPr>
          <a:xfrm flipV="1">
            <a:off x="6074421" y="1977092"/>
            <a:ext cx="707750" cy="8453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a:stCxn id="87" idx="7"/>
            <a:endCxn id="80" idx="4"/>
          </p:cNvCxnSpPr>
          <p:nvPr/>
        </p:nvCxnSpPr>
        <p:spPr>
          <a:xfrm flipV="1">
            <a:off x="6359775" y="1993606"/>
            <a:ext cx="462264" cy="9266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a:stCxn id="86" idx="0"/>
            <a:endCxn id="80" idx="4"/>
          </p:cNvCxnSpPr>
          <p:nvPr/>
        </p:nvCxnSpPr>
        <p:spPr>
          <a:xfrm flipV="1">
            <a:off x="6654141" y="1993606"/>
            <a:ext cx="167898" cy="98120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a:stCxn id="80" idx="7"/>
            <a:endCxn id="95" idx="3"/>
          </p:cNvCxnSpPr>
          <p:nvPr/>
        </p:nvCxnSpPr>
        <p:spPr>
          <a:xfrm flipV="1">
            <a:off x="6861906" y="1025816"/>
            <a:ext cx="921730" cy="87153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a:stCxn id="80" idx="6"/>
            <a:endCxn id="93" idx="3"/>
          </p:cNvCxnSpPr>
          <p:nvPr/>
        </p:nvCxnSpPr>
        <p:spPr>
          <a:xfrm flipV="1">
            <a:off x="6878419" y="1051466"/>
            <a:ext cx="1666807" cy="8857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a:stCxn id="80" idx="6"/>
            <a:endCxn id="92" idx="3"/>
          </p:cNvCxnSpPr>
          <p:nvPr/>
        </p:nvCxnSpPr>
        <p:spPr>
          <a:xfrm flipV="1">
            <a:off x="6878419" y="1646876"/>
            <a:ext cx="1134567" cy="29034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a:stCxn id="89" idx="6"/>
            <a:endCxn id="80" idx="2"/>
          </p:cNvCxnSpPr>
          <p:nvPr/>
        </p:nvCxnSpPr>
        <p:spPr>
          <a:xfrm>
            <a:off x="6149322" y="1810204"/>
            <a:ext cx="616336" cy="12701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88" idx="5"/>
            <a:endCxn id="80" idx="1"/>
          </p:cNvCxnSpPr>
          <p:nvPr/>
        </p:nvCxnSpPr>
        <p:spPr>
          <a:xfrm>
            <a:off x="6242985" y="1565696"/>
            <a:ext cx="539186" cy="3316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a:stCxn id="90" idx="5"/>
            <a:endCxn id="80" idx="1"/>
          </p:cNvCxnSpPr>
          <p:nvPr/>
        </p:nvCxnSpPr>
        <p:spPr>
          <a:xfrm>
            <a:off x="6512175" y="1656836"/>
            <a:ext cx="269996" cy="24051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775618" y="5190659"/>
            <a:ext cx="112761" cy="112767"/>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Arrow Connector 58"/>
          <p:cNvCxnSpPr>
            <a:endCxn id="58" idx="1"/>
          </p:cNvCxnSpPr>
          <p:nvPr/>
        </p:nvCxnSpPr>
        <p:spPr>
          <a:xfrm>
            <a:off x="6349193" y="5051941"/>
            <a:ext cx="442938" cy="155232"/>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0" name="Straight Arrow Connector 59"/>
          <p:cNvCxnSpPr/>
          <p:nvPr/>
        </p:nvCxnSpPr>
        <p:spPr>
          <a:xfrm flipV="1">
            <a:off x="6385444" y="5327730"/>
            <a:ext cx="434401" cy="80888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2" name="Straight Arrow Connector 61"/>
          <p:cNvCxnSpPr>
            <a:endCxn id="25" idx="3"/>
          </p:cNvCxnSpPr>
          <p:nvPr/>
        </p:nvCxnSpPr>
        <p:spPr>
          <a:xfrm flipV="1">
            <a:off x="6888889" y="4528697"/>
            <a:ext cx="1192326" cy="69216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aphicFrame>
        <p:nvGraphicFramePr>
          <p:cNvPr id="67" name="Object 66"/>
          <p:cNvGraphicFramePr>
            <a:graphicFrameLocks noChangeAspect="1"/>
          </p:cNvGraphicFramePr>
          <p:nvPr/>
        </p:nvGraphicFramePr>
        <p:xfrm>
          <a:off x="7423150" y="5949950"/>
          <a:ext cx="1236663" cy="674688"/>
        </p:xfrm>
        <a:graphic>
          <a:graphicData uri="http://schemas.openxmlformats.org/presentationml/2006/ole">
            <mc:AlternateContent xmlns:mc="http://schemas.openxmlformats.org/markup-compatibility/2006">
              <mc:Choice xmlns:v="urn:schemas-microsoft-com:vml" Requires="v">
                <p:oleObj name="Equation" r:id="rId2" imgW="838200" imgH="457200" progId="Equation.3">
                  <p:embed/>
                </p:oleObj>
              </mc:Choice>
              <mc:Fallback>
                <p:oleObj name="Equation" r:id="rId2" imgW="838200" imgH="457200" progId="Equation.3">
                  <p:embed/>
                  <p:pic>
                    <p:nvPicPr>
                      <p:cNvPr id="0" name=""/>
                      <p:cNvPicPr/>
                      <p:nvPr/>
                    </p:nvPicPr>
                    <p:blipFill>
                      <a:blip r:embed="rId3"/>
                      <a:stretch>
                        <a:fillRect/>
                      </a:stretch>
                    </p:blipFill>
                    <p:spPr>
                      <a:xfrm>
                        <a:off x="7423150" y="5949950"/>
                        <a:ext cx="1236663" cy="674688"/>
                      </a:xfrm>
                      <a:prstGeom prst="rect">
                        <a:avLst/>
                      </a:prstGeom>
                    </p:spPr>
                  </p:pic>
                </p:oleObj>
              </mc:Fallback>
            </mc:AlternateContent>
          </a:graphicData>
        </a:graphic>
      </p:graphicFrame>
      <p:graphicFrame>
        <p:nvGraphicFramePr>
          <p:cNvPr id="69" name="Object 68"/>
          <p:cNvGraphicFramePr>
            <a:graphicFrameLocks noChangeAspect="1"/>
          </p:cNvGraphicFramePr>
          <p:nvPr/>
        </p:nvGraphicFramePr>
        <p:xfrm>
          <a:off x="489905" y="1216814"/>
          <a:ext cx="2586735" cy="780243"/>
        </p:xfrm>
        <a:graphic>
          <a:graphicData uri="http://schemas.openxmlformats.org/presentationml/2006/ole">
            <mc:AlternateContent xmlns:mc="http://schemas.openxmlformats.org/markup-compatibility/2006">
              <mc:Choice xmlns:v="urn:schemas-microsoft-com:vml" Requires="v">
                <p:oleObj name="Equation" r:id="rId4" imgW="965200" imgH="292100" progId="Equation.3">
                  <p:embed/>
                </p:oleObj>
              </mc:Choice>
              <mc:Fallback>
                <p:oleObj name="Equation" r:id="rId4" imgW="965200" imgH="292100" progId="Equation.3">
                  <p:embed/>
                  <p:pic>
                    <p:nvPicPr>
                      <p:cNvPr id="0" name=""/>
                      <p:cNvPicPr/>
                      <p:nvPr/>
                    </p:nvPicPr>
                    <p:blipFill>
                      <a:blip r:embed="rId5"/>
                      <a:stretch>
                        <a:fillRect/>
                      </a:stretch>
                    </p:blipFill>
                    <p:spPr>
                      <a:xfrm>
                        <a:off x="489905" y="1216814"/>
                        <a:ext cx="2586735" cy="780243"/>
                      </a:xfrm>
                      <a:prstGeom prst="rect">
                        <a:avLst/>
                      </a:prstGeom>
                    </p:spPr>
                  </p:pic>
                </p:oleObj>
              </mc:Fallback>
            </mc:AlternateContent>
          </a:graphicData>
        </a:graphic>
      </p:graphicFrame>
      <p:graphicFrame>
        <p:nvGraphicFramePr>
          <p:cNvPr id="71" name="Object 70"/>
          <p:cNvGraphicFramePr>
            <a:graphicFrameLocks noChangeAspect="1"/>
          </p:cNvGraphicFramePr>
          <p:nvPr/>
        </p:nvGraphicFramePr>
        <p:xfrm>
          <a:off x="473075" y="1898538"/>
          <a:ext cx="2620963" cy="779462"/>
        </p:xfrm>
        <a:graphic>
          <a:graphicData uri="http://schemas.openxmlformats.org/presentationml/2006/ole">
            <mc:AlternateContent xmlns:mc="http://schemas.openxmlformats.org/markup-compatibility/2006">
              <mc:Choice xmlns:v="urn:schemas-microsoft-com:vml" Requires="v">
                <p:oleObj name="Equation" r:id="rId6" imgW="977900" imgH="292100" progId="Equation.3">
                  <p:embed/>
                </p:oleObj>
              </mc:Choice>
              <mc:Fallback>
                <p:oleObj name="Equation" r:id="rId6" imgW="977900" imgH="292100" progId="Equation.3">
                  <p:embed/>
                  <p:pic>
                    <p:nvPicPr>
                      <p:cNvPr id="0" name=""/>
                      <p:cNvPicPr/>
                      <p:nvPr/>
                    </p:nvPicPr>
                    <p:blipFill>
                      <a:blip r:embed="rId7"/>
                      <a:stretch>
                        <a:fillRect/>
                      </a:stretch>
                    </p:blipFill>
                    <p:spPr>
                      <a:xfrm>
                        <a:off x="473075" y="1898538"/>
                        <a:ext cx="2620963" cy="779462"/>
                      </a:xfrm>
                      <a:prstGeom prst="rect">
                        <a:avLst/>
                      </a:prstGeom>
                      <a:solidFill>
                        <a:srgbClr val="CCFFCC"/>
                      </a:solidFill>
                    </p:spPr>
                  </p:pic>
                </p:oleObj>
              </mc:Fallback>
            </mc:AlternateContent>
          </a:graphicData>
        </a:graphic>
      </p:graphicFrame>
      <p:graphicFrame>
        <p:nvGraphicFramePr>
          <p:cNvPr id="64" name="Object 63"/>
          <p:cNvGraphicFramePr>
            <a:graphicFrameLocks noChangeAspect="1"/>
          </p:cNvGraphicFramePr>
          <p:nvPr>
            <p:extLst>
              <p:ext uri="{D42A27DB-BD31-4B8C-83A1-F6EECF244321}">
                <p14:modId xmlns:p14="http://schemas.microsoft.com/office/powerpoint/2010/main" val="525557971"/>
              </p:ext>
            </p:extLst>
          </p:nvPr>
        </p:nvGraphicFramePr>
        <p:xfrm>
          <a:off x="429187" y="3581400"/>
          <a:ext cx="3254555" cy="1088627"/>
        </p:xfrm>
        <a:graphic>
          <a:graphicData uri="http://schemas.openxmlformats.org/presentationml/2006/ole">
            <mc:AlternateContent xmlns:mc="http://schemas.openxmlformats.org/markup-compatibility/2006">
              <mc:Choice xmlns:v="urn:schemas-microsoft-com:vml" Requires="v">
                <p:oleObj name="Equation" r:id="rId8" imgW="1701800" imgH="571500" progId="Equation.3">
                  <p:embed/>
                </p:oleObj>
              </mc:Choice>
              <mc:Fallback>
                <p:oleObj name="Equation" r:id="rId8" imgW="1701800" imgH="571500" progId="Equation.3">
                  <p:embed/>
                  <p:pic>
                    <p:nvPicPr>
                      <p:cNvPr id="0" name=""/>
                      <p:cNvPicPr/>
                      <p:nvPr/>
                    </p:nvPicPr>
                    <p:blipFill>
                      <a:blip r:embed="rId9"/>
                      <a:stretch>
                        <a:fillRect/>
                      </a:stretch>
                    </p:blipFill>
                    <p:spPr>
                      <a:xfrm>
                        <a:off x="429187" y="3581400"/>
                        <a:ext cx="3254555" cy="1088627"/>
                      </a:xfrm>
                      <a:prstGeom prst="rect">
                        <a:avLst/>
                      </a:prstGeom>
                    </p:spPr>
                  </p:pic>
                </p:oleObj>
              </mc:Fallback>
            </mc:AlternateContent>
          </a:graphicData>
        </a:graphic>
      </p:graphicFrame>
      <p:graphicFrame>
        <p:nvGraphicFramePr>
          <p:cNvPr id="61" name="Table 60"/>
          <p:cNvGraphicFramePr>
            <a:graphicFrameLocks noGrp="1"/>
          </p:cNvGraphicFramePr>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Multiple (pairwise) comparisons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26</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63" name="Object 62"/>
          <p:cNvGraphicFramePr>
            <a:graphicFrameLocks noChangeAspect="1"/>
          </p:cNvGraphicFramePr>
          <p:nvPr>
            <p:extLst>
              <p:ext uri="{D42A27DB-BD31-4B8C-83A1-F6EECF244321}">
                <p14:modId xmlns:p14="http://schemas.microsoft.com/office/powerpoint/2010/main" val="437824417"/>
              </p:ext>
            </p:extLst>
          </p:nvPr>
        </p:nvGraphicFramePr>
        <p:xfrm>
          <a:off x="631030" y="5429749"/>
          <a:ext cx="2585923" cy="971051"/>
        </p:xfrm>
        <a:graphic>
          <a:graphicData uri="http://schemas.openxmlformats.org/presentationml/2006/ole">
            <mc:AlternateContent xmlns:mc="http://schemas.openxmlformats.org/markup-compatibility/2006">
              <mc:Choice xmlns:v="urn:schemas-microsoft-com:vml" Requires="v">
                <p:oleObj name="Equation" r:id="rId10" imgW="1612900" imgH="609600" progId="Equation.3">
                  <p:embed/>
                </p:oleObj>
              </mc:Choice>
              <mc:Fallback>
                <p:oleObj name="Equation" r:id="rId10" imgW="1612900" imgH="609600" progId="Equation.3">
                  <p:embed/>
                  <p:pic>
                    <p:nvPicPr>
                      <p:cNvPr id="0" name=""/>
                      <p:cNvPicPr/>
                      <p:nvPr/>
                    </p:nvPicPr>
                    <p:blipFill>
                      <a:blip r:embed="rId11"/>
                      <a:stretch>
                        <a:fillRect/>
                      </a:stretch>
                    </p:blipFill>
                    <p:spPr>
                      <a:xfrm>
                        <a:off x="631030" y="5429749"/>
                        <a:ext cx="2585923" cy="971051"/>
                      </a:xfrm>
                      <a:prstGeom prst="rect">
                        <a:avLst/>
                      </a:prstGeom>
                    </p:spPr>
                  </p:pic>
                </p:oleObj>
              </mc:Fallback>
            </mc:AlternateContent>
          </a:graphicData>
        </a:graphic>
      </p:graphicFrame>
    </p:spTree>
    <p:extLst>
      <p:ext uri="{BB962C8B-B14F-4D97-AF65-F5344CB8AC3E}">
        <p14:creationId xmlns:p14="http://schemas.microsoft.com/office/powerpoint/2010/main" val="168290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462940"/>
            <a:ext cx="5103904" cy="4093428"/>
          </a:xfrm>
          <a:prstGeom prst="rect">
            <a:avLst/>
          </a:prstGeom>
          <a:noFill/>
        </p:spPr>
        <p:txBody>
          <a:bodyPr wrap="square" rtlCol="0">
            <a:spAutoFit/>
          </a:bodyPr>
          <a:lstStyle/>
          <a:p>
            <a:r>
              <a:rPr lang="en-US" sz="2000" dirty="0">
                <a:solidFill>
                  <a:schemeClr val="tx1">
                    <a:lumMod val="75000"/>
                    <a:lumOff val="25000"/>
                  </a:schemeClr>
                </a:solidFill>
              </a:rPr>
              <a:t>The null hypothesis for a pairwise comparison of means can be stated as</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Viable test statistics</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Traditional test statistics (involves a couple of transformations)</a:t>
            </a:r>
          </a:p>
        </p:txBody>
      </p:sp>
      <p:sp>
        <p:nvSpPr>
          <p:cNvPr id="19" name="Rectangle 18"/>
          <p:cNvSpPr/>
          <p:nvPr/>
        </p:nvSpPr>
        <p:spPr>
          <a:xfrm>
            <a:off x="5359398" y="4237542"/>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6261483" y="4955688"/>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7122026" y="4237542"/>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5359398" y="5492814"/>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064702" y="4432444"/>
            <a:ext cx="112761" cy="112767"/>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6301350" y="6147922"/>
            <a:ext cx="112761" cy="112767"/>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p:cNvSpPr/>
          <p:nvPr/>
        </p:nvSpPr>
        <p:spPr>
          <a:xfrm>
            <a:off x="6065341" y="61123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6645061" y="6264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6334531" y="62034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6217741" y="48165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6117383" y="50772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p:cNvSpPr/>
          <p:nvPr/>
        </p:nvSpPr>
        <p:spPr>
          <a:xfrm>
            <a:off x="6486931" y="4907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p:cNvSpPr/>
          <p:nvPr/>
        </p:nvSpPr>
        <p:spPr>
          <a:xfrm>
            <a:off x="8020071" y="48977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p:cNvSpPr/>
          <p:nvPr/>
        </p:nvSpPr>
        <p:spPr>
          <a:xfrm>
            <a:off x="8552311" y="43023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p:cNvSpPr/>
          <p:nvPr/>
        </p:nvSpPr>
        <p:spPr>
          <a:xfrm>
            <a:off x="7790721" y="42766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7" name="Straight Arrow Connector 76"/>
          <p:cNvCxnSpPr>
            <a:stCxn id="4" idx="6"/>
            <a:endCxn id="27" idx="2"/>
          </p:cNvCxnSpPr>
          <p:nvPr/>
        </p:nvCxnSpPr>
        <p:spPr>
          <a:xfrm>
            <a:off x="6111060" y="6135172"/>
            <a:ext cx="190290" cy="69134"/>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a:endCxn id="31" idx="6"/>
          </p:cNvCxnSpPr>
          <p:nvPr/>
        </p:nvCxnSpPr>
        <p:spPr>
          <a:xfrm>
            <a:off x="6414111" y="6207719"/>
            <a:ext cx="276669" cy="79853"/>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a:endCxn id="25" idx="1"/>
          </p:cNvCxnSpPr>
          <p:nvPr/>
        </p:nvCxnSpPr>
        <p:spPr>
          <a:xfrm>
            <a:off x="7818657" y="4302342"/>
            <a:ext cx="262558" cy="146616"/>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a:stCxn id="55" idx="0"/>
            <a:endCxn id="25" idx="4"/>
          </p:cNvCxnSpPr>
          <p:nvPr/>
        </p:nvCxnSpPr>
        <p:spPr>
          <a:xfrm flipV="1">
            <a:off x="8042931" y="4545211"/>
            <a:ext cx="78152" cy="35254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25" idx="6"/>
            <a:endCxn id="56" idx="3"/>
          </p:cNvCxnSpPr>
          <p:nvPr/>
        </p:nvCxnSpPr>
        <p:spPr>
          <a:xfrm flipV="1">
            <a:off x="8177463" y="4341366"/>
            <a:ext cx="381543" cy="147462"/>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stCxn id="20" idx="1"/>
          </p:cNvCxnSpPr>
          <p:nvPr/>
        </p:nvCxnSpPr>
        <p:spPr>
          <a:xfrm flipH="1" flipV="1">
            <a:off x="6241254" y="4834721"/>
            <a:ext cx="36742" cy="13748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stCxn id="20" idx="3"/>
          </p:cNvCxnSpPr>
          <p:nvPr/>
        </p:nvCxnSpPr>
        <p:spPr>
          <a:xfrm flipH="1">
            <a:off x="6144355" y="505194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flipH="1">
            <a:off x="6365174" y="494347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Oval 7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1" name="Straight Connector 80"/>
          <p:cNvCxnSpPr>
            <a:stCxn id="79" idx="0"/>
            <a:endCxn id="7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a:stCxn id="79" idx="1"/>
            <a:endCxn id="7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6051561" y="28224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p:cNvSpPr/>
          <p:nvPr/>
        </p:nvSpPr>
        <p:spPr>
          <a:xfrm>
            <a:off x="6631281" y="2974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Oval 86"/>
          <p:cNvSpPr/>
          <p:nvPr/>
        </p:nvSpPr>
        <p:spPr>
          <a:xfrm>
            <a:off x="6320751" y="29135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p:cNvSpPr/>
          <p:nvPr/>
        </p:nvSpPr>
        <p:spPr>
          <a:xfrm>
            <a:off x="6203961" y="15266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p:cNvSpPr/>
          <p:nvPr/>
        </p:nvSpPr>
        <p:spPr>
          <a:xfrm>
            <a:off x="6103603" y="17873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p:cNvSpPr/>
          <p:nvPr/>
        </p:nvSpPr>
        <p:spPr>
          <a:xfrm>
            <a:off x="6473151" y="1617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Oval 91"/>
          <p:cNvSpPr/>
          <p:nvPr/>
        </p:nvSpPr>
        <p:spPr>
          <a:xfrm>
            <a:off x="8006291" y="16078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p:cNvSpPr/>
          <p:nvPr/>
        </p:nvSpPr>
        <p:spPr>
          <a:xfrm>
            <a:off x="8538531" y="10124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p:cNvSpPr/>
          <p:nvPr/>
        </p:nvSpPr>
        <p:spPr>
          <a:xfrm>
            <a:off x="7776941" y="9867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6" name="Straight Arrow Connector 95"/>
          <p:cNvCxnSpPr>
            <a:stCxn id="84" idx="0"/>
            <a:endCxn id="80" idx="3"/>
          </p:cNvCxnSpPr>
          <p:nvPr/>
        </p:nvCxnSpPr>
        <p:spPr>
          <a:xfrm flipV="1">
            <a:off x="6074421" y="1977092"/>
            <a:ext cx="707750" cy="8453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a:stCxn id="87" idx="7"/>
            <a:endCxn id="80" idx="4"/>
          </p:cNvCxnSpPr>
          <p:nvPr/>
        </p:nvCxnSpPr>
        <p:spPr>
          <a:xfrm flipV="1">
            <a:off x="6359775" y="1993606"/>
            <a:ext cx="462264" cy="9266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a:stCxn id="86" idx="0"/>
            <a:endCxn id="80" idx="4"/>
          </p:cNvCxnSpPr>
          <p:nvPr/>
        </p:nvCxnSpPr>
        <p:spPr>
          <a:xfrm flipV="1">
            <a:off x="6654141" y="1993606"/>
            <a:ext cx="167898" cy="98120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a:stCxn id="80" idx="7"/>
            <a:endCxn id="95" idx="3"/>
          </p:cNvCxnSpPr>
          <p:nvPr/>
        </p:nvCxnSpPr>
        <p:spPr>
          <a:xfrm flipV="1">
            <a:off x="6861906" y="1025816"/>
            <a:ext cx="921730" cy="87153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a:stCxn id="80" idx="6"/>
            <a:endCxn id="93" idx="3"/>
          </p:cNvCxnSpPr>
          <p:nvPr/>
        </p:nvCxnSpPr>
        <p:spPr>
          <a:xfrm flipV="1">
            <a:off x="6878419" y="1051466"/>
            <a:ext cx="1666807" cy="8857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a:stCxn id="80" idx="6"/>
            <a:endCxn id="92" idx="3"/>
          </p:cNvCxnSpPr>
          <p:nvPr/>
        </p:nvCxnSpPr>
        <p:spPr>
          <a:xfrm flipV="1">
            <a:off x="6878419" y="1646876"/>
            <a:ext cx="1134567" cy="29034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a:stCxn id="89" idx="6"/>
            <a:endCxn id="80" idx="2"/>
          </p:cNvCxnSpPr>
          <p:nvPr/>
        </p:nvCxnSpPr>
        <p:spPr>
          <a:xfrm>
            <a:off x="6149322" y="1810204"/>
            <a:ext cx="616336" cy="12701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88" idx="5"/>
            <a:endCxn id="80" idx="1"/>
          </p:cNvCxnSpPr>
          <p:nvPr/>
        </p:nvCxnSpPr>
        <p:spPr>
          <a:xfrm>
            <a:off x="6242985" y="1565696"/>
            <a:ext cx="539186" cy="3316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a:stCxn id="90" idx="5"/>
            <a:endCxn id="80" idx="1"/>
          </p:cNvCxnSpPr>
          <p:nvPr/>
        </p:nvCxnSpPr>
        <p:spPr>
          <a:xfrm>
            <a:off x="6512175" y="1656836"/>
            <a:ext cx="269996" cy="24051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775618" y="5190659"/>
            <a:ext cx="112761" cy="112767"/>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Arrow Connector 58"/>
          <p:cNvCxnSpPr>
            <a:endCxn id="58" idx="1"/>
          </p:cNvCxnSpPr>
          <p:nvPr/>
        </p:nvCxnSpPr>
        <p:spPr>
          <a:xfrm>
            <a:off x="6349193" y="5051941"/>
            <a:ext cx="442938" cy="155232"/>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0" name="Straight Arrow Connector 59"/>
          <p:cNvCxnSpPr/>
          <p:nvPr/>
        </p:nvCxnSpPr>
        <p:spPr>
          <a:xfrm flipV="1">
            <a:off x="6385444" y="5327730"/>
            <a:ext cx="434401" cy="80888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2" name="Straight Arrow Connector 61"/>
          <p:cNvCxnSpPr>
            <a:endCxn id="25" idx="3"/>
          </p:cNvCxnSpPr>
          <p:nvPr/>
        </p:nvCxnSpPr>
        <p:spPr>
          <a:xfrm flipV="1">
            <a:off x="6888889" y="4528697"/>
            <a:ext cx="1192326" cy="69216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aphicFrame>
        <p:nvGraphicFramePr>
          <p:cNvPr id="64" name="Object 63"/>
          <p:cNvGraphicFramePr>
            <a:graphicFrameLocks noChangeAspect="1"/>
          </p:cNvGraphicFramePr>
          <p:nvPr/>
        </p:nvGraphicFramePr>
        <p:xfrm>
          <a:off x="1008911" y="1216492"/>
          <a:ext cx="2672932" cy="894078"/>
        </p:xfrm>
        <a:graphic>
          <a:graphicData uri="http://schemas.openxmlformats.org/presentationml/2006/ole">
            <mc:AlternateContent xmlns:mc="http://schemas.openxmlformats.org/markup-compatibility/2006">
              <mc:Choice xmlns:v="urn:schemas-microsoft-com:vml" Requires="v">
                <p:oleObj name="Equation" r:id="rId2" imgW="1701800" imgH="571500" progId="Equation.3">
                  <p:embed/>
                </p:oleObj>
              </mc:Choice>
              <mc:Fallback>
                <p:oleObj name="Equation" r:id="rId2" imgW="1701800" imgH="571500" progId="Equation.3">
                  <p:embed/>
                  <p:pic>
                    <p:nvPicPr>
                      <p:cNvPr id="0" name=""/>
                      <p:cNvPicPr/>
                      <p:nvPr/>
                    </p:nvPicPr>
                    <p:blipFill>
                      <a:blip r:embed="rId3"/>
                      <a:stretch>
                        <a:fillRect/>
                      </a:stretch>
                    </p:blipFill>
                    <p:spPr>
                      <a:xfrm>
                        <a:off x="1008911" y="1216492"/>
                        <a:ext cx="2672932" cy="894078"/>
                      </a:xfrm>
                      <a:prstGeom prst="rect">
                        <a:avLst/>
                      </a:prstGeom>
                    </p:spPr>
                  </p:pic>
                </p:oleObj>
              </mc:Fallback>
            </mc:AlternateContent>
          </a:graphicData>
        </a:graphic>
      </p:graphicFrame>
      <p:graphicFrame>
        <p:nvGraphicFramePr>
          <p:cNvPr id="61" name="Object 60"/>
          <p:cNvGraphicFramePr>
            <a:graphicFrameLocks noChangeAspect="1"/>
          </p:cNvGraphicFramePr>
          <p:nvPr/>
        </p:nvGraphicFramePr>
        <p:xfrm>
          <a:off x="1008911" y="2628815"/>
          <a:ext cx="2585923" cy="971051"/>
        </p:xfrm>
        <a:graphic>
          <a:graphicData uri="http://schemas.openxmlformats.org/presentationml/2006/ole">
            <mc:AlternateContent xmlns:mc="http://schemas.openxmlformats.org/markup-compatibility/2006">
              <mc:Choice xmlns:v="urn:schemas-microsoft-com:vml" Requires="v">
                <p:oleObj name="Equation" r:id="rId4" imgW="1612900" imgH="609600" progId="Equation.3">
                  <p:embed/>
                </p:oleObj>
              </mc:Choice>
              <mc:Fallback>
                <p:oleObj name="Equation" r:id="rId4" imgW="1612900" imgH="609600" progId="Equation.3">
                  <p:embed/>
                  <p:pic>
                    <p:nvPicPr>
                      <p:cNvPr id="0" name=""/>
                      <p:cNvPicPr/>
                      <p:nvPr/>
                    </p:nvPicPr>
                    <p:blipFill>
                      <a:blip r:embed="rId5"/>
                      <a:stretch>
                        <a:fillRect/>
                      </a:stretch>
                    </p:blipFill>
                    <p:spPr>
                      <a:xfrm>
                        <a:off x="1008911" y="2628815"/>
                        <a:ext cx="2585923" cy="971051"/>
                      </a:xfrm>
                      <a:prstGeom prst="rect">
                        <a:avLst/>
                      </a:prstGeom>
                    </p:spPr>
                  </p:pic>
                </p:oleObj>
              </mc:Fallback>
            </mc:AlternateContent>
          </a:graphicData>
        </a:graphic>
      </p:graphicFrame>
      <p:graphicFrame>
        <p:nvGraphicFramePr>
          <p:cNvPr id="63" name="Object 62"/>
          <p:cNvGraphicFramePr>
            <a:graphicFrameLocks noChangeAspect="1"/>
          </p:cNvGraphicFramePr>
          <p:nvPr/>
        </p:nvGraphicFramePr>
        <p:xfrm>
          <a:off x="681863" y="4466761"/>
          <a:ext cx="4235451" cy="2024063"/>
        </p:xfrm>
        <a:graphic>
          <a:graphicData uri="http://schemas.openxmlformats.org/presentationml/2006/ole">
            <mc:AlternateContent xmlns:mc="http://schemas.openxmlformats.org/markup-compatibility/2006">
              <mc:Choice xmlns:v="urn:schemas-microsoft-com:vml" Requires="v">
                <p:oleObj name="Equation" r:id="rId6" imgW="2641600" imgH="1270000" progId="Equation.3">
                  <p:embed/>
                </p:oleObj>
              </mc:Choice>
              <mc:Fallback>
                <p:oleObj name="Equation" r:id="rId6" imgW="2641600" imgH="1270000" progId="Equation.3">
                  <p:embed/>
                  <p:pic>
                    <p:nvPicPr>
                      <p:cNvPr id="0" name=""/>
                      <p:cNvPicPr/>
                      <p:nvPr/>
                    </p:nvPicPr>
                    <p:blipFill>
                      <a:blip r:embed="rId7"/>
                      <a:stretch>
                        <a:fillRect/>
                      </a:stretch>
                    </p:blipFill>
                    <p:spPr>
                      <a:xfrm>
                        <a:off x="681863" y="4466761"/>
                        <a:ext cx="4235451" cy="2024063"/>
                      </a:xfrm>
                      <a:prstGeom prst="rect">
                        <a:avLst/>
                      </a:prstGeom>
                    </p:spPr>
                  </p:pic>
                </p:oleObj>
              </mc:Fallback>
            </mc:AlternateContent>
          </a:graphicData>
        </a:graphic>
      </p:graphicFrame>
      <p:graphicFrame>
        <p:nvGraphicFramePr>
          <p:cNvPr id="65" name="Object 64"/>
          <p:cNvGraphicFramePr>
            <a:graphicFrameLocks noChangeAspect="1"/>
          </p:cNvGraphicFramePr>
          <p:nvPr/>
        </p:nvGraphicFramePr>
        <p:xfrm>
          <a:off x="7405688" y="5949950"/>
          <a:ext cx="1273175" cy="674688"/>
        </p:xfrm>
        <a:graphic>
          <a:graphicData uri="http://schemas.openxmlformats.org/presentationml/2006/ole">
            <mc:AlternateContent xmlns:mc="http://schemas.openxmlformats.org/markup-compatibility/2006">
              <mc:Choice xmlns:v="urn:schemas-microsoft-com:vml" Requires="v">
                <p:oleObj name="Equation" r:id="rId8" imgW="863600" imgH="457200" progId="Equation.3">
                  <p:embed/>
                </p:oleObj>
              </mc:Choice>
              <mc:Fallback>
                <p:oleObj name="Equation" r:id="rId8" imgW="863600" imgH="457200" progId="Equation.3">
                  <p:embed/>
                  <p:pic>
                    <p:nvPicPr>
                      <p:cNvPr id="0" name=""/>
                      <p:cNvPicPr/>
                      <p:nvPr/>
                    </p:nvPicPr>
                    <p:blipFill>
                      <a:blip r:embed="rId9"/>
                      <a:stretch>
                        <a:fillRect/>
                      </a:stretch>
                    </p:blipFill>
                    <p:spPr>
                      <a:xfrm>
                        <a:off x="7405688" y="5949950"/>
                        <a:ext cx="1273175" cy="674688"/>
                      </a:xfrm>
                      <a:prstGeom prst="rect">
                        <a:avLst/>
                      </a:prstGeom>
                    </p:spPr>
                  </p:pic>
                </p:oleObj>
              </mc:Fallback>
            </mc:AlternateContent>
          </a:graphicData>
        </a:graphic>
      </p:graphicFrame>
      <p:graphicFrame>
        <p:nvGraphicFramePr>
          <p:cNvPr id="66" name="Table 65"/>
          <p:cNvGraphicFramePr>
            <a:graphicFrameLocks noGrp="1"/>
          </p:cNvGraphicFramePr>
          <p:nvPr>
            <p:extLst>
              <p:ext uri="{D42A27DB-BD31-4B8C-83A1-F6EECF244321}">
                <p14:modId xmlns:p14="http://schemas.microsoft.com/office/powerpoint/2010/main" val="762647556"/>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Multiple (pairwise) comparisons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27</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67" name="TextBox 66"/>
          <p:cNvSpPr txBox="1"/>
          <p:nvPr/>
        </p:nvSpPr>
        <p:spPr>
          <a:xfrm>
            <a:off x="5152945" y="4186130"/>
            <a:ext cx="3863960" cy="2585323"/>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lumMod val="75000"/>
                    <a:lumOff val="25000"/>
                  </a:schemeClr>
                </a:solidFill>
              </a:rPr>
              <a:t>These steps are calculation of squared </a:t>
            </a:r>
            <a:r>
              <a:rPr lang="en-US" dirty="0" err="1">
                <a:solidFill>
                  <a:schemeClr val="tx1">
                    <a:lumMod val="75000"/>
                    <a:lumOff val="25000"/>
                  </a:schemeClr>
                </a:solidFill>
              </a:rPr>
              <a:t>Mahalanobis</a:t>
            </a:r>
            <a:r>
              <a:rPr lang="en-US" dirty="0">
                <a:solidFill>
                  <a:schemeClr val="tx1">
                    <a:lumMod val="75000"/>
                    <a:lumOff val="25000"/>
                  </a:schemeClr>
                </a:solidFill>
              </a:rPr>
              <a:t> distances, conversion to </a:t>
            </a:r>
            <a:r>
              <a:rPr lang="en-US" dirty="0" err="1">
                <a:solidFill>
                  <a:schemeClr val="tx1">
                    <a:lumMod val="75000"/>
                    <a:lumOff val="25000"/>
                  </a:schemeClr>
                </a:solidFill>
              </a:rPr>
              <a:t>Hotelling</a:t>
            </a:r>
            <a:r>
              <a:rPr lang="en-US" dirty="0">
                <a:solidFill>
                  <a:schemeClr val="tx1">
                    <a:lumMod val="75000"/>
                    <a:lumOff val="25000"/>
                  </a:schemeClr>
                </a:solidFill>
              </a:rPr>
              <a:t> </a:t>
            </a:r>
            <a:r>
              <a:rPr lang="en-US" i="1" dirty="0">
                <a:solidFill>
                  <a:schemeClr val="tx1">
                    <a:lumMod val="75000"/>
                    <a:lumOff val="25000"/>
                  </a:schemeClr>
                </a:solidFill>
              </a:rPr>
              <a:t>T</a:t>
            </a:r>
            <a:r>
              <a:rPr lang="en-US" baseline="30000" dirty="0">
                <a:solidFill>
                  <a:schemeClr val="tx1">
                    <a:lumMod val="75000"/>
                    <a:lumOff val="25000"/>
                  </a:schemeClr>
                </a:solidFill>
              </a:rPr>
              <a:t>2</a:t>
            </a:r>
            <a:r>
              <a:rPr lang="en-US" dirty="0">
                <a:solidFill>
                  <a:schemeClr val="tx1">
                    <a:lumMod val="75000"/>
                    <a:lumOff val="25000"/>
                  </a:schemeClr>
                </a:solidFill>
              </a:rPr>
              <a:t> statistics, and subsequent conversion to</a:t>
            </a:r>
            <a:r>
              <a:rPr lang="en-US" i="1" dirty="0">
                <a:solidFill>
                  <a:schemeClr val="tx1">
                    <a:lumMod val="75000"/>
                    <a:lumOff val="25000"/>
                  </a:schemeClr>
                </a:solidFill>
              </a:rPr>
              <a:t> F</a:t>
            </a:r>
            <a:r>
              <a:rPr lang="en-US" dirty="0">
                <a:solidFill>
                  <a:schemeClr val="tx1">
                    <a:lumMod val="75000"/>
                    <a:lumOff val="25000"/>
                  </a:schemeClr>
                </a:solidFill>
              </a:rPr>
              <a:t>-values.  </a:t>
            </a:r>
          </a:p>
          <a:p>
            <a:r>
              <a:rPr lang="en-US" dirty="0">
                <a:solidFill>
                  <a:schemeClr val="tx1">
                    <a:lumMod val="75000"/>
                    <a:lumOff val="25000"/>
                  </a:schemeClr>
                </a:solidFill>
              </a:rPr>
              <a:t>If the number of variables exceeds the number of observations, this approach will not work. </a:t>
            </a:r>
          </a:p>
          <a:p>
            <a:r>
              <a:rPr lang="en-US" dirty="0">
                <a:solidFill>
                  <a:schemeClr val="tx1">
                    <a:lumMod val="75000"/>
                    <a:lumOff val="25000"/>
                  </a:schemeClr>
                </a:solidFill>
              </a:rPr>
              <a:t>Again, resampling-based statistics solve this problem </a:t>
            </a:r>
            <a:r>
              <a:rPr lang="en-US" dirty="0">
                <a:solidFill>
                  <a:schemeClr val="tx1">
                    <a:lumMod val="75000"/>
                    <a:lumOff val="25000"/>
                  </a:schemeClr>
                </a:solidFill>
                <a:sym typeface="Wingdings"/>
              </a:rPr>
              <a:t></a:t>
            </a:r>
            <a:endParaRPr lang="en-US" dirty="0">
              <a:solidFill>
                <a:schemeClr val="tx1">
                  <a:lumMod val="75000"/>
                  <a:lumOff val="25000"/>
                </a:schemeClr>
              </a:solidFill>
            </a:endParaRPr>
          </a:p>
        </p:txBody>
      </p:sp>
      <p:sp>
        <p:nvSpPr>
          <p:cNvPr id="2" name="Rectangle 1"/>
          <p:cNvSpPr/>
          <p:nvPr/>
        </p:nvSpPr>
        <p:spPr>
          <a:xfrm>
            <a:off x="4297630" y="4281806"/>
            <a:ext cx="4713019" cy="1477328"/>
          </a:xfrm>
          <a:prstGeom prst="rect">
            <a:avLst/>
          </a:prstGeom>
          <a:solidFill>
            <a:schemeClr val="accent1">
              <a:lumMod val="20000"/>
              <a:lumOff val="80000"/>
            </a:schemeClr>
          </a:solidFill>
          <a:effectLst>
            <a:outerShdw blurRad="50800" dist="76200" dir="18900000" algn="bl" rotWithShape="0">
              <a:prstClr val="black">
                <a:alpha val="40000"/>
              </a:prstClr>
            </a:outerShdw>
          </a:effectLst>
        </p:spPr>
        <p:txBody>
          <a:bodyPr wrap="square">
            <a:spAutoFit/>
          </a:bodyPr>
          <a:lstStyle/>
          <a:p>
            <a:r>
              <a:rPr lang="en-US" dirty="0"/>
              <a:t> 	</a:t>
            </a:r>
            <a:r>
              <a:rPr lang="en-US" dirty="0" err="1"/>
              <a:t>f_FALSE</a:t>
            </a:r>
            <a:r>
              <a:rPr lang="en-US" dirty="0"/>
              <a:t> 	</a:t>
            </a:r>
            <a:r>
              <a:rPr lang="en-US" dirty="0" err="1"/>
              <a:t>f_TRUE</a:t>
            </a:r>
            <a:r>
              <a:rPr lang="en-US" dirty="0"/>
              <a:t> 	</a:t>
            </a:r>
            <a:r>
              <a:rPr lang="en-US" dirty="0" err="1"/>
              <a:t>m_FALSE</a:t>
            </a:r>
            <a:r>
              <a:rPr lang="en-US" dirty="0"/>
              <a:t>	 </a:t>
            </a:r>
            <a:r>
              <a:rPr lang="en-US" dirty="0" err="1"/>
              <a:t>m_TRUE</a:t>
            </a:r>
            <a:endParaRPr lang="en-US" dirty="0"/>
          </a:p>
          <a:p>
            <a:r>
              <a:rPr lang="en-US" dirty="0" err="1"/>
              <a:t>f_FALSE</a:t>
            </a:r>
            <a:r>
              <a:rPr lang="en-US" dirty="0"/>
              <a:t>   	 1.000  	0.541   	0.001  	0.001</a:t>
            </a:r>
          </a:p>
          <a:p>
            <a:r>
              <a:rPr lang="en-US" dirty="0" err="1"/>
              <a:t>f_TRUE</a:t>
            </a:r>
            <a:r>
              <a:rPr lang="en-US" dirty="0"/>
              <a:t>    	 0.541  	1.000   	0.001  	0.001</a:t>
            </a:r>
          </a:p>
          <a:p>
            <a:r>
              <a:rPr lang="en-US" dirty="0" err="1"/>
              <a:t>m_FALSE</a:t>
            </a:r>
            <a:r>
              <a:rPr lang="en-US" dirty="0"/>
              <a:t>   0.001  	0.001   	1.000  	0.027</a:t>
            </a:r>
          </a:p>
          <a:p>
            <a:r>
              <a:rPr lang="en-US" dirty="0" err="1"/>
              <a:t>m_TRUE</a:t>
            </a:r>
            <a:r>
              <a:rPr lang="en-US" dirty="0"/>
              <a:t>    0.001  	0.001   	0.027  	1.000</a:t>
            </a:r>
          </a:p>
        </p:txBody>
      </p:sp>
    </p:spTree>
    <p:extLst>
      <p:ext uri="{BB962C8B-B14F-4D97-AF65-F5344CB8AC3E}">
        <p14:creationId xmlns:p14="http://schemas.microsoft.com/office/powerpoint/2010/main" val="213175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67"/>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7" grpId="1" animBg="1"/>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862548"/>
            <a:ext cx="8589940" cy="3785652"/>
          </a:xfrm>
          <a:prstGeom prst="rect">
            <a:avLst/>
          </a:prstGeom>
          <a:noFill/>
        </p:spPr>
        <p:txBody>
          <a:bodyPr wrap="square" rtlCol="0">
            <a:spAutoFit/>
          </a:bodyPr>
          <a:lstStyle/>
          <a:p>
            <a:r>
              <a:rPr lang="en-US" sz="2000" dirty="0">
                <a:solidFill>
                  <a:schemeClr val="tx1">
                    <a:lumMod val="75000"/>
                    <a:lumOff val="25000"/>
                  </a:schemeClr>
                </a:solidFill>
              </a:rPr>
              <a:t>TWO IMPORTANT NOTES:</a:t>
            </a:r>
          </a:p>
          <a:p>
            <a:endParaRPr lang="en-US" sz="2000" dirty="0">
              <a:solidFill>
                <a:schemeClr val="tx1">
                  <a:lumMod val="75000"/>
                  <a:lumOff val="25000"/>
                </a:schemeClr>
              </a:solidFill>
            </a:endParaRPr>
          </a:p>
          <a:p>
            <a:pPr marL="457200" indent="-457200">
              <a:buAutoNum type="arabicParenR"/>
            </a:pPr>
            <a:r>
              <a:rPr lang="en-US" sz="2000" dirty="0">
                <a:solidFill>
                  <a:schemeClr val="tx1">
                    <a:lumMod val="75000"/>
                    <a:lumOff val="25000"/>
                  </a:schemeClr>
                </a:solidFill>
              </a:rPr>
              <a:t>Merging biological factors to “simplify” statistical designs should be done with caution (if at all!). Following this practice one may miss on interesting biological signal. </a:t>
            </a:r>
          </a:p>
          <a:p>
            <a:pPr lvl="2"/>
            <a:r>
              <a:rPr lang="en-US" sz="2000" dirty="0">
                <a:solidFill>
                  <a:schemeClr val="tx1">
                    <a:lumMod val="75000"/>
                    <a:lumOff val="25000"/>
                  </a:schemeClr>
                </a:solidFill>
              </a:rPr>
              <a:t>i.e. in the example above, sex and survival may each have effects on their own right on body proportions.</a:t>
            </a:r>
          </a:p>
          <a:p>
            <a:pPr marL="457200" indent="-457200">
              <a:buAutoNum type="arabicParenR"/>
            </a:pPr>
            <a:endParaRPr lang="en-US" sz="2000" dirty="0">
              <a:solidFill>
                <a:schemeClr val="tx1">
                  <a:lumMod val="75000"/>
                  <a:lumOff val="25000"/>
                </a:schemeClr>
              </a:solidFill>
            </a:endParaRPr>
          </a:p>
          <a:p>
            <a:pPr marL="457200" indent="-457200">
              <a:buAutoNum type="arabicParenR"/>
            </a:pPr>
            <a:r>
              <a:rPr lang="en-US" sz="2000" dirty="0">
                <a:solidFill>
                  <a:schemeClr val="tx1">
                    <a:lumMod val="75000"/>
                    <a:lumOff val="25000"/>
                  </a:schemeClr>
                </a:solidFill>
              </a:rPr>
              <a:t>Some caution is needed if one starts designing randomizations by hand, as these assume that the randomized units are actually biologically interchangeable. Because of this, they need to be adjusted for factorial or other, more complex, designs.</a:t>
            </a:r>
          </a:p>
        </p:txBody>
      </p:sp>
      <p:graphicFrame>
        <p:nvGraphicFramePr>
          <p:cNvPr id="66" name="Table 65"/>
          <p:cNvGraphicFramePr>
            <a:graphicFrameLocks noGrp="1"/>
          </p:cNvGraphicFramePr>
          <p:nvPr>
            <p:extLst>
              <p:ext uri="{D42A27DB-BD31-4B8C-83A1-F6EECF244321}">
                <p14:modId xmlns:p14="http://schemas.microsoft.com/office/powerpoint/2010/main" val="421977044"/>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Factorial models</a:t>
                      </a:r>
                    </a:p>
                  </a:txBody>
                  <a:tcPr anchor="ctr"/>
                </a:tc>
                <a:tc>
                  <a:txBody>
                    <a:bodyPr/>
                    <a:lstStyle/>
                    <a:p>
                      <a:pPr algn="ctr"/>
                      <a:r>
                        <a:rPr lang="en-US" dirty="0">
                          <a:solidFill>
                            <a:schemeClr val="tx2">
                              <a:lumMod val="75000"/>
                            </a:schemeClr>
                          </a:solidFill>
                        </a:rPr>
                        <a:t>Slide 28</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173185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419600" y="457200"/>
            <a:ext cx="4551340" cy="3170099"/>
          </a:xfrm>
          <a:prstGeom prst="rect">
            <a:avLst/>
          </a:prstGeom>
          <a:noFill/>
        </p:spPr>
        <p:txBody>
          <a:bodyPr wrap="square" rtlCol="0">
            <a:spAutoFit/>
          </a:bodyPr>
          <a:lstStyle/>
          <a:p>
            <a:r>
              <a:rPr lang="en-US" sz="2000" dirty="0">
                <a:solidFill>
                  <a:schemeClr val="tx1">
                    <a:lumMod val="75000"/>
                    <a:lumOff val="25000"/>
                  </a:schemeClr>
                </a:solidFill>
              </a:rPr>
              <a:t>In the example, it looks like males and females are differentiated (across PC2), but surviving and dying birds not that much.</a:t>
            </a:r>
          </a:p>
          <a:p>
            <a:endParaRPr lang="en-US" sz="2000" dirty="0">
              <a:solidFill>
                <a:schemeClr val="tx1">
                  <a:lumMod val="75000"/>
                  <a:lumOff val="25000"/>
                </a:schemeClr>
              </a:solidFill>
            </a:endParaRPr>
          </a:p>
          <a:p>
            <a:r>
              <a:rPr lang="en-US" sz="2000" dirty="0">
                <a:solidFill>
                  <a:schemeClr val="tx1">
                    <a:lumMod val="75000"/>
                    <a:lumOff val="25000"/>
                  </a:schemeClr>
                </a:solidFill>
              </a:rPr>
              <a:t>Also, the post-hoc comparisons suggest that different things may be happening when we compare males (different?) and when we compare females (not different?) </a:t>
            </a:r>
          </a:p>
        </p:txBody>
      </p:sp>
      <p:graphicFrame>
        <p:nvGraphicFramePr>
          <p:cNvPr id="66" name="Table 65"/>
          <p:cNvGraphicFramePr>
            <a:graphicFrameLocks noGrp="1"/>
          </p:cNvGraphicFramePr>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Factorial models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29</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pSp>
        <p:nvGrpSpPr>
          <p:cNvPr id="68" name="Group 67"/>
          <p:cNvGrpSpPr/>
          <p:nvPr/>
        </p:nvGrpSpPr>
        <p:grpSpPr>
          <a:xfrm>
            <a:off x="152400" y="533400"/>
            <a:ext cx="4045722" cy="3657600"/>
            <a:chOff x="1248874" y="938213"/>
            <a:chExt cx="6788922" cy="5919787"/>
          </a:xfrm>
        </p:grpSpPr>
        <p:pic>
          <p:nvPicPr>
            <p:cNvPr id="69" name="Picture 68"/>
            <p:cNvPicPr>
              <a:picLocks noChangeAspect="1"/>
            </p:cNvPicPr>
            <p:nvPr/>
          </p:nvPicPr>
          <p:blipFill rotWithShape="1">
            <a:blip r:embed="rId2">
              <a:extLst>
                <a:ext uri="{28A0092B-C50C-407E-A947-70E740481C1C}">
                  <a14:useLocalDpi xmlns:a14="http://schemas.microsoft.com/office/drawing/2010/main" val="0"/>
                </a:ext>
              </a:extLst>
            </a:blip>
            <a:srcRect t="11149" r="5100"/>
            <a:stretch/>
          </p:blipFill>
          <p:spPr>
            <a:xfrm>
              <a:off x="1248874" y="938213"/>
              <a:ext cx="6788922" cy="5919787"/>
            </a:xfrm>
            <a:prstGeom prst="rect">
              <a:avLst/>
            </a:prstGeom>
          </p:spPr>
        </p:pic>
        <p:sp>
          <p:nvSpPr>
            <p:cNvPr id="70" name="TextBox 69"/>
            <p:cNvSpPr txBox="1"/>
            <p:nvPr/>
          </p:nvSpPr>
          <p:spPr>
            <a:xfrm>
              <a:off x="5852100" y="4638080"/>
              <a:ext cx="2136333" cy="1245332"/>
            </a:xfrm>
            <a:prstGeom prst="rect">
              <a:avLst/>
            </a:prstGeom>
            <a:noFill/>
          </p:spPr>
          <p:txBody>
            <a:bodyPr wrap="none" rtlCol="0">
              <a:spAutoFit/>
            </a:bodyPr>
            <a:lstStyle/>
            <a:p>
              <a:r>
                <a:rPr lang="en-US" sz="1100" dirty="0"/>
                <a:t>Males – survived</a:t>
              </a:r>
            </a:p>
            <a:p>
              <a:r>
                <a:rPr lang="en-US" sz="1100" dirty="0"/>
                <a:t>Females – survived</a:t>
              </a:r>
            </a:p>
            <a:p>
              <a:r>
                <a:rPr lang="en-US" sz="1100" dirty="0"/>
                <a:t>Males – died</a:t>
              </a:r>
            </a:p>
            <a:p>
              <a:r>
                <a:rPr lang="en-US" sz="1100" dirty="0"/>
                <a:t>Females – died</a:t>
              </a:r>
            </a:p>
          </p:txBody>
        </p:sp>
        <p:sp>
          <p:nvSpPr>
            <p:cNvPr id="71" name="Oval 70"/>
            <p:cNvSpPr/>
            <p:nvPr/>
          </p:nvSpPr>
          <p:spPr>
            <a:xfrm>
              <a:off x="5724232" y="5042492"/>
              <a:ext cx="152400" cy="152400"/>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5724232" y="4784683"/>
              <a:ext cx="152400" cy="152400"/>
            </a:xfrm>
            <a:prstGeom prst="ellips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Isosceles Triangle 10"/>
            <p:cNvSpPr/>
            <p:nvPr/>
          </p:nvSpPr>
          <p:spPr>
            <a:xfrm flipV="1">
              <a:off x="5724232" y="5580185"/>
              <a:ext cx="152400" cy="152400"/>
            </a:xfrm>
            <a:prstGeom prs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Isosceles Triangle 11"/>
            <p:cNvSpPr/>
            <p:nvPr/>
          </p:nvSpPr>
          <p:spPr>
            <a:xfrm flipV="1">
              <a:off x="5724232" y="5310036"/>
              <a:ext cx="152400" cy="152400"/>
            </a:xfrm>
            <a:prstGeom prst="triangl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p:cNvSpPr/>
          <p:nvPr/>
        </p:nvSpPr>
        <p:spPr>
          <a:xfrm>
            <a:off x="152400" y="4397513"/>
            <a:ext cx="4713019" cy="1477328"/>
          </a:xfrm>
          <a:prstGeom prst="rect">
            <a:avLst/>
          </a:prstGeom>
          <a:solidFill>
            <a:schemeClr val="accent1">
              <a:lumMod val="20000"/>
              <a:lumOff val="80000"/>
            </a:schemeClr>
          </a:solidFill>
          <a:effectLst>
            <a:outerShdw blurRad="50800" dist="76200" dir="18900000" algn="bl" rotWithShape="0">
              <a:prstClr val="black">
                <a:alpha val="40000"/>
              </a:prstClr>
            </a:outerShdw>
          </a:effectLst>
        </p:spPr>
        <p:txBody>
          <a:bodyPr wrap="square">
            <a:spAutoFit/>
          </a:bodyPr>
          <a:lstStyle/>
          <a:p>
            <a:r>
              <a:rPr lang="en-US" dirty="0"/>
              <a:t> 	</a:t>
            </a:r>
            <a:r>
              <a:rPr lang="en-US" dirty="0" err="1"/>
              <a:t>f_FALSE</a:t>
            </a:r>
            <a:r>
              <a:rPr lang="en-US" dirty="0"/>
              <a:t> 	</a:t>
            </a:r>
            <a:r>
              <a:rPr lang="en-US" dirty="0" err="1"/>
              <a:t>f_TRUE</a:t>
            </a:r>
            <a:r>
              <a:rPr lang="en-US" dirty="0"/>
              <a:t> 	</a:t>
            </a:r>
            <a:r>
              <a:rPr lang="en-US" dirty="0" err="1"/>
              <a:t>m_FALSE</a:t>
            </a:r>
            <a:r>
              <a:rPr lang="en-US" dirty="0"/>
              <a:t>	 </a:t>
            </a:r>
            <a:r>
              <a:rPr lang="en-US" dirty="0" err="1"/>
              <a:t>m_TRUE</a:t>
            </a:r>
            <a:endParaRPr lang="en-US" dirty="0"/>
          </a:p>
          <a:p>
            <a:r>
              <a:rPr lang="en-US" dirty="0" err="1"/>
              <a:t>f_FALSE</a:t>
            </a:r>
            <a:r>
              <a:rPr lang="en-US" dirty="0"/>
              <a:t>   	 1.000  	0.541   	0.001  	0.001</a:t>
            </a:r>
          </a:p>
          <a:p>
            <a:r>
              <a:rPr lang="en-US" dirty="0" err="1"/>
              <a:t>f_TRUE</a:t>
            </a:r>
            <a:r>
              <a:rPr lang="en-US" dirty="0"/>
              <a:t>    	 0.541  	1.000   	0.001  	0.001</a:t>
            </a:r>
          </a:p>
          <a:p>
            <a:r>
              <a:rPr lang="en-US" dirty="0" err="1"/>
              <a:t>m_FALSE</a:t>
            </a:r>
            <a:r>
              <a:rPr lang="en-US" dirty="0"/>
              <a:t>   0.001  	0.001   	1.000  	0.027</a:t>
            </a:r>
          </a:p>
          <a:p>
            <a:r>
              <a:rPr lang="en-US" dirty="0" err="1"/>
              <a:t>m_TRUE</a:t>
            </a:r>
            <a:r>
              <a:rPr lang="en-US" dirty="0"/>
              <a:t>    0.001  	0.001   	0.027  	1.000</a:t>
            </a:r>
          </a:p>
        </p:txBody>
      </p:sp>
      <p:sp>
        <p:nvSpPr>
          <p:cNvPr id="12" name="TextBox 11"/>
          <p:cNvSpPr txBox="1"/>
          <p:nvPr/>
        </p:nvSpPr>
        <p:spPr>
          <a:xfrm>
            <a:off x="5351813" y="3657600"/>
            <a:ext cx="3599335" cy="3170099"/>
          </a:xfrm>
          <a:prstGeom prst="rect">
            <a:avLst/>
          </a:prstGeom>
          <a:noFill/>
        </p:spPr>
        <p:txBody>
          <a:bodyPr wrap="square" rtlCol="0">
            <a:spAutoFit/>
          </a:bodyPr>
          <a:lstStyle/>
          <a:p>
            <a:r>
              <a:rPr lang="en-US" sz="2000" dirty="0">
                <a:solidFill>
                  <a:schemeClr val="tx1">
                    <a:lumMod val="75000"/>
                    <a:lumOff val="25000"/>
                  </a:schemeClr>
                </a:solidFill>
              </a:rPr>
              <a:t>In reality, the true biology of our system is described by two different factors: sex and survival</a:t>
            </a:r>
          </a:p>
          <a:p>
            <a:endParaRPr lang="en-US" sz="2000" dirty="0">
              <a:solidFill>
                <a:schemeClr val="tx1">
                  <a:lumMod val="75000"/>
                  <a:lumOff val="25000"/>
                </a:schemeClr>
              </a:solidFill>
            </a:endParaRPr>
          </a:p>
          <a:p>
            <a:r>
              <a:rPr lang="en-US" sz="2000" dirty="0">
                <a:solidFill>
                  <a:schemeClr val="tx1">
                    <a:lumMod val="75000"/>
                    <a:lumOff val="25000"/>
                  </a:schemeClr>
                </a:solidFill>
              </a:rPr>
              <a:t>The interaction term is the most interesting one, as it will tell us whether the levels of one factor (sexes) “behave” differently across the levels of the second (survival)</a:t>
            </a:r>
          </a:p>
        </p:txBody>
      </p:sp>
    </p:spTree>
    <p:extLst>
      <p:ext uri="{BB962C8B-B14F-4D97-AF65-F5344CB8AC3E}">
        <p14:creationId xmlns:p14="http://schemas.microsoft.com/office/powerpoint/2010/main" val="187145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Table 65"/>
          <p:cNvGraphicFramePr>
            <a:graphicFrameLocks noGrp="1"/>
          </p:cNvGraphicFramePr>
          <p:nvPr>
            <p:extLst>
              <p:ext uri="{D42A27DB-BD31-4B8C-83A1-F6EECF244321}">
                <p14:modId xmlns:p14="http://schemas.microsoft.com/office/powerpoint/2010/main" val="370640991"/>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Factorial models </a:t>
                      </a:r>
                      <a:r>
                        <a:rPr lang="mr-IN" dirty="0">
                          <a:solidFill>
                            <a:schemeClr val="tx2">
                              <a:lumMod val="75000"/>
                            </a:schemeClr>
                          </a:solidFill>
                        </a:rPr>
                        <a:t>–</a:t>
                      </a:r>
                      <a:r>
                        <a:rPr lang="en-US" dirty="0">
                          <a:solidFill>
                            <a:schemeClr val="tx2">
                              <a:lumMod val="75000"/>
                            </a:schemeClr>
                          </a:solidFill>
                        </a:rPr>
                        <a:t> design matrix</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30</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41220689"/>
              </p:ext>
            </p:extLst>
          </p:nvPr>
        </p:nvGraphicFramePr>
        <p:xfrm>
          <a:off x="2743200" y="2400300"/>
          <a:ext cx="2968625" cy="2057400"/>
        </p:xfrm>
        <a:graphic>
          <a:graphicData uri="http://schemas.openxmlformats.org/presentationml/2006/ole">
            <mc:AlternateContent xmlns:mc="http://schemas.openxmlformats.org/markup-compatibility/2006">
              <mc:Choice xmlns:v="urn:schemas-microsoft-com:vml" Requires="v">
                <p:oleObj name="Equation" r:id="rId2" imgW="1282700" imgH="889000" progId="Equation.3">
                  <p:embed/>
                </p:oleObj>
              </mc:Choice>
              <mc:Fallback>
                <p:oleObj name="Equation" r:id="rId2" imgW="1282700" imgH="889000" progId="Equation.3">
                  <p:embed/>
                  <p:pic>
                    <p:nvPicPr>
                      <p:cNvPr id="0" name=""/>
                      <p:cNvPicPr/>
                      <p:nvPr/>
                    </p:nvPicPr>
                    <p:blipFill>
                      <a:blip r:embed="rId3"/>
                      <a:stretch>
                        <a:fillRect/>
                      </a:stretch>
                    </p:blipFill>
                    <p:spPr>
                      <a:xfrm>
                        <a:off x="2743200" y="2400300"/>
                        <a:ext cx="2968625" cy="2057400"/>
                      </a:xfrm>
                      <a:prstGeom prst="rect">
                        <a:avLst/>
                      </a:prstGeom>
                    </p:spPr>
                  </p:pic>
                </p:oleObj>
              </mc:Fallback>
            </mc:AlternateContent>
          </a:graphicData>
        </a:graphic>
      </p:graphicFrame>
      <p:grpSp>
        <p:nvGrpSpPr>
          <p:cNvPr id="16" name="Group 15"/>
          <p:cNvGrpSpPr/>
          <p:nvPr/>
        </p:nvGrpSpPr>
        <p:grpSpPr>
          <a:xfrm>
            <a:off x="609600" y="1371600"/>
            <a:ext cx="3056648" cy="1103091"/>
            <a:chOff x="609600" y="1371600"/>
            <a:chExt cx="3056648" cy="1103091"/>
          </a:xfrm>
        </p:grpSpPr>
        <p:sp>
          <p:nvSpPr>
            <p:cNvPr id="14" name="TextBox 13"/>
            <p:cNvSpPr txBox="1"/>
            <p:nvPr/>
          </p:nvSpPr>
          <p:spPr>
            <a:xfrm>
              <a:off x="609600" y="1371600"/>
              <a:ext cx="2893845" cy="369332"/>
            </a:xfrm>
            <a:prstGeom prst="rect">
              <a:avLst/>
            </a:prstGeom>
            <a:noFill/>
          </p:spPr>
          <p:txBody>
            <a:bodyPr wrap="square" rtlCol="0">
              <a:spAutoFit/>
            </a:bodyPr>
            <a:lstStyle/>
            <a:p>
              <a:pPr algn="r"/>
              <a:r>
                <a:rPr lang="en-US" dirty="0">
                  <a:solidFill>
                    <a:schemeClr val="tx1">
                      <a:lumMod val="75000"/>
                      <a:lumOff val="25000"/>
                    </a:schemeClr>
                  </a:solidFill>
                </a:rPr>
                <a:t>Intercept: females that died </a:t>
              </a:r>
            </a:p>
          </p:txBody>
        </p:sp>
        <p:cxnSp>
          <p:nvCxnSpPr>
            <p:cNvPr id="15" name="Straight Arrow Connector 14"/>
            <p:cNvCxnSpPr/>
            <p:nvPr/>
          </p:nvCxnSpPr>
          <p:spPr>
            <a:xfrm>
              <a:off x="2971800" y="1805163"/>
              <a:ext cx="694448" cy="66952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a:off x="2590800" y="874607"/>
            <a:ext cx="3810000" cy="1642903"/>
            <a:chOff x="2590800" y="874607"/>
            <a:chExt cx="3810000" cy="1642903"/>
          </a:xfrm>
        </p:grpSpPr>
        <p:cxnSp>
          <p:nvCxnSpPr>
            <p:cNvPr id="17" name="Straight Arrow Connector 16"/>
            <p:cNvCxnSpPr/>
            <p:nvPr/>
          </p:nvCxnSpPr>
          <p:spPr>
            <a:xfrm flipH="1">
              <a:off x="4197893" y="1266230"/>
              <a:ext cx="374107" cy="125128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590800" y="874607"/>
              <a:ext cx="3810000" cy="369332"/>
            </a:xfrm>
            <a:prstGeom prst="rect">
              <a:avLst/>
            </a:prstGeom>
            <a:noFill/>
          </p:spPr>
          <p:txBody>
            <a:bodyPr wrap="square" rtlCol="0">
              <a:spAutoFit/>
            </a:bodyPr>
            <a:lstStyle/>
            <a:p>
              <a:pPr algn="r"/>
              <a:r>
                <a:rPr lang="en-US" dirty="0">
                  <a:solidFill>
                    <a:schemeClr val="tx1">
                      <a:lumMod val="75000"/>
                      <a:lumOff val="25000"/>
                    </a:schemeClr>
                  </a:solidFill>
                </a:rPr>
                <a:t>2</a:t>
              </a:r>
              <a:r>
                <a:rPr lang="en-US" baseline="30000" dirty="0">
                  <a:solidFill>
                    <a:schemeClr val="tx1">
                      <a:lumMod val="75000"/>
                      <a:lumOff val="25000"/>
                    </a:schemeClr>
                  </a:solidFill>
                </a:rPr>
                <a:t>nd</a:t>
              </a:r>
              <a:r>
                <a:rPr lang="en-US" dirty="0">
                  <a:solidFill>
                    <a:schemeClr val="tx1">
                      <a:lumMod val="75000"/>
                      <a:lumOff val="25000"/>
                    </a:schemeClr>
                  </a:solidFill>
                </a:rPr>
                <a:t> column: changes dying to surviving</a:t>
              </a:r>
            </a:p>
          </p:txBody>
        </p:sp>
      </p:grpSp>
      <p:grpSp>
        <p:nvGrpSpPr>
          <p:cNvPr id="22" name="Group 21"/>
          <p:cNvGrpSpPr/>
          <p:nvPr/>
        </p:nvGrpSpPr>
        <p:grpSpPr>
          <a:xfrm>
            <a:off x="748670" y="4445337"/>
            <a:ext cx="3950170" cy="1041063"/>
            <a:chOff x="748670" y="4445337"/>
            <a:chExt cx="3950170" cy="1041063"/>
          </a:xfrm>
        </p:grpSpPr>
        <p:sp>
          <p:nvSpPr>
            <p:cNvPr id="20" name="TextBox 19"/>
            <p:cNvSpPr txBox="1"/>
            <p:nvPr/>
          </p:nvSpPr>
          <p:spPr>
            <a:xfrm>
              <a:off x="748670" y="5117068"/>
              <a:ext cx="3784922" cy="369332"/>
            </a:xfrm>
            <a:prstGeom prst="rect">
              <a:avLst/>
            </a:prstGeom>
            <a:noFill/>
          </p:spPr>
          <p:txBody>
            <a:bodyPr wrap="square" rtlCol="0">
              <a:spAutoFit/>
            </a:bodyPr>
            <a:lstStyle/>
            <a:p>
              <a:pPr algn="r"/>
              <a:r>
                <a:rPr lang="en-US" dirty="0">
                  <a:solidFill>
                    <a:schemeClr val="tx1">
                      <a:lumMod val="75000"/>
                      <a:lumOff val="25000"/>
                    </a:schemeClr>
                  </a:solidFill>
                </a:rPr>
                <a:t>3</a:t>
              </a:r>
              <a:r>
                <a:rPr lang="en-US" baseline="30000" dirty="0">
                  <a:solidFill>
                    <a:schemeClr val="tx1">
                      <a:lumMod val="75000"/>
                      <a:lumOff val="25000"/>
                    </a:schemeClr>
                  </a:solidFill>
                </a:rPr>
                <a:t>rd</a:t>
              </a:r>
              <a:r>
                <a:rPr lang="en-US" dirty="0">
                  <a:solidFill>
                    <a:schemeClr val="tx1">
                      <a:lumMod val="75000"/>
                      <a:lumOff val="25000"/>
                    </a:schemeClr>
                  </a:solidFill>
                </a:rPr>
                <a:t> </a:t>
              </a:r>
              <a:r>
                <a:rPr lang="en-US" err="1">
                  <a:solidFill>
                    <a:schemeClr val="tx1">
                      <a:lumMod val="75000"/>
                      <a:lumOff val="25000"/>
                    </a:schemeClr>
                  </a:solidFill>
                </a:rPr>
                <a:t>column</a:t>
              </a:r>
              <a:r>
                <a:rPr lang="en-US">
                  <a:solidFill>
                    <a:schemeClr val="tx1">
                      <a:lumMod val="75000"/>
                      <a:lumOff val="25000"/>
                    </a:schemeClr>
                  </a:solidFill>
                </a:rPr>
                <a:t>: changes </a:t>
              </a:r>
              <a:r>
                <a:rPr lang="en-US" dirty="0">
                  <a:solidFill>
                    <a:schemeClr val="tx1">
                      <a:lumMod val="75000"/>
                      <a:lumOff val="25000"/>
                    </a:schemeClr>
                  </a:solidFill>
                </a:rPr>
                <a:t>females to males</a:t>
              </a:r>
            </a:p>
          </p:txBody>
        </p:sp>
        <p:cxnSp>
          <p:nvCxnSpPr>
            <p:cNvPr id="21" name="Straight Arrow Connector 20"/>
            <p:cNvCxnSpPr/>
            <p:nvPr/>
          </p:nvCxnSpPr>
          <p:spPr>
            <a:xfrm flipV="1">
              <a:off x="3503445" y="4445337"/>
              <a:ext cx="1195395" cy="73626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4" name="Group 23"/>
          <p:cNvGrpSpPr/>
          <p:nvPr/>
        </p:nvGrpSpPr>
        <p:grpSpPr>
          <a:xfrm>
            <a:off x="3886200" y="4388687"/>
            <a:ext cx="3784922" cy="1570020"/>
            <a:chOff x="3886200" y="4388687"/>
            <a:chExt cx="3784922" cy="1570020"/>
          </a:xfrm>
        </p:grpSpPr>
        <p:cxnSp>
          <p:nvCxnSpPr>
            <p:cNvPr id="23" name="Straight Arrow Connector 22"/>
            <p:cNvCxnSpPr/>
            <p:nvPr/>
          </p:nvCxnSpPr>
          <p:spPr>
            <a:xfrm flipH="1" flipV="1">
              <a:off x="5272032" y="4388687"/>
              <a:ext cx="439793" cy="11277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886200" y="5589375"/>
              <a:ext cx="3784922" cy="369332"/>
            </a:xfrm>
            <a:prstGeom prst="rect">
              <a:avLst/>
            </a:prstGeom>
            <a:noFill/>
          </p:spPr>
          <p:txBody>
            <a:bodyPr wrap="square" rtlCol="0">
              <a:spAutoFit/>
            </a:bodyPr>
            <a:lstStyle/>
            <a:p>
              <a:pPr algn="r"/>
              <a:r>
                <a:rPr lang="en-US" dirty="0">
                  <a:solidFill>
                    <a:schemeClr val="tx1">
                      <a:lumMod val="75000"/>
                      <a:lumOff val="25000"/>
                    </a:schemeClr>
                  </a:solidFill>
                </a:rPr>
                <a:t>4</a:t>
              </a:r>
              <a:r>
                <a:rPr lang="en-US" baseline="30000" dirty="0">
                  <a:solidFill>
                    <a:schemeClr val="tx1">
                      <a:lumMod val="75000"/>
                      <a:lumOff val="25000"/>
                    </a:schemeClr>
                  </a:solidFill>
                </a:rPr>
                <a:t>th</a:t>
              </a:r>
              <a:r>
                <a:rPr lang="en-US" dirty="0">
                  <a:solidFill>
                    <a:schemeClr val="tx1">
                      <a:lumMod val="75000"/>
                      <a:lumOff val="25000"/>
                    </a:schemeClr>
                  </a:solidFill>
                </a:rPr>
                <a:t> column: multiplies the other three</a:t>
              </a:r>
            </a:p>
          </p:txBody>
        </p:sp>
      </p:grpSp>
      <p:sp>
        <p:nvSpPr>
          <p:cNvPr id="9" name="Rectangle 8"/>
          <p:cNvSpPr/>
          <p:nvPr/>
        </p:nvSpPr>
        <p:spPr>
          <a:xfrm>
            <a:off x="3503445" y="2517510"/>
            <a:ext cx="1449555" cy="1841171"/>
          </a:xfrm>
          <a:prstGeom prst="rect">
            <a:avLst/>
          </a:prstGeom>
          <a:solidFill>
            <a:srgbClr val="92D050">
              <a:alpha val="46000"/>
            </a:srgb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Arrow 9"/>
          <p:cNvSpPr/>
          <p:nvPr/>
        </p:nvSpPr>
        <p:spPr>
          <a:xfrm rot="19765807">
            <a:off x="4978137" y="2204608"/>
            <a:ext cx="533400" cy="190500"/>
          </a:xfrm>
          <a:prstGeom prst="leftArrow">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5477084" y="1383750"/>
            <a:ext cx="2350170" cy="923330"/>
          </a:xfrm>
          <a:prstGeom prst="rect">
            <a:avLst/>
          </a:prstGeom>
          <a:noFill/>
        </p:spPr>
        <p:txBody>
          <a:bodyPr wrap="square" rtlCol="0">
            <a:spAutoFit/>
          </a:bodyPr>
          <a:lstStyle/>
          <a:p>
            <a:r>
              <a:rPr lang="en-US" dirty="0">
                <a:solidFill>
                  <a:schemeClr val="tx1">
                    <a:lumMod val="75000"/>
                    <a:lumOff val="25000"/>
                  </a:schemeClr>
                </a:solidFill>
              </a:rPr>
              <a:t>Binary description for all possible population-sex groups</a:t>
            </a:r>
          </a:p>
        </p:txBody>
      </p:sp>
      <p:sp>
        <p:nvSpPr>
          <p:cNvPr id="32" name="Oval 31"/>
          <p:cNvSpPr/>
          <p:nvPr/>
        </p:nvSpPr>
        <p:spPr>
          <a:xfrm>
            <a:off x="5055617" y="3962400"/>
            <a:ext cx="367956" cy="346400"/>
          </a:xfrm>
          <a:prstGeom prst="ellipse">
            <a:avLst/>
          </a:prstGeom>
          <a:noFill/>
          <a:ln w="38100" cmpd="sng">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p:cNvSpPr txBox="1"/>
          <p:nvPr/>
        </p:nvSpPr>
        <p:spPr>
          <a:xfrm>
            <a:off x="6402779" y="3168213"/>
            <a:ext cx="1865422" cy="1754326"/>
          </a:xfrm>
          <a:prstGeom prst="rect">
            <a:avLst/>
          </a:prstGeom>
          <a:noFill/>
        </p:spPr>
        <p:txBody>
          <a:bodyPr wrap="square" rtlCol="0">
            <a:spAutoFit/>
          </a:bodyPr>
          <a:lstStyle/>
          <a:p>
            <a:r>
              <a:rPr lang="en-US" dirty="0">
                <a:solidFill>
                  <a:schemeClr val="tx1">
                    <a:lumMod val="75000"/>
                    <a:lumOff val="25000"/>
                  </a:schemeClr>
                </a:solidFill>
              </a:rPr>
              <a:t>Parameter allows to determine if e.g., die-survive change is greater or less in males than in females</a:t>
            </a:r>
          </a:p>
        </p:txBody>
      </p:sp>
      <p:sp>
        <p:nvSpPr>
          <p:cNvPr id="34" name="Left Arrow 33"/>
          <p:cNvSpPr/>
          <p:nvPr/>
        </p:nvSpPr>
        <p:spPr>
          <a:xfrm>
            <a:off x="5522912" y="4052127"/>
            <a:ext cx="861508" cy="192247"/>
          </a:xfrm>
          <a:prstGeom prst="leftArrow">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3697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up)">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31" grpId="0"/>
      <p:bldP spid="32" grpId="0" animBg="1"/>
      <p:bldP spid="33" grpId="0"/>
      <p:bldP spid="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Table 65"/>
          <p:cNvGraphicFramePr>
            <a:graphicFrameLocks noGrp="1"/>
          </p:cNvGraphicFramePr>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Factorial models </a:t>
                      </a:r>
                      <a:r>
                        <a:rPr lang="mr-IN" dirty="0">
                          <a:solidFill>
                            <a:schemeClr val="tx2">
                              <a:lumMod val="75000"/>
                            </a:schemeClr>
                          </a:solidFill>
                        </a:rPr>
                        <a:t>–</a:t>
                      </a:r>
                      <a:r>
                        <a:rPr lang="en-US" dirty="0">
                          <a:solidFill>
                            <a:schemeClr val="tx2">
                              <a:lumMod val="75000"/>
                            </a:schemeClr>
                          </a:solidFill>
                        </a:rPr>
                        <a:t> design matrix</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31</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017861589"/>
              </p:ext>
            </p:extLst>
          </p:nvPr>
        </p:nvGraphicFramePr>
        <p:xfrm>
          <a:off x="762000" y="990600"/>
          <a:ext cx="2968625" cy="2057400"/>
        </p:xfrm>
        <a:graphic>
          <a:graphicData uri="http://schemas.openxmlformats.org/presentationml/2006/ole">
            <mc:AlternateContent xmlns:mc="http://schemas.openxmlformats.org/markup-compatibility/2006">
              <mc:Choice xmlns:v="urn:schemas-microsoft-com:vml" Requires="v">
                <p:oleObj name="Equation" r:id="rId2" imgW="1282700" imgH="889000" progId="Equation.3">
                  <p:embed/>
                </p:oleObj>
              </mc:Choice>
              <mc:Fallback>
                <p:oleObj name="Equation" r:id="rId2" imgW="1282700" imgH="889000" progId="Equation.3">
                  <p:embed/>
                  <p:pic>
                    <p:nvPicPr>
                      <p:cNvPr id="0" name=""/>
                      <p:cNvPicPr/>
                      <p:nvPr/>
                    </p:nvPicPr>
                    <p:blipFill>
                      <a:blip r:embed="rId3"/>
                      <a:stretch>
                        <a:fillRect/>
                      </a:stretch>
                    </p:blipFill>
                    <p:spPr>
                      <a:xfrm>
                        <a:off x="762000" y="990600"/>
                        <a:ext cx="2968625" cy="2057400"/>
                      </a:xfrm>
                      <a:prstGeom prst="rect">
                        <a:avLst/>
                      </a:prstGeom>
                    </p:spPr>
                  </p:pic>
                </p:oleObj>
              </mc:Fallback>
            </mc:AlternateContent>
          </a:graphicData>
        </a:graphic>
      </p:graphicFrame>
      <p:graphicFrame>
        <p:nvGraphicFramePr>
          <p:cNvPr id="25" name="Object 24"/>
          <p:cNvGraphicFramePr>
            <a:graphicFrameLocks noChangeAspect="1"/>
          </p:cNvGraphicFramePr>
          <p:nvPr>
            <p:extLst>
              <p:ext uri="{D42A27DB-BD31-4B8C-83A1-F6EECF244321}">
                <p14:modId xmlns:p14="http://schemas.microsoft.com/office/powerpoint/2010/main" val="918311749"/>
              </p:ext>
            </p:extLst>
          </p:nvPr>
        </p:nvGraphicFramePr>
        <p:xfrm>
          <a:off x="1066800" y="4267200"/>
          <a:ext cx="2435225" cy="1687728"/>
        </p:xfrm>
        <a:graphic>
          <a:graphicData uri="http://schemas.openxmlformats.org/presentationml/2006/ole">
            <mc:AlternateContent xmlns:mc="http://schemas.openxmlformats.org/markup-compatibility/2006">
              <mc:Choice xmlns:v="urn:schemas-microsoft-com:vml" Requires="v">
                <p:oleObj name="Equation" r:id="rId4" imgW="1282700" imgH="889000" progId="Equation.3">
                  <p:embed/>
                </p:oleObj>
              </mc:Choice>
              <mc:Fallback>
                <p:oleObj name="Equation" r:id="rId4" imgW="1282700" imgH="889000" progId="Equation.3">
                  <p:embed/>
                  <p:pic>
                    <p:nvPicPr>
                      <p:cNvPr id="0" name=""/>
                      <p:cNvPicPr/>
                      <p:nvPr/>
                    </p:nvPicPr>
                    <p:blipFill>
                      <a:blip r:embed="rId5"/>
                      <a:stretch>
                        <a:fillRect/>
                      </a:stretch>
                    </p:blipFill>
                    <p:spPr>
                      <a:xfrm>
                        <a:off x="1066800" y="4267200"/>
                        <a:ext cx="2435225" cy="1687728"/>
                      </a:xfrm>
                      <a:prstGeom prst="rect">
                        <a:avLst/>
                      </a:prstGeom>
                    </p:spPr>
                  </p:pic>
                </p:oleObj>
              </mc:Fallback>
            </mc:AlternateContent>
          </a:graphicData>
        </a:graphic>
      </p:graphicFrame>
      <p:sp>
        <p:nvSpPr>
          <p:cNvPr id="27" name="TextBox 26"/>
          <p:cNvSpPr txBox="1"/>
          <p:nvPr/>
        </p:nvSpPr>
        <p:spPr>
          <a:xfrm>
            <a:off x="76200" y="3927556"/>
            <a:ext cx="2741221" cy="369332"/>
          </a:xfrm>
          <a:prstGeom prst="rect">
            <a:avLst/>
          </a:prstGeom>
          <a:noFill/>
        </p:spPr>
        <p:txBody>
          <a:bodyPr wrap="square" rtlCol="0">
            <a:spAutoFit/>
          </a:bodyPr>
          <a:lstStyle/>
          <a:p>
            <a:r>
              <a:rPr lang="en-US" dirty="0">
                <a:solidFill>
                  <a:schemeClr val="tx1">
                    <a:lumMod val="75000"/>
                    <a:lumOff val="25000"/>
                  </a:schemeClr>
                </a:solidFill>
              </a:rPr>
              <a:t>Single-factor </a:t>
            </a:r>
            <a:r>
              <a:rPr lang="en-US">
                <a:solidFill>
                  <a:schemeClr val="tx1">
                    <a:lumMod val="75000"/>
                    <a:lumOff val="25000"/>
                  </a:schemeClr>
                </a:solidFill>
              </a:rPr>
              <a:t>design matrix:</a:t>
            </a:r>
            <a:endParaRPr lang="en-US" dirty="0">
              <a:solidFill>
                <a:schemeClr val="tx1">
                  <a:lumMod val="75000"/>
                  <a:lumOff val="25000"/>
                </a:schemeClr>
              </a:solidFill>
            </a:endParaRPr>
          </a:p>
        </p:txBody>
      </p:sp>
      <p:sp>
        <p:nvSpPr>
          <p:cNvPr id="2" name="Rectangle 1"/>
          <p:cNvSpPr/>
          <p:nvPr/>
        </p:nvSpPr>
        <p:spPr>
          <a:xfrm>
            <a:off x="4267200" y="1828800"/>
            <a:ext cx="4572000" cy="3170099"/>
          </a:xfrm>
          <a:prstGeom prst="rect">
            <a:avLst/>
          </a:prstGeom>
        </p:spPr>
        <p:txBody>
          <a:bodyPr>
            <a:spAutoFit/>
          </a:bodyPr>
          <a:lstStyle/>
          <a:p>
            <a:r>
              <a:rPr lang="en-US" sz="2000" dirty="0">
                <a:solidFill>
                  <a:schemeClr val="tx1">
                    <a:lumMod val="75000"/>
                    <a:lumOff val="25000"/>
                  </a:schemeClr>
                </a:solidFill>
              </a:rPr>
              <a:t>Sequentially removing the columns from the factorial model design matrix produces another viable model; doing the same with the single-factor model does not.  </a:t>
            </a:r>
          </a:p>
          <a:p>
            <a:endParaRPr lang="en-US" sz="2000" dirty="0">
              <a:solidFill>
                <a:schemeClr val="tx1">
                  <a:lumMod val="75000"/>
                  <a:lumOff val="25000"/>
                </a:schemeClr>
              </a:solidFill>
            </a:endParaRPr>
          </a:p>
          <a:p>
            <a:r>
              <a:rPr lang="en-US" sz="2000" dirty="0">
                <a:solidFill>
                  <a:schemeClr val="tx1">
                    <a:lumMod val="75000"/>
                    <a:lumOff val="25000"/>
                  </a:schemeClr>
                </a:solidFill>
              </a:rPr>
              <a:t>Factorial MANOVA is a system of comparing “reduced” and “full” models in a logical way (we will present a sequential method of comparison).</a:t>
            </a:r>
          </a:p>
        </p:txBody>
      </p:sp>
    </p:spTree>
    <p:extLst>
      <p:ext uri="{BB962C8B-B14F-4D97-AF65-F5344CB8AC3E}">
        <p14:creationId xmlns:p14="http://schemas.microsoft.com/office/powerpoint/2010/main" val="176829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137389247"/>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3"/>
                  </a:ext>
                </a:extLst>
              </a:tr>
            </a:tbl>
          </a:graphicData>
        </a:graphic>
      </p:graphicFrame>
      <p:graphicFrame>
        <p:nvGraphicFramePr>
          <p:cNvPr id="8" name="Object 7"/>
          <p:cNvGraphicFramePr>
            <a:graphicFrameLocks noChangeAspect="1"/>
          </p:cNvGraphicFramePr>
          <p:nvPr/>
        </p:nvGraphicFramePr>
        <p:xfrm>
          <a:off x="1738135" y="2276475"/>
          <a:ext cx="808038" cy="1028700"/>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1738135" y="2276475"/>
                        <a:ext cx="808038" cy="1028700"/>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3155377" y="2263742"/>
          <a:ext cx="1057275" cy="1028700"/>
        </p:xfrm>
        <a:graphic>
          <a:graphicData uri="http://schemas.openxmlformats.org/presentationml/2006/ole">
            <mc:AlternateContent xmlns:mc="http://schemas.openxmlformats.org/markup-compatibility/2006">
              <mc:Choice xmlns:v="urn:schemas-microsoft-com:vml" Requires="v">
                <p:oleObj name="Equation" r:id="rId4" imgW="914400" imgH="889000" progId="Equation.3">
                  <p:embed/>
                </p:oleObj>
              </mc:Choice>
              <mc:Fallback>
                <p:oleObj name="Equation" r:id="rId4" imgW="914400" imgH="889000" progId="Equation.3">
                  <p:embed/>
                  <p:pic>
                    <p:nvPicPr>
                      <p:cNvPr id="0" name=""/>
                      <p:cNvPicPr/>
                      <p:nvPr/>
                    </p:nvPicPr>
                    <p:blipFill>
                      <a:blip r:embed="rId5"/>
                      <a:stretch>
                        <a:fillRect/>
                      </a:stretch>
                    </p:blipFill>
                    <p:spPr>
                      <a:xfrm>
                        <a:off x="3155377" y="2263742"/>
                        <a:ext cx="1057275" cy="1028700"/>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1628598" y="3651250"/>
          <a:ext cx="1071562" cy="1028700"/>
        </p:xfrm>
        <a:graphic>
          <a:graphicData uri="http://schemas.openxmlformats.org/presentationml/2006/ole">
            <mc:AlternateContent xmlns:mc="http://schemas.openxmlformats.org/markup-compatibility/2006">
              <mc:Choice xmlns:v="urn:schemas-microsoft-com:vml" Requires="v">
                <p:oleObj name="Equation" r:id="rId6" imgW="927100" imgH="889000" progId="Equation.3">
                  <p:embed/>
                </p:oleObj>
              </mc:Choice>
              <mc:Fallback>
                <p:oleObj name="Equation" r:id="rId6" imgW="927100" imgH="889000" progId="Equation.3">
                  <p:embed/>
                  <p:pic>
                    <p:nvPicPr>
                      <p:cNvPr id="0" name=""/>
                      <p:cNvPicPr/>
                      <p:nvPr/>
                    </p:nvPicPr>
                    <p:blipFill>
                      <a:blip r:embed="rId7"/>
                      <a:stretch>
                        <a:fillRect/>
                      </a:stretch>
                    </p:blipFill>
                    <p:spPr>
                      <a:xfrm>
                        <a:off x="1628598" y="3651250"/>
                        <a:ext cx="1071562" cy="1028700"/>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3056083" y="3651250"/>
          <a:ext cx="1306512" cy="1028700"/>
        </p:xfrm>
        <a:graphic>
          <a:graphicData uri="http://schemas.openxmlformats.org/presentationml/2006/ole">
            <mc:AlternateContent xmlns:mc="http://schemas.openxmlformats.org/markup-compatibility/2006">
              <mc:Choice xmlns:v="urn:schemas-microsoft-com:vml" Requires="v">
                <p:oleObj name="Equation" r:id="rId8" imgW="1130300" imgH="889000" progId="Equation.3">
                  <p:embed/>
                </p:oleObj>
              </mc:Choice>
              <mc:Fallback>
                <p:oleObj name="Equation" r:id="rId8" imgW="1130300" imgH="889000" progId="Equation.3">
                  <p:embed/>
                  <p:pic>
                    <p:nvPicPr>
                      <p:cNvPr id="0" name=""/>
                      <p:cNvPicPr/>
                      <p:nvPr/>
                    </p:nvPicPr>
                    <p:blipFill>
                      <a:blip r:embed="rId9"/>
                      <a:stretch>
                        <a:fillRect/>
                      </a:stretch>
                    </p:blipFill>
                    <p:spPr>
                      <a:xfrm>
                        <a:off x="3056083" y="3651250"/>
                        <a:ext cx="1306512" cy="1028700"/>
                      </a:xfrm>
                      <a:prstGeom prst="rect">
                        <a:avLst/>
                      </a:prstGeom>
                    </p:spPr>
                  </p:pic>
                </p:oleObj>
              </mc:Fallback>
            </mc:AlternateContent>
          </a:graphicData>
        </a:graphic>
      </p:graphicFrame>
      <p:graphicFrame>
        <p:nvGraphicFramePr>
          <p:cNvPr id="13" name="Object 12"/>
          <p:cNvGraphicFramePr>
            <a:graphicFrameLocks noChangeAspect="1"/>
          </p:cNvGraphicFramePr>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10" imgW="1143000" imgH="889000" progId="Equation.3">
                  <p:embed/>
                </p:oleObj>
              </mc:Choice>
              <mc:Fallback>
                <p:oleObj name="Equation" r:id="rId10" imgW="1143000" imgH="889000" progId="Equation.3">
                  <p:embed/>
                  <p:pic>
                    <p:nvPicPr>
                      <p:cNvPr id="0" name=""/>
                      <p:cNvPicPr/>
                      <p:nvPr/>
                    </p:nvPicPr>
                    <p:blipFill>
                      <a:blip r:embed="rId11"/>
                      <a:stretch>
                        <a:fillRect/>
                      </a:stretch>
                    </p:blipFill>
                    <p:spPr>
                      <a:xfrm>
                        <a:off x="1504555" y="5049370"/>
                        <a:ext cx="1320800" cy="1028700"/>
                      </a:xfrm>
                      <a:prstGeom prst="rect">
                        <a:avLst/>
                      </a:prstGeom>
                    </p:spPr>
                  </p:pic>
                </p:oleObj>
              </mc:Fallback>
            </mc:AlternateContent>
          </a:graphicData>
        </a:graphic>
      </p:graphicFrame>
      <p:graphicFrame>
        <p:nvGraphicFramePr>
          <p:cNvPr id="14" name="Object 13"/>
          <p:cNvGraphicFramePr>
            <a:graphicFrameLocks noChangeAspect="1"/>
          </p:cNvGraphicFramePr>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12" imgW="1358900" imgH="889000" progId="Equation.3">
                  <p:embed/>
                </p:oleObj>
              </mc:Choice>
              <mc:Fallback>
                <p:oleObj name="Equation" r:id="rId12" imgW="1358900" imgH="889000" progId="Equation.3">
                  <p:embed/>
                  <p:pic>
                    <p:nvPicPr>
                      <p:cNvPr id="0" name=""/>
                      <p:cNvPicPr/>
                      <p:nvPr/>
                    </p:nvPicPr>
                    <p:blipFill>
                      <a:blip r:embed="rId13"/>
                      <a:stretch>
                        <a:fillRect/>
                      </a:stretch>
                    </p:blipFill>
                    <p:spPr>
                      <a:xfrm>
                        <a:off x="2929985" y="5037968"/>
                        <a:ext cx="1570038" cy="1028700"/>
                      </a:xfrm>
                      <a:prstGeom prst="rect">
                        <a:avLst/>
                      </a:prstGeom>
                    </p:spPr>
                  </p:pic>
                </p:oleObj>
              </mc:Fallback>
            </mc:AlternateContent>
          </a:graphicData>
        </a:graphic>
      </p:graphicFrame>
      <p:sp>
        <p:nvSpPr>
          <p:cNvPr id="4" name="TextBox 3"/>
          <p:cNvSpPr txBox="1"/>
          <p:nvPr/>
        </p:nvSpPr>
        <p:spPr>
          <a:xfrm>
            <a:off x="5008949" y="1143000"/>
            <a:ext cx="3677852" cy="1754327"/>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dirty="0">
                <a:solidFill>
                  <a:schemeClr val="tx1">
                    <a:lumMod val="75000"/>
                    <a:lumOff val="25000"/>
                  </a:schemeClr>
                </a:solidFill>
              </a:rPr>
              <a:t>Factorial MANOVA is simply calculating SSCPS and test statistics for each model comparison and evaluating their significance </a:t>
            </a:r>
            <a:endParaRPr lang="el-GR" dirty="0">
              <a:solidFill>
                <a:schemeClr val="tx1">
                  <a:lumMod val="75000"/>
                  <a:lumOff val="25000"/>
                </a:schemeClr>
              </a:solidFill>
            </a:endParaRPr>
          </a:p>
          <a:p>
            <a:pPr algn="ctr"/>
            <a:r>
              <a:rPr lang="en-US" dirty="0">
                <a:solidFill>
                  <a:schemeClr val="tx1">
                    <a:lumMod val="75000"/>
                    <a:lumOff val="25000"/>
                  </a:schemeClr>
                </a:solidFill>
              </a:rPr>
              <a:t>(based on the appropriate null [reduced] model, in each case.)</a:t>
            </a:r>
          </a:p>
        </p:txBody>
      </p:sp>
      <p:graphicFrame>
        <p:nvGraphicFramePr>
          <p:cNvPr id="15" name="Table 14"/>
          <p:cNvGraphicFramePr>
            <a:graphicFrameLocks noGrp="1"/>
          </p:cNvGraphicFramePr>
          <p:nvPr>
            <p:extLst>
              <p:ext uri="{D42A27DB-BD31-4B8C-83A1-F6EECF244321}">
                <p14:modId xmlns:p14="http://schemas.microsoft.com/office/powerpoint/2010/main" val="595165882"/>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Sequential</a:t>
                      </a:r>
                      <a:r>
                        <a:rPr lang="pt-PT" dirty="0">
                          <a:solidFill>
                            <a:schemeClr val="tx2">
                              <a:lumMod val="75000"/>
                            </a:schemeClr>
                          </a:solidFill>
                        </a:rPr>
                        <a:t> 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32</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pSp>
        <p:nvGrpSpPr>
          <p:cNvPr id="17" name="Group 16"/>
          <p:cNvGrpSpPr/>
          <p:nvPr/>
        </p:nvGrpSpPr>
        <p:grpSpPr>
          <a:xfrm>
            <a:off x="5250678" y="3657600"/>
            <a:ext cx="3131322" cy="2971800"/>
            <a:chOff x="1248874" y="938213"/>
            <a:chExt cx="6788922" cy="5919787"/>
          </a:xfrm>
        </p:grpSpPr>
        <p:pic>
          <p:nvPicPr>
            <p:cNvPr id="18" name="Picture 17"/>
            <p:cNvPicPr>
              <a:picLocks noChangeAspect="1"/>
            </p:cNvPicPr>
            <p:nvPr/>
          </p:nvPicPr>
          <p:blipFill rotWithShape="1">
            <a:blip r:embed="rId14">
              <a:extLst>
                <a:ext uri="{28A0092B-C50C-407E-A947-70E740481C1C}">
                  <a14:useLocalDpi xmlns:a14="http://schemas.microsoft.com/office/drawing/2010/main" val="0"/>
                </a:ext>
              </a:extLst>
            </a:blip>
            <a:srcRect t="11149" r="5100"/>
            <a:stretch/>
          </p:blipFill>
          <p:spPr>
            <a:xfrm>
              <a:off x="1248874" y="938213"/>
              <a:ext cx="6788922" cy="5919787"/>
            </a:xfrm>
            <a:prstGeom prst="rect">
              <a:avLst/>
            </a:prstGeom>
          </p:spPr>
        </p:pic>
        <p:sp>
          <p:nvSpPr>
            <p:cNvPr id="19" name="TextBox 18"/>
            <p:cNvSpPr txBox="1"/>
            <p:nvPr/>
          </p:nvSpPr>
          <p:spPr>
            <a:xfrm>
              <a:off x="5852101" y="4696443"/>
              <a:ext cx="2120703" cy="1164864"/>
            </a:xfrm>
            <a:prstGeom prst="rect">
              <a:avLst/>
            </a:prstGeom>
            <a:noFill/>
          </p:spPr>
          <p:txBody>
            <a:bodyPr wrap="none" rtlCol="0">
              <a:spAutoFit/>
            </a:bodyPr>
            <a:lstStyle/>
            <a:p>
              <a:r>
                <a:rPr lang="en-US" sz="800" dirty="0"/>
                <a:t>Males – survived</a:t>
              </a:r>
            </a:p>
            <a:p>
              <a:r>
                <a:rPr lang="en-US" sz="800" dirty="0"/>
                <a:t>Females – survived</a:t>
              </a:r>
            </a:p>
            <a:p>
              <a:r>
                <a:rPr lang="en-US" sz="800" dirty="0"/>
                <a:t>Males – died</a:t>
              </a:r>
            </a:p>
            <a:p>
              <a:r>
                <a:rPr lang="en-US" sz="800" dirty="0"/>
                <a:t>Females – died</a:t>
              </a:r>
            </a:p>
          </p:txBody>
        </p:sp>
        <p:sp>
          <p:nvSpPr>
            <p:cNvPr id="20" name="Oval 19"/>
            <p:cNvSpPr/>
            <p:nvPr/>
          </p:nvSpPr>
          <p:spPr>
            <a:xfrm>
              <a:off x="5724232" y="5042492"/>
              <a:ext cx="152400" cy="152400"/>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724232" y="4784683"/>
              <a:ext cx="152400" cy="152400"/>
            </a:xfrm>
            <a:prstGeom prst="ellips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10"/>
            <p:cNvSpPr/>
            <p:nvPr/>
          </p:nvSpPr>
          <p:spPr>
            <a:xfrm flipV="1">
              <a:off x="5724232" y="5580185"/>
              <a:ext cx="152400" cy="152400"/>
            </a:xfrm>
            <a:prstGeom prs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11"/>
            <p:cNvSpPr/>
            <p:nvPr/>
          </p:nvSpPr>
          <p:spPr>
            <a:xfrm flipV="1">
              <a:off x="5724232" y="5310036"/>
              <a:ext cx="152400" cy="152400"/>
            </a:xfrm>
            <a:prstGeom prst="triangl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28635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405061437"/>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p>
                  </a:txBody>
                  <a:tcPr anchor="ctr"/>
                </a:tc>
                <a:tc>
                  <a:txBody>
                    <a:bodyPr/>
                    <a:lstStyle/>
                    <a:p>
                      <a:endParaRPr lang="en-US"/>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10003"/>
                  </a:ext>
                </a:extLst>
              </a:tr>
            </a:tbl>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537449238"/>
              </p:ext>
            </p:extLst>
          </p:nvPr>
        </p:nvGraphicFramePr>
        <p:xfrm>
          <a:off x="1738135" y="2276475"/>
          <a:ext cx="808038" cy="1028700"/>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1738135" y="2276475"/>
                        <a:ext cx="808038" cy="1028700"/>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1386102362"/>
              </p:ext>
            </p:extLst>
          </p:nvPr>
        </p:nvGraphicFramePr>
        <p:xfrm>
          <a:off x="3155377" y="2263742"/>
          <a:ext cx="1057275" cy="1028700"/>
        </p:xfrm>
        <a:graphic>
          <a:graphicData uri="http://schemas.openxmlformats.org/presentationml/2006/ole">
            <mc:AlternateContent xmlns:mc="http://schemas.openxmlformats.org/markup-compatibility/2006">
              <mc:Choice xmlns:v="urn:schemas-microsoft-com:vml" Requires="v">
                <p:oleObj name="Equation" r:id="rId4" imgW="914400" imgH="889000" progId="Equation.3">
                  <p:embed/>
                </p:oleObj>
              </mc:Choice>
              <mc:Fallback>
                <p:oleObj name="Equation" r:id="rId4" imgW="914400" imgH="889000" progId="Equation.3">
                  <p:embed/>
                  <p:pic>
                    <p:nvPicPr>
                      <p:cNvPr id="0" name=""/>
                      <p:cNvPicPr/>
                      <p:nvPr/>
                    </p:nvPicPr>
                    <p:blipFill>
                      <a:blip r:embed="rId5"/>
                      <a:stretch>
                        <a:fillRect/>
                      </a:stretch>
                    </p:blipFill>
                    <p:spPr>
                      <a:xfrm>
                        <a:off x="3155377" y="2263742"/>
                        <a:ext cx="1057275" cy="102870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19795478"/>
              </p:ext>
            </p:extLst>
          </p:nvPr>
        </p:nvGraphicFramePr>
        <p:xfrm>
          <a:off x="1628598" y="3651250"/>
          <a:ext cx="1071562" cy="1028700"/>
        </p:xfrm>
        <a:graphic>
          <a:graphicData uri="http://schemas.openxmlformats.org/presentationml/2006/ole">
            <mc:AlternateContent xmlns:mc="http://schemas.openxmlformats.org/markup-compatibility/2006">
              <mc:Choice xmlns:v="urn:schemas-microsoft-com:vml" Requires="v">
                <p:oleObj name="Equation" r:id="rId6" imgW="927100" imgH="889000" progId="Equation.3">
                  <p:embed/>
                </p:oleObj>
              </mc:Choice>
              <mc:Fallback>
                <p:oleObj name="Equation" r:id="rId6" imgW="927100" imgH="889000" progId="Equation.3">
                  <p:embed/>
                  <p:pic>
                    <p:nvPicPr>
                      <p:cNvPr id="0" name=""/>
                      <p:cNvPicPr/>
                      <p:nvPr/>
                    </p:nvPicPr>
                    <p:blipFill>
                      <a:blip r:embed="rId7"/>
                      <a:stretch>
                        <a:fillRect/>
                      </a:stretch>
                    </p:blipFill>
                    <p:spPr>
                      <a:xfrm>
                        <a:off x="1628598" y="3651250"/>
                        <a:ext cx="1071562" cy="1028700"/>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1798513952"/>
              </p:ext>
            </p:extLst>
          </p:nvPr>
        </p:nvGraphicFramePr>
        <p:xfrm>
          <a:off x="3056083" y="3651250"/>
          <a:ext cx="1306512" cy="1028700"/>
        </p:xfrm>
        <a:graphic>
          <a:graphicData uri="http://schemas.openxmlformats.org/presentationml/2006/ole">
            <mc:AlternateContent xmlns:mc="http://schemas.openxmlformats.org/markup-compatibility/2006">
              <mc:Choice xmlns:v="urn:schemas-microsoft-com:vml" Requires="v">
                <p:oleObj name="Equation" r:id="rId8" imgW="1130300" imgH="889000" progId="Equation.3">
                  <p:embed/>
                </p:oleObj>
              </mc:Choice>
              <mc:Fallback>
                <p:oleObj name="Equation" r:id="rId8" imgW="1130300" imgH="889000" progId="Equation.3">
                  <p:embed/>
                  <p:pic>
                    <p:nvPicPr>
                      <p:cNvPr id="0" name=""/>
                      <p:cNvPicPr/>
                      <p:nvPr/>
                    </p:nvPicPr>
                    <p:blipFill>
                      <a:blip r:embed="rId9"/>
                      <a:stretch>
                        <a:fillRect/>
                      </a:stretch>
                    </p:blipFill>
                    <p:spPr>
                      <a:xfrm>
                        <a:off x="3056083" y="3651250"/>
                        <a:ext cx="1306512" cy="1028700"/>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791659739"/>
              </p:ext>
            </p:extLst>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10" imgW="1143000" imgH="889000" progId="Equation.3">
                  <p:embed/>
                </p:oleObj>
              </mc:Choice>
              <mc:Fallback>
                <p:oleObj name="Equation" r:id="rId10" imgW="1143000" imgH="889000" progId="Equation.3">
                  <p:embed/>
                  <p:pic>
                    <p:nvPicPr>
                      <p:cNvPr id="0" name=""/>
                      <p:cNvPicPr/>
                      <p:nvPr/>
                    </p:nvPicPr>
                    <p:blipFill>
                      <a:blip r:embed="rId11"/>
                      <a:stretch>
                        <a:fillRect/>
                      </a:stretch>
                    </p:blipFill>
                    <p:spPr>
                      <a:xfrm>
                        <a:off x="1504555" y="5049370"/>
                        <a:ext cx="1320800" cy="1028700"/>
                      </a:xfrm>
                      <a:prstGeom prst="rect">
                        <a:avLst/>
                      </a:prstGeom>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409535139"/>
              </p:ext>
            </p:extLst>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12" imgW="1358900" imgH="889000" progId="Equation.3">
                  <p:embed/>
                </p:oleObj>
              </mc:Choice>
              <mc:Fallback>
                <p:oleObj name="Equation" r:id="rId12" imgW="1358900" imgH="889000" progId="Equation.3">
                  <p:embed/>
                  <p:pic>
                    <p:nvPicPr>
                      <p:cNvPr id="0" name=""/>
                      <p:cNvPicPr/>
                      <p:nvPr/>
                    </p:nvPicPr>
                    <p:blipFill>
                      <a:blip r:embed="rId13"/>
                      <a:stretch>
                        <a:fillRect/>
                      </a:stretch>
                    </p:blipFill>
                    <p:spPr>
                      <a:xfrm>
                        <a:off x="2929985" y="5037968"/>
                        <a:ext cx="1570038" cy="1028700"/>
                      </a:xfrm>
                      <a:prstGeom prst="rect">
                        <a:avLst/>
                      </a:prstGeom>
                    </p:spPr>
                  </p:pic>
                </p:oleObj>
              </mc:Fallback>
            </mc:AlternateContent>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54322796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Sequential</a:t>
                      </a:r>
                      <a:r>
                        <a:rPr lang="pt-PT" dirty="0">
                          <a:solidFill>
                            <a:schemeClr val="tx2">
                              <a:lumMod val="75000"/>
                            </a:schemeClr>
                          </a:solidFill>
                        </a:rPr>
                        <a:t> 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33</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37" name="Table 36"/>
          <p:cNvGraphicFramePr>
            <a:graphicFrameLocks noGrp="1"/>
          </p:cNvGraphicFramePr>
          <p:nvPr>
            <p:extLst>
              <p:ext uri="{D42A27DB-BD31-4B8C-83A1-F6EECF244321}">
                <p14:modId xmlns:p14="http://schemas.microsoft.com/office/powerpoint/2010/main" val="371992538"/>
              </p:ext>
            </p:extLst>
          </p:nvPr>
        </p:nvGraphicFramePr>
        <p:xfrm>
          <a:off x="4946070" y="1224052"/>
          <a:ext cx="3741883" cy="914400"/>
        </p:xfrm>
        <a:graphic>
          <a:graphicData uri="http://schemas.openxmlformats.org/drawingml/2006/table">
            <a:tbl>
              <a:tblPr firstRow="1" bandRow="1">
                <a:tableStyleId>{69CF1AB2-1976-4502-BF36-3FF5EA218861}</a:tableStyleId>
              </a:tblPr>
              <a:tblGrid>
                <a:gridCol w="1981201">
                  <a:extLst>
                    <a:ext uri="{9D8B030D-6E8A-4147-A177-3AD203B41FA5}">
                      <a16:colId xmlns:a16="http://schemas.microsoft.com/office/drawing/2014/main" val="20000"/>
                    </a:ext>
                  </a:extLst>
                </a:gridCol>
                <a:gridCol w="1760682">
                  <a:extLst>
                    <a:ext uri="{9D8B030D-6E8A-4147-A177-3AD203B41FA5}">
                      <a16:colId xmlns:a16="http://schemas.microsoft.com/office/drawing/2014/main" val="20001"/>
                    </a:ext>
                  </a:extLst>
                </a:gridCol>
              </a:tblGrid>
              <a:tr h="4572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4572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bl>
          </a:graphicData>
        </a:graphic>
      </p:graphicFrame>
      <p:grpSp>
        <p:nvGrpSpPr>
          <p:cNvPr id="4" name="Group 3"/>
          <p:cNvGrpSpPr/>
          <p:nvPr/>
        </p:nvGrpSpPr>
        <p:grpSpPr>
          <a:xfrm>
            <a:off x="4975839" y="1219200"/>
            <a:ext cx="1951432" cy="936983"/>
            <a:chOff x="810475" y="4881180"/>
            <a:chExt cx="1951432" cy="936983"/>
          </a:xfrm>
        </p:grpSpPr>
        <mc:AlternateContent xmlns:mc="http://schemas.openxmlformats.org/markup-compatibility/2006" xmlns:a14="http://schemas.microsoft.com/office/drawing/2010/main">
          <mc:Choice Requires="a14">
            <p:sp>
              <p:nvSpPr>
                <p:cNvPr id="42" name="Rectangle 41"/>
                <p:cNvSpPr/>
                <p:nvPr/>
              </p:nvSpPr>
              <p:spPr>
                <a:xfrm>
                  <a:off x="810475" y="4881180"/>
                  <a:ext cx="1951432" cy="4081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000" b="1" i="1" smtClean="0">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i="0" smtClean="0">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𝐑</m:t>
                                </m:r>
                              </m:sub>
                            </m:sSub>
                          </m:e>
                        </m:acc>
                        <m:r>
                          <a:rPr lang="en-US" sz="2000" b="1">
                            <a:solidFill>
                              <a:schemeClr val="tx1">
                                <a:lumMod val="75000"/>
                                <a:lumOff val="25000"/>
                              </a:schemeClr>
                            </a:solidFill>
                            <a:latin typeface="Cambria Math"/>
                          </a:rPr>
                          <m:t>=</m:t>
                        </m:r>
                        <m:r>
                          <a:rPr lang="pt-PT" sz="2000" b="1" i="0" smtClean="0">
                            <a:solidFill>
                              <a:schemeClr val="tx1">
                                <a:lumMod val="75000"/>
                                <a:lumOff val="25000"/>
                              </a:schemeClr>
                            </a:solidFill>
                            <a:latin typeface="Cambria Math" charset="0"/>
                          </a:rPr>
                          <m:t>𝐘</m:t>
                        </m:r>
                        <m:r>
                          <a:rPr lang="en-US" sz="2000" b="1">
                            <a:solidFill>
                              <a:schemeClr val="tx1">
                                <a:lumMod val="75000"/>
                                <a:lumOff val="25000"/>
                              </a:schemeClr>
                            </a:solidFill>
                            <a:latin typeface="Cambria Math"/>
                          </a:rPr>
                          <m:t>−</m:t>
                        </m:r>
                        <m:sSub>
                          <m:sSubPr>
                            <m:ctrlPr>
                              <a:rPr lang="en-US" sz="2000" b="1" i="1">
                                <a:solidFill>
                                  <a:schemeClr val="tx1">
                                    <a:lumMod val="75000"/>
                                    <a:lumOff val="25000"/>
                                  </a:schemeClr>
                                </a:solidFill>
                                <a:latin typeface="Cambria Math" panose="02040503050406030204" pitchFamily="18" charset="0"/>
                                <a:ea typeface="Cambria Math"/>
                              </a:rPr>
                            </m:ctrlPr>
                          </m:sSubPr>
                          <m:e>
                            <m:r>
                              <a:rPr lang="en-US" sz="2000" b="1">
                                <a:solidFill>
                                  <a:schemeClr val="tx1">
                                    <a:lumMod val="75000"/>
                                    <a:lumOff val="25000"/>
                                  </a:schemeClr>
                                </a:solidFill>
                                <a:latin typeface="Cambria Math"/>
                                <a:ea typeface="Cambria Math"/>
                              </a:rPr>
                              <m:t>𝐗</m:t>
                            </m:r>
                          </m:e>
                          <m:sub>
                            <m:r>
                              <a:rPr lang="pt-PT" sz="2000" b="1">
                                <a:solidFill>
                                  <a:schemeClr val="tx1">
                                    <a:lumMod val="75000"/>
                                    <a:lumOff val="25000"/>
                                  </a:schemeClr>
                                </a:solidFill>
                                <a:latin typeface="Cambria Math" charset="0"/>
                                <a:ea typeface="Cambria Math"/>
                              </a:rPr>
                              <m:t>𝐑</m:t>
                            </m:r>
                          </m:sub>
                        </m:sSub>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𝐁</m:t>
                            </m:r>
                          </m:e>
                          <m:sub>
                            <m:r>
                              <a:rPr lang="pt-PT" sz="2000" b="1">
                                <a:solidFill>
                                  <a:schemeClr val="tx1">
                                    <a:lumMod val="75000"/>
                                    <a:lumOff val="25000"/>
                                  </a:schemeClr>
                                </a:solidFill>
                                <a:latin typeface="Cambria Math" charset="0"/>
                              </a:rPr>
                              <m:t>𝐑</m:t>
                            </m:r>
                          </m:sub>
                        </m:sSub>
                      </m:oMath>
                    </m:oMathPara>
                  </a14:m>
                  <a:endParaRPr lang="en-US" sz="2000" dirty="0">
                    <a:solidFill>
                      <a:schemeClr val="tx1">
                        <a:lumMod val="75000"/>
                        <a:lumOff val="25000"/>
                      </a:schemeClr>
                    </a:solidFill>
                  </a:endParaRPr>
                </a:p>
              </p:txBody>
            </p:sp>
          </mc:Choice>
          <mc:Fallback xmlns="">
            <p:sp>
              <p:nvSpPr>
                <p:cNvPr id="42" name="Rectangle 41"/>
                <p:cNvSpPr>
                  <a:spLocks noRot="1" noChangeAspect="1" noMove="1" noResize="1" noEditPoints="1" noAdjustHandles="1" noChangeArrowheads="1" noChangeShapeType="1" noTextEdit="1"/>
                </p:cNvSpPr>
                <p:nvPr/>
              </p:nvSpPr>
              <p:spPr>
                <a:xfrm>
                  <a:off x="810475" y="4881180"/>
                  <a:ext cx="1951432" cy="408189"/>
                </a:xfrm>
                <a:prstGeom prst="rect">
                  <a:avLst/>
                </a:prstGeom>
                <a:blipFill rotWithShape="0">
                  <a:blip r:embed="rId15"/>
                  <a:stretch>
                    <a:fillRect t="-4478" b="-14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813589" y="5168049"/>
                  <a:ext cx="1587999" cy="650114"/>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acc>
                          <m:accPr>
                            <m:chr m:val="̂"/>
                            <m:ctrlPr>
                              <a:rPr lang="en-US" sz="2000" b="1" i="1" smtClean="0">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i="0" smtClean="0">
                                    <a:solidFill>
                                      <a:schemeClr val="tx1">
                                        <a:lumMod val="75000"/>
                                        <a:lumOff val="25000"/>
                                      </a:schemeClr>
                                    </a:solidFill>
                                    <a:latin typeface="Cambria Math" charset="0"/>
                                  </a:rPr>
                                  <m:t>𝐒</m:t>
                                </m:r>
                              </m:e>
                              <m:sub>
                                <m:r>
                                  <a:rPr lang="pt-PT" sz="2000" b="1" i="0" smtClean="0">
                                    <a:solidFill>
                                      <a:schemeClr val="tx1">
                                        <a:lumMod val="75000"/>
                                        <a:lumOff val="25000"/>
                                      </a:schemeClr>
                                    </a:solidFill>
                                    <a:latin typeface="Cambria Math" charset="0"/>
                                  </a:rPr>
                                  <m:t>𝐑</m:t>
                                </m:r>
                              </m:sub>
                            </m:sSub>
                          </m:e>
                        </m:acc>
                        <m:r>
                          <a:rPr lang="en-US" sz="2000" b="1" i="0">
                            <a:solidFill>
                              <a:schemeClr val="tx1">
                                <a:lumMod val="75000"/>
                                <a:lumOff val="25000"/>
                              </a:schemeClr>
                            </a:solidFill>
                            <a:latin typeface="Cambria Math"/>
                          </a:rPr>
                          <m:t>= </m:t>
                        </m:r>
                        <m:sSup>
                          <m:sSupPr>
                            <m:ctrlPr>
                              <a:rPr lang="en-US" sz="2000" b="1" i="1">
                                <a:solidFill>
                                  <a:schemeClr val="tx1">
                                    <a:lumMod val="75000"/>
                                    <a:lumOff val="25000"/>
                                  </a:schemeClr>
                                </a:solidFill>
                                <a:latin typeface="Cambria Math" panose="02040503050406030204" pitchFamily="18" charset="0"/>
                              </a:rPr>
                            </m:ctrlPr>
                          </m:sSupPr>
                          <m:e>
                            <m:acc>
                              <m:accPr>
                                <m:chr m:val="̂"/>
                                <m:ctrlPr>
                                  <a:rPr lang="en-US" sz="2000" b="1" i="1">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𝐑</m:t>
                                    </m:r>
                                  </m:sub>
                                </m:sSub>
                              </m:e>
                            </m:acc>
                          </m:e>
                          <m:sup>
                            <m:r>
                              <a:rPr lang="en-US" sz="2000" b="1" i="0" smtClean="0">
                                <a:solidFill>
                                  <a:schemeClr val="tx1">
                                    <a:lumMod val="75000"/>
                                    <a:lumOff val="25000"/>
                                  </a:schemeClr>
                                </a:solidFill>
                                <a:latin typeface="Cambria Math"/>
                              </a:rPr>
                              <m:t>𝐭</m:t>
                            </m:r>
                          </m:sup>
                        </m:sSup>
                        <m:acc>
                          <m:accPr>
                            <m:chr m:val="̂"/>
                            <m:ctrlPr>
                              <a:rPr lang="en-US" sz="2000" b="1" i="1">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𝐑</m:t>
                                </m:r>
                              </m:sub>
                            </m:sSub>
                          </m:e>
                        </m:acc>
                      </m:oMath>
                    </m:oMathPara>
                  </a14:m>
                  <a:endParaRPr lang="en-US" sz="2000" b="1" dirty="0">
                    <a:solidFill>
                      <a:schemeClr val="tx1">
                        <a:lumMod val="75000"/>
                        <a:lumOff val="25000"/>
                      </a:schemeClr>
                    </a:solidFill>
                  </a:endParaRPr>
                </a:p>
              </p:txBody>
            </p:sp>
          </mc:Choice>
          <mc:Fallback xmlns="">
            <p:sp>
              <p:nvSpPr>
                <p:cNvPr id="44" name="Rectangle 43"/>
                <p:cNvSpPr>
                  <a:spLocks noRot="1" noChangeAspect="1" noMove="1" noResize="1" noEditPoints="1" noAdjustHandles="1" noChangeArrowheads="1" noChangeShapeType="1" noTextEdit="1"/>
                </p:cNvSpPr>
                <p:nvPr/>
              </p:nvSpPr>
              <p:spPr>
                <a:xfrm>
                  <a:off x="813589" y="5168049"/>
                  <a:ext cx="1587999" cy="650114"/>
                </a:xfrm>
                <a:prstGeom prst="rect">
                  <a:avLst/>
                </a:prstGeom>
                <a:blipFill rotWithShape="0">
                  <a:blip r:embed="rId1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7" name="TextBox 46"/>
              <p:cNvSpPr txBox="1"/>
              <p:nvPr/>
            </p:nvSpPr>
            <p:spPr>
              <a:xfrm>
                <a:off x="5689854" y="2400014"/>
                <a:ext cx="2311146" cy="473719"/>
              </a:xfrm>
              <a:prstGeom prst="rect">
                <a:avLst/>
              </a:prstGeom>
              <a:noFill/>
            </p:spPr>
            <p:txBody>
              <a:bodyPr wrap="none" rtlCol="0">
                <a:spAutoFit/>
              </a:bodyPr>
              <a:lstStyle/>
              <a:p>
                <a14:m>
                  <m:oMath xmlns:m="http://schemas.openxmlformats.org/officeDocument/2006/math">
                    <m:r>
                      <a:rPr lang="pt-PT" sz="2400" b="1" i="1" smtClean="0">
                        <a:solidFill>
                          <a:schemeClr val="tx1">
                            <a:lumMod val="75000"/>
                            <a:lumOff val="25000"/>
                          </a:schemeClr>
                        </a:solidFill>
                        <a:latin typeface="Cambria Math" charset="0"/>
                      </a:rPr>
                      <m:t>𝑺𝑺</m:t>
                    </m:r>
                    <m:r>
                      <a:rPr lang="pt-PT" sz="2400" b="1" i="1" smtClean="0">
                        <a:solidFill>
                          <a:schemeClr val="tx1">
                            <a:lumMod val="75000"/>
                            <a:lumOff val="25000"/>
                          </a:schemeClr>
                        </a:solidFill>
                        <a:latin typeface="Cambria Math" charset="0"/>
                      </a:rPr>
                      <m:t>=</m:t>
                    </m:r>
                    <m:r>
                      <a:rPr lang="pt-PT" sz="2400" b="1" i="1" smtClean="0">
                        <a:solidFill>
                          <a:schemeClr val="tx1">
                            <a:lumMod val="75000"/>
                            <a:lumOff val="25000"/>
                          </a:schemeClr>
                        </a:solidFill>
                        <a:latin typeface="Cambria Math" charset="0"/>
                      </a:rPr>
                      <m:t>𝒕𝒓</m:t>
                    </m:r>
                    <m:r>
                      <a:rPr lang="pt-PT" sz="2400" b="1" i="1" smtClean="0">
                        <a:solidFill>
                          <a:schemeClr val="tx1">
                            <a:lumMod val="75000"/>
                            <a:lumOff val="25000"/>
                          </a:schemeClr>
                        </a:solidFill>
                        <a:latin typeface="Cambria Math" charset="0"/>
                      </a:rPr>
                      <m:t>(</m:t>
                    </m:r>
                    <m:acc>
                      <m:accPr>
                        <m:chr m:val="̂"/>
                        <m:ctrlPr>
                          <a:rPr lang="en-US" sz="2400" b="1" i="1" smtClean="0">
                            <a:solidFill>
                              <a:schemeClr val="tx1">
                                <a:lumMod val="75000"/>
                                <a:lumOff val="25000"/>
                              </a:schemeClr>
                            </a:solidFill>
                            <a:latin typeface="Cambria Math" panose="02040503050406030204" pitchFamily="18" charset="0"/>
                          </a:rPr>
                        </m:ctrlPr>
                      </m:accPr>
                      <m:e>
                        <m:sSub>
                          <m:sSubPr>
                            <m:ctrlPr>
                              <a:rPr lang="en-US" sz="2400" b="1" i="1">
                                <a:solidFill>
                                  <a:schemeClr val="tx1">
                                    <a:lumMod val="75000"/>
                                    <a:lumOff val="25000"/>
                                  </a:schemeClr>
                                </a:solidFill>
                                <a:latin typeface="Cambria Math" panose="02040503050406030204" pitchFamily="18" charset="0"/>
                              </a:rPr>
                            </m:ctrlPr>
                          </m:sSubPr>
                          <m:e>
                            <m:r>
                              <a:rPr lang="pt-PT" sz="2400" b="1">
                                <a:solidFill>
                                  <a:schemeClr val="tx1">
                                    <a:lumMod val="75000"/>
                                    <a:lumOff val="25000"/>
                                  </a:schemeClr>
                                </a:solidFill>
                                <a:latin typeface="Cambria Math" charset="0"/>
                              </a:rPr>
                              <m:t>𝐒</m:t>
                            </m:r>
                          </m:e>
                          <m:sub>
                            <m:r>
                              <a:rPr lang="pt-PT" sz="2400" b="1" smtClean="0">
                                <a:solidFill>
                                  <a:schemeClr val="tx1">
                                    <a:lumMod val="75000"/>
                                    <a:lumOff val="25000"/>
                                  </a:schemeClr>
                                </a:solidFill>
                                <a:latin typeface="Cambria Math" charset="0"/>
                              </a:rPr>
                              <m:t>𝐑</m:t>
                            </m:r>
                          </m:sub>
                        </m:sSub>
                      </m:e>
                    </m:acc>
                  </m:oMath>
                </a14:m>
                <a:r>
                  <a:rPr lang="en-US" sz="2400" dirty="0">
                    <a:solidFill>
                      <a:schemeClr val="tx1">
                        <a:lumMod val="75000"/>
                        <a:lumOff val="25000"/>
                      </a:schemeClr>
                    </a:solidFill>
                  </a:rPr>
                  <a:t> - </a:t>
                </a:r>
                <a14:m>
                  <m:oMath xmlns:m="http://schemas.openxmlformats.org/officeDocument/2006/math">
                    <m:acc>
                      <m:accPr>
                        <m:chr m:val="̂"/>
                        <m:ctrlPr>
                          <a:rPr lang="en-US" sz="2400" b="1" i="1">
                            <a:solidFill>
                              <a:schemeClr val="tx1">
                                <a:lumMod val="75000"/>
                                <a:lumOff val="25000"/>
                              </a:schemeClr>
                            </a:solidFill>
                            <a:latin typeface="Cambria Math" panose="02040503050406030204" pitchFamily="18" charset="0"/>
                          </a:rPr>
                        </m:ctrlPr>
                      </m:accPr>
                      <m:e>
                        <m:sSub>
                          <m:sSubPr>
                            <m:ctrlPr>
                              <a:rPr lang="en-US" sz="2400" b="1" i="1">
                                <a:solidFill>
                                  <a:schemeClr val="tx1">
                                    <a:lumMod val="75000"/>
                                    <a:lumOff val="25000"/>
                                  </a:schemeClr>
                                </a:solidFill>
                                <a:latin typeface="Cambria Math" panose="02040503050406030204" pitchFamily="18" charset="0"/>
                              </a:rPr>
                            </m:ctrlPr>
                          </m:sSubPr>
                          <m:e>
                            <m:r>
                              <a:rPr lang="pt-PT" sz="2400" b="1">
                                <a:solidFill>
                                  <a:schemeClr val="tx1">
                                    <a:lumMod val="75000"/>
                                    <a:lumOff val="25000"/>
                                  </a:schemeClr>
                                </a:solidFill>
                                <a:latin typeface="Cambria Math" charset="0"/>
                              </a:rPr>
                              <m:t>𝐒</m:t>
                            </m:r>
                          </m:e>
                          <m:sub>
                            <m:r>
                              <a:rPr lang="pt-PT" sz="2400" b="1" i="0" smtClean="0">
                                <a:solidFill>
                                  <a:schemeClr val="tx1">
                                    <a:lumMod val="75000"/>
                                    <a:lumOff val="25000"/>
                                  </a:schemeClr>
                                </a:solidFill>
                                <a:latin typeface="Cambria Math" charset="0"/>
                              </a:rPr>
                              <m:t>𝐅</m:t>
                            </m:r>
                          </m:sub>
                        </m:sSub>
                      </m:e>
                    </m:acc>
                  </m:oMath>
                </a14:m>
                <a:r>
                  <a:rPr lang="en-US" sz="2400" dirty="0">
                    <a:solidFill>
                      <a:schemeClr val="tx1">
                        <a:lumMod val="75000"/>
                        <a:lumOff val="25000"/>
                      </a:schemeClr>
                    </a:solidFill>
                  </a:rPr>
                  <a:t>)</a:t>
                </a:r>
              </a:p>
            </p:txBody>
          </p:sp>
        </mc:Choice>
        <mc:Fallback xmlns="">
          <p:sp>
            <p:nvSpPr>
              <p:cNvPr id="47" name="TextBox 46"/>
              <p:cNvSpPr txBox="1">
                <a:spLocks noRot="1" noChangeAspect="1" noMove="1" noResize="1" noEditPoints="1" noAdjustHandles="1" noChangeArrowheads="1" noChangeShapeType="1" noTextEdit="1"/>
              </p:cNvSpPr>
              <p:nvPr/>
            </p:nvSpPr>
            <p:spPr>
              <a:xfrm>
                <a:off x="5689854" y="2400014"/>
                <a:ext cx="2311146" cy="473719"/>
              </a:xfrm>
              <a:prstGeom prst="rect">
                <a:avLst/>
              </a:prstGeom>
              <a:blipFill rotWithShape="0">
                <a:blip r:embed="rId17"/>
                <a:stretch>
                  <a:fillRect l="-526" t="-10390" r="-32368" b="-29870"/>
                </a:stretch>
              </a:blipFill>
            </p:spPr>
            <p:txBody>
              <a:bodyPr/>
              <a:lstStyle/>
              <a:p>
                <a:r>
                  <a:rPr lang="en-US">
                    <a:noFill/>
                  </a:rPr>
                  <a:t> </a:t>
                </a:r>
              </a:p>
            </p:txBody>
          </p:sp>
        </mc:Fallback>
      </mc:AlternateContent>
      <p:grpSp>
        <p:nvGrpSpPr>
          <p:cNvPr id="48" name="Group 47"/>
          <p:cNvGrpSpPr/>
          <p:nvPr/>
        </p:nvGrpSpPr>
        <p:grpSpPr>
          <a:xfrm>
            <a:off x="6878894" y="1235497"/>
            <a:ext cx="1884106" cy="938341"/>
            <a:chOff x="810475" y="4881180"/>
            <a:chExt cx="1884106" cy="938341"/>
          </a:xfrm>
        </p:grpSpPr>
        <mc:AlternateContent xmlns:mc="http://schemas.openxmlformats.org/markup-compatibility/2006" xmlns:a14="http://schemas.microsoft.com/office/drawing/2010/main">
          <mc:Choice Requires="a14">
            <p:sp>
              <p:nvSpPr>
                <p:cNvPr id="51" name="Rectangle 50"/>
                <p:cNvSpPr/>
                <p:nvPr/>
              </p:nvSpPr>
              <p:spPr>
                <a:xfrm>
                  <a:off x="810475" y="4881180"/>
                  <a:ext cx="1884106" cy="4081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000" b="1" i="1" smtClean="0">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i="0" smtClean="0">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𝐅</m:t>
                                </m:r>
                              </m:sub>
                            </m:sSub>
                          </m:e>
                        </m:acc>
                        <m:r>
                          <a:rPr lang="en-US" sz="2000" b="1">
                            <a:solidFill>
                              <a:schemeClr val="tx1">
                                <a:lumMod val="75000"/>
                                <a:lumOff val="25000"/>
                              </a:schemeClr>
                            </a:solidFill>
                            <a:latin typeface="Cambria Math"/>
                          </a:rPr>
                          <m:t>=</m:t>
                        </m:r>
                        <m:r>
                          <a:rPr lang="pt-PT" sz="2000" b="1" i="0" smtClean="0">
                            <a:solidFill>
                              <a:schemeClr val="tx1">
                                <a:lumMod val="75000"/>
                                <a:lumOff val="25000"/>
                              </a:schemeClr>
                            </a:solidFill>
                            <a:latin typeface="Cambria Math" charset="0"/>
                          </a:rPr>
                          <m:t>𝐘</m:t>
                        </m:r>
                        <m:r>
                          <a:rPr lang="en-US" sz="2000" b="1">
                            <a:solidFill>
                              <a:schemeClr val="tx1">
                                <a:lumMod val="75000"/>
                                <a:lumOff val="25000"/>
                              </a:schemeClr>
                            </a:solidFill>
                            <a:latin typeface="Cambria Math"/>
                          </a:rPr>
                          <m:t>−</m:t>
                        </m:r>
                        <m:sSub>
                          <m:sSubPr>
                            <m:ctrlPr>
                              <a:rPr lang="en-US" sz="2000" b="1" i="1">
                                <a:solidFill>
                                  <a:schemeClr val="tx1">
                                    <a:lumMod val="75000"/>
                                    <a:lumOff val="25000"/>
                                  </a:schemeClr>
                                </a:solidFill>
                                <a:latin typeface="Cambria Math" panose="02040503050406030204" pitchFamily="18" charset="0"/>
                                <a:ea typeface="Cambria Math"/>
                              </a:rPr>
                            </m:ctrlPr>
                          </m:sSubPr>
                          <m:e>
                            <m:r>
                              <a:rPr lang="en-US" sz="2000" b="1">
                                <a:solidFill>
                                  <a:schemeClr val="tx1">
                                    <a:lumMod val="75000"/>
                                    <a:lumOff val="25000"/>
                                  </a:schemeClr>
                                </a:solidFill>
                                <a:latin typeface="Cambria Math"/>
                                <a:ea typeface="Cambria Math"/>
                              </a:rPr>
                              <m:t>𝐗</m:t>
                            </m:r>
                          </m:e>
                          <m:sub>
                            <m:r>
                              <a:rPr lang="pt-PT" sz="2000" b="1">
                                <a:solidFill>
                                  <a:schemeClr val="tx1">
                                    <a:lumMod val="75000"/>
                                    <a:lumOff val="25000"/>
                                  </a:schemeClr>
                                </a:solidFill>
                                <a:latin typeface="Cambria Math" charset="0"/>
                                <a:ea typeface="Cambria Math"/>
                              </a:rPr>
                              <m:t>𝐅</m:t>
                            </m:r>
                          </m:sub>
                        </m:sSub>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𝐁</m:t>
                            </m:r>
                          </m:e>
                          <m:sub>
                            <m:r>
                              <a:rPr lang="pt-PT" sz="2000" b="1" i="0" smtClean="0">
                                <a:solidFill>
                                  <a:schemeClr val="tx1">
                                    <a:lumMod val="75000"/>
                                    <a:lumOff val="25000"/>
                                  </a:schemeClr>
                                </a:solidFill>
                                <a:latin typeface="Cambria Math" charset="0"/>
                              </a:rPr>
                              <m:t>𝐅</m:t>
                            </m:r>
                          </m:sub>
                        </m:sSub>
                      </m:oMath>
                    </m:oMathPara>
                  </a14:m>
                  <a:endParaRPr lang="en-US" sz="2000" dirty="0">
                    <a:solidFill>
                      <a:schemeClr val="tx1">
                        <a:lumMod val="75000"/>
                        <a:lumOff val="25000"/>
                      </a:schemeClr>
                    </a:solidFill>
                  </a:endParaRPr>
                </a:p>
              </p:txBody>
            </p:sp>
          </mc:Choice>
          <mc:Fallback xmlns="">
            <p:sp>
              <p:nvSpPr>
                <p:cNvPr id="51" name="Rectangle 50"/>
                <p:cNvSpPr>
                  <a:spLocks noRot="1" noChangeAspect="1" noMove="1" noResize="1" noEditPoints="1" noAdjustHandles="1" noChangeArrowheads="1" noChangeShapeType="1" noTextEdit="1"/>
                </p:cNvSpPr>
                <p:nvPr/>
              </p:nvSpPr>
              <p:spPr>
                <a:xfrm>
                  <a:off x="810475" y="4881180"/>
                  <a:ext cx="1884106" cy="408189"/>
                </a:xfrm>
                <a:prstGeom prst="rect">
                  <a:avLst/>
                </a:prstGeom>
                <a:blipFill rotWithShape="0">
                  <a:blip r:embed="rId18"/>
                  <a:stretch>
                    <a:fillRect t="-4478" b="-14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p:cNvSpPr/>
                <p:nvPr/>
              </p:nvSpPr>
              <p:spPr>
                <a:xfrm>
                  <a:off x="813589" y="5169407"/>
                  <a:ext cx="1514261" cy="650114"/>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acc>
                          <m:accPr>
                            <m:chr m:val="̂"/>
                            <m:ctrlPr>
                              <a:rPr lang="en-US" sz="2000" b="1" i="1" smtClean="0">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i="0" smtClean="0">
                                    <a:solidFill>
                                      <a:schemeClr val="tx1">
                                        <a:lumMod val="75000"/>
                                        <a:lumOff val="25000"/>
                                      </a:schemeClr>
                                    </a:solidFill>
                                    <a:latin typeface="Cambria Math" charset="0"/>
                                  </a:rPr>
                                  <m:t>𝐒</m:t>
                                </m:r>
                              </m:e>
                              <m:sub>
                                <m:r>
                                  <a:rPr lang="pt-PT" sz="2000" b="1">
                                    <a:solidFill>
                                      <a:schemeClr val="tx1">
                                        <a:lumMod val="75000"/>
                                        <a:lumOff val="25000"/>
                                      </a:schemeClr>
                                    </a:solidFill>
                                    <a:latin typeface="Cambria Math" charset="0"/>
                                  </a:rPr>
                                  <m:t>𝐅</m:t>
                                </m:r>
                              </m:sub>
                            </m:sSub>
                          </m:e>
                        </m:acc>
                        <m:r>
                          <a:rPr lang="en-US" sz="2000" b="1" i="0">
                            <a:solidFill>
                              <a:schemeClr val="tx1">
                                <a:lumMod val="75000"/>
                                <a:lumOff val="25000"/>
                              </a:schemeClr>
                            </a:solidFill>
                            <a:latin typeface="Cambria Math"/>
                          </a:rPr>
                          <m:t>= </m:t>
                        </m:r>
                        <m:sSup>
                          <m:sSupPr>
                            <m:ctrlPr>
                              <a:rPr lang="en-US" sz="2000" b="1" i="1">
                                <a:solidFill>
                                  <a:schemeClr val="tx1">
                                    <a:lumMod val="75000"/>
                                    <a:lumOff val="25000"/>
                                  </a:schemeClr>
                                </a:solidFill>
                                <a:latin typeface="Cambria Math" panose="02040503050406030204" pitchFamily="18" charset="0"/>
                              </a:rPr>
                            </m:ctrlPr>
                          </m:sSupPr>
                          <m:e>
                            <m:acc>
                              <m:accPr>
                                <m:chr m:val="̂"/>
                                <m:ctrlPr>
                                  <a:rPr lang="en-US" sz="2000" b="1" i="1">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𝐅</m:t>
                                    </m:r>
                                  </m:sub>
                                </m:sSub>
                              </m:e>
                            </m:acc>
                          </m:e>
                          <m:sup>
                            <m:r>
                              <a:rPr lang="en-US" sz="2000" b="1" i="0" smtClean="0">
                                <a:solidFill>
                                  <a:schemeClr val="tx1">
                                    <a:lumMod val="75000"/>
                                    <a:lumOff val="25000"/>
                                  </a:schemeClr>
                                </a:solidFill>
                                <a:latin typeface="Cambria Math"/>
                              </a:rPr>
                              <m:t>𝐭</m:t>
                            </m:r>
                          </m:sup>
                        </m:sSup>
                        <m:acc>
                          <m:accPr>
                            <m:chr m:val="̂"/>
                            <m:ctrlPr>
                              <a:rPr lang="en-US" sz="2000" b="1" i="1">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𝐅</m:t>
                                </m:r>
                              </m:sub>
                            </m:sSub>
                          </m:e>
                        </m:acc>
                      </m:oMath>
                    </m:oMathPara>
                  </a14:m>
                  <a:endParaRPr lang="en-US" sz="2000" b="1" dirty="0">
                    <a:solidFill>
                      <a:schemeClr val="tx1">
                        <a:lumMod val="75000"/>
                        <a:lumOff val="25000"/>
                      </a:schemeClr>
                    </a:solidFill>
                  </a:endParaRPr>
                </a:p>
              </p:txBody>
            </p:sp>
          </mc:Choice>
          <mc:Fallback xmlns="">
            <p:sp>
              <p:nvSpPr>
                <p:cNvPr id="52" name="Rectangle 51"/>
                <p:cNvSpPr>
                  <a:spLocks noRot="1" noChangeAspect="1" noMove="1" noResize="1" noEditPoints="1" noAdjustHandles="1" noChangeArrowheads="1" noChangeShapeType="1" noTextEdit="1"/>
                </p:cNvSpPr>
                <p:nvPr/>
              </p:nvSpPr>
              <p:spPr>
                <a:xfrm>
                  <a:off x="813589" y="5169407"/>
                  <a:ext cx="1514261" cy="650114"/>
                </a:xfrm>
                <a:prstGeom prst="rect">
                  <a:avLst/>
                </a:prstGeom>
                <a:blipFill rotWithShape="0">
                  <a:blip r:embed="rId19"/>
                  <a:stretch>
                    <a:fillRect/>
                  </a:stretch>
                </a:blipFill>
              </p:spPr>
              <p:txBody>
                <a:bodyPr/>
                <a:lstStyle/>
                <a:p>
                  <a:r>
                    <a:rPr lang="en-US">
                      <a:noFill/>
                    </a:rPr>
                    <a:t> </a:t>
                  </a:r>
                </a:p>
              </p:txBody>
            </p:sp>
          </mc:Fallback>
        </mc:AlternateContent>
      </p:grpSp>
      <p:sp>
        <p:nvSpPr>
          <p:cNvPr id="6" name="Right Brace 5"/>
          <p:cNvSpPr/>
          <p:nvPr/>
        </p:nvSpPr>
        <p:spPr>
          <a:xfrm rot="5400000">
            <a:off x="6676136" y="464398"/>
            <a:ext cx="285707" cy="3737925"/>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75000"/>
                  <a:lumOff val="25000"/>
                </a:schemeClr>
              </a:solidFill>
            </a:endParaRPr>
          </a:p>
        </p:txBody>
      </p:sp>
      <p:grpSp>
        <p:nvGrpSpPr>
          <p:cNvPr id="15" name="Group 14"/>
          <p:cNvGrpSpPr/>
          <p:nvPr/>
        </p:nvGrpSpPr>
        <p:grpSpPr>
          <a:xfrm>
            <a:off x="4593904" y="2990692"/>
            <a:ext cx="2000838" cy="592171"/>
            <a:chOff x="4593904" y="2990692"/>
            <a:chExt cx="2000838" cy="592171"/>
          </a:xfrm>
        </p:grpSpPr>
        <p:sp>
          <p:nvSpPr>
            <p:cNvPr id="53" name="Left Arrow 52"/>
            <p:cNvSpPr/>
            <p:nvPr/>
          </p:nvSpPr>
          <p:spPr>
            <a:xfrm rot="12384159">
              <a:off x="4593904" y="2990692"/>
              <a:ext cx="914333" cy="123009"/>
            </a:xfrm>
            <a:prstGeom prst="leftArrow">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mc:AlternateContent xmlns:mc="http://schemas.openxmlformats.org/markup-compatibility/2006" xmlns:a14="http://schemas.microsoft.com/office/drawing/2010/main">
          <mc:Choice Requires="a14">
            <p:sp>
              <p:nvSpPr>
                <p:cNvPr id="55" name="Rectangle 54"/>
                <p:cNvSpPr/>
                <p:nvPr/>
              </p:nvSpPr>
              <p:spPr>
                <a:xfrm>
                  <a:off x="5487901" y="3059643"/>
                  <a:ext cx="110684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solidFill>
                                  <a:schemeClr val="tx1">
                                    <a:lumMod val="75000"/>
                                    <a:lumOff val="25000"/>
                                  </a:schemeClr>
                                </a:solidFill>
                                <a:latin typeface="Cambria Math" panose="02040503050406030204" pitchFamily="18" charset="0"/>
                                <a:ea typeface="Cambria Math"/>
                              </a:rPr>
                            </m:ctrlPr>
                          </m:sSubPr>
                          <m:e>
                            <m:r>
                              <a:rPr lang="pt-PT" sz="2800" b="1" i="1" smtClean="0">
                                <a:solidFill>
                                  <a:schemeClr val="tx1">
                                    <a:lumMod val="75000"/>
                                    <a:lumOff val="25000"/>
                                  </a:schemeClr>
                                </a:solidFill>
                                <a:latin typeface="Cambria Math" charset="0"/>
                                <a:ea typeface="Cambria Math"/>
                              </a:rPr>
                              <m:t>𝑺𝑺</m:t>
                            </m:r>
                          </m:e>
                          <m:sub>
                            <m:r>
                              <a:rPr lang="pt-PT" sz="2800" b="1" i="0" smtClean="0">
                                <a:solidFill>
                                  <a:schemeClr val="tx1">
                                    <a:lumMod val="75000"/>
                                    <a:lumOff val="25000"/>
                                  </a:schemeClr>
                                </a:solidFill>
                                <a:latin typeface="Cambria Math" charset="0"/>
                                <a:ea typeface="Cambria Math"/>
                              </a:rPr>
                              <m:t>𝐒𝐞𝐱</m:t>
                            </m:r>
                          </m:sub>
                        </m:sSub>
                      </m:oMath>
                    </m:oMathPara>
                  </a14:m>
                  <a:endParaRPr lang="en-US" sz="2800" dirty="0">
                    <a:solidFill>
                      <a:schemeClr val="tx1">
                        <a:lumMod val="75000"/>
                        <a:lumOff val="25000"/>
                      </a:schemeClr>
                    </a:solidFill>
                  </a:endParaRPr>
                </a:p>
              </p:txBody>
            </p:sp>
          </mc:Choice>
          <mc:Fallback xmlns="">
            <p:sp>
              <p:nvSpPr>
                <p:cNvPr id="55" name="Rectangle 54"/>
                <p:cNvSpPr>
                  <a:spLocks noRot="1" noChangeAspect="1" noMove="1" noResize="1" noEditPoints="1" noAdjustHandles="1" noChangeArrowheads="1" noChangeShapeType="1" noTextEdit="1"/>
                </p:cNvSpPr>
                <p:nvPr/>
              </p:nvSpPr>
              <p:spPr>
                <a:xfrm>
                  <a:off x="5487901" y="3059643"/>
                  <a:ext cx="1106841" cy="523220"/>
                </a:xfrm>
                <a:prstGeom prst="rect">
                  <a:avLst/>
                </a:prstGeom>
                <a:blipFill rotWithShape="0">
                  <a:blip r:embed="rId20"/>
                  <a:stretch>
                    <a:fillRect/>
                  </a:stretch>
                </a:blipFill>
              </p:spPr>
              <p:txBody>
                <a:bodyPr/>
                <a:lstStyle/>
                <a:p>
                  <a:r>
                    <a:rPr lang="en-US">
                      <a:noFill/>
                    </a:rPr>
                    <a:t> </a:t>
                  </a:r>
                </a:p>
              </p:txBody>
            </p:sp>
          </mc:Fallback>
        </mc:AlternateContent>
      </p:grpSp>
      <p:grpSp>
        <p:nvGrpSpPr>
          <p:cNvPr id="18" name="Group 17"/>
          <p:cNvGrpSpPr/>
          <p:nvPr/>
        </p:nvGrpSpPr>
        <p:grpSpPr>
          <a:xfrm>
            <a:off x="4593904" y="3886200"/>
            <a:ext cx="2603567" cy="523220"/>
            <a:chOff x="4593904" y="3886200"/>
            <a:chExt cx="2603567" cy="523220"/>
          </a:xfrm>
        </p:grpSpPr>
        <mc:AlternateContent xmlns:mc="http://schemas.openxmlformats.org/markup-compatibility/2006" xmlns:a14="http://schemas.microsoft.com/office/drawing/2010/main">
          <mc:Choice Requires="a14">
            <p:sp>
              <p:nvSpPr>
                <p:cNvPr id="57" name="Rectangle 56"/>
                <p:cNvSpPr/>
                <p:nvPr/>
              </p:nvSpPr>
              <p:spPr>
                <a:xfrm>
                  <a:off x="5487900" y="3886200"/>
                  <a:ext cx="170957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solidFill>
                                  <a:schemeClr val="tx1">
                                    <a:lumMod val="75000"/>
                                    <a:lumOff val="25000"/>
                                  </a:schemeClr>
                                </a:solidFill>
                                <a:latin typeface="Cambria Math" panose="02040503050406030204" pitchFamily="18" charset="0"/>
                                <a:ea typeface="Cambria Math"/>
                              </a:rPr>
                            </m:ctrlPr>
                          </m:sSubPr>
                          <m:e>
                            <m:r>
                              <a:rPr lang="pt-PT" sz="2800" b="1" i="1" smtClean="0">
                                <a:solidFill>
                                  <a:schemeClr val="tx1">
                                    <a:lumMod val="75000"/>
                                    <a:lumOff val="25000"/>
                                  </a:schemeClr>
                                </a:solidFill>
                                <a:latin typeface="Cambria Math" charset="0"/>
                                <a:ea typeface="Cambria Math"/>
                              </a:rPr>
                              <m:t>𝑺𝑺</m:t>
                            </m:r>
                          </m:e>
                          <m:sub>
                            <m:r>
                              <a:rPr lang="pt-PT" sz="2800" b="1" i="0" smtClean="0">
                                <a:solidFill>
                                  <a:schemeClr val="tx1">
                                    <a:lumMod val="75000"/>
                                    <a:lumOff val="25000"/>
                                  </a:schemeClr>
                                </a:solidFill>
                                <a:latin typeface="Cambria Math" charset="0"/>
                                <a:ea typeface="Cambria Math"/>
                              </a:rPr>
                              <m:t>𝐒𝐮𝐫𝐯𝐢𝐯𝐚𝐥</m:t>
                            </m:r>
                          </m:sub>
                        </m:sSub>
                      </m:oMath>
                    </m:oMathPara>
                  </a14:m>
                  <a:endParaRPr lang="en-US" sz="2800" dirty="0">
                    <a:solidFill>
                      <a:schemeClr val="tx1">
                        <a:lumMod val="75000"/>
                        <a:lumOff val="25000"/>
                      </a:schemeClr>
                    </a:solidFill>
                  </a:endParaRPr>
                </a:p>
              </p:txBody>
            </p:sp>
          </mc:Choice>
          <mc:Fallback xmlns="">
            <p:sp>
              <p:nvSpPr>
                <p:cNvPr id="57" name="Rectangle 56"/>
                <p:cNvSpPr>
                  <a:spLocks noRot="1" noChangeAspect="1" noMove="1" noResize="1" noEditPoints="1" noAdjustHandles="1" noChangeArrowheads="1" noChangeShapeType="1" noTextEdit="1"/>
                </p:cNvSpPr>
                <p:nvPr/>
              </p:nvSpPr>
              <p:spPr>
                <a:xfrm>
                  <a:off x="5487900" y="3886200"/>
                  <a:ext cx="1709571" cy="523220"/>
                </a:xfrm>
                <a:prstGeom prst="rect">
                  <a:avLst/>
                </a:prstGeom>
                <a:blipFill rotWithShape="0">
                  <a:blip r:embed="rId21"/>
                  <a:stretch>
                    <a:fillRect/>
                  </a:stretch>
                </a:blipFill>
              </p:spPr>
              <p:txBody>
                <a:bodyPr/>
                <a:lstStyle/>
                <a:p>
                  <a:r>
                    <a:rPr lang="en-US">
                      <a:noFill/>
                    </a:rPr>
                    <a:t> </a:t>
                  </a:r>
                </a:p>
              </p:txBody>
            </p:sp>
          </mc:Fallback>
        </mc:AlternateContent>
        <p:sp>
          <p:nvSpPr>
            <p:cNvPr id="59" name="Left Arrow 58"/>
            <p:cNvSpPr/>
            <p:nvPr/>
          </p:nvSpPr>
          <p:spPr>
            <a:xfrm rot="10800000">
              <a:off x="4593904" y="4114800"/>
              <a:ext cx="914333" cy="123009"/>
            </a:xfrm>
            <a:prstGeom prst="leftArrow">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grpSp>
      <p:grpSp>
        <p:nvGrpSpPr>
          <p:cNvPr id="19" name="Group 18"/>
          <p:cNvGrpSpPr/>
          <p:nvPr/>
        </p:nvGrpSpPr>
        <p:grpSpPr>
          <a:xfrm>
            <a:off x="4596176" y="4865554"/>
            <a:ext cx="3019678" cy="584724"/>
            <a:chOff x="4596176" y="4865554"/>
            <a:chExt cx="3019678" cy="584724"/>
          </a:xfrm>
        </p:grpSpPr>
        <mc:AlternateContent xmlns:mc="http://schemas.openxmlformats.org/markup-compatibility/2006" xmlns:a14="http://schemas.microsoft.com/office/drawing/2010/main">
          <mc:Choice Requires="a14">
            <p:sp>
              <p:nvSpPr>
                <p:cNvPr id="58" name="Rectangle 57"/>
                <p:cNvSpPr/>
                <p:nvPr/>
              </p:nvSpPr>
              <p:spPr>
                <a:xfrm>
                  <a:off x="5487900" y="4865554"/>
                  <a:ext cx="212795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solidFill>
                                  <a:schemeClr val="tx1">
                                    <a:lumMod val="75000"/>
                                    <a:lumOff val="25000"/>
                                  </a:schemeClr>
                                </a:solidFill>
                                <a:latin typeface="Cambria Math" panose="02040503050406030204" pitchFamily="18" charset="0"/>
                                <a:ea typeface="Cambria Math"/>
                              </a:rPr>
                            </m:ctrlPr>
                          </m:sSubPr>
                          <m:e>
                            <m:r>
                              <a:rPr lang="pt-PT" sz="2800" b="1" i="1" smtClean="0">
                                <a:solidFill>
                                  <a:schemeClr val="tx1">
                                    <a:lumMod val="75000"/>
                                    <a:lumOff val="25000"/>
                                  </a:schemeClr>
                                </a:solidFill>
                                <a:latin typeface="Cambria Math" charset="0"/>
                                <a:ea typeface="Cambria Math"/>
                              </a:rPr>
                              <m:t>𝑺𝑺</m:t>
                            </m:r>
                          </m:e>
                          <m:sub>
                            <m:r>
                              <a:rPr lang="pt-PT" sz="2800" b="1" i="0" smtClean="0">
                                <a:solidFill>
                                  <a:schemeClr val="tx1">
                                    <a:lumMod val="75000"/>
                                    <a:lumOff val="25000"/>
                                  </a:schemeClr>
                                </a:solidFill>
                                <a:latin typeface="Cambria Math" charset="0"/>
                                <a:ea typeface="Cambria Math"/>
                              </a:rPr>
                              <m:t>𝐒𝐞𝐱𝐒𝐮𝐫𝐯𝐢𝐯𝐚𝐥</m:t>
                            </m:r>
                          </m:sub>
                        </m:sSub>
                      </m:oMath>
                    </m:oMathPara>
                  </a14:m>
                  <a:endParaRPr lang="en-US" sz="2800" dirty="0">
                    <a:solidFill>
                      <a:schemeClr val="tx1">
                        <a:lumMod val="75000"/>
                        <a:lumOff val="25000"/>
                      </a:schemeClr>
                    </a:solidFill>
                  </a:endParaRPr>
                </a:p>
              </p:txBody>
            </p:sp>
          </mc:Choice>
          <mc:Fallback xmlns="">
            <p:sp>
              <p:nvSpPr>
                <p:cNvPr id="58" name="Rectangle 57"/>
                <p:cNvSpPr>
                  <a:spLocks noRot="1" noChangeAspect="1" noMove="1" noResize="1" noEditPoints="1" noAdjustHandles="1" noChangeArrowheads="1" noChangeShapeType="1" noTextEdit="1"/>
                </p:cNvSpPr>
                <p:nvPr/>
              </p:nvSpPr>
              <p:spPr>
                <a:xfrm>
                  <a:off x="5487900" y="4865554"/>
                  <a:ext cx="2127954" cy="523220"/>
                </a:xfrm>
                <a:prstGeom prst="rect">
                  <a:avLst/>
                </a:prstGeom>
                <a:blipFill rotWithShape="0">
                  <a:blip r:embed="rId22"/>
                  <a:stretch>
                    <a:fillRect/>
                  </a:stretch>
                </a:blipFill>
              </p:spPr>
              <p:txBody>
                <a:bodyPr/>
                <a:lstStyle/>
                <a:p>
                  <a:r>
                    <a:rPr lang="en-US">
                      <a:noFill/>
                    </a:rPr>
                    <a:t> </a:t>
                  </a:r>
                </a:p>
              </p:txBody>
            </p:sp>
          </mc:Fallback>
        </mc:AlternateContent>
        <p:sp>
          <p:nvSpPr>
            <p:cNvPr id="61" name="Left Arrow 60"/>
            <p:cNvSpPr/>
            <p:nvPr/>
          </p:nvSpPr>
          <p:spPr>
            <a:xfrm rot="8779402">
              <a:off x="4596176" y="5327269"/>
              <a:ext cx="914333" cy="123009"/>
            </a:xfrm>
            <a:prstGeom prst="leftArrow">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grpSp>
      <p:sp>
        <p:nvSpPr>
          <p:cNvPr id="63" name="TextBox 62"/>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25213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childTnLst>
                          </p:cTn>
                        </p:par>
                        <p:par>
                          <p:cTn id="11" fill="hold">
                            <p:stCondLst>
                              <p:cond delay="500"/>
                            </p:stCondLst>
                            <p:childTnLst>
                              <p:par>
                                <p:cTn id="12" presetID="22" presetClass="entr" presetSubtype="8" fill="hold" nodeType="afterEffect">
                                  <p:stCondLst>
                                    <p:cond delay="100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childTnLst>
                          </p:cTn>
                        </p:par>
                        <p:par>
                          <p:cTn id="15" fill="hold">
                            <p:stCondLst>
                              <p:cond delay="2000"/>
                            </p:stCondLst>
                            <p:childTnLst>
                              <p:par>
                                <p:cTn id="16" presetID="22" presetClass="entr" presetSubtype="8" fill="hold"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left)">
                                      <p:cBhvr>
                                        <p:cTn id="18" dur="500"/>
                                        <p:tgtEl>
                                          <p:spTgt spid="18"/>
                                        </p:tgtEl>
                                      </p:cBhvr>
                                    </p:animEffect>
                                  </p:childTnLst>
                                </p:cTn>
                              </p:par>
                            </p:childTnLst>
                          </p:cTn>
                        </p:par>
                        <p:par>
                          <p:cTn id="19" fill="hold">
                            <p:stCondLst>
                              <p:cond delay="2500"/>
                            </p:stCondLst>
                            <p:childTnLst>
                              <p:par>
                                <p:cTn id="20" presetID="22" presetClass="entr" presetSubtype="8" fill="hold"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87122" y="1143000"/>
            <a:ext cx="4050645" cy="2862323"/>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lumMod val="75000"/>
                    <a:lumOff val="25000"/>
                  </a:schemeClr>
                </a:solidFill>
              </a:rPr>
              <a:t>There are other paradigms for calculating SSCPs.  The sequential method is often called </a:t>
            </a:r>
            <a:r>
              <a:rPr lang="en-US" b="1" dirty="0">
                <a:solidFill>
                  <a:schemeClr val="tx1">
                    <a:lumMod val="75000"/>
                    <a:lumOff val="25000"/>
                  </a:schemeClr>
                </a:solidFill>
              </a:rPr>
              <a:t>“type I” </a:t>
            </a:r>
            <a:r>
              <a:rPr lang="en-US" dirty="0">
                <a:solidFill>
                  <a:schemeClr val="tx1">
                    <a:lumMod val="75000"/>
                    <a:lumOff val="25000"/>
                  </a:schemeClr>
                </a:solidFill>
              </a:rPr>
              <a:t>SSCP estimation.  </a:t>
            </a:r>
          </a:p>
          <a:p>
            <a:endParaRPr lang="en-US" dirty="0">
              <a:solidFill>
                <a:schemeClr val="tx1">
                  <a:lumMod val="75000"/>
                  <a:lumOff val="25000"/>
                </a:schemeClr>
              </a:solidFill>
            </a:endParaRPr>
          </a:p>
          <a:p>
            <a:r>
              <a:rPr lang="en-US" dirty="0">
                <a:solidFill>
                  <a:schemeClr val="tx1">
                    <a:lumMod val="75000"/>
                    <a:lumOff val="25000"/>
                  </a:schemeClr>
                </a:solidFill>
              </a:rPr>
              <a:t>This is the method we will use in examples (and the default in R).</a:t>
            </a:r>
          </a:p>
          <a:p>
            <a:endParaRPr lang="en-US" dirty="0">
              <a:solidFill>
                <a:schemeClr val="tx1">
                  <a:lumMod val="75000"/>
                  <a:lumOff val="25000"/>
                </a:schemeClr>
              </a:solidFill>
            </a:endParaRPr>
          </a:p>
          <a:p>
            <a:r>
              <a:rPr lang="en-US" u="sng" dirty="0">
                <a:solidFill>
                  <a:schemeClr val="tx1">
                    <a:lumMod val="75000"/>
                    <a:lumOff val="25000"/>
                  </a:schemeClr>
                </a:solidFill>
              </a:rPr>
              <a:t>Note</a:t>
            </a:r>
            <a:r>
              <a:rPr lang="en-US" dirty="0">
                <a:solidFill>
                  <a:schemeClr val="tx1">
                    <a:lumMod val="75000"/>
                    <a:lumOff val="25000"/>
                  </a:schemeClr>
                </a:solidFill>
              </a:rPr>
              <a:t>: This is the only SSCP paradigm that produces the same effect SSCPs that sum to the model SSCP.</a:t>
            </a:r>
          </a:p>
        </p:txBody>
      </p:sp>
      <p:graphicFrame>
        <p:nvGraphicFramePr>
          <p:cNvPr id="5" name="Table 4"/>
          <p:cNvGraphicFramePr>
            <a:graphicFrameLocks noGrp="1"/>
          </p:cNvGraphicFramePr>
          <p:nvPr>
            <p:extLst>
              <p:ext uri="{D42A27DB-BD31-4B8C-83A1-F6EECF244321}">
                <p14:modId xmlns:p14="http://schemas.microsoft.com/office/powerpoint/2010/main" val="1735599248"/>
              </p:ext>
            </p:extLst>
          </p:nvPr>
        </p:nvGraphicFramePr>
        <p:xfrm>
          <a:off x="4742104" y="4421352"/>
          <a:ext cx="4320514" cy="1763015"/>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Model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bl>
          </a:graphicData>
        </a:graphic>
      </p:graphicFrame>
      <p:graphicFrame>
        <p:nvGraphicFramePr>
          <p:cNvPr id="33" name="Object 32"/>
          <p:cNvGraphicFramePr>
            <a:graphicFrameLocks noChangeAspect="1"/>
          </p:cNvGraphicFramePr>
          <p:nvPr/>
        </p:nvGraphicFramePr>
        <p:xfrm>
          <a:off x="6270397" y="4992835"/>
          <a:ext cx="808038" cy="1028700"/>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6270397" y="4992835"/>
                        <a:ext cx="808038" cy="1028700"/>
                      </a:xfrm>
                      <a:prstGeom prst="rect">
                        <a:avLst/>
                      </a:prstGeom>
                    </p:spPr>
                  </p:pic>
                </p:oleObj>
              </mc:Fallback>
            </mc:AlternateContent>
          </a:graphicData>
        </a:graphic>
      </p:graphicFrame>
      <p:graphicFrame>
        <p:nvGraphicFramePr>
          <p:cNvPr id="34" name="Object 33"/>
          <p:cNvGraphicFramePr>
            <a:graphicFrameLocks noChangeAspect="1"/>
          </p:cNvGraphicFramePr>
          <p:nvPr/>
        </p:nvGraphicFramePr>
        <p:xfrm>
          <a:off x="7445100" y="5014228"/>
          <a:ext cx="1570038" cy="1028700"/>
        </p:xfrm>
        <a:graphic>
          <a:graphicData uri="http://schemas.openxmlformats.org/presentationml/2006/ole">
            <mc:AlternateContent xmlns:mc="http://schemas.openxmlformats.org/markup-compatibility/2006">
              <mc:Choice xmlns:v="urn:schemas-microsoft-com:vml" Requires="v">
                <p:oleObj name="Equation" r:id="rId4" imgW="1358900" imgH="889000" progId="Equation.3">
                  <p:embed/>
                </p:oleObj>
              </mc:Choice>
              <mc:Fallback>
                <p:oleObj name="Equation" r:id="rId4" imgW="1358900" imgH="889000" progId="Equation.3">
                  <p:embed/>
                  <p:pic>
                    <p:nvPicPr>
                      <p:cNvPr id="0" name=""/>
                      <p:cNvPicPr/>
                      <p:nvPr/>
                    </p:nvPicPr>
                    <p:blipFill>
                      <a:blip r:embed="rId5"/>
                      <a:stretch>
                        <a:fillRect/>
                      </a:stretch>
                    </p:blipFill>
                    <p:spPr>
                      <a:xfrm>
                        <a:off x="7445100" y="5014228"/>
                        <a:ext cx="1570038" cy="1028700"/>
                      </a:xfrm>
                      <a:prstGeom prst="rect">
                        <a:avLst/>
                      </a:prstGeom>
                    </p:spPr>
                  </p:pic>
                </p:oleObj>
              </mc:Fallback>
            </mc:AlternateContent>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54322796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Sequential</a:t>
                      </a:r>
                      <a:r>
                        <a:rPr lang="pt-PT" dirty="0">
                          <a:solidFill>
                            <a:schemeClr val="tx2">
                              <a:lumMod val="75000"/>
                            </a:schemeClr>
                          </a:solidFill>
                        </a:rPr>
                        <a:t> 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34</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18" name="Table 17"/>
          <p:cNvGraphicFramePr>
            <a:graphicFrameLocks noGrp="1"/>
          </p:cNvGraphicFramePr>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t>Effect</a:t>
                      </a:r>
                    </a:p>
                  </a:txBody>
                  <a:tcPr anchor="ctr"/>
                </a:tc>
                <a:tc>
                  <a:txBody>
                    <a:bodyPr/>
                    <a:lstStyle/>
                    <a:p>
                      <a:pPr algn="ctr"/>
                      <a:r>
                        <a:rPr lang="en-US" dirty="0"/>
                        <a:t>Reduced</a:t>
                      </a:r>
                    </a:p>
                  </a:txBody>
                  <a:tcPr anchor="ctr"/>
                </a:tc>
                <a:tc>
                  <a:txBody>
                    <a:bodyPr/>
                    <a:lstStyle/>
                    <a:p>
                      <a:pPr algn="ctr"/>
                      <a:r>
                        <a:rPr lang="en-US" dirty="0"/>
                        <a:t>Full</a:t>
                      </a:r>
                    </a:p>
                  </a:txBody>
                  <a:tcPr anchor="ctr"/>
                </a:tc>
                <a:extLst>
                  <a:ext uri="{0D108BD9-81ED-4DB2-BD59-A6C34878D82A}">
                    <a16:rowId xmlns:a16="http://schemas.microsoft.com/office/drawing/2014/main" val="10000"/>
                  </a:ext>
                </a:extLst>
              </a:tr>
              <a:tr h="1332005">
                <a:tc>
                  <a:txBody>
                    <a:bodyPr/>
                    <a:lstStyle/>
                    <a:p>
                      <a:pPr algn="ctr"/>
                      <a:r>
                        <a:rPr lang="en-US" dirty="0"/>
                        <a:t>Sex</a:t>
                      </a:r>
                    </a:p>
                  </a:txBody>
                  <a:tcPr anchor="ctr"/>
                </a:tc>
                <a:tc>
                  <a:txBody>
                    <a:bodyPr/>
                    <a:lstStyle/>
                    <a:p>
                      <a:endParaRPr lang="en-US" dirty="0"/>
                    </a:p>
                  </a:txBody>
                  <a:tcPr anchor="ctr"/>
                </a:tc>
                <a:tc>
                  <a:txBody>
                    <a:bodyPr/>
                    <a:lstStyle/>
                    <a:p>
                      <a:endParaRPr lang="en-US"/>
                    </a:p>
                  </a:txBody>
                  <a:tcPr anchor="ctr"/>
                </a:tc>
                <a:extLst>
                  <a:ext uri="{0D108BD9-81ED-4DB2-BD59-A6C34878D82A}">
                    <a16:rowId xmlns:a16="http://schemas.microsoft.com/office/drawing/2014/main" val="10001"/>
                  </a:ext>
                </a:extLst>
              </a:tr>
              <a:tr h="1400682">
                <a:tc>
                  <a:txBody>
                    <a:bodyPr/>
                    <a:lstStyle/>
                    <a:p>
                      <a:pPr algn="ctr"/>
                      <a:r>
                        <a:rPr lang="en-US" dirty="0"/>
                        <a:t>Survival</a:t>
                      </a:r>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10002"/>
                  </a:ext>
                </a:extLst>
              </a:tr>
              <a:tr h="1329461">
                <a:tc>
                  <a:txBody>
                    <a:bodyPr/>
                    <a:lstStyle/>
                    <a:p>
                      <a:pPr algn="ctr"/>
                      <a:r>
                        <a:rPr lang="en-US" dirty="0"/>
                        <a:t>Sex × Survival</a:t>
                      </a:r>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10003"/>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349132382"/>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3"/>
                  </a:ext>
                </a:extLst>
              </a:tr>
            </a:tbl>
          </a:graphicData>
        </a:graphic>
      </p:graphicFrame>
      <p:graphicFrame>
        <p:nvGraphicFramePr>
          <p:cNvPr id="21" name="Object 20"/>
          <p:cNvGraphicFramePr>
            <a:graphicFrameLocks noChangeAspect="1"/>
          </p:cNvGraphicFramePr>
          <p:nvPr/>
        </p:nvGraphicFramePr>
        <p:xfrm>
          <a:off x="1738135" y="2276475"/>
          <a:ext cx="808038" cy="1028700"/>
        </p:xfrm>
        <a:graphic>
          <a:graphicData uri="http://schemas.openxmlformats.org/presentationml/2006/ole">
            <mc:AlternateContent xmlns:mc="http://schemas.openxmlformats.org/markup-compatibility/2006">
              <mc:Choice xmlns:v="urn:schemas-microsoft-com:vml" Requires="v">
                <p:oleObj name="Equation" r:id="rId6" imgW="698500" imgH="889000" progId="Equation.3">
                  <p:embed/>
                </p:oleObj>
              </mc:Choice>
              <mc:Fallback>
                <p:oleObj name="Equation" r:id="rId6" imgW="698500" imgH="889000" progId="Equation.3">
                  <p:embed/>
                  <p:pic>
                    <p:nvPicPr>
                      <p:cNvPr id="0" name=""/>
                      <p:cNvPicPr/>
                      <p:nvPr/>
                    </p:nvPicPr>
                    <p:blipFill>
                      <a:blip r:embed="rId3"/>
                      <a:stretch>
                        <a:fillRect/>
                      </a:stretch>
                    </p:blipFill>
                    <p:spPr>
                      <a:xfrm>
                        <a:off x="1738135" y="2276475"/>
                        <a:ext cx="808038" cy="1028700"/>
                      </a:xfrm>
                      <a:prstGeom prst="rect">
                        <a:avLst/>
                      </a:prstGeom>
                    </p:spPr>
                  </p:pic>
                </p:oleObj>
              </mc:Fallback>
            </mc:AlternateContent>
          </a:graphicData>
        </a:graphic>
      </p:graphicFrame>
      <p:graphicFrame>
        <p:nvGraphicFramePr>
          <p:cNvPr id="22" name="Object 21"/>
          <p:cNvGraphicFramePr>
            <a:graphicFrameLocks noChangeAspect="1"/>
          </p:cNvGraphicFramePr>
          <p:nvPr/>
        </p:nvGraphicFramePr>
        <p:xfrm>
          <a:off x="3155377" y="2263742"/>
          <a:ext cx="1057275" cy="1028700"/>
        </p:xfrm>
        <a:graphic>
          <a:graphicData uri="http://schemas.openxmlformats.org/presentationml/2006/ole">
            <mc:AlternateContent xmlns:mc="http://schemas.openxmlformats.org/markup-compatibility/2006">
              <mc:Choice xmlns:v="urn:schemas-microsoft-com:vml" Requires="v">
                <p:oleObj name="Equation" r:id="rId7" imgW="914400" imgH="889000" progId="Equation.3">
                  <p:embed/>
                </p:oleObj>
              </mc:Choice>
              <mc:Fallback>
                <p:oleObj name="Equation" r:id="rId7" imgW="914400" imgH="889000" progId="Equation.3">
                  <p:embed/>
                  <p:pic>
                    <p:nvPicPr>
                      <p:cNvPr id="0" name=""/>
                      <p:cNvPicPr/>
                      <p:nvPr/>
                    </p:nvPicPr>
                    <p:blipFill>
                      <a:blip r:embed="rId8"/>
                      <a:stretch>
                        <a:fillRect/>
                      </a:stretch>
                    </p:blipFill>
                    <p:spPr>
                      <a:xfrm>
                        <a:off x="3155377" y="2263742"/>
                        <a:ext cx="1057275" cy="1028700"/>
                      </a:xfrm>
                      <a:prstGeom prst="rect">
                        <a:avLst/>
                      </a:prstGeom>
                    </p:spPr>
                  </p:pic>
                </p:oleObj>
              </mc:Fallback>
            </mc:AlternateContent>
          </a:graphicData>
        </a:graphic>
      </p:graphicFrame>
      <p:graphicFrame>
        <p:nvGraphicFramePr>
          <p:cNvPr id="23" name="Object 22"/>
          <p:cNvGraphicFramePr>
            <a:graphicFrameLocks noChangeAspect="1"/>
          </p:cNvGraphicFramePr>
          <p:nvPr/>
        </p:nvGraphicFramePr>
        <p:xfrm>
          <a:off x="1628598" y="3651250"/>
          <a:ext cx="1071562" cy="1028700"/>
        </p:xfrm>
        <a:graphic>
          <a:graphicData uri="http://schemas.openxmlformats.org/presentationml/2006/ole">
            <mc:AlternateContent xmlns:mc="http://schemas.openxmlformats.org/markup-compatibility/2006">
              <mc:Choice xmlns:v="urn:schemas-microsoft-com:vml" Requires="v">
                <p:oleObj name="Equation" r:id="rId9" imgW="927100" imgH="889000" progId="Equation.3">
                  <p:embed/>
                </p:oleObj>
              </mc:Choice>
              <mc:Fallback>
                <p:oleObj name="Equation" r:id="rId9" imgW="927100" imgH="889000" progId="Equation.3">
                  <p:embed/>
                  <p:pic>
                    <p:nvPicPr>
                      <p:cNvPr id="0" name=""/>
                      <p:cNvPicPr/>
                      <p:nvPr/>
                    </p:nvPicPr>
                    <p:blipFill>
                      <a:blip r:embed="rId10"/>
                      <a:stretch>
                        <a:fillRect/>
                      </a:stretch>
                    </p:blipFill>
                    <p:spPr>
                      <a:xfrm>
                        <a:off x="1628598" y="3651250"/>
                        <a:ext cx="1071562" cy="1028700"/>
                      </a:xfrm>
                      <a:prstGeom prst="rect">
                        <a:avLst/>
                      </a:prstGeom>
                    </p:spPr>
                  </p:pic>
                </p:oleObj>
              </mc:Fallback>
            </mc:AlternateContent>
          </a:graphicData>
        </a:graphic>
      </p:graphicFrame>
      <p:graphicFrame>
        <p:nvGraphicFramePr>
          <p:cNvPr id="24" name="Object 23"/>
          <p:cNvGraphicFramePr>
            <a:graphicFrameLocks noChangeAspect="1"/>
          </p:cNvGraphicFramePr>
          <p:nvPr/>
        </p:nvGraphicFramePr>
        <p:xfrm>
          <a:off x="3056083" y="3651250"/>
          <a:ext cx="1306512" cy="1028700"/>
        </p:xfrm>
        <a:graphic>
          <a:graphicData uri="http://schemas.openxmlformats.org/presentationml/2006/ole">
            <mc:AlternateContent xmlns:mc="http://schemas.openxmlformats.org/markup-compatibility/2006">
              <mc:Choice xmlns:v="urn:schemas-microsoft-com:vml" Requires="v">
                <p:oleObj name="Equation" r:id="rId11" imgW="1130300" imgH="889000" progId="Equation.3">
                  <p:embed/>
                </p:oleObj>
              </mc:Choice>
              <mc:Fallback>
                <p:oleObj name="Equation" r:id="rId11" imgW="1130300" imgH="889000" progId="Equation.3">
                  <p:embed/>
                  <p:pic>
                    <p:nvPicPr>
                      <p:cNvPr id="0" name=""/>
                      <p:cNvPicPr/>
                      <p:nvPr/>
                    </p:nvPicPr>
                    <p:blipFill>
                      <a:blip r:embed="rId12"/>
                      <a:stretch>
                        <a:fillRect/>
                      </a:stretch>
                    </p:blipFill>
                    <p:spPr>
                      <a:xfrm>
                        <a:off x="3056083" y="3651250"/>
                        <a:ext cx="1306512" cy="1028700"/>
                      </a:xfrm>
                      <a:prstGeom prst="rect">
                        <a:avLst/>
                      </a:prstGeom>
                    </p:spPr>
                  </p:pic>
                </p:oleObj>
              </mc:Fallback>
            </mc:AlternateContent>
          </a:graphicData>
        </a:graphic>
      </p:graphicFrame>
      <p:graphicFrame>
        <p:nvGraphicFramePr>
          <p:cNvPr id="25" name="Object 24"/>
          <p:cNvGraphicFramePr>
            <a:graphicFrameLocks noChangeAspect="1"/>
          </p:cNvGraphicFramePr>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13" imgW="1143000" imgH="889000" progId="Equation.3">
                  <p:embed/>
                </p:oleObj>
              </mc:Choice>
              <mc:Fallback>
                <p:oleObj name="Equation" r:id="rId13" imgW="1143000" imgH="889000" progId="Equation.3">
                  <p:embed/>
                  <p:pic>
                    <p:nvPicPr>
                      <p:cNvPr id="0" name=""/>
                      <p:cNvPicPr/>
                      <p:nvPr/>
                    </p:nvPicPr>
                    <p:blipFill>
                      <a:blip r:embed="rId14"/>
                      <a:stretch>
                        <a:fillRect/>
                      </a:stretch>
                    </p:blipFill>
                    <p:spPr>
                      <a:xfrm>
                        <a:off x="1504555" y="5049370"/>
                        <a:ext cx="1320800" cy="1028700"/>
                      </a:xfrm>
                      <a:prstGeom prst="rect">
                        <a:avLst/>
                      </a:prstGeom>
                    </p:spPr>
                  </p:pic>
                </p:oleObj>
              </mc:Fallback>
            </mc:AlternateContent>
          </a:graphicData>
        </a:graphic>
      </p:graphicFrame>
      <p:graphicFrame>
        <p:nvGraphicFramePr>
          <p:cNvPr id="26" name="Object 25"/>
          <p:cNvGraphicFramePr>
            <a:graphicFrameLocks noChangeAspect="1"/>
          </p:cNvGraphicFramePr>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15" imgW="1358900" imgH="889000" progId="Equation.3">
                  <p:embed/>
                </p:oleObj>
              </mc:Choice>
              <mc:Fallback>
                <p:oleObj name="Equation" r:id="rId15" imgW="1358900" imgH="889000" progId="Equation.3">
                  <p:embed/>
                  <p:pic>
                    <p:nvPicPr>
                      <p:cNvPr id="0" name=""/>
                      <p:cNvPicPr/>
                      <p:nvPr/>
                    </p:nvPicPr>
                    <p:blipFill>
                      <a:blip r:embed="rId5"/>
                      <a:stretch>
                        <a:fillRect/>
                      </a:stretch>
                    </p:blipFill>
                    <p:spPr>
                      <a:xfrm>
                        <a:off x="2929985" y="5037968"/>
                        <a:ext cx="1570038" cy="1028700"/>
                      </a:xfrm>
                      <a:prstGeom prst="rect">
                        <a:avLst/>
                      </a:prstGeom>
                    </p:spPr>
                  </p:pic>
                </p:oleObj>
              </mc:Fallback>
            </mc:AlternateContent>
          </a:graphicData>
        </a:graphic>
      </p:graphicFrame>
      <p:sp>
        <p:nvSpPr>
          <p:cNvPr id="27" name="TextBox 26"/>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667608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98772747"/>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3"/>
                  </a:ext>
                </a:extLst>
              </a:tr>
            </a:tbl>
          </a:graphicData>
        </a:graphic>
      </p:graphicFrame>
      <p:graphicFrame>
        <p:nvGraphicFramePr>
          <p:cNvPr id="8" name="Object 7"/>
          <p:cNvGraphicFramePr>
            <a:graphicFrameLocks noChangeAspect="1"/>
          </p:cNvGraphicFramePr>
          <p:nvPr/>
        </p:nvGraphicFramePr>
        <p:xfrm>
          <a:off x="1606550" y="2276475"/>
          <a:ext cx="1073150" cy="1028700"/>
        </p:xfrm>
        <a:graphic>
          <a:graphicData uri="http://schemas.openxmlformats.org/presentationml/2006/ole">
            <mc:AlternateContent xmlns:mc="http://schemas.openxmlformats.org/markup-compatibility/2006">
              <mc:Choice xmlns:v="urn:schemas-microsoft-com:vml" Requires="v">
                <p:oleObj name="Equation" r:id="rId2" imgW="927100" imgH="889000" progId="Equation.3">
                  <p:embed/>
                </p:oleObj>
              </mc:Choice>
              <mc:Fallback>
                <p:oleObj name="Equation" r:id="rId2" imgW="927100" imgH="889000" progId="Equation.3">
                  <p:embed/>
                  <p:pic>
                    <p:nvPicPr>
                      <p:cNvPr id="0" name=""/>
                      <p:cNvPicPr/>
                      <p:nvPr/>
                    </p:nvPicPr>
                    <p:blipFill>
                      <a:blip r:embed="rId3"/>
                      <a:stretch>
                        <a:fillRect/>
                      </a:stretch>
                    </p:blipFill>
                    <p:spPr>
                      <a:xfrm>
                        <a:off x="1606550" y="2276475"/>
                        <a:ext cx="1073150" cy="1028700"/>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1628598" y="3651250"/>
          <a:ext cx="1071562" cy="1028700"/>
        </p:xfrm>
        <a:graphic>
          <a:graphicData uri="http://schemas.openxmlformats.org/presentationml/2006/ole">
            <mc:AlternateContent xmlns:mc="http://schemas.openxmlformats.org/markup-compatibility/2006">
              <mc:Choice xmlns:v="urn:schemas-microsoft-com:vml" Requires="v">
                <p:oleObj name="Equation" r:id="rId4" imgW="927100" imgH="889000" progId="Equation.3">
                  <p:embed/>
                </p:oleObj>
              </mc:Choice>
              <mc:Fallback>
                <p:oleObj name="Equation" r:id="rId4" imgW="927100" imgH="889000" progId="Equation.3">
                  <p:embed/>
                  <p:pic>
                    <p:nvPicPr>
                      <p:cNvPr id="0" name=""/>
                      <p:cNvPicPr/>
                      <p:nvPr/>
                    </p:nvPicPr>
                    <p:blipFill>
                      <a:blip r:embed="rId5"/>
                      <a:stretch>
                        <a:fillRect/>
                      </a:stretch>
                    </p:blipFill>
                    <p:spPr>
                      <a:xfrm>
                        <a:off x="1628598" y="3651250"/>
                        <a:ext cx="1071562" cy="1028700"/>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3056083" y="3651250"/>
          <a:ext cx="1306512" cy="1028700"/>
        </p:xfrm>
        <a:graphic>
          <a:graphicData uri="http://schemas.openxmlformats.org/presentationml/2006/ole">
            <mc:AlternateContent xmlns:mc="http://schemas.openxmlformats.org/markup-compatibility/2006">
              <mc:Choice xmlns:v="urn:schemas-microsoft-com:vml" Requires="v">
                <p:oleObj name="Equation" r:id="rId6" imgW="1130300" imgH="889000" progId="Equation.3">
                  <p:embed/>
                </p:oleObj>
              </mc:Choice>
              <mc:Fallback>
                <p:oleObj name="Equation" r:id="rId6" imgW="1130300" imgH="889000" progId="Equation.3">
                  <p:embed/>
                  <p:pic>
                    <p:nvPicPr>
                      <p:cNvPr id="0" name=""/>
                      <p:cNvPicPr/>
                      <p:nvPr/>
                    </p:nvPicPr>
                    <p:blipFill>
                      <a:blip r:embed="rId7"/>
                      <a:stretch>
                        <a:fillRect/>
                      </a:stretch>
                    </p:blipFill>
                    <p:spPr>
                      <a:xfrm>
                        <a:off x="3056083" y="3651250"/>
                        <a:ext cx="1306512" cy="1028700"/>
                      </a:xfrm>
                      <a:prstGeom prst="rect">
                        <a:avLst/>
                      </a:prstGeom>
                    </p:spPr>
                  </p:pic>
                </p:oleObj>
              </mc:Fallback>
            </mc:AlternateContent>
          </a:graphicData>
        </a:graphic>
      </p:graphicFrame>
      <p:graphicFrame>
        <p:nvGraphicFramePr>
          <p:cNvPr id="13" name="Object 12"/>
          <p:cNvGraphicFramePr>
            <a:graphicFrameLocks noChangeAspect="1"/>
          </p:cNvGraphicFramePr>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8" imgW="1143000" imgH="889000" progId="Equation.3">
                  <p:embed/>
                </p:oleObj>
              </mc:Choice>
              <mc:Fallback>
                <p:oleObj name="Equation" r:id="rId8" imgW="1143000" imgH="889000" progId="Equation.3">
                  <p:embed/>
                  <p:pic>
                    <p:nvPicPr>
                      <p:cNvPr id="0" name=""/>
                      <p:cNvPicPr/>
                      <p:nvPr/>
                    </p:nvPicPr>
                    <p:blipFill>
                      <a:blip r:embed="rId9"/>
                      <a:stretch>
                        <a:fillRect/>
                      </a:stretch>
                    </p:blipFill>
                    <p:spPr>
                      <a:xfrm>
                        <a:off x="1504555" y="5049370"/>
                        <a:ext cx="1320800" cy="1028700"/>
                      </a:xfrm>
                      <a:prstGeom prst="rect">
                        <a:avLst/>
                      </a:prstGeom>
                    </p:spPr>
                  </p:pic>
                </p:oleObj>
              </mc:Fallback>
            </mc:AlternateContent>
          </a:graphicData>
        </a:graphic>
      </p:graphicFrame>
      <p:graphicFrame>
        <p:nvGraphicFramePr>
          <p:cNvPr id="14" name="Object 13"/>
          <p:cNvGraphicFramePr>
            <a:graphicFrameLocks noChangeAspect="1"/>
          </p:cNvGraphicFramePr>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10" imgW="1358900" imgH="889000" progId="Equation.3">
                  <p:embed/>
                </p:oleObj>
              </mc:Choice>
              <mc:Fallback>
                <p:oleObj name="Equation" r:id="rId10" imgW="1358900" imgH="889000" progId="Equation.3">
                  <p:embed/>
                  <p:pic>
                    <p:nvPicPr>
                      <p:cNvPr id="0" name=""/>
                      <p:cNvPicPr/>
                      <p:nvPr/>
                    </p:nvPicPr>
                    <p:blipFill>
                      <a:blip r:embed="rId11"/>
                      <a:stretch>
                        <a:fillRect/>
                      </a:stretch>
                    </p:blipFill>
                    <p:spPr>
                      <a:xfrm>
                        <a:off x="2929985" y="5037968"/>
                        <a:ext cx="1570038" cy="1028700"/>
                      </a:xfrm>
                      <a:prstGeom prst="rect">
                        <a:avLst/>
                      </a:prstGeom>
                    </p:spPr>
                  </p:pic>
                </p:oleObj>
              </mc:Fallback>
            </mc:AlternateContent>
          </a:graphicData>
        </a:graphic>
      </p:graphicFrame>
      <p:sp>
        <p:nvSpPr>
          <p:cNvPr id="4" name="TextBox 3"/>
          <p:cNvSpPr txBox="1"/>
          <p:nvPr/>
        </p:nvSpPr>
        <p:spPr>
          <a:xfrm>
            <a:off x="4887122" y="1143000"/>
            <a:ext cx="4050645" cy="3139321"/>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b="1" dirty="0">
                <a:solidFill>
                  <a:schemeClr val="tx1">
                    <a:lumMod val="75000"/>
                    <a:lumOff val="25000"/>
                  </a:schemeClr>
                </a:solidFill>
              </a:rPr>
              <a:t>Type II SSCP estimation:</a:t>
            </a:r>
            <a:r>
              <a:rPr lang="en-US" dirty="0">
                <a:solidFill>
                  <a:schemeClr val="tx1">
                    <a:lumMod val="75000"/>
                    <a:lumOff val="25000"/>
                  </a:schemeClr>
                </a:solidFill>
              </a:rPr>
              <a:t>  </a:t>
            </a:r>
          </a:p>
          <a:p>
            <a:r>
              <a:rPr lang="en-US" dirty="0">
                <a:solidFill>
                  <a:schemeClr val="tx1">
                    <a:lumMod val="75000"/>
                    <a:lumOff val="25000"/>
                  </a:schemeClr>
                </a:solidFill>
              </a:rPr>
              <a:t>Like Type I for the second factor, except the order is readjusted.  </a:t>
            </a:r>
          </a:p>
          <a:p>
            <a:r>
              <a:rPr lang="en-US" dirty="0">
                <a:solidFill>
                  <a:schemeClr val="tx1">
                    <a:lumMod val="75000"/>
                    <a:lumOff val="25000"/>
                  </a:schemeClr>
                </a:solidFill>
              </a:rPr>
              <a:t>If more than one interaction, “main effects” and all interactions including main effects are linked  (i.e., removing a main effect means removing all interactions that include it). </a:t>
            </a:r>
          </a:p>
          <a:p>
            <a:endParaRPr lang="en-US" dirty="0">
              <a:solidFill>
                <a:schemeClr val="tx1">
                  <a:lumMod val="75000"/>
                  <a:lumOff val="25000"/>
                </a:schemeClr>
              </a:solidFill>
            </a:endParaRPr>
          </a:p>
          <a:p>
            <a:r>
              <a:rPr lang="en-US" dirty="0">
                <a:solidFill>
                  <a:schemeClr val="tx1">
                    <a:lumMod val="75000"/>
                    <a:lumOff val="25000"/>
                  </a:schemeClr>
                </a:solidFill>
              </a:rPr>
              <a:t>Note: interaction effect is the same as type I.</a:t>
            </a:r>
          </a:p>
        </p:txBody>
      </p:sp>
      <p:graphicFrame>
        <p:nvGraphicFramePr>
          <p:cNvPr id="15" name="Object 14"/>
          <p:cNvGraphicFramePr>
            <a:graphicFrameLocks noChangeAspect="1"/>
          </p:cNvGraphicFramePr>
          <p:nvPr/>
        </p:nvGraphicFramePr>
        <p:xfrm>
          <a:off x="3056083" y="2276475"/>
          <a:ext cx="1306512" cy="1028700"/>
        </p:xfrm>
        <a:graphic>
          <a:graphicData uri="http://schemas.openxmlformats.org/presentationml/2006/ole">
            <mc:AlternateContent xmlns:mc="http://schemas.openxmlformats.org/markup-compatibility/2006">
              <mc:Choice xmlns:v="urn:schemas-microsoft-com:vml" Requires="v">
                <p:oleObj name="Equation" r:id="rId12" imgW="1130300" imgH="889000" progId="Equation.3">
                  <p:embed/>
                </p:oleObj>
              </mc:Choice>
              <mc:Fallback>
                <p:oleObj name="Equation" r:id="rId12" imgW="1130300" imgH="889000" progId="Equation.3">
                  <p:embed/>
                  <p:pic>
                    <p:nvPicPr>
                      <p:cNvPr id="0" name=""/>
                      <p:cNvPicPr/>
                      <p:nvPr/>
                    </p:nvPicPr>
                    <p:blipFill>
                      <a:blip r:embed="rId13"/>
                      <a:stretch>
                        <a:fillRect/>
                      </a:stretch>
                    </p:blipFill>
                    <p:spPr>
                      <a:xfrm>
                        <a:off x="3056083" y="2276475"/>
                        <a:ext cx="1306512" cy="1028700"/>
                      </a:xfrm>
                      <a:prstGeom prst="rect">
                        <a:avLst/>
                      </a:prstGeom>
                    </p:spPr>
                  </p:pic>
                </p:oleObj>
              </mc:Fallback>
            </mc:AlternateContent>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656792143"/>
              </p:ext>
            </p:extLst>
          </p:nvPr>
        </p:nvGraphicFramePr>
        <p:xfrm>
          <a:off x="4742104" y="4421352"/>
          <a:ext cx="4320514" cy="1763015"/>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Model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bl>
          </a:graphicData>
        </a:graphic>
      </p:graphicFrame>
      <p:graphicFrame>
        <p:nvGraphicFramePr>
          <p:cNvPr id="18" name="Object 17"/>
          <p:cNvGraphicFramePr>
            <a:graphicFrameLocks noChangeAspect="1"/>
          </p:cNvGraphicFramePr>
          <p:nvPr/>
        </p:nvGraphicFramePr>
        <p:xfrm>
          <a:off x="6270397" y="4992835"/>
          <a:ext cx="808038" cy="1028700"/>
        </p:xfrm>
        <a:graphic>
          <a:graphicData uri="http://schemas.openxmlformats.org/presentationml/2006/ole">
            <mc:AlternateContent xmlns:mc="http://schemas.openxmlformats.org/markup-compatibility/2006">
              <mc:Choice xmlns:v="urn:schemas-microsoft-com:vml" Requires="v">
                <p:oleObj name="Equation" r:id="rId14" imgW="698500" imgH="889000" progId="Equation.3">
                  <p:embed/>
                </p:oleObj>
              </mc:Choice>
              <mc:Fallback>
                <p:oleObj name="Equation" r:id="rId14" imgW="698500" imgH="889000" progId="Equation.3">
                  <p:embed/>
                  <p:pic>
                    <p:nvPicPr>
                      <p:cNvPr id="0" name=""/>
                      <p:cNvPicPr/>
                      <p:nvPr/>
                    </p:nvPicPr>
                    <p:blipFill>
                      <a:blip r:embed="rId15"/>
                      <a:stretch>
                        <a:fillRect/>
                      </a:stretch>
                    </p:blipFill>
                    <p:spPr>
                      <a:xfrm>
                        <a:off x="6270397" y="4992835"/>
                        <a:ext cx="808038" cy="1028700"/>
                      </a:xfrm>
                      <a:prstGeom prst="rect">
                        <a:avLst/>
                      </a:prstGeom>
                    </p:spPr>
                  </p:pic>
                </p:oleObj>
              </mc:Fallback>
            </mc:AlternateContent>
          </a:graphicData>
        </a:graphic>
      </p:graphicFrame>
      <p:graphicFrame>
        <p:nvGraphicFramePr>
          <p:cNvPr id="19" name="Object 18"/>
          <p:cNvGraphicFramePr>
            <a:graphicFrameLocks noChangeAspect="1"/>
          </p:cNvGraphicFramePr>
          <p:nvPr/>
        </p:nvGraphicFramePr>
        <p:xfrm>
          <a:off x="7445100" y="5014228"/>
          <a:ext cx="1570038" cy="1028700"/>
        </p:xfrm>
        <a:graphic>
          <a:graphicData uri="http://schemas.openxmlformats.org/presentationml/2006/ole">
            <mc:AlternateContent xmlns:mc="http://schemas.openxmlformats.org/markup-compatibility/2006">
              <mc:Choice xmlns:v="urn:schemas-microsoft-com:vml" Requires="v">
                <p:oleObj name="Equation" r:id="rId16" imgW="1358900" imgH="889000" progId="Equation.3">
                  <p:embed/>
                </p:oleObj>
              </mc:Choice>
              <mc:Fallback>
                <p:oleObj name="Equation" r:id="rId16" imgW="1358900" imgH="889000" progId="Equation.3">
                  <p:embed/>
                  <p:pic>
                    <p:nvPicPr>
                      <p:cNvPr id="0" name=""/>
                      <p:cNvPicPr/>
                      <p:nvPr/>
                    </p:nvPicPr>
                    <p:blipFill>
                      <a:blip r:embed="rId11"/>
                      <a:stretch>
                        <a:fillRect/>
                      </a:stretch>
                    </p:blipFill>
                    <p:spPr>
                      <a:xfrm>
                        <a:off x="7445100" y="5014228"/>
                        <a:ext cx="1570038" cy="1028700"/>
                      </a:xfrm>
                      <a:prstGeom prst="rect">
                        <a:avLst/>
                      </a:prstGeom>
                    </p:spPr>
                  </p:pic>
                </p:oleObj>
              </mc:Fallback>
            </mc:AlternateContent>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98285223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Type</a:t>
                      </a:r>
                      <a:r>
                        <a:rPr lang="pt-PT" baseline="0" dirty="0">
                          <a:solidFill>
                            <a:schemeClr val="tx2">
                              <a:lumMod val="75000"/>
                            </a:schemeClr>
                          </a:solidFill>
                        </a:rPr>
                        <a:t> II </a:t>
                      </a:r>
                      <a:r>
                        <a:rPr lang="pt-PT" dirty="0">
                          <a:solidFill>
                            <a:schemeClr val="tx2">
                              <a:lumMod val="75000"/>
                            </a:schemeClr>
                          </a:solidFill>
                        </a:rPr>
                        <a:t>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35</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22" name="TextBox 21"/>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2049168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639601821"/>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222566">
                  <a:extLst>
                    <a:ext uri="{9D8B030D-6E8A-4147-A177-3AD203B41FA5}">
                      <a16:colId xmlns:a16="http://schemas.microsoft.com/office/drawing/2014/main" val="20000"/>
                    </a:ext>
                  </a:extLst>
                </a:gridCol>
                <a:gridCol w="1448084">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3"/>
                  </a:ext>
                </a:extLst>
              </a:tr>
            </a:tbl>
          </a:graphicData>
        </a:graphic>
      </p:graphicFrame>
      <p:graphicFrame>
        <p:nvGraphicFramePr>
          <p:cNvPr id="13" name="Object 12"/>
          <p:cNvGraphicFramePr>
            <a:graphicFrameLocks noChangeAspect="1"/>
          </p:cNvGraphicFramePr>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2" imgW="1143000" imgH="889000" progId="Equation.3">
                  <p:embed/>
                </p:oleObj>
              </mc:Choice>
              <mc:Fallback>
                <p:oleObj name="Equation" r:id="rId2" imgW="1143000" imgH="889000" progId="Equation.3">
                  <p:embed/>
                  <p:pic>
                    <p:nvPicPr>
                      <p:cNvPr id="0" name=""/>
                      <p:cNvPicPr/>
                      <p:nvPr/>
                    </p:nvPicPr>
                    <p:blipFill>
                      <a:blip r:embed="rId3"/>
                      <a:stretch>
                        <a:fillRect/>
                      </a:stretch>
                    </p:blipFill>
                    <p:spPr>
                      <a:xfrm>
                        <a:off x="1504555" y="5049370"/>
                        <a:ext cx="1320800" cy="1028700"/>
                      </a:xfrm>
                      <a:prstGeom prst="rect">
                        <a:avLst/>
                      </a:prstGeom>
                    </p:spPr>
                  </p:pic>
                </p:oleObj>
              </mc:Fallback>
            </mc:AlternateContent>
          </a:graphicData>
        </a:graphic>
      </p:graphicFrame>
      <p:graphicFrame>
        <p:nvGraphicFramePr>
          <p:cNvPr id="14" name="Object 13"/>
          <p:cNvGraphicFramePr>
            <a:graphicFrameLocks noChangeAspect="1"/>
          </p:cNvGraphicFramePr>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4" imgW="1358900" imgH="889000" progId="Equation.3">
                  <p:embed/>
                </p:oleObj>
              </mc:Choice>
              <mc:Fallback>
                <p:oleObj name="Equation" r:id="rId4" imgW="1358900" imgH="889000" progId="Equation.3">
                  <p:embed/>
                  <p:pic>
                    <p:nvPicPr>
                      <p:cNvPr id="0" name=""/>
                      <p:cNvPicPr/>
                      <p:nvPr/>
                    </p:nvPicPr>
                    <p:blipFill>
                      <a:blip r:embed="rId5"/>
                      <a:stretch>
                        <a:fillRect/>
                      </a:stretch>
                    </p:blipFill>
                    <p:spPr>
                      <a:xfrm>
                        <a:off x="2929985" y="5037968"/>
                        <a:ext cx="1570038" cy="1028700"/>
                      </a:xfrm>
                      <a:prstGeom prst="rect">
                        <a:avLst/>
                      </a:prstGeom>
                    </p:spPr>
                  </p:pic>
                </p:oleObj>
              </mc:Fallback>
            </mc:AlternateContent>
          </a:graphicData>
        </a:graphic>
      </p:graphicFrame>
      <p:sp>
        <p:nvSpPr>
          <p:cNvPr id="4" name="TextBox 3"/>
          <p:cNvSpPr txBox="1"/>
          <p:nvPr/>
        </p:nvSpPr>
        <p:spPr>
          <a:xfrm>
            <a:off x="4887122" y="1219200"/>
            <a:ext cx="4050645" cy="2862323"/>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b="1" dirty="0">
                <a:solidFill>
                  <a:schemeClr val="tx1">
                    <a:lumMod val="75000"/>
                    <a:lumOff val="25000"/>
                  </a:schemeClr>
                </a:solidFill>
              </a:rPr>
              <a:t>Type III (marginal) SSCP estimation:</a:t>
            </a:r>
          </a:p>
          <a:p>
            <a:r>
              <a:rPr lang="en-US" dirty="0">
                <a:solidFill>
                  <a:schemeClr val="tx1">
                    <a:lumMod val="75000"/>
                    <a:lumOff val="25000"/>
                  </a:schemeClr>
                </a:solidFill>
              </a:rPr>
              <a:t>This paradigm does not link main effects and interactions. It evaluates effects by the subtraction of parameters, rather than their addition. The reduced models are somewhat meaningless, other than for estimating effects.</a:t>
            </a:r>
          </a:p>
          <a:p>
            <a:endParaRPr lang="en-US" dirty="0">
              <a:solidFill>
                <a:schemeClr val="tx1">
                  <a:lumMod val="75000"/>
                  <a:lumOff val="25000"/>
                </a:schemeClr>
              </a:solidFill>
            </a:endParaRPr>
          </a:p>
          <a:p>
            <a:r>
              <a:rPr lang="en-US" dirty="0">
                <a:solidFill>
                  <a:schemeClr val="tx1">
                    <a:lumMod val="75000"/>
                    <a:lumOff val="25000"/>
                  </a:schemeClr>
                </a:solidFill>
              </a:rPr>
              <a:t>Note: interaction effect is the same as types I and II.</a:t>
            </a:r>
          </a:p>
        </p:txBody>
      </p:sp>
      <p:graphicFrame>
        <p:nvGraphicFramePr>
          <p:cNvPr id="16" name="Table 15"/>
          <p:cNvGraphicFramePr>
            <a:graphicFrameLocks noGrp="1"/>
          </p:cNvGraphicFramePr>
          <p:nvPr>
            <p:extLst>
              <p:ext uri="{D42A27DB-BD31-4B8C-83A1-F6EECF244321}">
                <p14:modId xmlns:p14="http://schemas.microsoft.com/office/powerpoint/2010/main" val="71371553"/>
              </p:ext>
            </p:extLst>
          </p:nvPr>
        </p:nvGraphicFramePr>
        <p:xfrm>
          <a:off x="4742104" y="4421352"/>
          <a:ext cx="4320514" cy="1763015"/>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Model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bl>
          </a:graphicData>
        </a:graphic>
      </p:graphicFrame>
      <p:graphicFrame>
        <p:nvGraphicFramePr>
          <p:cNvPr id="17" name="Object 16"/>
          <p:cNvGraphicFramePr>
            <a:graphicFrameLocks noChangeAspect="1"/>
          </p:cNvGraphicFramePr>
          <p:nvPr/>
        </p:nvGraphicFramePr>
        <p:xfrm>
          <a:off x="6270397" y="4992835"/>
          <a:ext cx="808038" cy="1028700"/>
        </p:xfrm>
        <a:graphic>
          <a:graphicData uri="http://schemas.openxmlformats.org/presentationml/2006/ole">
            <mc:AlternateContent xmlns:mc="http://schemas.openxmlformats.org/markup-compatibility/2006">
              <mc:Choice xmlns:v="urn:schemas-microsoft-com:vml" Requires="v">
                <p:oleObj name="Equation" r:id="rId6" imgW="698500" imgH="889000" progId="Equation.3">
                  <p:embed/>
                </p:oleObj>
              </mc:Choice>
              <mc:Fallback>
                <p:oleObj name="Equation" r:id="rId6" imgW="698500" imgH="889000" progId="Equation.3">
                  <p:embed/>
                  <p:pic>
                    <p:nvPicPr>
                      <p:cNvPr id="0" name=""/>
                      <p:cNvPicPr/>
                      <p:nvPr/>
                    </p:nvPicPr>
                    <p:blipFill>
                      <a:blip r:embed="rId7"/>
                      <a:stretch>
                        <a:fillRect/>
                      </a:stretch>
                    </p:blipFill>
                    <p:spPr>
                      <a:xfrm>
                        <a:off x="6270397" y="4992835"/>
                        <a:ext cx="808038" cy="1028700"/>
                      </a:xfrm>
                      <a:prstGeom prst="rect">
                        <a:avLst/>
                      </a:prstGeom>
                    </p:spPr>
                  </p:pic>
                </p:oleObj>
              </mc:Fallback>
            </mc:AlternateContent>
          </a:graphicData>
        </a:graphic>
      </p:graphicFrame>
      <p:graphicFrame>
        <p:nvGraphicFramePr>
          <p:cNvPr id="18" name="Object 17"/>
          <p:cNvGraphicFramePr>
            <a:graphicFrameLocks noChangeAspect="1"/>
          </p:cNvGraphicFramePr>
          <p:nvPr/>
        </p:nvGraphicFramePr>
        <p:xfrm>
          <a:off x="7445100" y="5014228"/>
          <a:ext cx="1570038" cy="1028700"/>
        </p:xfrm>
        <a:graphic>
          <a:graphicData uri="http://schemas.openxmlformats.org/presentationml/2006/ole">
            <mc:AlternateContent xmlns:mc="http://schemas.openxmlformats.org/markup-compatibility/2006">
              <mc:Choice xmlns:v="urn:schemas-microsoft-com:vml" Requires="v">
                <p:oleObj name="Equation" r:id="rId8" imgW="1358900" imgH="889000" progId="Equation.3">
                  <p:embed/>
                </p:oleObj>
              </mc:Choice>
              <mc:Fallback>
                <p:oleObj name="Equation" r:id="rId8" imgW="1358900" imgH="889000" progId="Equation.3">
                  <p:embed/>
                  <p:pic>
                    <p:nvPicPr>
                      <p:cNvPr id="0" name=""/>
                      <p:cNvPicPr/>
                      <p:nvPr/>
                    </p:nvPicPr>
                    <p:blipFill>
                      <a:blip r:embed="rId5"/>
                      <a:stretch>
                        <a:fillRect/>
                      </a:stretch>
                    </p:blipFill>
                    <p:spPr>
                      <a:xfrm>
                        <a:off x="7445100" y="5014228"/>
                        <a:ext cx="1570038" cy="1028700"/>
                      </a:xfrm>
                      <a:prstGeom prst="rect">
                        <a:avLst/>
                      </a:prstGeom>
                    </p:spPr>
                  </p:pic>
                </p:oleObj>
              </mc:Fallback>
            </mc:AlternateContent>
          </a:graphicData>
        </a:graphic>
      </p:graphicFrame>
      <p:graphicFrame>
        <p:nvGraphicFramePr>
          <p:cNvPr id="19" name="Object 18"/>
          <p:cNvGraphicFramePr>
            <a:graphicFrameLocks noChangeAspect="1"/>
          </p:cNvGraphicFramePr>
          <p:nvPr/>
        </p:nvGraphicFramePr>
        <p:xfrm>
          <a:off x="2964125" y="3629954"/>
          <a:ext cx="1570038" cy="1028700"/>
        </p:xfrm>
        <a:graphic>
          <a:graphicData uri="http://schemas.openxmlformats.org/presentationml/2006/ole">
            <mc:AlternateContent xmlns:mc="http://schemas.openxmlformats.org/markup-compatibility/2006">
              <mc:Choice xmlns:v="urn:schemas-microsoft-com:vml" Requires="v">
                <p:oleObj name="Equation" r:id="rId9" imgW="1358900" imgH="889000" progId="Equation.3">
                  <p:embed/>
                </p:oleObj>
              </mc:Choice>
              <mc:Fallback>
                <p:oleObj name="Equation" r:id="rId9" imgW="1358900" imgH="889000" progId="Equation.3">
                  <p:embed/>
                  <p:pic>
                    <p:nvPicPr>
                      <p:cNvPr id="0" name=""/>
                      <p:cNvPicPr/>
                      <p:nvPr/>
                    </p:nvPicPr>
                    <p:blipFill>
                      <a:blip r:embed="rId5"/>
                      <a:stretch>
                        <a:fillRect/>
                      </a:stretch>
                    </p:blipFill>
                    <p:spPr>
                      <a:xfrm>
                        <a:off x="2964125" y="3629954"/>
                        <a:ext cx="1570038" cy="1028700"/>
                      </a:xfrm>
                      <a:prstGeom prst="rect">
                        <a:avLst/>
                      </a:prstGeom>
                    </p:spPr>
                  </p:pic>
                </p:oleObj>
              </mc:Fallback>
            </mc:AlternateContent>
          </a:graphicData>
        </a:graphic>
      </p:graphicFrame>
      <p:graphicFrame>
        <p:nvGraphicFramePr>
          <p:cNvPr id="20" name="Object 19"/>
          <p:cNvGraphicFramePr>
            <a:graphicFrameLocks noChangeAspect="1"/>
          </p:cNvGraphicFramePr>
          <p:nvPr/>
        </p:nvGraphicFramePr>
        <p:xfrm>
          <a:off x="2964125" y="2293989"/>
          <a:ext cx="1570038" cy="1028700"/>
        </p:xfrm>
        <a:graphic>
          <a:graphicData uri="http://schemas.openxmlformats.org/presentationml/2006/ole">
            <mc:AlternateContent xmlns:mc="http://schemas.openxmlformats.org/markup-compatibility/2006">
              <mc:Choice xmlns:v="urn:schemas-microsoft-com:vml" Requires="v">
                <p:oleObj name="Equation" r:id="rId10" imgW="1358900" imgH="889000" progId="Equation.3">
                  <p:embed/>
                </p:oleObj>
              </mc:Choice>
              <mc:Fallback>
                <p:oleObj name="Equation" r:id="rId10" imgW="1358900" imgH="889000" progId="Equation.3">
                  <p:embed/>
                  <p:pic>
                    <p:nvPicPr>
                      <p:cNvPr id="0" name=""/>
                      <p:cNvPicPr/>
                      <p:nvPr/>
                    </p:nvPicPr>
                    <p:blipFill>
                      <a:blip r:embed="rId5"/>
                      <a:stretch>
                        <a:fillRect/>
                      </a:stretch>
                    </p:blipFill>
                    <p:spPr>
                      <a:xfrm>
                        <a:off x="2964125" y="2293989"/>
                        <a:ext cx="1570038" cy="1028700"/>
                      </a:xfrm>
                      <a:prstGeom prst="rect">
                        <a:avLst/>
                      </a:prstGeom>
                    </p:spPr>
                  </p:pic>
                </p:oleObj>
              </mc:Fallback>
            </mc:AlternateContent>
          </a:graphicData>
        </a:graphic>
      </p:graphicFrame>
      <p:graphicFrame>
        <p:nvGraphicFramePr>
          <p:cNvPr id="21" name="Object 20"/>
          <p:cNvGraphicFramePr>
            <a:graphicFrameLocks noChangeAspect="1"/>
          </p:cNvGraphicFramePr>
          <p:nvPr/>
        </p:nvGraphicFramePr>
        <p:xfrm>
          <a:off x="1519238" y="2293938"/>
          <a:ext cx="1320800" cy="1028700"/>
        </p:xfrm>
        <a:graphic>
          <a:graphicData uri="http://schemas.openxmlformats.org/presentationml/2006/ole">
            <mc:AlternateContent xmlns:mc="http://schemas.openxmlformats.org/markup-compatibility/2006">
              <mc:Choice xmlns:v="urn:schemas-microsoft-com:vml" Requires="v">
                <p:oleObj name="Equation" r:id="rId11" imgW="1143000" imgH="889000" progId="Equation.3">
                  <p:embed/>
                </p:oleObj>
              </mc:Choice>
              <mc:Fallback>
                <p:oleObj name="Equation" r:id="rId11" imgW="1143000" imgH="889000" progId="Equation.3">
                  <p:embed/>
                  <p:pic>
                    <p:nvPicPr>
                      <p:cNvPr id="0" name=""/>
                      <p:cNvPicPr/>
                      <p:nvPr/>
                    </p:nvPicPr>
                    <p:blipFill>
                      <a:blip r:embed="rId12"/>
                      <a:stretch>
                        <a:fillRect/>
                      </a:stretch>
                    </p:blipFill>
                    <p:spPr>
                      <a:xfrm>
                        <a:off x="1519238" y="2293938"/>
                        <a:ext cx="1320800" cy="1028700"/>
                      </a:xfrm>
                      <a:prstGeom prst="rect">
                        <a:avLst/>
                      </a:prstGeom>
                    </p:spPr>
                  </p:pic>
                </p:oleObj>
              </mc:Fallback>
            </mc:AlternateContent>
          </a:graphicData>
        </a:graphic>
      </p:graphicFrame>
      <p:graphicFrame>
        <p:nvGraphicFramePr>
          <p:cNvPr id="22" name="Object 21"/>
          <p:cNvGraphicFramePr>
            <a:graphicFrameLocks noChangeAspect="1"/>
          </p:cNvGraphicFramePr>
          <p:nvPr/>
        </p:nvGraphicFramePr>
        <p:xfrm>
          <a:off x="1519238" y="3676650"/>
          <a:ext cx="1320800" cy="1028700"/>
        </p:xfrm>
        <a:graphic>
          <a:graphicData uri="http://schemas.openxmlformats.org/presentationml/2006/ole">
            <mc:AlternateContent xmlns:mc="http://schemas.openxmlformats.org/markup-compatibility/2006">
              <mc:Choice xmlns:v="urn:schemas-microsoft-com:vml" Requires="v">
                <p:oleObj name="Equation" r:id="rId13" imgW="1143000" imgH="889000" progId="Equation.3">
                  <p:embed/>
                </p:oleObj>
              </mc:Choice>
              <mc:Fallback>
                <p:oleObj name="Equation" r:id="rId13" imgW="1143000" imgH="889000" progId="Equation.3">
                  <p:embed/>
                  <p:pic>
                    <p:nvPicPr>
                      <p:cNvPr id="0" name=""/>
                      <p:cNvPicPr/>
                      <p:nvPr/>
                    </p:nvPicPr>
                    <p:blipFill>
                      <a:blip r:embed="rId14"/>
                      <a:stretch>
                        <a:fillRect/>
                      </a:stretch>
                    </p:blipFill>
                    <p:spPr>
                      <a:xfrm>
                        <a:off x="1519238" y="3676650"/>
                        <a:ext cx="1320800" cy="1028700"/>
                      </a:xfrm>
                      <a:prstGeom prst="rect">
                        <a:avLst/>
                      </a:prstGeom>
                    </p:spPr>
                  </p:pic>
                </p:oleObj>
              </mc:Fallback>
            </mc:AlternateContent>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1748190968"/>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Type</a:t>
                      </a:r>
                      <a:r>
                        <a:rPr lang="pt-PT" baseline="0" dirty="0">
                          <a:solidFill>
                            <a:schemeClr val="tx2">
                              <a:lumMod val="75000"/>
                            </a:schemeClr>
                          </a:solidFill>
                        </a:rPr>
                        <a:t> III </a:t>
                      </a:r>
                      <a:r>
                        <a:rPr lang="pt-PT" dirty="0">
                          <a:solidFill>
                            <a:schemeClr val="tx2">
                              <a:lumMod val="75000"/>
                            </a:schemeClr>
                          </a:solidFill>
                        </a:rPr>
                        <a:t>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36</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27" name="TextBox 26"/>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1177564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685956513"/>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3"/>
                  </a:ext>
                </a:extLst>
              </a:tr>
            </a:tbl>
          </a:graphicData>
        </a:graphic>
      </p:graphicFrame>
      <p:graphicFrame>
        <p:nvGraphicFramePr>
          <p:cNvPr id="8" name="Object 7"/>
          <p:cNvGraphicFramePr>
            <a:graphicFrameLocks noChangeAspect="1"/>
          </p:cNvGraphicFramePr>
          <p:nvPr/>
        </p:nvGraphicFramePr>
        <p:xfrm>
          <a:off x="1738135" y="2276475"/>
          <a:ext cx="808038" cy="1028700"/>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1738135" y="2276475"/>
                        <a:ext cx="808038" cy="1028700"/>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3155377" y="2263742"/>
          <a:ext cx="1057275" cy="1028700"/>
        </p:xfrm>
        <a:graphic>
          <a:graphicData uri="http://schemas.openxmlformats.org/presentationml/2006/ole">
            <mc:AlternateContent xmlns:mc="http://schemas.openxmlformats.org/markup-compatibility/2006">
              <mc:Choice xmlns:v="urn:schemas-microsoft-com:vml" Requires="v">
                <p:oleObj name="Equation" r:id="rId4" imgW="914400" imgH="889000" progId="Equation.3">
                  <p:embed/>
                </p:oleObj>
              </mc:Choice>
              <mc:Fallback>
                <p:oleObj name="Equation" r:id="rId4" imgW="914400" imgH="889000" progId="Equation.3">
                  <p:embed/>
                  <p:pic>
                    <p:nvPicPr>
                      <p:cNvPr id="0" name=""/>
                      <p:cNvPicPr/>
                      <p:nvPr/>
                    </p:nvPicPr>
                    <p:blipFill>
                      <a:blip r:embed="rId5"/>
                      <a:stretch>
                        <a:fillRect/>
                      </a:stretch>
                    </p:blipFill>
                    <p:spPr>
                      <a:xfrm>
                        <a:off x="3155377" y="2263742"/>
                        <a:ext cx="1057275" cy="1028700"/>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1628598" y="3651250"/>
          <a:ext cx="1071562" cy="1028700"/>
        </p:xfrm>
        <a:graphic>
          <a:graphicData uri="http://schemas.openxmlformats.org/presentationml/2006/ole">
            <mc:AlternateContent xmlns:mc="http://schemas.openxmlformats.org/markup-compatibility/2006">
              <mc:Choice xmlns:v="urn:schemas-microsoft-com:vml" Requires="v">
                <p:oleObj name="Equation" r:id="rId6" imgW="927100" imgH="889000" progId="Equation.3">
                  <p:embed/>
                </p:oleObj>
              </mc:Choice>
              <mc:Fallback>
                <p:oleObj name="Equation" r:id="rId6" imgW="927100" imgH="889000" progId="Equation.3">
                  <p:embed/>
                  <p:pic>
                    <p:nvPicPr>
                      <p:cNvPr id="0" name=""/>
                      <p:cNvPicPr/>
                      <p:nvPr/>
                    </p:nvPicPr>
                    <p:blipFill>
                      <a:blip r:embed="rId7"/>
                      <a:stretch>
                        <a:fillRect/>
                      </a:stretch>
                    </p:blipFill>
                    <p:spPr>
                      <a:xfrm>
                        <a:off x="1628598" y="3651250"/>
                        <a:ext cx="1071562" cy="1028700"/>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3056083" y="3651250"/>
          <a:ext cx="1306512" cy="1028700"/>
        </p:xfrm>
        <a:graphic>
          <a:graphicData uri="http://schemas.openxmlformats.org/presentationml/2006/ole">
            <mc:AlternateContent xmlns:mc="http://schemas.openxmlformats.org/markup-compatibility/2006">
              <mc:Choice xmlns:v="urn:schemas-microsoft-com:vml" Requires="v">
                <p:oleObj name="Equation" r:id="rId8" imgW="1130300" imgH="889000" progId="Equation.3">
                  <p:embed/>
                </p:oleObj>
              </mc:Choice>
              <mc:Fallback>
                <p:oleObj name="Equation" r:id="rId8" imgW="1130300" imgH="889000" progId="Equation.3">
                  <p:embed/>
                  <p:pic>
                    <p:nvPicPr>
                      <p:cNvPr id="0" name=""/>
                      <p:cNvPicPr/>
                      <p:nvPr/>
                    </p:nvPicPr>
                    <p:blipFill>
                      <a:blip r:embed="rId9"/>
                      <a:stretch>
                        <a:fillRect/>
                      </a:stretch>
                    </p:blipFill>
                    <p:spPr>
                      <a:xfrm>
                        <a:off x="3056083" y="3651250"/>
                        <a:ext cx="1306512" cy="1028700"/>
                      </a:xfrm>
                      <a:prstGeom prst="rect">
                        <a:avLst/>
                      </a:prstGeom>
                    </p:spPr>
                  </p:pic>
                </p:oleObj>
              </mc:Fallback>
            </mc:AlternateContent>
          </a:graphicData>
        </a:graphic>
      </p:graphicFrame>
      <p:graphicFrame>
        <p:nvGraphicFramePr>
          <p:cNvPr id="13" name="Object 12"/>
          <p:cNvGraphicFramePr>
            <a:graphicFrameLocks noChangeAspect="1"/>
          </p:cNvGraphicFramePr>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10" imgW="1143000" imgH="889000" progId="Equation.3">
                  <p:embed/>
                </p:oleObj>
              </mc:Choice>
              <mc:Fallback>
                <p:oleObj name="Equation" r:id="rId10" imgW="1143000" imgH="889000" progId="Equation.3">
                  <p:embed/>
                  <p:pic>
                    <p:nvPicPr>
                      <p:cNvPr id="0" name=""/>
                      <p:cNvPicPr/>
                      <p:nvPr/>
                    </p:nvPicPr>
                    <p:blipFill>
                      <a:blip r:embed="rId11"/>
                      <a:stretch>
                        <a:fillRect/>
                      </a:stretch>
                    </p:blipFill>
                    <p:spPr>
                      <a:xfrm>
                        <a:off x="1504555" y="5049370"/>
                        <a:ext cx="1320800" cy="1028700"/>
                      </a:xfrm>
                      <a:prstGeom prst="rect">
                        <a:avLst/>
                      </a:prstGeom>
                    </p:spPr>
                  </p:pic>
                </p:oleObj>
              </mc:Fallback>
            </mc:AlternateContent>
          </a:graphicData>
        </a:graphic>
      </p:graphicFrame>
      <p:graphicFrame>
        <p:nvGraphicFramePr>
          <p:cNvPr id="14" name="Object 13"/>
          <p:cNvGraphicFramePr>
            <a:graphicFrameLocks noChangeAspect="1"/>
          </p:cNvGraphicFramePr>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12" imgW="1358900" imgH="889000" progId="Equation.3">
                  <p:embed/>
                </p:oleObj>
              </mc:Choice>
              <mc:Fallback>
                <p:oleObj name="Equation" r:id="rId12" imgW="1358900" imgH="889000" progId="Equation.3">
                  <p:embed/>
                  <p:pic>
                    <p:nvPicPr>
                      <p:cNvPr id="0" name=""/>
                      <p:cNvPicPr/>
                      <p:nvPr/>
                    </p:nvPicPr>
                    <p:blipFill>
                      <a:blip r:embed="rId13"/>
                      <a:stretch>
                        <a:fillRect/>
                      </a:stretch>
                    </p:blipFill>
                    <p:spPr>
                      <a:xfrm>
                        <a:off x="2929985" y="5037968"/>
                        <a:ext cx="1570038" cy="1028700"/>
                      </a:xfrm>
                      <a:prstGeom prst="rect">
                        <a:avLst/>
                      </a:prstGeom>
                    </p:spPr>
                  </p:pic>
                </p:oleObj>
              </mc:Fallback>
            </mc:AlternateContent>
          </a:graphicData>
        </a:graphic>
      </p:graphicFrame>
      <p:sp>
        <p:nvSpPr>
          <p:cNvPr id="4" name="TextBox 3"/>
          <p:cNvSpPr txBox="1"/>
          <p:nvPr/>
        </p:nvSpPr>
        <p:spPr>
          <a:xfrm>
            <a:off x="4887122" y="1295400"/>
            <a:ext cx="4050645" cy="2308324"/>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lumMod val="75000"/>
                    <a:lumOff val="25000"/>
                  </a:schemeClr>
                </a:solidFill>
              </a:rPr>
              <a:t>It should be obvious that </a:t>
            </a:r>
            <a:r>
              <a:rPr lang="en-US" b="1" dirty="0">
                <a:solidFill>
                  <a:schemeClr val="tx1">
                    <a:lumMod val="75000"/>
                    <a:lumOff val="25000"/>
                  </a:schemeClr>
                </a:solidFill>
              </a:rPr>
              <a:t>type I SSCP is the most straightforward</a:t>
            </a:r>
            <a:r>
              <a:rPr lang="en-US" dirty="0">
                <a:solidFill>
                  <a:schemeClr val="tx1">
                    <a:lumMod val="75000"/>
                    <a:lumOff val="25000"/>
                  </a:schemeClr>
                </a:solidFill>
              </a:rPr>
              <a:t>, but it does mean considering the order of model effects.  The order can change the significance of the effects.</a:t>
            </a:r>
          </a:p>
          <a:p>
            <a:endParaRPr lang="en-US" dirty="0">
              <a:solidFill>
                <a:schemeClr val="tx1">
                  <a:lumMod val="75000"/>
                  <a:lumOff val="25000"/>
                </a:schemeClr>
              </a:solidFill>
            </a:endParaRPr>
          </a:p>
          <a:p>
            <a:r>
              <a:rPr lang="en-US" dirty="0">
                <a:solidFill>
                  <a:schemeClr val="tx1">
                    <a:lumMod val="75000"/>
                    <a:lumOff val="25000"/>
                  </a:schemeClr>
                </a:solidFill>
              </a:rPr>
              <a:t>Regardless, the sum of the effects is equal to the overall model effect.</a:t>
            </a:r>
          </a:p>
        </p:txBody>
      </p:sp>
      <p:graphicFrame>
        <p:nvGraphicFramePr>
          <p:cNvPr id="5" name="Table 4"/>
          <p:cNvGraphicFramePr>
            <a:graphicFrameLocks noGrp="1"/>
          </p:cNvGraphicFramePr>
          <p:nvPr>
            <p:extLst>
              <p:ext uri="{D42A27DB-BD31-4B8C-83A1-F6EECF244321}">
                <p14:modId xmlns:p14="http://schemas.microsoft.com/office/powerpoint/2010/main" val="1178896895"/>
              </p:ext>
            </p:extLst>
          </p:nvPr>
        </p:nvGraphicFramePr>
        <p:xfrm>
          <a:off x="4742104" y="4421352"/>
          <a:ext cx="4320514" cy="1763015"/>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Model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bl>
          </a:graphicData>
        </a:graphic>
      </p:graphicFrame>
      <p:graphicFrame>
        <p:nvGraphicFramePr>
          <p:cNvPr id="33" name="Object 32"/>
          <p:cNvGraphicFramePr>
            <a:graphicFrameLocks noChangeAspect="1"/>
          </p:cNvGraphicFramePr>
          <p:nvPr/>
        </p:nvGraphicFramePr>
        <p:xfrm>
          <a:off x="6270397" y="4992835"/>
          <a:ext cx="808038" cy="1028700"/>
        </p:xfrm>
        <a:graphic>
          <a:graphicData uri="http://schemas.openxmlformats.org/presentationml/2006/ole">
            <mc:AlternateContent xmlns:mc="http://schemas.openxmlformats.org/markup-compatibility/2006">
              <mc:Choice xmlns:v="urn:schemas-microsoft-com:vml" Requires="v">
                <p:oleObj name="Equation" r:id="rId14" imgW="698500" imgH="889000" progId="Equation.3">
                  <p:embed/>
                </p:oleObj>
              </mc:Choice>
              <mc:Fallback>
                <p:oleObj name="Equation" r:id="rId14" imgW="698500" imgH="889000" progId="Equation.3">
                  <p:embed/>
                  <p:pic>
                    <p:nvPicPr>
                      <p:cNvPr id="0" name=""/>
                      <p:cNvPicPr/>
                      <p:nvPr/>
                    </p:nvPicPr>
                    <p:blipFill>
                      <a:blip r:embed="rId3"/>
                      <a:stretch>
                        <a:fillRect/>
                      </a:stretch>
                    </p:blipFill>
                    <p:spPr>
                      <a:xfrm>
                        <a:off x="6270397" y="4992835"/>
                        <a:ext cx="808038" cy="1028700"/>
                      </a:xfrm>
                      <a:prstGeom prst="rect">
                        <a:avLst/>
                      </a:prstGeom>
                    </p:spPr>
                  </p:pic>
                </p:oleObj>
              </mc:Fallback>
            </mc:AlternateContent>
          </a:graphicData>
        </a:graphic>
      </p:graphicFrame>
      <p:graphicFrame>
        <p:nvGraphicFramePr>
          <p:cNvPr id="34" name="Object 33"/>
          <p:cNvGraphicFramePr>
            <a:graphicFrameLocks noChangeAspect="1"/>
          </p:cNvGraphicFramePr>
          <p:nvPr/>
        </p:nvGraphicFramePr>
        <p:xfrm>
          <a:off x="7445100" y="5014228"/>
          <a:ext cx="1570038" cy="1028700"/>
        </p:xfrm>
        <a:graphic>
          <a:graphicData uri="http://schemas.openxmlformats.org/presentationml/2006/ole">
            <mc:AlternateContent xmlns:mc="http://schemas.openxmlformats.org/markup-compatibility/2006">
              <mc:Choice xmlns:v="urn:schemas-microsoft-com:vml" Requires="v">
                <p:oleObj name="Equation" r:id="rId15" imgW="1358900" imgH="889000" progId="Equation.3">
                  <p:embed/>
                </p:oleObj>
              </mc:Choice>
              <mc:Fallback>
                <p:oleObj name="Equation" r:id="rId15" imgW="1358900" imgH="889000" progId="Equation.3">
                  <p:embed/>
                  <p:pic>
                    <p:nvPicPr>
                      <p:cNvPr id="0" name=""/>
                      <p:cNvPicPr/>
                      <p:nvPr/>
                    </p:nvPicPr>
                    <p:blipFill>
                      <a:blip r:embed="rId13"/>
                      <a:stretch>
                        <a:fillRect/>
                      </a:stretch>
                    </p:blipFill>
                    <p:spPr>
                      <a:xfrm>
                        <a:off x="7445100" y="5014228"/>
                        <a:ext cx="1570038" cy="1028700"/>
                      </a:xfrm>
                      <a:prstGeom prst="rect">
                        <a:avLst/>
                      </a:prstGeom>
                    </p:spPr>
                  </p:pic>
                </p:oleObj>
              </mc:Fallback>
            </mc:AlternateContent>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006953500"/>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Sequential</a:t>
                      </a:r>
                      <a:r>
                        <a:rPr lang="pt-PT" dirty="0">
                          <a:solidFill>
                            <a:schemeClr val="tx2">
                              <a:lumMod val="75000"/>
                            </a:schemeClr>
                          </a:solidFill>
                        </a:rPr>
                        <a:t> 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37</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19" name="TextBox 18"/>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116554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01067745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Concluding</a:t>
                      </a:r>
                      <a:r>
                        <a:rPr lang="en-US" baseline="0" dirty="0">
                          <a:solidFill>
                            <a:schemeClr val="tx2">
                              <a:lumMod val="75000"/>
                            </a:schemeClr>
                          </a:solidFill>
                        </a:rPr>
                        <a:t> remarks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38</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14" name="TextBox 13"/>
          <p:cNvSpPr txBox="1"/>
          <p:nvPr/>
        </p:nvSpPr>
        <p:spPr>
          <a:xfrm>
            <a:off x="304800" y="609600"/>
            <a:ext cx="8686799" cy="512294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solidFill>
                  <a:schemeClr val="tx1">
                    <a:lumMod val="75000"/>
                    <a:lumOff val="25000"/>
                  </a:schemeClr>
                </a:solidFill>
              </a:rPr>
              <a:t>GLMs are all one and the same thing</a:t>
            </a:r>
          </a:p>
          <a:p>
            <a:pPr marL="342900" indent="-342900">
              <a:lnSpc>
                <a:spcPct val="150000"/>
              </a:lnSpc>
              <a:buFont typeface="Arial" panose="020B0604020202020204" pitchFamily="34" charset="0"/>
              <a:buChar char="•"/>
            </a:pPr>
            <a:endParaRPr lang="en-US" sz="2000" dirty="0">
              <a:solidFill>
                <a:schemeClr val="tx1">
                  <a:lumMod val="75000"/>
                  <a:lumOff val="25000"/>
                </a:schemeClr>
              </a:solidFill>
            </a:endParaRPr>
          </a:p>
          <a:p>
            <a:pPr marL="342900" indent="-342900">
              <a:lnSpc>
                <a:spcPct val="150000"/>
              </a:lnSpc>
              <a:buFont typeface="Arial" panose="020B0604020202020204" pitchFamily="34" charset="0"/>
              <a:buChar char="•"/>
            </a:pPr>
            <a:r>
              <a:rPr lang="en-US" sz="2000" dirty="0">
                <a:solidFill>
                  <a:schemeClr val="tx1">
                    <a:lumMod val="75000"/>
                    <a:lumOff val="25000"/>
                  </a:schemeClr>
                </a:solidFill>
              </a:rPr>
              <a:t>Changes in the type of X, or the number of variables in Y, do not change the main concepts</a:t>
            </a:r>
          </a:p>
          <a:p>
            <a:pPr marL="342900" indent="-342900">
              <a:lnSpc>
                <a:spcPct val="150000"/>
              </a:lnSpc>
              <a:buFont typeface="Arial"/>
              <a:buChar char="•"/>
            </a:pPr>
            <a:r>
              <a:rPr lang="en-US" sz="2000" dirty="0">
                <a:solidFill>
                  <a:schemeClr val="tx1">
                    <a:lumMod val="75000"/>
                    <a:lumOff val="25000"/>
                  </a:schemeClr>
                </a:solidFill>
              </a:rPr>
              <a:t>Hypothesis tests are based on comparisons of “reduced” and “full” linear models</a:t>
            </a:r>
          </a:p>
          <a:p>
            <a:pPr marL="342900" indent="-342900">
              <a:lnSpc>
                <a:spcPct val="150000"/>
              </a:lnSpc>
              <a:buFont typeface="Arial"/>
              <a:buChar char="•"/>
            </a:pPr>
            <a:r>
              <a:rPr lang="en-US" sz="2000" dirty="0">
                <a:solidFill>
                  <a:schemeClr val="tx1">
                    <a:lumMod val="75000"/>
                    <a:lumOff val="25000"/>
                  </a:schemeClr>
                </a:solidFill>
              </a:rPr>
              <a:t>The reduced model is the null model for sampling (probability) distributions of MANOVA test stats</a:t>
            </a:r>
          </a:p>
          <a:p>
            <a:pPr marL="342900" indent="-342900">
              <a:lnSpc>
                <a:spcPct val="150000"/>
              </a:lnSpc>
              <a:buFont typeface="Arial" panose="020B0604020202020204" pitchFamily="34" charset="0"/>
              <a:buChar char="•"/>
            </a:pPr>
            <a:endParaRPr lang="en-US" sz="2000" dirty="0">
              <a:solidFill>
                <a:schemeClr val="tx1">
                  <a:lumMod val="75000"/>
                  <a:lumOff val="25000"/>
                </a:schemeClr>
              </a:solidFill>
            </a:endParaRPr>
          </a:p>
          <a:p>
            <a:pPr marL="342900" indent="-342900">
              <a:lnSpc>
                <a:spcPct val="150000"/>
              </a:lnSpc>
              <a:buFont typeface="Arial" panose="020B0604020202020204" pitchFamily="34" charset="0"/>
              <a:buChar char="•"/>
            </a:pPr>
            <a:endParaRPr lang="en-US" sz="2000" dirty="0">
              <a:solidFill>
                <a:schemeClr val="tx1">
                  <a:lumMod val="75000"/>
                  <a:lumOff val="25000"/>
                </a:schemeClr>
              </a:solidFill>
            </a:endParaRPr>
          </a:p>
          <a:p>
            <a:pPr marL="342900" indent="-342900">
              <a:lnSpc>
                <a:spcPct val="150000"/>
              </a:lnSpc>
              <a:buFont typeface="Arial" panose="020B0604020202020204" pitchFamily="34" charset="0"/>
              <a:buChar char="•"/>
            </a:pPr>
            <a:endParaRPr lang="en-US" sz="2000" dirty="0">
              <a:solidFill>
                <a:schemeClr val="tx1">
                  <a:lumMod val="75000"/>
                  <a:lumOff val="25000"/>
                </a:schemeClr>
              </a:solidFill>
            </a:endParaRPr>
          </a:p>
        </p:txBody>
      </p:sp>
      <mc:AlternateContent xmlns:mc="http://schemas.openxmlformats.org/markup-compatibility/2006" xmlns:a14="http://schemas.microsoft.com/office/drawing/2010/main">
        <mc:Choice Requires="a14">
          <p:sp>
            <p:nvSpPr>
              <p:cNvPr id="7" name="TextBox 6"/>
              <p:cNvSpPr txBox="1"/>
              <p:nvPr/>
            </p:nvSpPr>
            <p:spPr>
              <a:xfrm>
                <a:off x="5424156" y="1066800"/>
                <a:ext cx="2179251" cy="407099"/>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0" smtClean="0">
                          <a:solidFill>
                            <a:schemeClr val="tx1">
                              <a:lumMod val="75000"/>
                              <a:lumOff val="25000"/>
                            </a:schemeClr>
                          </a:solidFill>
                          <a:latin typeface="Cambria Math"/>
                          <a:ea typeface="Cambria Math"/>
                        </a:rPr>
                        <m:t>𝐛</m:t>
                      </m:r>
                      <m:r>
                        <a:rPr lang="en-US" sz="2000" b="1" i="1" smtClean="0">
                          <a:solidFill>
                            <a:schemeClr val="tx1">
                              <a:lumMod val="75000"/>
                              <a:lumOff val="25000"/>
                            </a:schemeClr>
                          </a:solidFill>
                          <a:latin typeface="Cambria Math"/>
                          <a:ea typeface="Cambria Math"/>
                        </a:rPr>
                        <m:t>= </m:t>
                      </m:r>
                      <m:sSup>
                        <m:sSupPr>
                          <m:ctrlPr>
                            <a:rPr lang="en-US" sz="2000" b="1" i="1" smtClean="0">
                              <a:solidFill>
                                <a:schemeClr val="tx1">
                                  <a:lumMod val="75000"/>
                                  <a:lumOff val="25000"/>
                                </a:schemeClr>
                              </a:solidFill>
                              <a:latin typeface="Cambria Math" panose="02040503050406030204" pitchFamily="18" charset="0"/>
                              <a:ea typeface="Cambria Math"/>
                            </a:rPr>
                          </m:ctrlPr>
                        </m:sSupPr>
                        <m:e>
                          <m:r>
                            <a:rPr lang="en-US" sz="2000" b="1" i="1" smtClean="0">
                              <a:solidFill>
                                <a:schemeClr val="tx1">
                                  <a:lumMod val="75000"/>
                                  <a:lumOff val="25000"/>
                                </a:schemeClr>
                              </a:solidFill>
                              <a:latin typeface="Cambria Math"/>
                              <a:ea typeface="Cambria Math"/>
                            </a:rPr>
                            <m:t>(</m:t>
                          </m:r>
                          <m:sSup>
                            <m:sSupPr>
                              <m:ctrlPr>
                                <a:rPr lang="en-US" sz="2000" b="1" i="1" smtClean="0">
                                  <a:solidFill>
                                    <a:schemeClr val="tx1">
                                      <a:lumMod val="75000"/>
                                      <a:lumOff val="25000"/>
                                    </a:schemeClr>
                                  </a:solidFill>
                                  <a:latin typeface="Cambria Math" panose="02040503050406030204" pitchFamily="18" charset="0"/>
                                  <a:ea typeface="Cambria Math"/>
                                </a:rPr>
                              </m:ctrlPr>
                            </m:sSupPr>
                            <m:e>
                              <m:r>
                                <a:rPr lang="en-US" sz="2000" b="1" i="0" smtClean="0">
                                  <a:solidFill>
                                    <a:schemeClr val="tx1">
                                      <a:lumMod val="75000"/>
                                      <a:lumOff val="25000"/>
                                    </a:schemeClr>
                                  </a:solidFill>
                                  <a:latin typeface="Cambria Math"/>
                                  <a:ea typeface="Cambria Math"/>
                                </a:rPr>
                                <m:t>𝐗</m:t>
                              </m:r>
                            </m:e>
                            <m:sup>
                              <m:r>
                                <a:rPr lang="en-US" sz="2000" b="1" i="0" smtClean="0">
                                  <a:solidFill>
                                    <a:schemeClr val="tx1">
                                      <a:lumMod val="75000"/>
                                      <a:lumOff val="25000"/>
                                    </a:schemeClr>
                                  </a:solidFill>
                                  <a:latin typeface="Cambria Math"/>
                                  <a:ea typeface="Cambria Math"/>
                                </a:rPr>
                                <m:t>𝐓</m:t>
                              </m:r>
                            </m:sup>
                          </m:sSup>
                          <m:r>
                            <a:rPr lang="en-US" sz="2000" b="1" i="0" smtClean="0">
                              <a:solidFill>
                                <a:schemeClr val="tx1">
                                  <a:lumMod val="75000"/>
                                  <a:lumOff val="25000"/>
                                </a:schemeClr>
                              </a:solidFill>
                              <a:latin typeface="Cambria Math"/>
                              <a:ea typeface="Cambria Math"/>
                            </a:rPr>
                            <m:t>𝐗</m:t>
                          </m:r>
                          <m:r>
                            <a:rPr lang="en-US" sz="2000" b="1" i="1" smtClean="0">
                              <a:solidFill>
                                <a:schemeClr val="tx1">
                                  <a:lumMod val="75000"/>
                                  <a:lumOff val="25000"/>
                                </a:schemeClr>
                              </a:solidFill>
                              <a:latin typeface="Cambria Math"/>
                              <a:ea typeface="Cambria Math"/>
                            </a:rPr>
                            <m:t>)</m:t>
                          </m:r>
                        </m:e>
                        <m:sup>
                          <m:r>
                            <a:rPr lang="en-US" sz="2000" b="1" i="1" smtClean="0">
                              <a:solidFill>
                                <a:schemeClr val="tx1">
                                  <a:lumMod val="75000"/>
                                  <a:lumOff val="25000"/>
                                </a:schemeClr>
                              </a:solidFill>
                              <a:latin typeface="Cambria Math"/>
                              <a:ea typeface="Cambria Math"/>
                            </a:rPr>
                            <m:t>−</m:t>
                          </m:r>
                          <m:r>
                            <a:rPr lang="en-US" sz="2000" b="1" i="1" smtClean="0">
                              <a:solidFill>
                                <a:schemeClr val="tx1">
                                  <a:lumMod val="75000"/>
                                  <a:lumOff val="25000"/>
                                </a:schemeClr>
                              </a:solidFill>
                              <a:latin typeface="Cambria Math"/>
                              <a:ea typeface="Cambria Math"/>
                            </a:rPr>
                            <m:t>𝟏</m:t>
                          </m:r>
                        </m:sup>
                      </m:sSup>
                      <m:sSup>
                        <m:sSupPr>
                          <m:ctrlPr>
                            <a:rPr lang="en-US" sz="2000" b="1" i="1">
                              <a:solidFill>
                                <a:schemeClr val="tx1">
                                  <a:lumMod val="75000"/>
                                  <a:lumOff val="25000"/>
                                </a:schemeClr>
                              </a:solidFill>
                              <a:latin typeface="Cambria Math" panose="02040503050406030204" pitchFamily="18" charset="0"/>
                              <a:ea typeface="Cambria Math"/>
                            </a:rPr>
                          </m:ctrlPr>
                        </m:sSupPr>
                        <m:e>
                          <m:r>
                            <a:rPr lang="en-US" sz="2000" b="1">
                              <a:solidFill>
                                <a:schemeClr val="tx1">
                                  <a:lumMod val="75000"/>
                                  <a:lumOff val="25000"/>
                                </a:schemeClr>
                              </a:solidFill>
                              <a:latin typeface="Cambria Math"/>
                              <a:ea typeface="Cambria Math"/>
                            </a:rPr>
                            <m:t>𝐗</m:t>
                          </m:r>
                        </m:e>
                        <m:sup>
                          <m:r>
                            <a:rPr lang="en-US" sz="2000" b="1">
                              <a:solidFill>
                                <a:schemeClr val="tx1">
                                  <a:lumMod val="75000"/>
                                  <a:lumOff val="25000"/>
                                </a:schemeClr>
                              </a:solidFill>
                              <a:latin typeface="Cambria Math"/>
                              <a:ea typeface="Cambria Math"/>
                            </a:rPr>
                            <m:t>𝐓</m:t>
                          </m:r>
                        </m:sup>
                      </m:sSup>
                      <m:r>
                        <a:rPr lang="en-US" sz="2000" b="1" i="0" smtClean="0">
                          <a:solidFill>
                            <a:schemeClr val="tx1">
                              <a:lumMod val="75000"/>
                              <a:lumOff val="25000"/>
                            </a:schemeClr>
                          </a:solidFill>
                          <a:latin typeface="Cambria Math"/>
                          <a:ea typeface="Cambria Math"/>
                        </a:rPr>
                        <m:t>𝐘</m:t>
                      </m:r>
                    </m:oMath>
                  </m:oMathPara>
                </a14:m>
                <a:endParaRPr lang="en-US" sz="2000" b="1" dirty="0">
                  <a:solidFill>
                    <a:schemeClr val="tx1">
                      <a:lumMod val="75000"/>
                      <a:lumOff val="25000"/>
                    </a:schemeClr>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424156" y="1066800"/>
                <a:ext cx="2179251" cy="407099"/>
              </a:xfrm>
              <a:prstGeom prst="rect">
                <a:avLst/>
              </a:prstGeom>
              <a:blipFill rotWithShape="1">
                <a:blip r:embed="rId2"/>
                <a:stretch>
                  <a:fillRect/>
                </a:stretch>
              </a:blipFill>
              <a:effectLst>
                <a:outerShdw blurRad="50800" dist="38100" dir="18900000" algn="b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5730554" y="609600"/>
                <a:ext cx="1566454" cy="400110"/>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a:solidFill>
                            <a:schemeClr val="tx1">
                              <a:lumMod val="75000"/>
                              <a:lumOff val="25000"/>
                            </a:schemeClr>
                          </a:solidFill>
                          <a:latin typeface="Cambria Math"/>
                        </a:rPr>
                        <m:t>𝐘</m:t>
                      </m:r>
                      <m:r>
                        <a:rPr lang="en-US" sz="2000" b="1">
                          <a:solidFill>
                            <a:schemeClr val="tx1">
                              <a:lumMod val="75000"/>
                              <a:lumOff val="25000"/>
                            </a:schemeClr>
                          </a:solidFill>
                          <a:latin typeface="Cambria Math"/>
                        </a:rPr>
                        <m:t>= </m:t>
                      </m:r>
                      <m:r>
                        <a:rPr lang="en-US" sz="2000" b="1">
                          <a:solidFill>
                            <a:schemeClr val="tx1">
                              <a:lumMod val="75000"/>
                              <a:lumOff val="25000"/>
                            </a:schemeClr>
                          </a:solidFill>
                          <a:latin typeface="Cambria Math"/>
                          <a:ea typeface="Cambria Math"/>
                        </a:rPr>
                        <m:t>𝐗</m:t>
                      </m:r>
                      <m:r>
                        <a:rPr lang="en-US" sz="2000" b="1">
                          <a:solidFill>
                            <a:schemeClr val="tx1">
                              <a:lumMod val="75000"/>
                              <a:lumOff val="25000"/>
                            </a:schemeClr>
                          </a:solidFill>
                          <a:latin typeface="Cambria Math"/>
                          <a:ea typeface="Cambria Math"/>
                        </a:rPr>
                        <m:t>𝛃</m:t>
                      </m:r>
                      <m:r>
                        <a:rPr lang="en-US" sz="2000" b="1" i="1">
                          <a:solidFill>
                            <a:schemeClr val="tx1">
                              <a:lumMod val="75000"/>
                              <a:lumOff val="25000"/>
                            </a:schemeClr>
                          </a:solidFill>
                          <a:latin typeface="Cambria Math"/>
                          <a:ea typeface="Cambria Math"/>
                        </a:rPr>
                        <m:t>+</m:t>
                      </m:r>
                      <m:r>
                        <a:rPr lang="en-US" sz="2000" b="1">
                          <a:solidFill>
                            <a:schemeClr val="tx1">
                              <a:lumMod val="75000"/>
                              <a:lumOff val="25000"/>
                            </a:schemeClr>
                          </a:solidFill>
                          <a:latin typeface="Cambria Math"/>
                          <a:ea typeface="Cambria Math"/>
                        </a:rPr>
                        <m:t>𝐄</m:t>
                      </m:r>
                    </m:oMath>
                  </m:oMathPara>
                </a14:m>
                <a:endParaRPr lang="en-US" sz="2000" b="1" dirty="0">
                  <a:solidFill>
                    <a:schemeClr val="tx1">
                      <a:lumMod val="75000"/>
                      <a:lumOff val="25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5730554" y="609600"/>
                <a:ext cx="1566454" cy="400110"/>
              </a:xfrm>
              <a:prstGeom prst="rect">
                <a:avLst/>
              </a:prstGeom>
              <a:blipFill rotWithShape="1">
                <a:blip r:embed="rId3"/>
                <a:stretch>
                  <a:fillRect/>
                </a:stretch>
              </a:blipFill>
              <a:effectLst>
                <a:outerShdw blurRad="50800" dist="38100" dir="18900000" algn="bl" rotWithShape="0">
                  <a:prstClr val="black">
                    <a:alpha val="40000"/>
                  </a:prstClr>
                </a:outerShdw>
              </a:effectLst>
            </p:spPr>
            <p:txBody>
              <a:bodyPr/>
              <a:lstStyle/>
              <a:p>
                <a:r>
                  <a:rPr lang="en-US">
                    <a:noFill/>
                  </a:rPr>
                  <a:t> </a:t>
                </a:r>
              </a:p>
            </p:txBody>
          </p:sp>
        </mc:Fallback>
      </mc:AlternateContent>
    </p:spTree>
    <p:extLst>
      <p:ext uri="{BB962C8B-B14F-4D97-AF65-F5344CB8AC3E}">
        <p14:creationId xmlns:p14="http://schemas.microsoft.com/office/powerpoint/2010/main" val="139158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2" end="2"/>
                                            </p:txEl>
                                          </p:spTgt>
                                        </p:tgtEl>
                                        <p:attrNameLst>
                                          <p:attrName>style.visibility</p:attrName>
                                        </p:attrNameLst>
                                      </p:cBhvr>
                                      <p:to>
                                        <p:strVal val="visible"/>
                                      </p:to>
                                    </p:set>
                                    <p:animEffect transition="in" filter="fade">
                                      <p:cBhvr>
                                        <p:cTn id="10" dur="500"/>
                                        <p:tgtEl>
                                          <p:spTgt spid="1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animEffect transition="in" filter="fade">
                                      <p:cBhvr>
                                        <p:cTn id="13" dur="500"/>
                                        <p:tgtEl>
                                          <p:spTgt spid="14">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xEl>
                                              <p:pRg st="4" end="4"/>
                                            </p:txEl>
                                          </p:spTgt>
                                        </p:tgtEl>
                                        <p:attrNameLst>
                                          <p:attrName>style.visibility</p:attrName>
                                        </p:attrNameLst>
                                      </p:cBhvr>
                                      <p:to>
                                        <p:strVal val="visible"/>
                                      </p:to>
                                    </p:set>
                                    <p:animEffect transition="in" filter="fade">
                                      <p:cBhvr>
                                        <p:cTn id="16" dur="500"/>
                                        <p:tgtEl>
                                          <p:spTgt spid="14">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3194</TotalTime>
  <Words>3028</Words>
  <Application>Microsoft Macintosh PowerPoint</Application>
  <PresentationFormat>On-screen Show (4:3)</PresentationFormat>
  <Paragraphs>562</Paragraphs>
  <Slides>38</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5" baseType="lpstr">
      <vt:lpstr>Arial</vt:lpstr>
      <vt:lpstr>Calibri</vt:lpstr>
      <vt:lpstr>Cambria Math</vt:lpstr>
      <vt:lpstr>Courier New</vt:lpstr>
      <vt:lpstr>Wingdings</vt:lpstr>
      <vt:lpstr>Office Theme</vt:lpstr>
      <vt:lpstr>Equation</vt:lpstr>
      <vt:lpstr>Inferential Methods: MANOVA (and GLMs put in context)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antigoni</dc:creator>
  <cp:lastModifiedBy>Antigoni Kaliontzopoulou</cp:lastModifiedBy>
  <cp:revision>302</cp:revision>
  <dcterms:created xsi:type="dcterms:W3CDTF">2014-03-31T13:54:05Z</dcterms:created>
  <dcterms:modified xsi:type="dcterms:W3CDTF">2026-05-16T11:49:03Z</dcterms:modified>
</cp:coreProperties>
</file>