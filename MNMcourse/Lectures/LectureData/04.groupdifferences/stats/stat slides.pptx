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305" r:id="rId3"/>
    <p:sldId id="315" r:id="rId4"/>
    <p:sldId id="306" r:id="rId5"/>
    <p:sldId id="314" r:id="rId6"/>
    <p:sldId id="310" r:id="rId7"/>
    <p:sldId id="292" r:id="rId8"/>
    <p:sldId id="317" r:id="rId9"/>
    <p:sldId id="31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13" d="100"/>
          <a:sy n="113" d="100"/>
        </p:scale>
        <p:origin x="1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711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35947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0733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25472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34583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9387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28323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05197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1544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5400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78003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FEC42-DE82-D548-887A-A0A1819A413F}" type="datetimeFigureOut">
              <a:rPr lang="es-ES_tradnl" smtClean="0"/>
              <a:t>1/6/26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5033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14.emf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1.emf"/><Relationship Id="rId5" Type="http://schemas.openxmlformats.org/officeDocument/2006/relationships/image" Target="../media/image8.emf"/><Relationship Id="rId15" Type="http://schemas.openxmlformats.org/officeDocument/2006/relationships/image" Target="../media/image13.e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EE4CDF5-C366-4DF2-CAE4-10D5989F0298}"/>
              </a:ext>
            </a:extLst>
          </p:cNvPr>
          <p:cNvGrpSpPr/>
          <p:nvPr/>
        </p:nvGrpSpPr>
        <p:grpSpPr>
          <a:xfrm>
            <a:off x="832895" y="799617"/>
            <a:ext cx="3525255" cy="2510544"/>
            <a:chOff x="5353163" y="937163"/>
            <a:chExt cx="3525255" cy="251054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5B015B-9CE3-84DC-4BAA-20AFC7F77426}"/>
                </a:ext>
              </a:extLst>
            </p:cNvPr>
            <p:cNvSpPr/>
            <p:nvPr/>
          </p:nvSpPr>
          <p:spPr>
            <a:xfrm>
              <a:off x="5353163" y="937163"/>
              <a:ext cx="3525255" cy="251054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17CD00B-3F2D-1BCF-02D8-F25BE4A8C963}"/>
                </a:ext>
              </a:extLst>
            </p:cNvPr>
            <p:cNvSpPr/>
            <p:nvPr/>
          </p:nvSpPr>
          <p:spPr>
            <a:xfrm>
              <a:off x="6765658" y="1880839"/>
              <a:ext cx="112761" cy="1127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30C9263-035B-0286-BF3A-2071615C5A64}"/>
                </a:ext>
              </a:extLst>
            </p:cNvPr>
            <p:cNvCxnSpPr>
              <a:stCxn id="3" idx="0"/>
              <a:endCxn id="3" idx="2"/>
            </p:cNvCxnSpPr>
            <p:nvPr/>
          </p:nvCxnSpPr>
          <p:spPr>
            <a:xfrm>
              <a:off x="7115791" y="937163"/>
              <a:ext cx="0" cy="2510544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18125FB-163E-73D5-BD96-3A94E71A21C2}"/>
                </a:ext>
              </a:extLst>
            </p:cNvPr>
            <p:cNvCxnSpPr>
              <a:stCxn id="3" idx="1"/>
              <a:endCxn id="3" idx="3"/>
            </p:cNvCxnSpPr>
            <p:nvPr/>
          </p:nvCxnSpPr>
          <p:spPr>
            <a:xfrm>
              <a:off x="5353163" y="2192435"/>
              <a:ext cx="3525255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84BFF5A-EB09-3423-602A-370DA9FA5147}"/>
                </a:ext>
              </a:extLst>
            </p:cNvPr>
            <p:cNvCxnSpPr/>
            <p:nvPr/>
          </p:nvCxnSpPr>
          <p:spPr>
            <a:xfrm flipH="1" flipV="1">
              <a:off x="6860596" y="1982321"/>
              <a:ext cx="249560" cy="206359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AFF0C09-8B8B-251B-5F06-BD8C5B427003}"/>
              </a:ext>
            </a:extLst>
          </p:cNvPr>
          <p:cNvGrpSpPr>
            <a:grpSpLocks noChangeAspect="1"/>
          </p:cNvGrpSpPr>
          <p:nvPr/>
        </p:nvGrpSpPr>
        <p:grpSpPr>
          <a:xfrm>
            <a:off x="4882433" y="798616"/>
            <a:ext cx="3525255" cy="2510544"/>
            <a:chOff x="1068858" y="2184115"/>
            <a:chExt cx="7050509" cy="502108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455C72-376B-F801-D8E0-F93B5AA5913D}"/>
                </a:ext>
              </a:extLst>
            </p:cNvPr>
            <p:cNvSpPr/>
            <p:nvPr/>
          </p:nvSpPr>
          <p:spPr>
            <a:xfrm>
              <a:off x="1068858" y="2184115"/>
              <a:ext cx="7050509" cy="5021088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D37D2B3-4D9A-05DB-6E5C-7E9158890ABC}"/>
                </a:ext>
              </a:extLst>
            </p:cNvPr>
            <p:cNvSpPr/>
            <p:nvPr/>
          </p:nvSpPr>
          <p:spPr>
            <a:xfrm>
              <a:off x="2873028" y="3620407"/>
              <a:ext cx="225522" cy="22553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B1BC70-786E-724B-18CE-4C7CB292514B}"/>
                </a:ext>
              </a:extLst>
            </p:cNvPr>
            <p:cNvCxnSpPr>
              <a:stCxn id="9" idx="0"/>
              <a:endCxn id="9" idx="2"/>
            </p:cNvCxnSpPr>
            <p:nvPr/>
          </p:nvCxnSpPr>
          <p:spPr>
            <a:xfrm>
              <a:off x="4594113" y="2184115"/>
              <a:ext cx="0" cy="5021088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178237-5FDC-DDCD-1B20-BFCBE51E00CB}"/>
                </a:ext>
              </a:extLst>
            </p:cNvPr>
            <p:cNvCxnSpPr>
              <a:stCxn id="9" idx="1"/>
              <a:endCxn id="9" idx="3"/>
            </p:cNvCxnSpPr>
            <p:nvPr/>
          </p:nvCxnSpPr>
          <p:spPr>
            <a:xfrm>
              <a:off x="1068858" y="4694659"/>
              <a:ext cx="7050509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A578224-8D88-C340-6848-21A28D84EACF}"/>
                </a:ext>
              </a:extLst>
            </p:cNvPr>
            <p:cNvCxnSpPr>
              <a:endCxn id="10" idx="5"/>
            </p:cNvCxnSpPr>
            <p:nvPr/>
          </p:nvCxnSpPr>
          <p:spPr>
            <a:xfrm flipH="1" flipV="1">
              <a:off x="3065523" y="3812912"/>
              <a:ext cx="1517319" cy="87423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CEC3B85-9E8A-C7AB-4935-1453F5AA4832}"/>
                </a:ext>
              </a:extLst>
            </p:cNvPr>
            <p:cNvSpPr/>
            <p:nvPr/>
          </p:nvSpPr>
          <p:spPr>
            <a:xfrm>
              <a:off x="6479465" y="2573918"/>
              <a:ext cx="225522" cy="225534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50EB41D-38DB-6704-053B-54BEC4535436}"/>
                </a:ext>
              </a:extLst>
            </p:cNvPr>
            <p:cNvCxnSpPr/>
            <p:nvPr/>
          </p:nvCxnSpPr>
          <p:spPr>
            <a:xfrm flipV="1">
              <a:off x="3098550" y="2730813"/>
              <a:ext cx="3413942" cy="9667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25E1222-A0AF-01AC-5870-BA0F89A55863}"/>
                </a:ext>
              </a:extLst>
            </p:cNvPr>
            <p:cNvSpPr/>
            <p:nvPr/>
          </p:nvSpPr>
          <p:spPr>
            <a:xfrm>
              <a:off x="2952762" y="6004874"/>
              <a:ext cx="225522" cy="22553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16FF7DF-20CA-A3E9-D4D6-742FFB3C3A09}"/>
                </a:ext>
              </a:extLst>
            </p:cNvPr>
            <p:cNvCxnSpPr>
              <a:stCxn id="10" idx="4"/>
              <a:endCxn id="16" idx="0"/>
            </p:cNvCxnSpPr>
            <p:nvPr/>
          </p:nvCxnSpPr>
          <p:spPr>
            <a:xfrm>
              <a:off x="2985789" y="3845941"/>
              <a:ext cx="79734" cy="21589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F421061-750D-FF54-FAE1-022CF563F1DD}"/>
              </a:ext>
            </a:extLst>
          </p:cNvPr>
          <p:cNvGrpSpPr/>
          <p:nvPr/>
        </p:nvGrpSpPr>
        <p:grpSpPr>
          <a:xfrm>
            <a:off x="836898" y="3833997"/>
            <a:ext cx="3525255" cy="2510544"/>
            <a:chOff x="5353163" y="780747"/>
            <a:chExt cx="3525255" cy="251054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DC01262-D6AE-EF1C-069D-CE1BB56045CF}"/>
                </a:ext>
              </a:extLst>
            </p:cNvPr>
            <p:cNvSpPr/>
            <p:nvPr/>
          </p:nvSpPr>
          <p:spPr>
            <a:xfrm>
              <a:off x="5353163" y="780747"/>
              <a:ext cx="3525255" cy="251054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020215E-5FB5-07F5-FA19-CB91BBFC039C}"/>
                </a:ext>
              </a:extLst>
            </p:cNvPr>
            <p:cNvSpPr/>
            <p:nvPr/>
          </p:nvSpPr>
          <p:spPr>
            <a:xfrm>
              <a:off x="6765658" y="1724423"/>
              <a:ext cx="112761" cy="1127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02BDA28-2440-123E-9036-CD7A404F6B6E}"/>
                </a:ext>
              </a:extLst>
            </p:cNvPr>
            <p:cNvCxnSpPr>
              <a:cxnSpLocks/>
              <a:stCxn id="20" idx="0"/>
              <a:endCxn id="20" idx="2"/>
            </p:cNvCxnSpPr>
            <p:nvPr/>
          </p:nvCxnSpPr>
          <p:spPr>
            <a:xfrm>
              <a:off x="7115791" y="780747"/>
              <a:ext cx="0" cy="2510544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0E0039B-C46F-D855-82BA-A6DD904DF4CA}"/>
                </a:ext>
              </a:extLst>
            </p:cNvPr>
            <p:cNvCxnSpPr>
              <a:cxnSpLocks/>
              <a:stCxn id="20" idx="1"/>
              <a:endCxn id="20" idx="3"/>
            </p:cNvCxnSpPr>
            <p:nvPr/>
          </p:nvCxnSpPr>
          <p:spPr>
            <a:xfrm>
              <a:off x="5353163" y="2036019"/>
              <a:ext cx="3525255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A520B67-B4FA-5553-1C89-CEAE7BCD1651}"/>
                </a:ext>
              </a:extLst>
            </p:cNvPr>
            <p:cNvSpPr/>
            <p:nvPr/>
          </p:nvSpPr>
          <p:spPr>
            <a:xfrm>
              <a:off x="6051561" y="266599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088A1B9-8498-5538-0FA1-2946C2AA0D29}"/>
                </a:ext>
              </a:extLst>
            </p:cNvPr>
            <p:cNvSpPr/>
            <p:nvPr/>
          </p:nvSpPr>
          <p:spPr>
            <a:xfrm>
              <a:off x="6631281" y="281839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307727A-56CF-8D34-E359-568D1E53FA02}"/>
                </a:ext>
              </a:extLst>
            </p:cNvPr>
            <p:cNvSpPr/>
            <p:nvPr/>
          </p:nvSpPr>
          <p:spPr>
            <a:xfrm>
              <a:off x="6320751" y="275713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97731D1-CA50-5D21-7997-124C4CBCCC09}"/>
                </a:ext>
              </a:extLst>
            </p:cNvPr>
            <p:cNvSpPr/>
            <p:nvPr/>
          </p:nvSpPr>
          <p:spPr>
            <a:xfrm>
              <a:off x="6203961" y="137025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4B519C5-8733-D0C9-A933-528B0CF6804F}"/>
                </a:ext>
              </a:extLst>
            </p:cNvPr>
            <p:cNvSpPr/>
            <p:nvPr/>
          </p:nvSpPr>
          <p:spPr>
            <a:xfrm>
              <a:off x="6103603" y="163092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3C74B2-3BFE-AB82-94D5-6FECBDC8A3A7}"/>
                </a:ext>
              </a:extLst>
            </p:cNvPr>
            <p:cNvSpPr/>
            <p:nvPr/>
          </p:nvSpPr>
          <p:spPr>
            <a:xfrm>
              <a:off x="6473151" y="146139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AB7F785-2F90-F506-1CD5-B2EBB579AEB1}"/>
                </a:ext>
              </a:extLst>
            </p:cNvPr>
            <p:cNvSpPr/>
            <p:nvPr/>
          </p:nvSpPr>
          <p:spPr>
            <a:xfrm>
              <a:off x="8006291" y="145143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297359E-95D9-5CE9-B74B-87064EBDBD3B}"/>
                </a:ext>
              </a:extLst>
            </p:cNvPr>
            <p:cNvSpPr/>
            <p:nvPr/>
          </p:nvSpPr>
          <p:spPr>
            <a:xfrm>
              <a:off x="8538531" y="85602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6AB65F0-6C2E-7BD0-5FA0-01873DD91321}"/>
                </a:ext>
              </a:extLst>
            </p:cNvPr>
            <p:cNvSpPr/>
            <p:nvPr/>
          </p:nvSpPr>
          <p:spPr>
            <a:xfrm>
              <a:off x="7776941" y="83037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9CC1293-596D-523C-7238-AD2D4ECB5850}"/>
                </a:ext>
              </a:extLst>
            </p:cNvPr>
            <p:cNvCxnSpPr>
              <a:cxnSpLocks/>
              <a:stCxn id="24" idx="0"/>
              <a:endCxn id="21" idx="3"/>
            </p:cNvCxnSpPr>
            <p:nvPr/>
          </p:nvCxnSpPr>
          <p:spPr>
            <a:xfrm flipV="1">
              <a:off x="6074421" y="1820676"/>
              <a:ext cx="707750" cy="84532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04BF104-8509-EB14-0F52-6C00A5AF50C3}"/>
                </a:ext>
              </a:extLst>
            </p:cNvPr>
            <p:cNvCxnSpPr>
              <a:cxnSpLocks/>
              <a:stCxn id="26" idx="7"/>
              <a:endCxn id="21" idx="4"/>
            </p:cNvCxnSpPr>
            <p:nvPr/>
          </p:nvCxnSpPr>
          <p:spPr>
            <a:xfrm flipV="1">
              <a:off x="6359775" y="1837190"/>
              <a:ext cx="462264" cy="926641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8A811E4-94AF-6BC4-1F8F-67DAD860244B}"/>
                </a:ext>
              </a:extLst>
            </p:cNvPr>
            <p:cNvCxnSpPr>
              <a:cxnSpLocks/>
              <a:stCxn id="25" idx="0"/>
              <a:endCxn id="21" idx="4"/>
            </p:cNvCxnSpPr>
            <p:nvPr/>
          </p:nvCxnSpPr>
          <p:spPr>
            <a:xfrm flipV="1">
              <a:off x="6654141" y="1837190"/>
              <a:ext cx="167898" cy="981206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3D58716-6D57-8D41-4F87-C760E76E9353}"/>
                </a:ext>
              </a:extLst>
            </p:cNvPr>
            <p:cNvCxnSpPr>
              <a:cxnSpLocks/>
              <a:stCxn id="21" idx="7"/>
              <a:endCxn id="32" idx="3"/>
            </p:cNvCxnSpPr>
            <p:nvPr/>
          </p:nvCxnSpPr>
          <p:spPr>
            <a:xfrm flipV="1">
              <a:off x="6861906" y="869400"/>
              <a:ext cx="921730" cy="87153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F2F31D2-C7B5-CFA8-8B41-603E0293EC0F}"/>
                </a:ext>
              </a:extLst>
            </p:cNvPr>
            <p:cNvCxnSpPr>
              <a:cxnSpLocks/>
              <a:stCxn id="21" idx="6"/>
              <a:endCxn id="31" idx="3"/>
            </p:cNvCxnSpPr>
            <p:nvPr/>
          </p:nvCxnSpPr>
          <p:spPr>
            <a:xfrm flipV="1">
              <a:off x="6878419" y="895050"/>
              <a:ext cx="1666807" cy="88575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2959019-3787-EEA4-6FFF-255AC78F978A}"/>
                </a:ext>
              </a:extLst>
            </p:cNvPr>
            <p:cNvCxnSpPr>
              <a:cxnSpLocks/>
              <a:stCxn id="21" idx="6"/>
              <a:endCxn id="30" idx="3"/>
            </p:cNvCxnSpPr>
            <p:nvPr/>
          </p:nvCxnSpPr>
          <p:spPr>
            <a:xfrm flipV="1">
              <a:off x="6878419" y="1490460"/>
              <a:ext cx="1134567" cy="29034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222E692-5B3B-E76C-52C9-7913CC87F4EA}"/>
                </a:ext>
              </a:extLst>
            </p:cNvPr>
            <p:cNvCxnSpPr>
              <a:cxnSpLocks/>
              <a:stCxn id="28" idx="6"/>
              <a:endCxn id="21" idx="2"/>
            </p:cNvCxnSpPr>
            <p:nvPr/>
          </p:nvCxnSpPr>
          <p:spPr>
            <a:xfrm>
              <a:off x="6149322" y="1653788"/>
              <a:ext cx="616336" cy="127019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D6EEF67-D596-2C8C-B4E3-1EB89293E2ED}"/>
                </a:ext>
              </a:extLst>
            </p:cNvPr>
            <p:cNvCxnSpPr>
              <a:cxnSpLocks/>
              <a:stCxn id="27" idx="5"/>
              <a:endCxn id="21" idx="1"/>
            </p:cNvCxnSpPr>
            <p:nvPr/>
          </p:nvCxnSpPr>
          <p:spPr>
            <a:xfrm>
              <a:off x="6242985" y="1409280"/>
              <a:ext cx="539186" cy="33165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EBC503E-C2AC-B5F0-B0F7-507F4B478C2A}"/>
                </a:ext>
              </a:extLst>
            </p:cNvPr>
            <p:cNvCxnSpPr>
              <a:cxnSpLocks/>
              <a:stCxn id="29" idx="5"/>
              <a:endCxn id="21" idx="1"/>
            </p:cNvCxnSpPr>
            <p:nvPr/>
          </p:nvCxnSpPr>
          <p:spPr>
            <a:xfrm>
              <a:off x="6512175" y="1500420"/>
              <a:ext cx="269996" cy="24051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F0F3EE9-ACC3-40AE-B1A8-DFEE93D4AD2B}"/>
              </a:ext>
            </a:extLst>
          </p:cNvPr>
          <p:cNvGrpSpPr/>
          <p:nvPr/>
        </p:nvGrpSpPr>
        <p:grpSpPr>
          <a:xfrm>
            <a:off x="4876798" y="3833997"/>
            <a:ext cx="3525255" cy="2510544"/>
            <a:chOff x="4876798" y="3958176"/>
            <a:chExt cx="3525255" cy="251054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4FE0E6F-FB09-481C-7FD3-34A089039D20}"/>
                </a:ext>
              </a:extLst>
            </p:cNvPr>
            <p:cNvSpPr/>
            <p:nvPr/>
          </p:nvSpPr>
          <p:spPr>
            <a:xfrm>
              <a:off x="4876798" y="3958176"/>
              <a:ext cx="3525255" cy="251054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B8F5EF2-B855-970C-23E2-5E61DFC52A1C}"/>
                </a:ext>
              </a:extLst>
            </p:cNvPr>
            <p:cNvSpPr/>
            <p:nvPr/>
          </p:nvSpPr>
          <p:spPr>
            <a:xfrm>
              <a:off x="5778883" y="4676322"/>
              <a:ext cx="112761" cy="1127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042950C-062F-966D-9FBA-966F0C5E062F}"/>
                </a:ext>
              </a:extLst>
            </p:cNvPr>
            <p:cNvCxnSpPr>
              <a:cxnSpLocks/>
              <a:stCxn id="42" idx="0"/>
              <a:endCxn id="42" idx="2"/>
            </p:cNvCxnSpPr>
            <p:nvPr/>
          </p:nvCxnSpPr>
          <p:spPr>
            <a:xfrm>
              <a:off x="6639426" y="3958176"/>
              <a:ext cx="0" cy="2510544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4C55899-DBE0-093A-3F31-6048890026EC}"/>
                </a:ext>
              </a:extLst>
            </p:cNvPr>
            <p:cNvCxnSpPr>
              <a:cxnSpLocks/>
              <a:stCxn id="42" idx="1"/>
              <a:endCxn id="42" idx="3"/>
            </p:cNvCxnSpPr>
            <p:nvPr/>
          </p:nvCxnSpPr>
          <p:spPr>
            <a:xfrm>
              <a:off x="4876798" y="5213448"/>
              <a:ext cx="3525255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6DECEAF-0E19-7006-759B-CA4EAD83368F}"/>
                </a:ext>
              </a:extLst>
            </p:cNvPr>
            <p:cNvSpPr/>
            <p:nvPr/>
          </p:nvSpPr>
          <p:spPr>
            <a:xfrm>
              <a:off x="7582102" y="4153078"/>
              <a:ext cx="112761" cy="112767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5BEE760-5B65-1274-B57B-55E1E6F76648}"/>
                </a:ext>
              </a:extLst>
            </p:cNvPr>
            <p:cNvSpPr/>
            <p:nvPr/>
          </p:nvSpPr>
          <p:spPr>
            <a:xfrm>
              <a:off x="5818750" y="5868556"/>
              <a:ext cx="112761" cy="11276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9192D85-CAAE-8F1B-D5AF-865518EC741E}"/>
                </a:ext>
              </a:extLst>
            </p:cNvPr>
            <p:cNvSpPr/>
            <p:nvPr/>
          </p:nvSpPr>
          <p:spPr>
            <a:xfrm>
              <a:off x="5582741" y="583294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DE1CC8D-4626-B5F9-04CD-3477AF04A80E}"/>
                </a:ext>
              </a:extLst>
            </p:cNvPr>
            <p:cNvSpPr/>
            <p:nvPr/>
          </p:nvSpPr>
          <p:spPr>
            <a:xfrm>
              <a:off x="6162461" y="598534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62EF221-FC52-8331-8E0C-3EBA20915833}"/>
                </a:ext>
              </a:extLst>
            </p:cNvPr>
            <p:cNvSpPr/>
            <p:nvPr/>
          </p:nvSpPr>
          <p:spPr>
            <a:xfrm>
              <a:off x="5851931" y="592408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54673F7-340C-D17F-A74B-D4184BDEE174}"/>
                </a:ext>
              </a:extLst>
            </p:cNvPr>
            <p:cNvSpPr/>
            <p:nvPr/>
          </p:nvSpPr>
          <p:spPr>
            <a:xfrm>
              <a:off x="5735141" y="453720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4F4F7BA-B8C9-2965-6185-5C00D3B063A4}"/>
                </a:ext>
              </a:extLst>
            </p:cNvPr>
            <p:cNvSpPr/>
            <p:nvPr/>
          </p:nvSpPr>
          <p:spPr>
            <a:xfrm>
              <a:off x="5634783" y="479787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4E19C67-6C7D-44B1-A505-7C6F36A2D43B}"/>
                </a:ext>
              </a:extLst>
            </p:cNvPr>
            <p:cNvSpPr/>
            <p:nvPr/>
          </p:nvSpPr>
          <p:spPr>
            <a:xfrm>
              <a:off x="6004331" y="462834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90C8A3D-F471-F194-D18C-FF45D08FBE93}"/>
                </a:ext>
              </a:extLst>
            </p:cNvPr>
            <p:cNvSpPr/>
            <p:nvPr/>
          </p:nvSpPr>
          <p:spPr>
            <a:xfrm>
              <a:off x="7537471" y="461838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B727DCF-917D-4A90-31D3-418F0DE6985D}"/>
                </a:ext>
              </a:extLst>
            </p:cNvPr>
            <p:cNvSpPr/>
            <p:nvPr/>
          </p:nvSpPr>
          <p:spPr>
            <a:xfrm>
              <a:off x="8069711" y="402297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3A64A85-5E9F-50EC-EE1E-713624209CE5}"/>
                </a:ext>
              </a:extLst>
            </p:cNvPr>
            <p:cNvSpPr/>
            <p:nvPr/>
          </p:nvSpPr>
          <p:spPr>
            <a:xfrm>
              <a:off x="7308121" y="399732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448444B-0AA6-2415-9C91-F32CE71ABD8C}"/>
                </a:ext>
              </a:extLst>
            </p:cNvPr>
            <p:cNvCxnSpPr>
              <a:stCxn id="48" idx="6"/>
              <a:endCxn id="47" idx="2"/>
            </p:cNvCxnSpPr>
            <p:nvPr/>
          </p:nvCxnSpPr>
          <p:spPr>
            <a:xfrm>
              <a:off x="5628460" y="5855806"/>
              <a:ext cx="190290" cy="69134"/>
            </a:xfrm>
            <a:prstGeom prst="straightConnector1">
              <a:avLst/>
            </a:prstGeom>
            <a:ln>
              <a:headEnd type="arrow" w="sm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7C35C29-5809-A52D-B696-1F835F1C7F30}"/>
                </a:ext>
              </a:extLst>
            </p:cNvPr>
            <p:cNvCxnSpPr>
              <a:endCxn id="49" idx="6"/>
            </p:cNvCxnSpPr>
            <p:nvPr/>
          </p:nvCxnSpPr>
          <p:spPr>
            <a:xfrm>
              <a:off x="5931511" y="5928353"/>
              <a:ext cx="276669" cy="79853"/>
            </a:xfrm>
            <a:prstGeom prst="straightConnector1">
              <a:avLst/>
            </a:prstGeom>
            <a:ln>
              <a:headEnd type="arrow" w="sm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EF3E66E-D197-DC21-7A86-22026B349B27}"/>
                </a:ext>
              </a:extLst>
            </p:cNvPr>
            <p:cNvCxnSpPr>
              <a:endCxn id="46" idx="1"/>
            </p:cNvCxnSpPr>
            <p:nvPr/>
          </p:nvCxnSpPr>
          <p:spPr>
            <a:xfrm>
              <a:off x="7336057" y="4022976"/>
              <a:ext cx="262558" cy="146616"/>
            </a:xfrm>
            <a:prstGeom prst="straightConnector1">
              <a:avLst/>
            </a:prstGeom>
            <a:ln>
              <a:headEnd type="arrow" w="sm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2A685D6-2A3A-D0B3-EC97-27EFE655907B}"/>
                </a:ext>
              </a:extLst>
            </p:cNvPr>
            <p:cNvCxnSpPr>
              <a:stCxn id="54" idx="0"/>
              <a:endCxn id="46" idx="4"/>
            </p:cNvCxnSpPr>
            <p:nvPr/>
          </p:nvCxnSpPr>
          <p:spPr>
            <a:xfrm flipV="1">
              <a:off x="7560331" y="4265845"/>
              <a:ext cx="78152" cy="352541"/>
            </a:xfrm>
            <a:prstGeom prst="straightConnector1">
              <a:avLst/>
            </a:prstGeom>
            <a:ln>
              <a:headEnd type="arrow" w="sm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151C0B6-641C-B6D0-3197-C8005364CA15}"/>
                </a:ext>
              </a:extLst>
            </p:cNvPr>
            <p:cNvCxnSpPr>
              <a:stCxn id="46" idx="6"/>
              <a:endCxn id="55" idx="3"/>
            </p:cNvCxnSpPr>
            <p:nvPr/>
          </p:nvCxnSpPr>
          <p:spPr>
            <a:xfrm flipV="1">
              <a:off x="7694863" y="4062000"/>
              <a:ext cx="381543" cy="147462"/>
            </a:xfrm>
            <a:prstGeom prst="straightConnector1">
              <a:avLst/>
            </a:prstGeom>
            <a:ln>
              <a:headEnd type="arrow" w="sm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37129CC-57F5-C8A0-2863-7B896630C321}"/>
                </a:ext>
              </a:extLst>
            </p:cNvPr>
            <p:cNvCxnSpPr>
              <a:stCxn id="43" idx="1"/>
            </p:cNvCxnSpPr>
            <p:nvPr/>
          </p:nvCxnSpPr>
          <p:spPr>
            <a:xfrm flipH="1" flipV="1">
              <a:off x="5758654" y="4555355"/>
              <a:ext cx="36742" cy="137481"/>
            </a:xfrm>
            <a:prstGeom prst="straightConnector1">
              <a:avLst/>
            </a:prstGeom>
            <a:ln>
              <a:headEnd type="arrow" w="sm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9401020C-4A43-1187-91E0-29EE3FE8FE8E}"/>
                </a:ext>
              </a:extLst>
            </p:cNvPr>
            <p:cNvCxnSpPr>
              <a:stCxn id="43" idx="3"/>
            </p:cNvCxnSpPr>
            <p:nvPr/>
          </p:nvCxnSpPr>
          <p:spPr>
            <a:xfrm flipH="1">
              <a:off x="5661755" y="4772575"/>
              <a:ext cx="133641" cy="41869"/>
            </a:xfrm>
            <a:prstGeom prst="straightConnector1">
              <a:avLst/>
            </a:prstGeom>
            <a:ln>
              <a:headEnd type="arrow" w="sm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26999F3B-6FC6-5F54-D9F6-D88D489E0DEA}"/>
                </a:ext>
              </a:extLst>
            </p:cNvPr>
            <p:cNvCxnSpPr/>
            <p:nvPr/>
          </p:nvCxnSpPr>
          <p:spPr>
            <a:xfrm flipH="1">
              <a:off x="5882574" y="4664105"/>
              <a:ext cx="133641" cy="41869"/>
            </a:xfrm>
            <a:prstGeom prst="straightConnector1">
              <a:avLst/>
            </a:prstGeom>
            <a:ln>
              <a:headEnd type="arrow" w="sm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70377BA-5FFF-EAD9-98B1-BEB24068A93C}"/>
                </a:ext>
              </a:extLst>
            </p:cNvPr>
            <p:cNvCxnSpPr/>
            <p:nvPr/>
          </p:nvCxnSpPr>
          <p:spPr>
            <a:xfrm>
              <a:off x="5866593" y="4772575"/>
              <a:ext cx="442938" cy="155232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839E598B-5418-4715-003F-8FEFCB487AE4}"/>
                </a:ext>
              </a:extLst>
            </p:cNvPr>
            <p:cNvCxnSpPr/>
            <p:nvPr/>
          </p:nvCxnSpPr>
          <p:spPr>
            <a:xfrm flipV="1">
              <a:off x="5902844" y="5048364"/>
              <a:ext cx="434401" cy="808886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5B760BD-8572-9D7B-0415-AADC33017AE8}"/>
                </a:ext>
              </a:extLst>
            </p:cNvPr>
            <p:cNvCxnSpPr/>
            <p:nvPr/>
          </p:nvCxnSpPr>
          <p:spPr>
            <a:xfrm flipV="1">
              <a:off x="6406289" y="4249331"/>
              <a:ext cx="1192326" cy="69216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0EE0F99-76B9-6352-A300-1E442F8381EC}"/>
                </a:ext>
              </a:extLst>
            </p:cNvPr>
            <p:cNvSpPr/>
            <p:nvPr/>
          </p:nvSpPr>
          <p:spPr>
            <a:xfrm>
              <a:off x="6293018" y="4911293"/>
              <a:ext cx="112761" cy="112767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8E0ADC2E-48F4-BA14-3EC3-28439C4E3064}"/>
              </a:ext>
            </a:extLst>
          </p:cNvPr>
          <p:cNvSpPr txBox="1"/>
          <p:nvPr/>
        </p:nvSpPr>
        <p:spPr>
          <a:xfrm>
            <a:off x="1414643" y="303254"/>
            <a:ext cx="2369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ONE GROUP (H</a:t>
            </a:r>
            <a:r>
              <a:rPr lang="en-US" sz="2000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0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)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F381F8C-7008-01ED-50A5-F9A1089BED51}"/>
              </a:ext>
            </a:extLst>
          </p:cNvPr>
          <p:cNvSpPr txBox="1"/>
          <p:nvPr/>
        </p:nvSpPr>
        <p:spPr>
          <a:xfrm>
            <a:off x="5325100" y="278849"/>
            <a:ext cx="2725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MANY GROUPS (H</a:t>
            </a:r>
            <a:r>
              <a:rPr lang="en-US" sz="2000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)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0CE109-BD81-4906-EB5C-36B0ADCC6F3D}"/>
              </a:ext>
            </a:extLst>
          </p:cNvPr>
          <p:cNvSpPr txBox="1"/>
          <p:nvPr/>
        </p:nvSpPr>
        <p:spPr>
          <a:xfrm rot="16200000">
            <a:off x="-863386" y="1860849"/>
            <a:ext cx="2733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PREDICTED VALUES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CCE53D3-D7DF-405B-169C-42C467477BA0}"/>
              </a:ext>
            </a:extLst>
          </p:cNvPr>
          <p:cNvSpPr txBox="1"/>
          <p:nvPr/>
        </p:nvSpPr>
        <p:spPr>
          <a:xfrm rot="16200000">
            <a:off x="-870351" y="4904603"/>
            <a:ext cx="2733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RESIDUALS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82244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9259" y="234338"/>
            <a:ext cx="8629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When there is only a column of ones, the vector of coefficients is the mean vector.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834678"/>
              </p:ext>
            </p:extLst>
          </p:nvPr>
        </p:nvGraphicFramePr>
        <p:xfrm>
          <a:off x="1158855" y="1475480"/>
          <a:ext cx="732806" cy="93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" imgH="889000" progId="Equation.3">
                  <p:embed/>
                </p:oleObj>
              </mc:Choice>
              <mc:Fallback>
                <p:oleObj name="Equation" r:id="rId2" imgW="698500" imgH="88900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8855" y="1475480"/>
                        <a:ext cx="732806" cy="93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16137"/>
              </p:ext>
            </p:extLst>
          </p:nvPr>
        </p:nvGraphicFramePr>
        <p:xfrm>
          <a:off x="2546219" y="1682196"/>
          <a:ext cx="23590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317500" progId="Equation.3">
                  <p:embed/>
                </p:oleObj>
              </mc:Choice>
              <mc:Fallback>
                <p:oleObj name="Equation" r:id="rId4" imgW="1600200" imgH="31750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46219" y="1682196"/>
                        <a:ext cx="2359025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5"/>
          <p:cNvGrpSpPr/>
          <p:nvPr/>
        </p:nvGrpSpPr>
        <p:grpSpPr>
          <a:xfrm>
            <a:off x="5353163" y="708561"/>
            <a:ext cx="3525255" cy="2510544"/>
            <a:chOff x="5353163" y="937163"/>
            <a:chExt cx="3525255" cy="2510544"/>
          </a:xfrm>
        </p:grpSpPr>
        <p:sp>
          <p:nvSpPr>
            <p:cNvPr id="37" name="Rectangle 36"/>
            <p:cNvSpPr/>
            <p:nvPr/>
          </p:nvSpPr>
          <p:spPr>
            <a:xfrm>
              <a:off x="5353163" y="937163"/>
              <a:ext cx="3525255" cy="251054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6765658" y="1880839"/>
              <a:ext cx="112761" cy="1127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/>
            <p:cNvCxnSpPr>
              <a:stCxn id="37" idx="0"/>
              <a:endCxn id="37" idx="2"/>
            </p:cNvCxnSpPr>
            <p:nvPr/>
          </p:nvCxnSpPr>
          <p:spPr>
            <a:xfrm>
              <a:off x="7115791" y="937163"/>
              <a:ext cx="0" cy="2510544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37" idx="1"/>
              <a:endCxn id="37" idx="3"/>
            </p:cNvCxnSpPr>
            <p:nvPr/>
          </p:nvCxnSpPr>
          <p:spPr>
            <a:xfrm>
              <a:off x="5353163" y="2192435"/>
              <a:ext cx="3525255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 flipV="1">
              <a:off x="6860596" y="1982321"/>
              <a:ext cx="249560" cy="206359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330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734F3-22DD-62F3-1E50-CB1DE70D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7F6D8A-62FB-0A38-D6EC-F162007B4F55}"/>
              </a:ext>
            </a:extLst>
          </p:cNvPr>
          <p:cNvSpPr txBox="1"/>
          <p:nvPr/>
        </p:nvSpPr>
        <p:spPr>
          <a:xfrm>
            <a:off x="249259" y="234338"/>
            <a:ext cx="862915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When there is only a column of ones, the vector of coefficients is the mean vector.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When there are additional columns of dummy variables, the first column vector of coefficients is the mean for group 1; the rest are change vectors to describe other group means.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C76871D-668D-BB07-55E0-38B637A016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8855" y="1475480"/>
          <a:ext cx="732806" cy="93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" imgH="889000" progId="Equation.3">
                  <p:embed/>
                </p:oleObj>
              </mc:Choice>
              <mc:Fallback>
                <p:oleObj name="Equation" r:id="rId2" imgW="698500" imgH="88900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8855" y="1475480"/>
                        <a:ext cx="732806" cy="93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836B9D6-56D2-D9F3-A0DF-6BE8D2677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6219" y="1682196"/>
          <a:ext cx="23590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317500" progId="Equation.3">
                  <p:embed/>
                </p:oleObj>
              </mc:Choice>
              <mc:Fallback>
                <p:oleObj name="Equation" r:id="rId4" imgW="1600200" imgH="31750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46219" y="1682196"/>
                        <a:ext cx="2359025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70D3941-78DC-66F8-6DA7-C7FAB5B429C1}"/>
              </a:ext>
            </a:extLst>
          </p:cNvPr>
          <p:cNvGrpSpPr>
            <a:grpSpLocks noChangeAspect="1"/>
          </p:cNvGrpSpPr>
          <p:nvPr/>
        </p:nvGrpSpPr>
        <p:grpSpPr>
          <a:xfrm>
            <a:off x="5359398" y="4008940"/>
            <a:ext cx="3525255" cy="2510544"/>
            <a:chOff x="1068858" y="2184115"/>
            <a:chExt cx="7050509" cy="502108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715848-0459-7B69-FC95-2207FB3F849D}"/>
                </a:ext>
              </a:extLst>
            </p:cNvPr>
            <p:cNvSpPr/>
            <p:nvPr/>
          </p:nvSpPr>
          <p:spPr>
            <a:xfrm>
              <a:off x="1068858" y="2184115"/>
              <a:ext cx="7050509" cy="5021088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72669BE-E4D0-1DC2-A814-D858FF16BB24}"/>
                </a:ext>
              </a:extLst>
            </p:cNvPr>
            <p:cNvSpPr/>
            <p:nvPr/>
          </p:nvSpPr>
          <p:spPr>
            <a:xfrm>
              <a:off x="2873028" y="3620407"/>
              <a:ext cx="225522" cy="22553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4D4FC22-FA3C-A59E-A1BB-04762DFE13C2}"/>
                </a:ext>
              </a:extLst>
            </p:cNvPr>
            <p:cNvCxnSpPr>
              <a:stCxn id="19" idx="0"/>
              <a:endCxn id="19" idx="2"/>
            </p:cNvCxnSpPr>
            <p:nvPr/>
          </p:nvCxnSpPr>
          <p:spPr>
            <a:xfrm>
              <a:off x="4594113" y="2184115"/>
              <a:ext cx="0" cy="5021088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9EA5039-9524-2784-7E32-D9C725B41F27}"/>
                </a:ext>
              </a:extLst>
            </p:cNvPr>
            <p:cNvCxnSpPr>
              <a:stCxn id="19" idx="1"/>
              <a:endCxn id="19" idx="3"/>
            </p:cNvCxnSpPr>
            <p:nvPr/>
          </p:nvCxnSpPr>
          <p:spPr>
            <a:xfrm>
              <a:off x="1068858" y="4694659"/>
              <a:ext cx="7050509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9377C7D-F692-F8FC-E453-303E051862D8}"/>
                </a:ext>
              </a:extLst>
            </p:cNvPr>
            <p:cNvCxnSpPr>
              <a:endCxn id="20" idx="5"/>
            </p:cNvCxnSpPr>
            <p:nvPr/>
          </p:nvCxnSpPr>
          <p:spPr>
            <a:xfrm flipH="1" flipV="1">
              <a:off x="3065523" y="3812912"/>
              <a:ext cx="1517319" cy="87423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92032C8-097A-E73C-0BD7-D8E393C2DA2D}"/>
                </a:ext>
              </a:extLst>
            </p:cNvPr>
            <p:cNvSpPr/>
            <p:nvPr/>
          </p:nvSpPr>
          <p:spPr>
            <a:xfrm>
              <a:off x="6479465" y="2573918"/>
              <a:ext cx="225522" cy="225534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C2B76E0-2748-60A4-72DB-904F1417E41A}"/>
                </a:ext>
              </a:extLst>
            </p:cNvPr>
            <p:cNvCxnSpPr/>
            <p:nvPr/>
          </p:nvCxnSpPr>
          <p:spPr>
            <a:xfrm flipV="1">
              <a:off x="3098550" y="2730813"/>
              <a:ext cx="3413942" cy="9667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5A8C2FF-8514-4684-8483-3F7CE1EA9476}"/>
                </a:ext>
              </a:extLst>
            </p:cNvPr>
            <p:cNvSpPr/>
            <p:nvPr/>
          </p:nvSpPr>
          <p:spPr>
            <a:xfrm>
              <a:off x="2952762" y="6004874"/>
              <a:ext cx="225522" cy="22553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383C200-E16D-0784-2D33-E0DB0D6B1B66}"/>
                </a:ext>
              </a:extLst>
            </p:cNvPr>
            <p:cNvCxnSpPr>
              <a:stCxn id="20" idx="4"/>
              <a:endCxn id="27" idx="0"/>
            </p:cNvCxnSpPr>
            <p:nvPr/>
          </p:nvCxnSpPr>
          <p:spPr>
            <a:xfrm>
              <a:off x="2985789" y="3845941"/>
              <a:ext cx="79734" cy="21589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28E834FE-4D7E-B48B-A89E-1230DCB779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288" y="4282289"/>
          <a:ext cx="1016234" cy="2237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300" imgH="2489200" progId="Equation.3">
                  <p:embed/>
                </p:oleObj>
              </mc:Choice>
              <mc:Fallback>
                <p:oleObj name="Equation" r:id="rId6" imgW="1130300" imgH="2489200" progId="Equation.3">
                  <p:embed/>
                  <p:pic>
                    <p:nvPicPr>
                      <p:cNvPr id="29" name="Object 2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9288" y="4282289"/>
                        <a:ext cx="1016234" cy="2237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0A9BFD41-AA28-D570-85DF-24C1E8870E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938" y="4605336"/>
          <a:ext cx="2865437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43100" imgH="889000" progId="Equation.3">
                  <p:embed/>
                </p:oleObj>
              </mc:Choice>
              <mc:Fallback>
                <p:oleObj name="Equation" r:id="rId8" imgW="1943100" imgH="889000" progId="Equation.3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08938" y="4605336"/>
                        <a:ext cx="2865437" cy="1311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21A9EC92-3E5F-E644-1F1F-9160F01D4235}"/>
              </a:ext>
            </a:extLst>
          </p:cNvPr>
          <p:cNvGrpSpPr/>
          <p:nvPr/>
        </p:nvGrpSpPr>
        <p:grpSpPr>
          <a:xfrm>
            <a:off x="5353163" y="708561"/>
            <a:ext cx="3525255" cy="2510544"/>
            <a:chOff x="5353163" y="937163"/>
            <a:chExt cx="3525255" cy="2510544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6C75702-8630-E650-AB18-3CD3578C2FBD}"/>
                </a:ext>
              </a:extLst>
            </p:cNvPr>
            <p:cNvSpPr/>
            <p:nvPr/>
          </p:nvSpPr>
          <p:spPr>
            <a:xfrm>
              <a:off x="5353163" y="937163"/>
              <a:ext cx="3525255" cy="251054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430D969-F826-989E-61EB-7E1CBFC89893}"/>
                </a:ext>
              </a:extLst>
            </p:cNvPr>
            <p:cNvSpPr/>
            <p:nvPr/>
          </p:nvSpPr>
          <p:spPr>
            <a:xfrm>
              <a:off x="6765658" y="1880839"/>
              <a:ext cx="112761" cy="1127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57EFBE1-6193-2C4B-06E9-CF1B62622C31}"/>
                </a:ext>
              </a:extLst>
            </p:cNvPr>
            <p:cNvCxnSpPr>
              <a:stCxn id="37" idx="0"/>
              <a:endCxn id="37" idx="2"/>
            </p:cNvCxnSpPr>
            <p:nvPr/>
          </p:nvCxnSpPr>
          <p:spPr>
            <a:xfrm>
              <a:off x="7115791" y="937163"/>
              <a:ext cx="0" cy="2510544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73ECA03-BB8E-6B17-8BDE-0A6D5B7BA4E5}"/>
                </a:ext>
              </a:extLst>
            </p:cNvPr>
            <p:cNvCxnSpPr>
              <a:stCxn id="37" idx="1"/>
              <a:endCxn id="37" idx="3"/>
            </p:cNvCxnSpPr>
            <p:nvPr/>
          </p:nvCxnSpPr>
          <p:spPr>
            <a:xfrm>
              <a:off x="5353163" y="2192435"/>
              <a:ext cx="3525255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4F792AD-7278-BAD6-61A7-5FEC5D7F2945}"/>
                </a:ext>
              </a:extLst>
            </p:cNvPr>
            <p:cNvCxnSpPr/>
            <p:nvPr/>
          </p:nvCxnSpPr>
          <p:spPr>
            <a:xfrm flipH="1" flipV="1">
              <a:off x="6860596" y="1982321"/>
              <a:ext cx="249560" cy="206359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957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9259" y="246364"/>
            <a:ext cx="86291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Predicted values are group means, whether there is one group or more.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616986"/>
              </p:ext>
            </p:extLst>
          </p:nvPr>
        </p:nvGraphicFramePr>
        <p:xfrm>
          <a:off x="1130859" y="935863"/>
          <a:ext cx="732806" cy="93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" imgH="889000" progId="Equation.3">
                  <p:embed/>
                </p:oleObj>
              </mc:Choice>
              <mc:Fallback>
                <p:oleObj name="Equation" r:id="rId2" imgW="698500" imgH="88900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0859" y="935863"/>
                        <a:ext cx="732806" cy="93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091093"/>
              </p:ext>
            </p:extLst>
          </p:nvPr>
        </p:nvGraphicFramePr>
        <p:xfrm>
          <a:off x="2208938" y="1126616"/>
          <a:ext cx="23590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317500" progId="Equation.3">
                  <p:embed/>
                </p:oleObj>
              </mc:Choice>
              <mc:Fallback>
                <p:oleObj name="Equation" r:id="rId4" imgW="1600200" imgH="31750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08938" y="1126616"/>
                        <a:ext cx="2359025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5359398" y="4020966"/>
            <a:ext cx="3525255" cy="2510544"/>
            <a:chOff x="1068858" y="2184115"/>
            <a:chExt cx="7050509" cy="5021088"/>
          </a:xfrm>
        </p:grpSpPr>
        <p:sp>
          <p:nvSpPr>
            <p:cNvPr id="19" name="Rectangle 18"/>
            <p:cNvSpPr/>
            <p:nvPr/>
          </p:nvSpPr>
          <p:spPr>
            <a:xfrm>
              <a:off x="1068858" y="2184115"/>
              <a:ext cx="7050509" cy="5021088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73028" y="3620407"/>
              <a:ext cx="225522" cy="22553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cxnSp>
          <p:nvCxnSpPr>
            <p:cNvPr id="22" name="Straight Connector 21"/>
            <p:cNvCxnSpPr>
              <a:stCxn id="19" idx="0"/>
              <a:endCxn id="19" idx="2"/>
            </p:cNvCxnSpPr>
            <p:nvPr/>
          </p:nvCxnSpPr>
          <p:spPr>
            <a:xfrm>
              <a:off x="4594113" y="2184115"/>
              <a:ext cx="0" cy="5021088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19" idx="1"/>
              <a:endCxn id="19" idx="3"/>
            </p:cNvCxnSpPr>
            <p:nvPr/>
          </p:nvCxnSpPr>
          <p:spPr>
            <a:xfrm>
              <a:off x="1068858" y="4694659"/>
              <a:ext cx="7050509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20" idx="5"/>
            </p:cNvCxnSpPr>
            <p:nvPr/>
          </p:nvCxnSpPr>
          <p:spPr>
            <a:xfrm flipH="1" flipV="1">
              <a:off x="3065523" y="3812912"/>
              <a:ext cx="1517319" cy="87423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6479465" y="2573918"/>
              <a:ext cx="225522" cy="225534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3098550" y="2730813"/>
              <a:ext cx="3413942" cy="9667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2952762" y="6004874"/>
              <a:ext cx="225522" cy="22553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cxnSp>
          <p:nvCxnSpPr>
            <p:cNvPr id="28" name="Straight Arrow Connector 27"/>
            <p:cNvCxnSpPr>
              <a:stCxn id="20" idx="4"/>
              <a:endCxn id="27" idx="0"/>
            </p:cNvCxnSpPr>
            <p:nvPr/>
          </p:nvCxnSpPr>
          <p:spPr>
            <a:xfrm>
              <a:off x="2985789" y="3845941"/>
              <a:ext cx="79734" cy="21589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95098"/>
              </p:ext>
            </p:extLst>
          </p:nvPr>
        </p:nvGraphicFramePr>
        <p:xfrm>
          <a:off x="311171" y="3368441"/>
          <a:ext cx="1016234" cy="2237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300" imgH="2489200" progId="Equation.3">
                  <p:embed/>
                </p:oleObj>
              </mc:Choice>
              <mc:Fallback>
                <p:oleObj name="Equation" r:id="rId6" imgW="1130300" imgH="2489200" progId="Equation.3">
                  <p:embed/>
                  <p:pic>
                    <p:nvPicPr>
                      <p:cNvPr id="29" name="Object 2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1171" y="3368441"/>
                        <a:ext cx="1016234" cy="2237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344634"/>
              </p:ext>
            </p:extLst>
          </p:nvPr>
        </p:nvGraphicFramePr>
        <p:xfrm>
          <a:off x="1943233" y="3466416"/>
          <a:ext cx="2865437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43100" imgH="889000" progId="Equation.3">
                  <p:embed/>
                </p:oleObj>
              </mc:Choice>
              <mc:Fallback>
                <p:oleObj name="Equation" r:id="rId8" imgW="1943100" imgH="889000" progId="Equation.3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43233" y="3466416"/>
                        <a:ext cx="2865437" cy="1311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155017"/>
              </p:ext>
            </p:extLst>
          </p:nvPr>
        </p:nvGraphicFramePr>
        <p:xfrm>
          <a:off x="2322682" y="1643310"/>
          <a:ext cx="1462088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600" imgH="1041400" progId="Equation.3">
                  <p:embed/>
                </p:oleObj>
              </mc:Choice>
              <mc:Fallback>
                <p:oleObj name="Equation" r:id="rId10" imgW="990600" imgH="1041400" progId="Equation.3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22682" y="1643310"/>
                        <a:ext cx="1462088" cy="153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097659"/>
              </p:ext>
            </p:extLst>
          </p:nvPr>
        </p:nvGraphicFramePr>
        <p:xfrm>
          <a:off x="2208938" y="4406599"/>
          <a:ext cx="1423987" cy="217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65200" imgH="1473200" progId="Equation.3">
                  <p:embed/>
                </p:oleObj>
              </mc:Choice>
              <mc:Fallback>
                <p:oleObj name="Equation" r:id="rId12" imgW="965200" imgH="1473200" progId="Equation.3">
                  <p:embed/>
                  <p:pic>
                    <p:nvPicPr>
                      <p:cNvPr id="37" name="Object 3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08938" y="4406599"/>
                        <a:ext cx="1423987" cy="2173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7"/>
          <p:cNvGrpSpPr/>
          <p:nvPr/>
        </p:nvGrpSpPr>
        <p:grpSpPr>
          <a:xfrm>
            <a:off x="5353163" y="720587"/>
            <a:ext cx="3525255" cy="2510544"/>
            <a:chOff x="5353163" y="937163"/>
            <a:chExt cx="3525255" cy="2510544"/>
          </a:xfrm>
        </p:grpSpPr>
        <p:sp>
          <p:nvSpPr>
            <p:cNvPr id="39" name="Rectangle 38"/>
            <p:cNvSpPr/>
            <p:nvPr/>
          </p:nvSpPr>
          <p:spPr>
            <a:xfrm>
              <a:off x="5353163" y="937163"/>
              <a:ext cx="3525255" cy="251054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6765658" y="1880839"/>
              <a:ext cx="112761" cy="1127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cxnSp>
          <p:nvCxnSpPr>
            <p:cNvPr id="41" name="Straight Connector 40"/>
            <p:cNvCxnSpPr>
              <a:stCxn id="39" idx="0"/>
              <a:endCxn id="39" idx="2"/>
            </p:cNvCxnSpPr>
            <p:nvPr/>
          </p:nvCxnSpPr>
          <p:spPr>
            <a:xfrm>
              <a:off x="7115791" y="937163"/>
              <a:ext cx="0" cy="2510544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9" idx="1"/>
              <a:endCxn id="39" idx="3"/>
            </p:cNvCxnSpPr>
            <p:nvPr/>
          </p:nvCxnSpPr>
          <p:spPr>
            <a:xfrm>
              <a:off x="5353163" y="2192435"/>
              <a:ext cx="3525255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6860596" y="1982321"/>
              <a:ext cx="249560" cy="206359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7888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9260" y="306524"/>
            <a:ext cx="51039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Residuals describe within-group dispersion.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Diagonal of outer-product of error represents distances from the mean.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59398" y="4081126"/>
            <a:ext cx="3525255" cy="251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261483" y="4799272"/>
            <a:ext cx="112761" cy="1127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>
            <a:cxnSpLocks/>
            <a:stCxn id="19" idx="0"/>
            <a:endCxn id="19" idx="2"/>
          </p:cNvCxnSpPr>
          <p:nvPr/>
        </p:nvCxnSpPr>
        <p:spPr>
          <a:xfrm>
            <a:off x="7122026" y="4081126"/>
            <a:ext cx="0" cy="2510544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cxnSpLocks/>
            <a:stCxn id="19" idx="1"/>
            <a:endCxn id="19" idx="3"/>
          </p:cNvCxnSpPr>
          <p:nvPr/>
        </p:nvCxnSpPr>
        <p:spPr>
          <a:xfrm>
            <a:off x="5359398" y="5336398"/>
            <a:ext cx="3525255" cy="0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064702" y="4276028"/>
            <a:ext cx="112761" cy="112767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301350" y="5991506"/>
            <a:ext cx="112761" cy="11276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703845"/>
              </p:ext>
            </p:extLst>
          </p:nvPr>
        </p:nvGraphicFramePr>
        <p:xfrm>
          <a:off x="804001" y="1858219"/>
          <a:ext cx="14049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500" imgH="241300" progId="Equation.3">
                  <p:embed/>
                </p:oleObj>
              </mc:Choice>
              <mc:Fallback>
                <p:oleObj name="Equation" r:id="rId2" imgW="952500" imgH="241300" progId="Equation.3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04001" y="1858219"/>
                        <a:ext cx="1404937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859506"/>
              </p:ext>
            </p:extLst>
          </p:nvPr>
        </p:nvGraphicFramePr>
        <p:xfrm>
          <a:off x="3124200" y="1824784"/>
          <a:ext cx="161131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2200" imgH="317500" progId="Equation.3">
                  <p:embed/>
                </p:oleObj>
              </mc:Choice>
              <mc:Fallback>
                <p:oleObj name="Equation" r:id="rId4" imgW="1092200" imgH="317500" progId="Equation.3">
                  <p:embed/>
                  <p:pic>
                    <p:nvPicPr>
                      <p:cNvPr id="30" name="Object 2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24200" y="1824784"/>
                        <a:ext cx="1611312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3"/>
          <p:cNvSpPr/>
          <p:nvPr/>
        </p:nvSpPr>
        <p:spPr>
          <a:xfrm>
            <a:off x="6065341" y="59558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645061" y="61082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6334531" y="60470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217741" y="466015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117383" y="492082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6486931" y="47512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8020071" y="47413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8552311" y="414592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790721" y="412027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15E315A-59E3-F908-047D-FF2E22139247}"/>
              </a:ext>
            </a:extLst>
          </p:cNvPr>
          <p:cNvGrpSpPr/>
          <p:nvPr/>
        </p:nvGrpSpPr>
        <p:grpSpPr>
          <a:xfrm>
            <a:off x="5353163" y="780747"/>
            <a:ext cx="3525255" cy="2510544"/>
            <a:chOff x="5353163" y="780747"/>
            <a:chExt cx="3525255" cy="2510544"/>
          </a:xfrm>
        </p:grpSpPr>
        <p:sp>
          <p:nvSpPr>
            <p:cNvPr id="39" name="Rectangle 38"/>
            <p:cNvSpPr/>
            <p:nvPr/>
          </p:nvSpPr>
          <p:spPr>
            <a:xfrm>
              <a:off x="5353163" y="780747"/>
              <a:ext cx="3525255" cy="251054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6765658" y="1724423"/>
              <a:ext cx="112761" cy="1127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/>
            <p:cNvCxnSpPr>
              <a:cxnSpLocks/>
              <a:stCxn id="39" idx="0"/>
              <a:endCxn id="39" idx="2"/>
            </p:cNvCxnSpPr>
            <p:nvPr/>
          </p:nvCxnSpPr>
          <p:spPr>
            <a:xfrm>
              <a:off x="7115791" y="780747"/>
              <a:ext cx="0" cy="2510544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cxnSpLocks/>
              <a:stCxn id="39" idx="1"/>
              <a:endCxn id="39" idx="3"/>
            </p:cNvCxnSpPr>
            <p:nvPr/>
          </p:nvCxnSpPr>
          <p:spPr>
            <a:xfrm>
              <a:off x="5353163" y="2036019"/>
              <a:ext cx="3525255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/>
            <p:cNvSpPr/>
            <p:nvPr/>
          </p:nvSpPr>
          <p:spPr>
            <a:xfrm>
              <a:off x="6051561" y="266599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6631281" y="281839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6320751" y="275713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6203961" y="137025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6103603" y="163092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6473151" y="146139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8006291" y="145143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8538531" y="85602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7776941" y="83037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cxnSpLocks/>
              <a:stCxn id="58" idx="0"/>
              <a:endCxn id="40" idx="3"/>
            </p:cNvCxnSpPr>
            <p:nvPr/>
          </p:nvCxnSpPr>
          <p:spPr>
            <a:xfrm flipV="1">
              <a:off x="6074421" y="1820676"/>
              <a:ext cx="707750" cy="84532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cxnSpLocks/>
              <a:stCxn id="60" idx="7"/>
              <a:endCxn id="40" idx="4"/>
            </p:cNvCxnSpPr>
            <p:nvPr/>
          </p:nvCxnSpPr>
          <p:spPr>
            <a:xfrm flipV="1">
              <a:off x="6359775" y="1837190"/>
              <a:ext cx="462264" cy="926641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cxnSpLocks/>
              <a:stCxn id="59" idx="0"/>
              <a:endCxn id="40" idx="4"/>
            </p:cNvCxnSpPr>
            <p:nvPr/>
          </p:nvCxnSpPr>
          <p:spPr>
            <a:xfrm flipV="1">
              <a:off x="6654141" y="1837190"/>
              <a:ext cx="167898" cy="981206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cxnSpLocks/>
              <a:stCxn id="40" idx="7"/>
              <a:endCxn id="66" idx="3"/>
            </p:cNvCxnSpPr>
            <p:nvPr/>
          </p:nvCxnSpPr>
          <p:spPr>
            <a:xfrm flipV="1">
              <a:off x="6861906" y="869400"/>
              <a:ext cx="921730" cy="87153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cxnSpLocks/>
              <a:stCxn id="40" idx="6"/>
              <a:endCxn id="65" idx="3"/>
            </p:cNvCxnSpPr>
            <p:nvPr/>
          </p:nvCxnSpPr>
          <p:spPr>
            <a:xfrm flipV="1">
              <a:off x="6878419" y="895050"/>
              <a:ext cx="1666807" cy="88575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cxnSpLocks/>
              <a:stCxn id="40" idx="6"/>
              <a:endCxn id="64" idx="3"/>
            </p:cNvCxnSpPr>
            <p:nvPr/>
          </p:nvCxnSpPr>
          <p:spPr>
            <a:xfrm flipV="1">
              <a:off x="6878419" y="1490460"/>
              <a:ext cx="1134567" cy="29034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cxnSpLocks/>
              <a:stCxn id="62" idx="6"/>
              <a:endCxn id="40" idx="2"/>
            </p:cNvCxnSpPr>
            <p:nvPr/>
          </p:nvCxnSpPr>
          <p:spPr>
            <a:xfrm>
              <a:off x="6149322" y="1653788"/>
              <a:ext cx="616336" cy="127019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cxnSpLocks/>
              <a:stCxn id="61" idx="5"/>
              <a:endCxn id="40" idx="1"/>
            </p:cNvCxnSpPr>
            <p:nvPr/>
          </p:nvCxnSpPr>
          <p:spPr>
            <a:xfrm>
              <a:off x="6242985" y="1409280"/>
              <a:ext cx="539186" cy="33165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>
              <a:cxnSpLocks/>
              <a:stCxn id="63" idx="5"/>
              <a:endCxn id="40" idx="1"/>
            </p:cNvCxnSpPr>
            <p:nvPr/>
          </p:nvCxnSpPr>
          <p:spPr>
            <a:xfrm>
              <a:off x="6512175" y="1500420"/>
              <a:ext cx="269996" cy="24051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5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444267"/>
              </p:ext>
            </p:extLst>
          </p:nvPr>
        </p:nvGraphicFramePr>
        <p:xfrm>
          <a:off x="982663" y="5006134"/>
          <a:ext cx="13493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41300" progId="Equation.3">
                  <p:embed/>
                </p:oleObj>
              </mc:Choice>
              <mc:Fallback>
                <p:oleObj name="Equation" r:id="rId6" imgW="914400" imgH="241300" progId="Equation.3">
                  <p:embed/>
                  <p:pic>
                    <p:nvPicPr>
                      <p:cNvPr id="75" name="Object 7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2663" y="5006134"/>
                        <a:ext cx="1349375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996733"/>
              </p:ext>
            </p:extLst>
          </p:nvPr>
        </p:nvGraphicFramePr>
        <p:xfrm>
          <a:off x="3476625" y="4969622"/>
          <a:ext cx="15922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500" imgH="317500" progId="Equation.3">
                  <p:embed/>
                </p:oleObj>
              </mc:Choice>
              <mc:Fallback>
                <p:oleObj name="Equation" r:id="rId8" imgW="1079500" imgH="317500" progId="Equation.3">
                  <p:embed/>
                  <p:pic>
                    <p:nvPicPr>
                      <p:cNvPr id="76" name="Object 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76625" y="4969622"/>
                        <a:ext cx="1592263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7" name="Straight Arrow Connector 76"/>
          <p:cNvCxnSpPr>
            <a:stCxn id="4" idx="6"/>
            <a:endCxn id="27" idx="2"/>
          </p:cNvCxnSpPr>
          <p:nvPr/>
        </p:nvCxnSpPr>
        <p:spPr>
          <a:xfrm>
            <a:off x="6111060" y="5978756"/>
            <a:ext cx="190290" cy="69134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endCxn id="31" idx="6"/>
          </p:cNvCxnSpPr>
          <p:nvPr/>
        </p:nvCxnSpPr>
        <p:spPr>
          <a:xfrm>
            <a:off x="6414111" y="6051303"/>
            <a:ext cx="276669" cy="79853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endCxn id="25" idx="1"/>
          </p:cNvCxnSpPr>
          <p:nvPr/>
        </p:nvCxnSpPr>
        <p:spPr>
          <a:xfrm>
            <a:off x="7818657" y="4145926"/>
            <a:ext cx="262558" cy="146616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55" idx="0"/>
            <a:endCxn id="25" idx="4"/>
          </p:cNvCxnSpPr>
          <p:nvPr/>
        </p:nvCxnSpPr>
        <p:spPr>
          <a:xfrm flipV="1">
            <a:off x="8042931" y="4388795"/>
            <a:ext cx="78152" cy="352541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25" idx="6"/>
            <a:endCxn id="56" idx="3"/>
          </p:cNvCxnSpPr>
          <p:nvPr/>
        </p:nvCxnSpPr>
        <p:spPr>
          <a:xfrm flipV="1">
            <a:off x="8177463" y="4184950"/>
            <a:ext cx="381543" cy="147462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20" idx="1"/>
          </p:cNvCxnSpPr>
          <p:nvPr/>
        </p:nvCxnSpPr>
        <p:spPr>
          <a:xfrm flipH="1" flipV="1">
            <a:off x="6241254" y="4678305"/>
            <a:ext cx="36742" cy="137481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20" idx="3"/>
          </p:cNvCxnSpPr>
          <p:nvPr/>
        </p:nvCxnSpPr>
        <p:spPr>
          <a:xfrm flipH="1">
            <a:off x="6144355" y="4895525"/>
            <a:ext cx="133641" cy="41869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>
            <a:off x="6365174" y="4787055"/>
            <a:ext cx="133641" cy="41869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3" name="Object 1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948489"/>
              </p:ext>
            </p:extLst>
          </p:nvPr>
        </p:nvGraphicFramePr>
        <p:xfrm>
          <a:off x="774700" y="2712197"/>
          <a:ext cx="41195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94000" imgH="317500" progId="Equation.3">
                  <p:embed/>
                </p:oleObj>
              </mc:Choice>
              <mc:Fallback>
                <p:oleObj name="Equation" r:id="rId10" imgW="2794000" imgH="317500" progId="Equation.3">
                  <p:embed/>
                  <p:pic>
                    <p:nvPicPr>
                      <p:cNvPr id="133" name="Object 13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4700" y="2712197"/>
                        <a:ext cx="4119563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721862"/>
              </p:ext>
            </p:extLst>
          </p:nvPr>
        </p:nvGraphicFramePr>
        <p:xfrm>
          <a:off x="879475" y="5622084"/>
          <a:ext cx="40449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43200" imgH="317500" progId="Equation.3">
                  <p:embed/>
                </p:oleObj>
              </mc:Choice>
              <mc:Fallback>
                <p:oleObj name="Equation" r:id="rId12" imgW="2743200" imgH="317500" progId="Equation.3">
                  <p:embed/>
                  <p:pic>
                    <p:nvPicPr>
                      <p:cNvPr id="134" name="Object 13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79475" y="5622084"/>
                        <a:ext cx="40449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512053"/>
              </p:ext>
            </p:extLst>
          </p:nvPr>
        </p:nvGraphicFramePr>
        <p:xfrm>
          <a:off x="225520" y="3422936"/>
          <a:ext cx="5079978" cy="574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06700" imgH="317500" progId="Equation.3">
                  <p:embed/>
                </p:oleObj>
              </mc:Choice>
              <mc:Fallback>
                <p:oleObj name="Equation" r:id="rId14" imgW="2806700" imgH="317500" progId="Equation.3">
                  <p:embed/>
                  <p:pic>
                    <p:nvPicPr>
                      <p:cNvPr id="79" name="Object 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25520" y="3422936"/>
                        <a:ext cx="5079978" cy="574596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0" name="Straight Arrow Connector 79"/>
          <p:cNvCxnSpPr/>
          <p:nvPr/>
        </p:nvCxnSpPr>
        <p:spPr>
          <a:xfrm>
            <a:off x="6349193" y="4895525"/>
            <a:ext cx="442938" cy="1552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V="1">
            <a:off x="6385444" y="5171314"/>
            <a:ext cx="434401" cy="80888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V="1">
            <a:off x="6888889" y="4372281"/>
            <a:ext cx="1192326" cy="69216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84" name="Object 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229180"/>
              </p:ext>
            </p:extLst>
          </p:nvPr>
        </p:nvGraphicFramePr>
        <p:xfrm>
          <a:off x="7405688" y="5793534"/>
          <a:ext cx="127317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63600" imgH="457200" progId="Equation.3">
                  <p:embed/>
                </p:oleObj>
              </mc:Choice>
              <mc:Fallback>
                <p:oleObj name="Equation" r:id="rId16" imgW="863600" imgH="457200" progId="Equation.3">
                  <p:embed/>
                  <p:pic>
                    <p:nvPicPr>
                      <p:cNvPr id="84" name="Object 8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405688" y="5793534"/>
                        <a:ext cx="1273175" cy="67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Oval 85"/>
          <p:cNvSpPr/>
          <p:nvPr/>
        </p:nvSpPr>
        <p:spPr>
          <a:xfrm>
            <a:off x="6775618" y="5034243"/>
            <a:ext cx="112761" cy="112767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-25665" y="6539317"/>
            <a:ext cx="55823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Anderson MJ (2001). 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Austral Ecology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26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32-46 </a:t>
            </a:r>
          </a:p>
        </p:txBody>
      </p:sp>
    </p:spTree>
    <p:extLst>
      <p:ext uri="{BB962C8B-B14F-4D97-AF65-F5344CB8AC3E}">
        <p14:creationId xmlns:p14="http://schemas.microsoft.com/office/powerpoint/2010/main" val="117547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9260" y="294493"/>
            <a:ext cx="51039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Null Hypothesis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Viable test statistics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59398" y="4069095"/>
            <a:ext cx="3525255" cy="251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261483" y="4787241"/>
            <a:ext cx="112761" cy="1127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>
            <a:stCxn id="19" idx="0"/>
            <a:endCxn id="19" idx="2"/>
          </p:cNvCxnSpPr>
          <p:nvPr/>
        </p:nvCxnSpPr>
        <p:spPr>
          <a:xfrm>
            <a:off x="7122026" y="4069095"/>
            <a:ext cx="0" cy="2510544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9" idx="1"/>
            <a:endCxn id="19" idx="3"/>
          </p:cNvCxnSpPr>
          <p:nvPr/>
        </p:nvCxnSpPr>
        <p:spPr>
          <a:xfrm>
            <a:off x="5359398" y="5324367"/>
            <a:ext cx="3525255" cy="0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064702" y="4263997"/>
            <a:ext cx="112761" cy="112767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301350" y="5979475"/>
            <a:ext cx="112761" cy="11276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6065341" y="59438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645061" y="60962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6334531" y="603500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217741" y="464812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117383" y="490879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6486931" y="47392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8020071" y="472930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8552311" y="413389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790721" y="41082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>
            <a:stCxn id="4" idx="6"/>
            <a:endCxn id="27" idx="2"/>
          </p:cNvCxnSpPr>
          <p:nvPr/>
        </p:nvCxnSpPr>
        <p:spPr>
          <a:xfrm>
            <a:off x="6111060" y="5966725"/>
            <a:ext cx="190290" cy="69134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endCxn id="31" idx="6"/>
          </p:cNvCxnSpPr>
          <p:nvPr/>
        </p:nvCxnSpPr>
        <p:spPr>
          <a:xfrm>
            <a:off x="6414111" y="6039272"/>
            <a:ext cx="276669" cy="79853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endCxn id="25" idx="1"/>
          </p:cNvCxnSpPr>
          <p:nvPr/>
        </p:nvCxnSpPr>
        <p:spPr>
          <a:xfrm>
            <a:off x="7818657" y="4133895"/>
            <a:ext cx="262558" cy="146616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55" idx="0"/>
            <a:endCxn id="25" idx="4"/>
          </p:cNvCxnSpPr>
          <p:nvPr/>
        </p:nvCxnSpPr>
        <p:spPr>
          <a:xfrm flipV="1">
            <a:off x="8042931" y="4376764"/>
            <a:ext cx="78152" cy="352541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25" idx="6"/>
            <a:endCxn id="56" idx="3"/>
          </p:cNvCxnSpPr>
          <p:nvPr/>
        </p:nvCxnSpPr>
        <p:spPr>
          <a:xfrm flipV="1">
            <a:off x="8177463" y="4172919"/>
            <a:ext cx="381543" cy="147462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20" idx="1"/>
          </p:cNvCxnSpPr>
          <p:nvPr/>
        </p:nvCxnSpPr>
        <p:spPr>
          <a:xfrm flipH="1" flipV="1">
            <a:off x="6241254" y="4666274"/>
            <a:ext cx="36742" cy="137481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20" idx="3"/>
          </p:cNvCxnSpPr>
          <p:nvPr/>
        </p:nvCxnSpPr>
        <p:spPr>
          <a:xfrm flipH="1">
            <a:off x="6144355" y="4883494"/>
            <a:ext cx="133641" cy="41869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>
            <a:off x="6365174" y="4775024"/>
            <a:ext cx="133641" cy="41869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353163" y="768716"/>
            <a:ext cx="3525255" cy="251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6765658" y="1712392"/>
            <a:ext cx="112761" cy="1127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/>
          <p:cNvCxnSpPr>
            <a:stCxn id="79" idx="0"/>
            <a:endCxn id="79" idx="2"/>
          </p:cNvCxnSpPr>
          <p:nvPr/>
        </p:nvCxnSpPr>
        <p:spPr>
          <a:xfrm>
            <a:off x="7115791" y="768716"/>
            <a:ext cx="0" cy="2510544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9" idx="1"/>
            <a:endCxn id="79" idx="3"/>
          </p:cNvCxnSpPr>
          <p:nvPr/>
        </p:nvCxnSpPr>
        <p:spPr>
          <a:xfrm>
            <a:off x="5353163" y="2023988"/>
            <a:ext cx="3525255" cy="0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6051561" y="26539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6631281" y="28063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6320751" y="274510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6203961" y="135822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6103603" y="161889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6473151" y="14493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8006291" y="143940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8538531" y="84399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7776941" y="8183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/>
          <p:cNvCxnSpPr>
            <a:stCxn id="84" idx="0"/>
            <a:endCxn id="80" idx="3"/>
          </p:cNvCxnSpPr>
          <p:nvPr/>
        </p:nvCxnSpPr>
        <p:spPr>
          <a:xfrm flipV="1">
            <a:off x="6074421" y="1808645"/>
            <a:ext cx="707750" cy="84532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87" idx="7"/>
            <a:endCxn id="80" idx="4"/>
          </p:cNvCxnSpPr>
          <p:nvPr/>
        </p:nvCxnSpPr>
        <p:spPr>
          <a:xfrm flipV="1">
            <a:off x="6359775" y="1825159"/>
            <a:ext cx="462264" cy="92664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6" idx="0"/>
            <a:endCxn id="80" idx="4"/>
          </p:cNvCxnSpPr>
          <p:nvPr/>
        </p:nvCxnSpPr>
        <p:spPr>
          <a:xfrm flipV="1">
            <a:off x="6654141" y="1825159"/>
            <a:ext cx="167898" cy="98120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80" idx="7"/>
            <a:endCxn id="95" idx="3"/>
          </p:cNvCxnSpPr>
          <p:nvPr/>
        </p:nvCxnSpPr>
        <p:spPr>
          <a:xfrm flipV="1">
            <a:off x="6861906" y="857369"/>
            <a:ext cx="921730" cy="87153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80" idx="6"/>
            <a:endCxn id="93" idx="3"/>
          </p:cNvCxnSpPr>
          <p:nvPr/>
        </p:nvCxnSpPr>
        <p:spPr>
          <a:xfrm flipV="1">
            <a:off x="6878419" y="883019"/>
            <a:ext cx="1666807" cy="88575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80" idx="6"/>
            <a:endCxn id="92" idx="3"/>
          </p:cNvCxnSpPr>
          <p:nvPr/>
        </p:nvCxnSpPr>
        <p:spPr>
          <a:xfrm flipV="1">
            <a:off x="6878419" y="1478429"/>
            <a:ext cx="1134567" cy="29034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stCxn id="89" idx="6"/>
            <a:endCxn id="80" idx="2"/>
          </p:cNvCxnSpPr>
          <p:nvPr/>
        </p:nvCxnSpPr>
        <p:spPr>
          <a:xfrm>
            <a:off x="6149322" y="1641757"/>
            <a:ext cx="616336" cy="1270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88" idx="5"/>
            <a:endCxn id="80" idx="1"/>
          </p:cNvCxnSpPr>
          <p:nvPr/>
        </p:nvCxnSpPr>
        <p:spPr>
          <a:xfrm>
            <a:off x="6242985" y="1397249"/>
            <a:ext cx="539186" cy="33165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90" idx="5"/>
            <a:endCxn id="80" idx="1"/>
          </p:cNvCxnSpPr>
          <p:nvPr/>
        </p:nvCxnSpPr>
        <p:spPr>
          <a:xfrm>
            <a:off x="6512175" y="1488389"/>
            <a:ext cx="269996" cy="24051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6775618" y="5022212"/>
            <a:ext cx="112761" cy="112767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>
            <a:endCxn id="58" idx="1"/>
          </p:cNvCxnSpPr>
          <p:nvPr/>
        </p:nvCxnSpPr>
        <p:spPr>
          <a:xfrm>
            <a:off x="6349193" y="4883494"/>
            <a:ext cx="442938" cy="1552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6385444" y="5159283"/>
            <a:ext cx="434401" cy="80888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69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320260"/>
              </p:ext>
            </p:extLst>
          </p:nvPr>
        </p:nvGraphicFramePr>
        <p:xfrm>
          <a:off x="489905" y="775357"/>
          <a:ext cx="2586735" cy="780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200" imgH="292100" progId="Equation.3">
                  <p:embed/>
                </p:oleObj>
              </mc:Choice>
              <mc:Fallback>
                <p:oleObj name="Equation" r:id="rId2" imgW="965200" imgH="292100" progId="Equation.3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9905" y="775357"/>
                        <a:ext cx="2586735" cy="7802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4962855"/>
              </p:ext>
            </p:extLst>
          </p:nvPr>
        </p:nvGraphicFramePr>
        <p:xfrm>
          <a:off x="3252255" y="1145294"/>
          <a:ext cx="1790232" cy="608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700" imgH="393700" progId="Equation.3">
                  <p:embed/>
                </p:oleObj>
              </mc:Choice>
              <mc:Fallback>
                <p:oleObj name="Equation" r:id="rId4" imgW="1155700" imgH="393700" progId="Equation.3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52255" y="1145294"/>
                        <a:ext cx="1790232" cy="608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432169"/>
              </p:ext>
            </p:extLst>
          </p:nvPr>
        </p:nvGraphicFramePr>
        <p:xfrm>
          <a:off x="473075" y="1433341"/>
          <a:ext cx="2620963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900" imgH="292100" progId="Equation.3">
                  <p:embed/>
                </p:oleObj>
              </mc:Choice>
              <mc:Fallback>
                <p:oleObj name="Equation" r:id="rId6" imgW="977900" imgH="292100" progId="Equation.3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3075" y="1433341"/>
                        <a:ext cx="2620963" cy="779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309542"/>
              </p:ext>
            </p:extLst>
          </p:nvPr>
        </p:nvGraphicFramePr>
        <p:xfrm>
          <a:off x="516518" y="3095490"/>
          <a:ext cx="2084387" cy="292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6200" imgH="1892300" progId="Equation.3">
                  <p:embed/>
                </p:oleObj>
              </mc:Choice>
              <mc:Fallback>
                <p:oleObj name="Equation" r:id="rId8" imgW="1346200" imgH="1892300" progId="Equation.3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6518" y="3095490"/>
                        <a:ext cx="2084387" cy="292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Arrow Connector 62"/>
          <p:cNvCxnSpPr/>
          <p:nvPr/>
        </p:nvCxnSpPr>
        <p:spPr>
          <a:xfrm flipV="1">
            <a:off x="6888889" y="4360250"/>
            <a:ext cx="1192326" cy="69216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0" y="6563507"/>
            <a:ext cx="55823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Anderson MJ (2001). 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Austral Ecology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26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32-46 </a:t>
            </a:r>
          </a:p>
        </p:txBody>
      </p:sp>
    </p:spTree>
    <p:extLst>
      <p:ext uri="{BB962C8B-B14F-4D97-AF65-F5344CB8AC3E}">
        <p14:creationId xmlns:p14="http://schemas.microsoft.com/office/powerpoint/2010/main" val="1038006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52399" y="352924"/>
            <a:ext cx="6549189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However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 there is no multivariate F distribution! Solutions: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Use multivariate approximations and then apply a conversion to an approximate F-value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0574" y="2334124"/>
                <a:ext cx="4800600" cy="3280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Wilks’ lambda </a:t>
                </a:r>
                <a14:m>
                  <m:oMath xmlns:m="http://schemas.openxmlformats.org/officeDocument/2006/math">
                    <m:r>
                      <a:rPr lang="el-GR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𝛬</m:t>
                    </m:r>
                    <m:r>
                      <a:rPr lang="el-GR" sz="2400" b="1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l-GR" sz="2400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l-GR" sz="24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l-GR" sz="24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pt-PT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𝐍</m:t>
                                    </m:r>
                                  </m:sub>
                                </m:sSub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pt-PT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𝐅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Pillai’s trace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𝐅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0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Hotelling’s</a:t>
                </a: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 trace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𝐅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0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Converted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l-GR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𝛬</m:t>
                            </m:r>
                          </m:num>
                          <m:den>
                            <m:r>
                              <a:rPr lang="el-GR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𝛬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endParaRPr lang="en-US" sz="20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4" y="2334124"/>
                <a:ext cx="4800600" cy="3280963"/>
              </a:xfrm>
              <a:prstGeom prst="rect">
                <a:avLst/>
              </a:prstGeom>
              <a:blipFill>
                <a:blip r:embed="rId2"/>
                <a:stretch>
                  <a:fillRect l="-131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371600" y="5482241"/>
            <a:ext cx="3299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n: total sample size, s: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ncol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Xr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),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ncol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(Y)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63347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Anderson MJ,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Ter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Braak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CJF (2003). 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Journal of Statistical Computation and Simulation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73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85-113</a:t>
            </a:r>
            <a:endParaRPr lang="en-US" sz="1400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18679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616B-8A7E-8CE5-934B-EDF8ADB7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C13F36-2564-28A1-3EDD-66909C3348C0}"/>
              </a:ext>
            </a:extLst>
          </p:cNvPr>
          <p:cNvSpPr txBox="1"/>
          <p:nvPr/>
        </p:nvSpPr>
        <p:spPr>
          <a:xfrm>
            <a:off x="152399" y="352924"/>
            <a:ext cx="6549189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However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 there is no multivariate F distribution! Solutions: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Use multivariate approximations and then apply a conversion to an approximate F-value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pPr marL="285750" indent="-285750">
              <a:buFontTx/>
              <a:buChar char="-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6D547B-6877-1DB7-487F-C9D86DA596B5}"/>
                  </a:ext>
                </a:extLst>
              </p:cNvPr>
              <p:cNvSpPr txBox="1"/>
              <p:nvPr/>
            </p:nvSpPr>
            <p:spPr>
              <a:xfrm>
                <a:off x="370574" y="2334124"/>
                <a:ext cx="4800600" cy="3280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Wilks’ lambda </a:t>
                </a:r>
                <a14:m>
                  <m:oMath xmlns:m="http://schemas.openxmlformats.org/officeDocument/2006/math">
                    <m:r>
                      <a:rPr lang="el-GR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𝛬</m:t>
                    </m:r>
                    <m:r>
                      <a:rPr lang="el-GR" sz="2400" b="1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l-GR" sz="2400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l-GR" sz="24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l-GR" sz="24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pt-PT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𝐍</m:t>
                                    </m:r>
                                  </m:sub>
                                </m:sSub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pt-PT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𝐅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Pillai’s trace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𝐅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0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Hotelling’s</a:t>
                </a: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 trace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𝐅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0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Converted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l-GR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𝛬</m:t>
                            </m:r>
                          </m:num>
                          <m:den>
                            <m:r>
                              <a:rPr lang="el-GR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𝛬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endParaRPr lang="en-US" sz="20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4" y="2334124"/>
                <a:ext cx="4800600" cy="3280963"/>
              </a:xfrm>
              <a:prstGeom prst="rect">
                <a:avLst/>
              </a:prstGeom>
              <a:blipFill>
                <a:blip r:embed="rId2"/>
                <a:stretch>
                  <a:fillRect l="-131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112F117-722C-5F71-A9D2-E80FC9A75B0B}"/>
              </a:ext>
            </a:extLst>
          </p:cNvPr>
          <p:cNvSpPr txBox="1"/>
          <p:nvPr/>
        </p:nvSpPr>
        <p:spPr>
          <a:xfrm>
            <a:off x="1371600" y="5482241"/>
            <a:ext cx="3299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n: total sample size, s: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ncol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Xr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),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ncol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(Y)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CC903A-59C5-4852-E3B3-F9C748603845}"/>
              </a:ext>
            </a:extLst>
          </p:cNvPr>
          <p:cNvSpPr txBox="1"/>
          <p:nvPr/>
        </p:nvSpPr>
        <p:spPr>
          <a:xfrm>
            <a:off x="4815068" y="2941677"/>
            <a:ext cx="2971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“Traditional” test statistics</a:t>
            </a:r>
          </a:p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Require </a:t>
            </a:r>
            <a:r>
              <a: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&gt;&gt; </a:t>
            </a:r>
            <a:r>
              <a: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p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1D9485-66E7-0E66-2432-ECDB1E943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982" y="2910216"/>
            <a:ext cx="766355" cy="7663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E5EEC4-A120-FC5C-2972-1748B9449CC3}"/>
              </a:ext>
            </a:extLst>
          </p:cNvPr>
          <p:cNvSpPr/>
          <p:nvPr/>
        </p:nvSpPr>
        <p:spPr>
          <a:xfrm>
            <a:off x="4572000" y="63347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Anderson MJ,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Ter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Braak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CJF (2003). 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Journal of Statistical Computation and Simulation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73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85-113</a:t>
            </a:r>
            <a:endParaRPr lang="en-US" sz="1400" dirty="0">
              <a:latin typeface="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BB9FC6F4-2627-780F-5F11-648761BE6EC2}"/>
              </a:ext>
            </a:extLst>
          </p:cNvPr>
          <p:cNvSpPr/>
          <p:nvPr/>
        </p:nvSpPr>
        <p:spPr>
          <a:xfrm>
            <a:off x="4495800" y="2562724"/>
            <a:ext cx="319268" cy="2919517"/>
          </a:xfrm>
          <a:prstGeom prst="rightBrace">
            <a:avLst>
              <a:gd name="adj1" fmla="val 8333"/>
              <a:gd name="adj2" fmla="val 23834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61579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003A1-A63A-7BD1-9A7D-23AA41D1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BAEAF19-56BC-C80D-7DF7-DEE4427791CB}"/>
              </a:ext>
            </a:extLst>
          </p:cNvPr>
          <p:cNvSpPr txBox="1"/>
          <p:nvPr/>
        </p:nvSpPr>
        <p:spPr>
          <a:xfrm>
            <a:off x="152399" y="352924"/>
            <a:ext cx="6549189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However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 there is no multivariate F distribution! Solutions: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Use multivariate approximations and then apply a conversion to an approximate F-value</a:t>
            </a:r>
          </a:p>
          <a:p>
            <a:pPr marL="285750" indent="-285750">
              <a:buFontTx/>
              <a:buChar char="-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Use randomizations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to obtain an empirical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E879D53-0B96-9E40-889C-F537CE86B260}"/>
                  </a:ext>
                </a:extLst>
              </p:cNvPr>
              <p:cNvSpPr txBox="1"/>
              <p:nvPr/>
            </p:nvSpPr>
            <p:spPr>
              <a:xfrm>
                <a:off x="370574" y="2334124"/>
                <a:ext cx="4800600" cy="3280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Wilks’ lambda </a:t>
                </a:r>
                <a14:m>
                  <m:oMath xmlns:m="http://schemas.openxmlformats.org/officeDocument/2006/math">
                    <m:r>
                      <a:rPr lang="el-GR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𝛬</m:t>
                    </m:r>
                    <m:r>
                      <a:rPr lang="el-GR" sz="2400" b="1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l-GR" sz="2400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l-GR" sz="24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l-GR" sz="24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pt-PT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𝐍</m:t>
                                    </m:r>
                                  </m:sub>
                                </m:sSub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pt-PT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𝐅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Pillai’s trace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𝐅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0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Hotelling’s</a:t>
                </a: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 trace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𝐅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0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Converted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l-GR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𝛬</m:t>
                            </m:r>
                          </m:num>
                          <m:den>
                            <m:r>
                              <a:rPr lang="el-GR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𝛬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endParaRPr lang="en-US" sz="20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4" y="2334124"/>
                <a:ext cx="4800600" cy="3280963"/>
              </a:xfrm>
              <a:prstGeom prst="rect">
                <a:avLst/>
              </a:prstGeom>
              <a:blipFill>
                <a:blip r:embed="rId2"/>
                <a:stretch>
                  <a:fillRect l="-131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0C60D1C-159E-8E76-62E6-920C8DD11414}"/>
              </a:ext>
            </a:extLst>
          </p:cNvPr>
          <p:cNvSpPr txBox="1"/>
          <p:nvPr/>
        </p:nvSpPr>
        <p:spPr>
          <a:xfrm>
            <a:off x="1371600" y="5482241"/>
            <a:ext cx="3299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n: total sample size, s: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ncol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Xr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),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ncol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(Y)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48C682-111D-6AF8-973E-0C7AC25E367C}"/>
              </a:ext>
            </a:extLst>
          </p:cNvPr>
          <p:cNvSpPr txBox="1"/>
          <p:nvPr/>
        </p:nvSpPr>
        <p:spPr>
          <a:xfrm>
            <a:off x="4815068" y="2941677"/>
            <a:ext cx="2971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“Traditional” test statistics</a:t>
            </a:r>
          </a:p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Require </a:t>
            </a:r>
            <a:r>
              <a: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&gt;&gt; </a:t>
            </a:r>
            <a:r>
              <a: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p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A0C2BD8-6CA9-2108-2D32-6E1F5AA90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982" y="2910216"/>
            <a:ext cx="766355" cy="76635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4C7B755-E85A-C42D-BE19-E1A81808E3E8}"/>
              </a:ext>
            </a:extLst>
          </p:cNvPr>
          <p:cNvSpPr txBox="1"/>
          <p:nvPr/>
        </p:nvSpPr>
        <p:spPr>
          <a:xfrm>
            <a:off x="5105975" y="4203249"/>
            <a:ext cx="3809425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Use randomization procedures, which are more powerful for 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high-dimensional data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C8E609-3B6B-3CD6-3B87-5BAF11D5D914}"/>
              </a:ext>
            </a:extLst>
          </p:cNvPr>
          <p:cNvSpPr/>
          <p:nvPr/>
        </p:nvSpPr>
        <p:spPr>
          <a:xfrm>
            <a:off x="4572000" y="63347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Anderson MJ,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Ter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Braak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CJF (2003). 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Journal of Statistical Computation and Simulation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73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85-113</a:t>
            </a:r>
            <a:endParaRPr lang="en-US" sz="1400" dirty="0">
              <a:latin typeface="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7C58962-0DE0-017E-433C-15E64773288B}"/>
              </a:ext>
            </a:extLst>
          </p:cNvPr>
          <p:cNvSpPr/>
          <p:nvPr/>
        </p:nvSpPr>
        <p:spPr>
          <a:xfrm>
            <a:off x="4495800" y="2562724"/>
            <a:ext cx="319268" cy="2919517"/>
          </a:xfrm>
          <a:prstGeom prst="rightBrace">
            <a:avLst>
              <a:gd name="adj1" fmla="val 8333"/>
              <a:gd name="adj2" fmla="val 23834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06084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 animBg="1"/>
      <p:bldP spid="5" grpId="0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406</Words>
  <Application>Microsoft Macintosh PowerPoint</Application>
  <PresentationFormat>On-screen Show (4:3)</PresentationFormat>
  <Paragraphs>66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Antigoni Kaliontzopoulou</dc:creator>
  <cp:lastModifiedBy>Antigoni Kaliontzopoulou</cp:lastModifiedBy>
  <cp:revision>5</cp:revision>
  <dcterms:created xsi:type="dcterms:W3CDTF">2026-05-18T18:15:27Z</dcterms:created>
  <dcterms:modified xsi:type="dcterms:W3CDTF">2026-06-02T01:30:28Z</dcterms:modified>
</cp:coreProperties>
</file>