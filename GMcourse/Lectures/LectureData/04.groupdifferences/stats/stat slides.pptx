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305" r:id="rId3"/>
    <p:sldId id="315" r:id="rId4"/>
    <p:sldId id="306" r:id="rId5"/>
    <p:sldId id="314" r:id="rId6"/>
    <p:sldId id="310" r:id="rId7"/>
    <p:sldId id="29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2"/>
  </p:normalViewPr>
  <p:slideViewPr>
    <p:cSldViewPr snapToGrid="0">
      <p:cViewPr varScale="1">
        <p:scale>
          <a:sx n="106" d="100"/>
          <a:sy n="106" d="100"/>
        </p:scale>
        <p:origin x="1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7111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35947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07334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25472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34583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93876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28323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05197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5449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45400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78003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FEC42-DE82-D548-887A-A0A1819A413F}" type="datetimeFigureOut">
              <a:rPr lang="es-ES_tradnl" smtClean="0"/>
              <a:t>18/5/26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89772-611F-CB4E-A7CE-C6292FCB88F8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50333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3.emf"/><Relationship Id="rId12" Type="http://schemas.openxmlformats.org/officeDocument/2006/relationships/oleObject" Target="../embeddings/oleObject10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5.emf"/><Relationship Id="rId5" Type="http://schemas.openxmlformats.org/officeDocument/2006/relationships/image" Target="../media/image2.e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9.emf"/><Relationship Id="rId12" Type="http://schemas.openxmlformats.org/officeDocument/2006/relationships/oleObject" Target="../embeddings/oleObject16.bin"/><Relationship Id="rId17" Type="http://schemas.openxmlformats.org/officeDocument/2006/relationships/image" Target="../media/image14.emf"/><Relationship Id="rId2" Type="http://schemas.openxmlformats.org/officeDocument/2006/relationships/oleObject" Target="../embeddings/oleObject11.bin"/><Relationship Id="rId16" Type="http://schemas.openxmlformats.org/officeDocument/2006/relationships/oleObject" Target="../embeddings/oleObject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1.emf"/><Relationship Id="rId5" Type="http://schemas.openxmlformats.org/officeDocument/2006/relationships/image" Target="../media/image8.emf"/><Relationship Id="rId15" Type="http://schemas.openxmlformats.org/officeDocument/2006/relationships/image" Target="../media/image13.e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0.emf"/><Relationship Id="rId14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14.e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18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244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9259" y="234338"/>
            <a:ext cx="862915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When there is only a column of ones, the vector of coefficients is the mean vector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834678"/>
              </p:ext>
            </p:extLst>
          </p:nvPr>
        </p:nvGraphicFramePr>
        <p:xfrm>
          <a:off x="1158855" y="1475480"/>
          <a:ext cx="732806" cy="9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889000" progId="Equation.3">
                  <p:embed/>
                </p:oleObj>
              </mc:Choice>
              <mc:Fallback>
                <p:oleObj name="Equation" r:id="rId2" imgW="698500" imgH="8890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8855" y="1475480"/>
                        <a:ext cx="732806" cy="9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16137"/>
              </p:ext>
            </p:extLst>
          </p:nvPr>
        </p:nvGraphicFramePr>
        <p:xfrm>
          <a:off x="2546219" y="1682196"/>
          <a:ext cx="2359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317500" progId="Equation.3">
                  <p:embed/>
                </p:oleObj>
              </mc:Choice>
              <mc:Fallback>
                <p:oleObj name="Equation" r:id="rId4" imgW="1600200" imgH="3175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46219" y="1682196"/>
                        <a:ext cx="235902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/>
          <p:cNvGrpSpPr/>
          <p:nvPr/>
        </p:nvGrpSpPr>
        <p:grpSpPr>
          <a:xfrm>
            <a:off x="5353163" y="708561"/>
            <a:ext cx="3525255" cy="2510544"/>
            <a:chOff x="5353163" y="937163"/>
            <a:chExt cx="3525255" cy="2510544"/>
          </a:xfrm>
        </p:grpSpPr>
        <p:sp>
          <p:nvSpPr>
            <p:cNvPr id="37" name="Rectangle 36"/>
            <p:cNvSpPr/>
            <p:nvPr/>
          </p:nvSpPr>
          <p:spPr>
            <a:xfrm>
              <a:off x="5353163" y="937163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6765658" y="1880839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/>
            <p:cNvCxnSpPr>
              <a:stCxn id="37" idx="0"/>
              <a:endCxn id="37" idx="2"/>
            </p:cNvCxnSpPr>
            <p:nvPr/>
          </p:nvCxnSpPr>
          <p:spPr>
            <a:xfrm>
              <a:off x="7115791" y="937163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37" idx="1"/>
              <a:endCxn id="37" idx="3"/>
            </p:cNvCxnSpPr>
            <p:nvPr/>
          </p:nvCxnSpPr>
          <p:spPr>
            <a:xfrm>
              <a:off x="5353163" y="2192435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H="1" flipV="1">
              <a:off x="6860596" y="1982321"/>
              <a:ext cx="249560" cy="2063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330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734F3-22DD-62F3-1E50-CB1DE70D0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B7F6D8A-62FB-0A38-D6EC-F162007B4F55}"/>
              </a:ext>
            </a:extLst>
          </p:cNvPr>
          <p:cNvSpPr txBox="1"/>
          <p:nvPr/>
        </p:nvSpPr>
        <p:spPr>
          <a:xfrm>
            <a:off x="249259" y="234338"/>
            <a:ext cx="862915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When there is only a column of ones, the vector of coefficients is the mean vector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When there are additional columns of dummy variables, the first column vector of coefficients is the mean for group 1; the rest are change vectors to describe other group means.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C76871D-668D-BB07-55E0-38B637A016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58855" y="1475480"/>
          <a:ext cx="732806" cy="9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889000" progId="Equation.3">
                  <p:embed/>
                </p:oleObj>
              </mc:Choice>
              <mc:Fallback>
                <p:oleObj name="Equation" r:id="rId2" imgW="698500" imgH="8890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58855" y="1475480"/>
                        <a:ext cx="732806" cy="9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836B9D6-56D2-D9F3-A0DF-6BE8D2677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6219" y="1682196"/>
          <a:ext cx="2359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317500" progId="Equation.3">
                  <p:embed/>
                </p:oleObj>
              </mc:Choice>
              <mc:Fallback>
                <p:oleObj name="Equation" r:id="rId4" imgW="1600200" imgH="3175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46219" y="1682196"/>
                        <a:ext cx="235902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70D3941-78DC-66F8-6DA7-C7FAB5B429C1}"/>
              </a:ext>
            </a:extLst>
          </p:cNvPr>
          <p:cNvGrpSpPr>
            <a:grpSpLocks noChangeAspect="1"/>
          </p:cNvGrpSpPr>
          <p:nvPr/>
        </p:nvGrpSpPr>
        <p:grpSpPr>
          <a:xfrm>
            <a:off x="5359398" y="4008940"/>
            <a:ext cx="3525255" cy="2510544"/>
            <a:chOff x="1068858" y="2184115"/>
            <a:chExt cx="7050509" cy="502108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4715848-0459-7B69-FC95-2207FB3F849D}"/>
                </a:ext>
              </a:extLst>
            </p:cNvPr>
            <p:cNvSpPr/>
            <p:nvPr/>
          </p:nvSpPr>
          <p:spPr>
            <a:xfrm>
              <a:off x="1068858" y="2184115"/>
              <a:ext cx="7050509" cy="5021088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72669BE-E4D0-1DC2-A814-D858FF16BB24}"/>
                </a:ext>
              </a:extLst>
            </p:cNvPr>
            <p:cNvSpPr/>
            <p:nvPr/>
          </p:nvSpPr>
          <p:spPr>
            <a:xfrm>
              <a:off x="2873028" y="3620407"/>
              <a:ext cx="225522" cy="22553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D4FC22-FA3C-A59E-A1BB-04762DFE13C2}"/>
                </a:ext>
              </a:extLst>
            </p:cNvPr>
            <p:cNvCxnSpPr>
              <a:stCxn id="19" idx="0"/>
              <a:endCxn id="19" idx="2"/>
            </p:cNvCxnSpPr>
            <p:nvPr/>
          </p:nvCxnSpPr>
          <p:spPr>
            <a:xfrm>
              <a:off x="4594113" y="2184115"/>
              <a:ext cx="0" cy="5021088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9EA5039-9524-2784-7E32-D9C725B41F27}"/>
                </a:ext>
              </a:extLst>
            </p:cNvPr>
            <p:cNvCxnSpPr>
              <a:stCxn id="19" idx="1"/>
              <a:endCxn id="19" idx="3"/>
            </p:cNvCxnSpPr>
            <p:nvPr/>
          </p:nvCxnSpPr>
          <p:spPr>
            <a:xfrm>
              <a:off x="1068858" y="4694659"/>
              <a:ext cx="7050509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9377C7D-F692-F8FC-E453-303E051862D8}"/>
                </a:ext>
              </a:extLst>
            </p:cNvPr>
            <p:cNvCxnSpPr>
              <a:endCxn id="20" idx="5"/>
            </p:cNvCxnSpPr>
            <p:nvPr/>
          </p:nvCxnSpPr>
          <p:spPr>
            <a:xfrm flipH="1" flipV="1">
              <a:off x="3065523" y="3812912"/>
              <a:ext cx="1517319" cy="87423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92032C8-097A-E73C-0BD7-D8E393C2DA2D}"/>
                </a:ext>
              </a:extLst>
            </p:cNvPr>
            <p:cNvSpPr/>
            <p:nvPr/>
          </p:nvSpPr>
          <p:spPr>
            <a:xfrm>
              <a:off x="6479465" y="2573918"/>
              <a:ext cx="225522" cy="225534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C2B76E0-2748-60A4-72DB-904F1417E41A}"/>
                </a:ext>
              </a:extLst>
            </p:cNvPr>
            <p:cNvCxnSpPr/>
            <p:nvPr/>
          </p:nvCxnSpPr>
          <p:spPr>
            <a:xfrm flipV="1">
              <a:off x="3098550" y="2730813"/>
              <a:ext cx="3413942" cy="9667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5A8C2FF-8514-4684-8483-3F7CE1EA9476}"/>
                </a:ext>
              </a:extLst>
            </p:cNvPr>
            <p:cNvSpPr/>
            <p:nvPr/>
          </p:nvSpPr>
          <p:spPr>
            <a:xfrm>
              <a:off x="2952762" y="6004874"/>
              <a:ext cx="225522" cy="22553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383C200-E16D-0784-2D33-E0DB0D6B1B66}"/>
                </a:ext>
              </a:extLst>
            </p:cNvPr>
            <p:cNvCxnSpPr>
              <a:stCxn id="20" idx="4"/>
              <a:endCxn id="27" idx="0"/>
            </p:cNvCxnSpPr>
            <p:nvPr/>
          </p:nvCxnSpPr>
          <p:spPr>
            <a:xfrm>
              <a:off x="2985789" y="3845941"/>
              <a:ext cx="79734" cy="21589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28E834FE-4D7E-B48B-A89E-1230DCB779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9288" y="4282289"/>
          <a:ext cx="1016234" cy="223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300" imgH="2489200" progId="Equation.3">
                  <p:embed/>
                </p:oleObj>
              </mc:Choice>
              <mc:Fallback>
                <p:oleObj name="Equation" r:id="rId6" imgW="1130300" imgH="2489200" progId="Equation.3">
                  <p:embed/>
                  <p:pic>
                    <p:nvPicPr>
                      <p:cNvPr id="29" name="Object 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9288" y="4282289"/>
                        <a:ext cx="1016234" cy="2237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0A9BFD41-AA28-D570-85DF-24C1E8870E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8938" y="4605336"/>
          <a:ext cx="2865437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3100" imgH="889000" progId="Equation.3">
                  <p:embed/>
                </p:oleObj>
              </mc:Choice>
              <mc:Fallback>
                <p:oleObj name="Equation" r:id="rId8" imgW="1943100" imgH="889000" progId="Equation.3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08938" y="4605336"/>
                        <a:ext cx="2865437" cy="1311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6" name="Group 35">
            <a:extLst>
              <a:ext uri="{FF2B5EF4-FFF2-40B4-BE49-F238E27FC236}">
                <a16:creationId xmlns:a16="http://schemas.microsoft.com/office/drawing/2014/main" id="{21A9EC92-3E5F-E644-1F1F-9160F01D4235}"/>
              </a:ext>
            </a:extLst>
          </p:cNvPr>
          <p:cNvGrpSpPr/>
          <p:nvPr/>
        </p:nvGrpSpPr>
        <p:grpSpPr>
          <a:xfrm>
            <a:off x="5353163" y="708561"/>
            <a:ext cx="3525255" cy="2510544"/>
            <a:chOff x="5353163" y="937163"/>
            <a:chExt cx="3525255" cy="2510544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6C75702-8630-E650-AB18-3CD3578C2FBD}"/>
                </a:ext>
              </a:extLst>
            </p:cNvPr>
            <p:cNvSpPr/>
            <p:nvPr/>
          </p:nvSpPr>
          <p:spPr>
            <a:xfrm>
              <a:off x="5353163" y="937163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430D969-F826-989E-61EB-7E1CBFC89893}"/>
                </a:ext>
              </a:extLst>
            </p:cNvPr>
            <p:cNvSpPr/>
            <p:nvPr/>
          </p:nvSpPr>
          <p:spPr>
            <a:xfrm>
              <a:off x="6765658" y="1880839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57EFBE1-6193-2C4B-06E9-CF1B62622C31}"/>
                </a:ext>
              </a:extLst>
            </p:cNvPr>
            <p:cNvCxnSpPr>
              <a:stCxn id="37" idx="0"/>
              <a:endCxn id="37" idx="2"/>
            </p:cNvCxnSpPr>
            <p:nvPr/>
          </p:nvCxnSpPr>
          <p:spPr>
            <a:xfrm>
              <a:off x="7115791" y="937163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73ECA03-BB8E-6B17-8BDE-0A6D5B7BA4E5}"/>
                </a:ext>
              </a:extLst>
            </p:cNvPr>
            <p:cNvCxnSpPr>
              <a:stCxn id="37" idx="1"/>
              <a:endCxn id="37" idx="3"/>
            </p:cNvCxnSpPr>
            <p:nvPr/>
          </p:nvCxnSpPr>
          <p:spPr>
            <a:xfrm>
              <a:off x="5353163" y="2192435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4F792AD-7278-BAD6-61A7-5FEC5D7F2945}"/>
                </a:ext>
              </a:extLst>
            </p:cNvPr>
            <p:cNvCxnSpPr/>
            <p:nvPr/>
          </p:nvCxnSpPr>
          <p:spPr>
            <a:xfrm flipH="1" flipV="1">
              <a:off x="6860596" y="1982321"/>
              <a:ext cx="249560" cy="2063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957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9259" y="246364"/>
            <a:ext cx="86291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Predicted values are group means, whether there is one group or more.</a:t>
            </a:r>
          </a:p>
          <a:p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616986"/>
              </p:ext>
            </p:extLst>
          </p:nvPr>
        </p:nvGraphicFramePr>
        <p:xfrm>
          <a:off x="1130859" y="935863"/>
          <a:ext cx="732806" cy="93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500" imgH="889000" progId="Equation.3">
                  <p:embed/>
                </p:oleObj>
              </mc:Choice>
              <mc:Fallback>
                <p:oleObj name="Equation" r:id="rId2" imgW="698500" imgH="8890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0859" y="935863"/>
                        <a:ext cx="732806" cy="932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091093"/>
              </p:ext>
            </p:extLst>
          </p:nvPr>
        </p:nvGraphicFramePr>
        <p:xfrm>
          <a:off x="2208938" y="1126616"/>
          <a:ext cx="2359025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00200" imgH="317500" progId="Equation.3">
                  <p:embed/>
                </p:oleObj>
              </mc:Choice>
              <mc:Fallback>
                <p:oleObj name="Equation" r:id="rId4" imgW="1600200" imgH="3175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08938" y="1126616"/>
                        <a:ext cx="2359025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>
            <a:grpSpLocks noChangeAspect="1"/>
          </p:cNvGrpSpPr>
          <p:nvPr/>
        </p:nvGrpSpPr>
        <p:grpSpPr>
          <a:xfrm>
            <a:off x="5359398" y="4020966"/>
            <a:ext cx="3525255" cy="2510544"/>
            <a:chOff x="1068858" y="2184115"/>
            <a:chExt cx="7050509" cy="5021088"/>
          </a:xfrm>
        </p:grpSpPr>
        <p:sp>
          <p:nvSpPr>
            <p:cNvPr id="19" name="Rectangle 18"/>
            <p:cNvSpPr/>
            <p:nvPr/>
          </p:nvSpPr>
          <p:spPr>
            <a:xfrm>
              <a:off x="1068858" y="2184115"/>
              <a:ext cx="7050509" cy="5021088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73028" y="3620407"/>
              <a:ext cx="225522" cy="22553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cxnSp>
          <p:nvCxnSpPr>
            <p:cNvPr id="22" name="Straight Connector 21"/>
            <p:cNvCxnSpPr>
              <a:stCxn id="19" idx="0"/>
              <a:endCxn id="19" idx="2"/>
            </p:cNvCxnSpPr>
            <p:nvPr/>
          </p:nvCxnSpPr>
          <p:spPr>
            <a:xfrm>
              <a:off x="4594113" y="2184115"/>
              <a:ext cx="0" cy="5021088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9" idx="1"/>
              <a:endCxn id="19" idx="3"/>
            </p:cNvCxnSpPr>
            <p:nvPr/>
          </p:nvCxnSpPr>
          <p:spPr>
            <a:xfrm>
              <a:off x="1068858" y="4694659"/>
              <a:ext cx="7050509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endCxn id="20" idx="5"/>
            </p:cNvCxnSpPr>
            <p:nvPr/>
          </p:nvCxnSpPr>
          <p:spPr>
            <a:xfrm flipH="1" flipV="1">
              <a:off x="3065523" y="3812912"/>
              <a:ext cx="1517319" cy="874234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/>
            <p:cNvSpPr/>
            <p:nvPr/>
          </p:nvSpPr>
          <p:spPr>
            <a:xfrm>
              <a:off x="6479465" y="2573918"/>
              <a:ext cx="225522" cy="225534"/>
            </a:xfrm>
            <a:prstGeom prst="ellipse">
              <a:avLst/>
            </a:prstGeom>
            <a:solidFill>
              <a:srgbClr val="CCFFC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V="1">
              <a:off x="3098550" y="2730813"/>
              <a:ext cx="3413942" cy="96675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/>
            <p:cNvSpPr/>
            <p:nvPr/>
          </p:nvSpPr>
          <p:spPr>
            <a:xfrm>
              <a:off x="2952762" y="6004874"/>
              <a:ext cx="225522" cy="22553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cxnSp>
          <p:nvCxnSpPr>
            <p:cNvPr id="28" name="Straight Arrow Connector 27"/>
            <p:cNvCxnSpPr>
              <a:stCxn id="20" idx="4"/>
              <a:endCxn id="27" idx="0"/>
            </p:cNvCxnSpPr>
            <p:nvPr/>
          </p:nvCxnSpPr>
          <p:spPr>
            <a:xfrm>
              <a:off x="2985789" y="3845941"/>
              <a:ext cx="79734" cy="215893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295098"/>
              </p:ext>
            </p:extLst>
          </p:nvPr>
        </p:nvGraphicFramePr>
        <p:xfrm>
          <a:off x="311171" y="3368441"/>
          <a:ext cx="1016234" cy="223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300" imgH="2489200" progId="Equation.3">
                  <p:embed/>
                </p:oleObj>
              </mc:Choice>
              <mc:Fallback>
                <p:oleObj name="Equation" r:id="rId6" imgW="1130300" imgH="2489200" progId="Equation.3">
                  <p:embed/>
                  <p:pic>
                    <p:nvPicPr>
                      <p:cNvPr id="29" name="Object 2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11171" y="3368441"/>
                        <a:ext cx="1016234" cy="2237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6344634"/>
              </p:ext>
            </p:extLst>
          </p:nvPr>
        </p:nvGraphicFramePr>
        <p:xfrm>
          <a:off x="1943233" y="3466416"/>
          <a:ext cx="2865437" cy="131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43100" imgH="889000" progId="Equation.3">
                  <p:embed/>
                </p:oleObj>
              </mc:Choice>
              <mc:Fallback>
                <p:oleObj name="Equation" r:id="rId8" imgW="1943100" imgH="889000" progId="Equation.3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43233" y="3466416"/>
                        <a:ext cx="2865437" cy="1311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9155017"/>
              </p:ext>
            </p:extLst>
          </p:nvPr>
        </p:nvGraphicFramePr>
        <p:xfrm>
          <a:off x="2322682" y="1643310"/>
          <a:ext cx="1462088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990600" imgH="1041400" progId="Equation.3">
                  <p:embed/>
                </p:oleObj>
              </mc:Choice>
              <mc:Fallback>
                <p:oleObj name="Equation" r:id="rId10" imgW="990600" imgH="1041400" progId="Equation.3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322682" y="1643310"/>
                        <a:ext cx="1462088" cy="1535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097659"/>
              </p:ext>
            </p:extLst>
          </p:nvPr>
        </p:nvGraphicFramePr>
        <p:xfrm>
          <a:off x="2208938" y="4406599"/>
          <a:ext cx="1423987" cy="217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65200" imgH="1473200" progId="Equation.3">
                  <p:embed/>
                </p:oleObj>
              </mc:Choice>
              <mc:Fallback>
                <p:oleObj name="Equation" r:id="rId12" imgW="965200" imgH="1473200" progId="Equation.3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208938" y="4406599"/>
                        <a:ext cx="1423987" cy="217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" name="Group 37"/>
          <p:cNvGrpSpPr/>
          <p:nvPr/>
        </p:nvGrpSpPr>
        <p:grpSpPr>
          <a:xfrm>
            <a:off x="5353163" y="720587"/>
            <a:ext cx="3525255" cy="2510544"/>
            <a:chOff x="5353163" y="937163"/>
            <a:chExt cx="3525255" cy="2510544"/>
          </a:xfrm>
        </p:grpSpPr>
        <p:sp>
          <p:nvSpPr>
            <p:cNvPr id="39" name="Rectangle 38"/>
            <p:cNvSpPr/>
            <p:nvPr/>
          </p:nvSpPr>
          <p:spPr>
            <a:xfrm>
              <a:off x="5353163" y="937163"/>
              <a:ext cx="3525255" cy="2510544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6765658" y="1880839"/>
              <a:ext cx="112761" cy="112767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"/>
              </a:endParaRPr>
            </a:p>
          </p:txBody>
        </p:sp>
        <p:cxnSp>
          <p:nvCxnSpPr>
            <p:cNvPr id="41" name="Straight Connector 40"/>
            <p:cNvCxnSpPr>
              <a:stCxn id="39" idx="0"/>
              <a:endCxn id="39" idx="2"/>
            </p:cNvCxnSpPr>
            <p:nvPr/>
          </p:nvCxnSpPr>
          <p:spPr>
            <a:xfrm>
              <a:off x="7115791" y="937163"/>
              <a:ext cx="0" cy="2510544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9" idx="1"/>
              <a:endCxn id="39" idx="3"/>
            </p:cNvCxnSpPr>
            <p:nvPr/>
          </p:nvCxnSpPr>
          <p:spPr>
            <a:xfrm>
              <a:off x="5353163" y="2192435"/>
              <a:ext cx="3525255" cy="0"/>
            </a:xfrm>
            <a:prstGeom prst="line">
              <a:avLst/>
            </a:prstGeom>
            <a:ln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H="1" flipV="1">
              <a:off x="6860596" y="1982321"/>
              <a:ext cx="249560" cy="206359"/>
            </a:xfrm>
            <a:prstGeom prst="straightConnector1">
              <a:avLst/>
            </a:prstGeom>
            <a:ln>
              <a:solidFill>
                <a:srgbClr val="00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47888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9260" y="306524"/>
            <a:ext cx="5103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Residuals describe within-group dispersion.</a:t>
            </a:r>
          </a:p>
          <a:p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Diagonal of outer-product of error represents distances from mean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9398" y="4081126"/>
            <a:ext cx="3525255" cy="251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261483" y="4799272"/>
            <a:ext cx="112761" cy="1127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>
            <a:stCxn id="19" idx="0"/>
            <a:endCxn id="19" idx="2"/>
          </p:cNvCxnSpPr>
          <p:nvPr/>
        </p:nvCxnSpPr>
        <p:spPr>
          <a:xfrm>
            <a:off x="7122026" y="4081126"/>
            <a:ext cx="0" cy="2510544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9" idx="1"/>
            <a:endCxn id="19" idx="3"/>
          </p:cNvCxnSpPr>
          <p:nvPr/>
        </p:nvCxnSpPr>
        <p:spPr>
          <a:xfrm>
            <a:off x="5359398" y="5336398"/>
            <a:ext cx="3525255" cy="0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064702" y="4276028"/>
            <a:ext cx="112761" cy="112767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301350" y="5991506"/>
            <a:ext cx="112761" cy="11276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6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0703845"/>
              </p:ext>
            </p:extLst>
          </p:nvPr>
        </p:nvGraphicFramePr>
        <p:xfrm>
          <a:off x="804001" y="1858219"/>
          <a:ext cx="14049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52500" imgH="241300" progId="Equation.3">
                  <p:embed/>
                </p:oleObj>
              </mc:Choice>
              <mc:Fallback>
                <p:oleObj name="Equation" r:id="rId2" imgW="952500" imgH="241300" progId="Equation.3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04001" y="1858219"/>
                        <a:ext cx="1404937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38"/>
          <p:cNvSpPr/>
          <p:nvPr/>
        </p:nvSpPr>
        <p:spPr>
          <a:xfrm>
            <a:off x="5353163" y="780747"/>
            <a:ext cx="3525255" cy="251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6765658" y="1724423"/>
            <a:ext cx="112761" cy="1127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>
            <a:stCxn id="39" idx="0"/>
            <a:endCxn id="39" idx="2"/>
          </p:cNvCxnSpPr>
          <p:nvPr/>
        </p:nvCxnSpPr>
        <p:spPr>
          <a:xfrm>
            <a:off x="7115791" y="780747"/>
            <a:ext cx="0" cy="2510544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9" idx="1"/>
            <a:endCxn id="39" idx="3"/>
          </p:cNvCxnSpPr>
          <p:nvPr/>
        </p:nvCxnSpPr>
        <p:spPr>
          <a:xfrm>
            <a:off x="5353163" y="2036019"/>
            <a:ext cx="3525255" cy="0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9859506"/>
              </p:ext>
            </p:extLst>
          </p:nvPr>
        </p:nvGraphicFramePr>
        <p:xfrm>
          <a:off x="3124200" y="1824784"/>
          <a:ext cx="161131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2200" imgH="317500" progId="Equation.3">
                  <p:embed/>
                </p:oleObj>
              </mc:Choice>
              <mc:Fallback>
                <p:oleObj name="Equation" r:id="rId4" imgW="1092200" imgH="317500" progId="Equation.3">
                  <p:embed/>
                  <p:pic>
                    <p:nvPicPr>
                      <p:cNvPr id="30" name="Object 2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24200" y="1824784"/>
                        <a:ext cx="1611312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Oval 3"/>
          <p:cNvSpPr/>
          <p:nvPr/>
        </p:nvSpPr>
        <p:spPr>
          <a:xfrm>
            <a:off x="6065341" y="59558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645061" y="61082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6334531" y="60470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17741" y="466015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117383" y="49208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486931" y="47512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020071" y="47413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552311" y="41459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790721" y="412027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/>
          <p:nvPr/>
        </p:nvSpPr>
        <p:spPr>
          <a:xfrm>
            <a:off x="6051561" y="26659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/>
          <p:nvPr/>
        </p:nvSpPr>
        <p:spPr>
          <a:xfrm>
            <a:off x="6631281" y="28183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6320751" y="27571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6203961" y="137025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6103603" y="16309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6473151" y="146139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8006291" y="145143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8538531" y="85602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776941" y="830376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58" idx="0"/>
            <a:endCxn id="40" idx="3"/>
          </p:cNvCxnSpPr>
          <p:nvPr/>
        </p:nvCxnSpPr>
        <p:spPr>
          <a:xfrm flipV="1">
            <a:off x="6074421" y="1820676"/>
            <a:ext cx="707750" cy="84532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>
            <a:stCxn id="60" idx="7"/>
            <a:endCxn id="40" idx="4"/>
          </p:cNvCxnSpPr>
          <p:nvPr/>
        </p:nvCxnSpPr>
        <p:spPr>
          <a:xfrm flipV="1">
            <a:off x="6359775" y="1837190"/>
            <a:ext cx="462264" cy="92664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59" idx="0"/>
            <a:endCxn id="40" idx="4"/>
          </p:cNvCxnSpPr>
          <p:nvPr/>
        </p:nvCxnSpPr>
        <p:spPr>
          <a:xfrm flipV="1">
            <a:off x="6654141" y="1837190"/>
            <a:ext cx="167898" cy="98120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40" idx="7"/>
            <a:endCxn id="66" idx="3"/>
          </p:cNvCxnSpPr>
          <p:nvPr/>
        </p:nvCxnSpPr>
        <p:spPr>
          <a:xfrm flipV="1">
            <a:off x="6861906" y="869400"/>
            <a:ext cx="921730" cy="87153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>
            <a:stCxn id="40" idx="6"/>
            <a:endCxn id="65" idx="3"/>
          </p:cNvCxnSpPr>
          <p:nvPr/>
        </p:nvCxnSpPr>
        <p:spPr>
          <a:xfrm flipV="1">
            <a:off x="6878419" y="895050"/>
            <a:ext cx="1666807" cy="88575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40" idx="6"/>
            <a:endCxn id="64" idx="3"/>
          </p:cNvCxnSpPr>
          <p:nvPr/>
        </p:nvCxnSpPr>
        <p:spPr>
          <a:xfrm flipV="1">
            <a:off x="6878419" y="1490460"/>
            <a:ext cx="1134567" cy="29034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>
            <a:stCxn id="62" idx="6"/>
            <a:endCxn id="40" idx="2"/>
          </p:cNvCxnSpPr>
          <p:nvPr/>
        </p:nvCxnSpPr>
        <p:spPr>
          <a:xfrm>
            <a:off x="6149322" y="1653788"/>
            <a:ext cx="616336" cy="1270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61" idx="5"/>
            <a:endCxn id="40" idx="1"/>
          </p:cNvCxnSpPr>
          <p:nvPr/>
        </p:nvCxnSpPr>
        <p:spPr>
          <a:xfrm>
            <a:off x="6242985" y="1409280"/>
            <a:ext cx="539186" cy="33165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63" idx="5"/>
            <a:endCxn id="40" idx="1"/>
          </p:cNvCxnSpPr>
          <p:nvPr/>
        </p:nvCxnSpPr>
        <p:spPr>
          <a:xfrm>
            <a:off x="6512175" y="1500420"/>
            <a:ext cx="269996" cy="24051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5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1444267"/>
              </p:ext>
            </p:extLst>
          </p:nvPr>
        </p:nvGraphicFramePr>
        <p:xfrm>
          <a:off x="982663" y="5006134"/>
          <a:ext cx="13493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14400" imgH="241300" progId="Equation.3">
                  <p:embed/>
                </p:oleObj>
              </mc:Choice>
              <mc:Fallback>
                <p:oleObj name="Equation" r:id="rId6" imgW="914400" imgH="241300" progId="Equation.3">
                  <p:embed/>
                  <p:pic>
                    <p:nvPicPr>
                      <p:cNvPr id="75" name="Object 7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82663" y="5006134"/>
                        <a:ext cx="1349375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996733"/>
              </p:ext>
            </p:extLst>
          </p:nvPr>
        </p:nvGraphicFramePr>
        <p:xfrm>
          <a:off x="3476625" y="4969622"/>
          <a:ext cx="15922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79500" imgH="317500" progId="Equation.3">
                  <p:embed/>
                </p:oleObj>
              </mc:Choice>
              <mc:Fallback>
                <p:oleObj name="Equation" r:id="rId8" imgW="1079500" imgH="317500" progId="Equation.3">
                  <p:embed/>
                  <p:pic>
                    <p:nvPicPr>
                      <p:cNvPr id="76" name="Object 75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76625" y="4969622"/>
                        <a:ext cx="1592263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7" name="Straight Arrow Connector 76"/>
          <p:cNvCxnSpPr>
            <a:stCxn id="4" idx="6"/>
            <a:endCxn id="27" idx="2"/>
          </p:cNvCxnSpPr>
          <p:nvPr/>
        </p:nvCxnSpPr>
        <p:spPr>
          <a:xfrm>
            <a:off x="6111060" y="5978756"/>
            <a:ext cx="190290" cy="69134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endCxn id="31" idx="6"/>
          </p:cNvCxnSpPr>
          <p:nvPr/>
        </p:nvCxnSpPr>
        <p:spPr>
          <a:xfrm>
            <a:off x="6414111" y="6051303"/>
            <a:ext cx="276669" cy="79853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endCxn id="25" idx="1"/>
          </p:cNvCxnSpPr>
          <p:nvPr/>
        </p:nvCxnSpPr>
        <p:spPr>
          <a:xfrm>
            <a:off x="7818657" y="4145926"/>
            <a:ext cx="262558" cy="146616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55" idx="0"/>
            <a:endCxn id="25" idx="4"/>
          </p:cNvCxnSpPr>
          <p:nvPr/>
        </p:nvCxnSpPr>
        <p:spPr>
          <a:xfrm flipV="1">
            <a:off x="8042931" y="4388795"/>
            <a:ext cx="78152" cy="352541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25" idx="6"/>
            <a:endCxn id="56" idx="3"/>
          </p:cNvCxnSpPr>
          <p:nvPr/>
        </p:nvCxnSpPr>
        <p:spPr>
          <a:xfrm flipV="1">
            <a:off x="8177463" y="4184950"/>
            <a:ext cx="381543" cy="147462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20" idx="1"/>
          </p:cNvCxnSpPr>
          <p:nvPr/>
        </p:nvCxnSpPr>
        <p:spPr>
          <a:xfrm flipH="1" flipV="1">
            <a:off x="6241254" y="4678305"/>
            <a:ext cx="36742" cy="137481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20" idx="3"/>
          </p:cNvCxnSpPr>
          <p:nvPr/>
        </p:nvCxnSpPr>
        <p:spPr>
          <a:xfrm flipH="1">
            <a:off x="6144355" y="4895525"/>
            <a:ext cx="133641" cy="41869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6365174" y="4787055"/>
            <a:ext cx="133641" cy="41869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3" name="Object 1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6948489"/>
              </p:ext>
            </p:extLst>
          </p:nvPr>
        </p:nvGraphicFramePr>
        <p:xfrm>
          <a:off x="774700" y="2712197"/>
          <a:ext cx="41195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94000" imgH="317500" progId="Equation.3">
                  <p:embed/>
                </p:oleObj>
              </mc:Choice>
              <mc:Fallback>
                <p:oleObj name="Equation" r:id="rId10" imgW="2794000" imgH="317500" progId="Equation.3">
                  <p:embed/>
                  <p:pic>
                    <p:nvPicPr>
                      <p:cNvPr id="133" name="Object 13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74700" y="2712197"/>
                        <a:ext cx="4119563" cy="468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721862"/>
              </p:ext>
            </p:extLst>
          </p:nvPr>
        </p:nvGraphicFramePr>
        <p:xfrm>
          <a:off x="879475" y="5622084"/>
          <a:ext cx="40449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743200" imgH="317500" progId="Equation.3">
                  <p:embed/>
                </p:oleObj>
              </mc:Choice>
              <mc:Fallback>
                <p:oleObj name="Equation" r:id="rId12" imgW="2743200" imgH="317500" progId="Equation.3">
                  <p:embed/>
                  <p:pic>
                    <p:nvPicPr>
                      <p:cNvPr id="134" name="Object 13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79475" y="5622084"/>
                        <a:ext cx="4044950" cy="468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Object 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512053"/>
              </p:ext>
            </p:extLst>
          </p:nvPr>
        </p:nvGraphicFramePr>
        <p:xfrm>
          <a:off x="225520" y="3422936"/>
          <a:ext cx="5079978" cy="5745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806700" imgH="317500" progId="Equation.3">
                  <p:embed/>
                </p:oleObj>
              </mc:Choice>
              <mc:Fallback>
                <p:oleObj name="Equation" r:id="rId14" imgW="2806700" imgH="317500" progId="Equation.3">
                  <p:embed/>
                  <p:pic>
                    <p:nvPicPr>
                      <p:cNvPr id="79" name="Object 78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25520" y="3422936"/>
                        <a:ext cx="5079978" cy="574596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0" name="Straight Arrow Connector 79"/>
          <p:cNvCxnSpPr/>
          <p:nvPr/>
        </p:nvCxnSpPr>
        <p:spPr>
          <a:xfrm>
            <a:off x="6349193" y="4895525"/>
            <a:ext cx="442938" cy="1552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6385444" y="5171314"/>
            <a:ext cx="434401" cy="80888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 flipV="1">
            <a:off x="6888889" y="4372281"/>
            <a:ext cx="1192326" cy="69216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84" name="Object 8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229180"/>
              </p:ext>
            </p:extLst>
          </p:nvPr>
        </p:nvGraphicFramePr>
        <p:xfrm>
          <a:off x="7405688" y="5793534"/>
          <a:ext cx="127317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63600" imgH="457200" progId="Equation.3">
                  <p:embed/>
                </p:oleObj>
              </mc:Choice>
              <mc:Fallback>
                <p:oleObj name="Equation" r:id="rId16" imgW="863600" imgH="457200" progId="Equation.3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405688" y="5793534"/>
                        <a:ext cx="1273175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Oval 85"/>
          <p:cNvSpPr/>
          <p:nvPr/>
        </p:nvSpPr>
        <p:spPr>
          <a:xfrm>
            <a:off x="6775618" y="5034243"/>
            <a:ext cx="112761" cy="112767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-25665" y="6539317"/>
            <a:ext cx="55823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Anderson MJ (2001).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Austral Ecology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26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32-46 </a:t>
            </a:r>
          </a:p>
        </p:txBody>
      </p:sp>
    </p:spTree>
    <p:extLst>
      <p:ext uri="{BB962C8B-B14F-4D97-AF65-F5344CB8AC3E}">
        <p14:creationId xmlns:p14="http://schemas.microsoft.com/office/powerpoint/2010/main" val="1175471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9260" y="294493"/>
            <a:ext cx="51039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Null Hypothesis</a:t>
            </a: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Viable test statistics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59398" y="4069095"/>
            <a:ext cx="3525255" cy="251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6261483" y="4787241"/>
            <a:ext cx="112761" cy="1127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/>
          <p:cNvCxnSpPr>
            <a:stCxn id="19" idx="0"/>
            <a:endCxn id="19" idx="2"/>
          </p:cNvCxnSpPr>
          <p:nvPr/>
        </p:nvCxnSpPr>
        <p:spPr>
          <a:xfrm>
            <a:off x="7122026" y="4069095"/>
            <a:ext cx="0" cy="2510544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9" idx="1"/>
            <a:endCxn id="19" idx="3"/>
          </p:cNvCxnSpPr>
          <p:nvPr/>
        </p:nvCxnSpPr>
        <p:spPr>
          <a:xfrm>
            <a:off x="5359398" y="5324367"/>
            <a:ext cx="3525255" cy="0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064702" y="4263997"/>
            <a:ext cx="112761" cy="112767"/>
          </a:xfrm>
          <a:prstGeom prst="ellipse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6301350" y="5979475"/>
            <a:ext cx="112761" cy="11276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6065341" y="59438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6645061" y="60962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6334531" y="60350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6217741" y="464812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6117383" y="490879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6486931" y="47392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/>
          <p:cNvSpPr/>
          <p:nvPr/>
        </p:nvSpPr>
        <p:spPr>
          <a:xfrm>
            <a:off x="8020071" y="47293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/>
          <p:cNvSpPr/>
          <p:nvPr/>
        </p:nvSpPr>
        <p:spPr>
          <a:xfrm>
            <a:off x="8552311" y="413389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/>
          <p:cNvSpPr/>
          <p:nvPr/>
        </p:nvSpPr>
        <p:spPr>
          <a:xfrm>
            <a:off x="7790721" y="41082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Arrow Connector 76"/>
          <p:cNvCxnSpPr>
            <a:stCxn id="4" idx="6"/>
            <a:endCxn id="27" idx="2"/>
          </p:cNvCxnSpPr>
          <p:nvPr/>
        </p:nvCxnSpPr>
        <p:spPr>
          <a:xfrm>
            <a:off x="6111060" y="5966725"/>
            <a:ext cx="190290" cy="69134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endCxn id="31" idx="6"/>
          </p:cNvCxnSpPr>
          <p:nvPr/>
        </p:nvCxnSpPr>
        <p:spPr>
          <a:xfrm>
            <a:off x="6414111" y="6039272"/>
            <a:ext cx="276669" cy="79853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/>
          <p:cNvCxnSpPr>
            <a:endCxn id="25" idx="1"/>
          </p:cNvCxnSpPr>
          <p:nvPr/>
        </p:nvCxnSpPr>
        <p:spPr>
          <a:xfrm>
            <a:off x="7818657" y="4133895"/>
            <a:ext cx="262558" cy="146616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55" idx="0"/>
            <a:endCxn id="25" idx="4"/>
          </p:cNvCxnSpPr>
          <p:nvPr/>
        </p:nvCxnSpPr>
        <p:spPr>
          <a:xfrm flipV="1">
            <a:off x="8042931" y="4376764"/>
            <a:ext cx="78152" cy="352541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25" idx="6"/>
            <a:endCxn id="56" idx="3"/>
          </p:cNvCxnSpPr>
          <p:nvPr/>
        </p:nvCxnSpPr>
        <p:spPr>
          <a:xfrm flipV="1">
            <a:off x="8177463" y="4172919"/>
            <a:ext cx="381543" cy="147462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>
            <a:stCxn id="20" idx="1"/>
          </p:cNvCxnSpPr>
          <p:nvPr/>
        </p:nvCxnSpPr>
        <p:spPr>
          <a:xfrm flipH="1" flipV="1">
            <a:off x="6241254" y="4666274"/>
            <a:ext cx="36742" cy="137481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/>
          <p:cNvCxnSpPr>
            <a:stCxn id="20" idx="3"/>
          </p:cNvCxnSpPr>
          <p:nvPr/>
        </p:nvCxnSpPr>
        <p:spPr>
          <a:xfrm flipH="1">
            <a:off x="6144355" y="4883494"/>
            <a:ext cx="133641" cy="41869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/>
          <p:nvPr/>
        </p:nvCxnSpPr>
        <p:spPr>
          <a:xfrm flipH="1">
            <a:off x="6365174" y="4775024"/>
            <a:ext cx="133641" cy="41869"/>
          </a:xfrm>
          <a:prstGeom prst="straightConnector1">
            <a:avLst/>
          </a:prstGeom>
          <a:ln>
            <a:headEnd type="arrow" w="sm" len="sm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5353163" y="768716"/>
            <a:ext cx="3525255" cy="2510544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6765658" y="1712392"/>
            <a:ext cx="112761" cy="11276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/>
          <p:cNvCxnSpPr>
            <a:stCxn id="79" idx="0"/>
            <a:endCxn id="79" idx="2"/>
          </p:cNvCxnSpPr>
          <p:nvPr/>
        </p:nvCxnSpPr>
        <p:spPr>
          <a:xfrm>
            <a:off x="7115791" y="768716"/>
            <a:ext cx="0" cy="2510544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79" idx="1"/>
            <a:endCxn id="79" idx="3"/>
          </p:cNvCxnSpPr>
          <p:nvPr/>
        </p:nvCxnSpPr>
        <p:spPr>
          <a:xfrm>
            <a:off x="5353163" y="2023988"/>
            <a:ext cx="3525255" cy="0"/>
          </a:xfrm>
          <a:prstGeom prst="line">
            <a:avLst/>
          </a:prstGeom>
          <a:ln>
            <a:prstDash val="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6051561" y="26539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6631281" y="28063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6320751" y="27451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6203961" y="135822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6103603" y="161889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6473151" y="144936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8006291" y="143940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8538531" y="84399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7776941" y="818345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6" name="Straight Arrow Connector 95"/>
          <p:cNvCxnSpPr>
            <a:stCxn id="84" idx="0"/>
            <a:endCxn id="80" idx="3"/>
          </p:cNvCxnSpPr>
          <p:nvPr/>
        </p:nvCxnSpPr>
        <p:spPr>
          <a:xfrm flipV="1">
            <a:off x="6074421" y="1808645"/>
            <a:ext cx="707750" cy="845320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/>
          <p:cNvCxnSpPr>
            <a:stCxn id="87" idx="7"/>
            <a:endCxn id="80" idx="4"/>
          </p:cNvCxnSpPr>
          <p:nvPr/>
        </p:nvCxnSpPr>
        <p:spPr>
          <a:xfrm flipV="1">
            <a:off x="6359775" y="1825159"/>
            <a:ext cx="462264" cy="92664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86" idx="0"/>
            <a:endCxn id="80" idx="4"/>
          </p:cNvCxnSpPr>
          <p:nvPr/>
        </p:nvCxnSpPr>
        <p:spPr>
          <a:xfrm flipV="1">
            <a:off x="6654141" y="1825159"/>
            <a:ext cx="167898" cy="98120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80" idx="7"/>
            <a:endCxn id="95" idx="3"/>
          </p:cNvCxnSpPr>
          <p:nvPr/>
        </p:nvCxnSpPr>
        <p:spPr>
          <a:xfrm flipV="1">
            <a:off x="6861906" y="857369"/>
            <a:ext cx="921730" cy="87153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/>
          <p:cNvCxnSpPr>
            <a:stCxn id="80" idx="6"/>
            <a:endCxn id="93" idx="3"/>
          </p:cNvCxnSpPr>
          <p:nvPr/>
        </p:nvCxnSpPr>
        <p:spPr>
          <a:xfrm flipV="1">
            <a:off x="6878419" y="883019"/>
            <a:ext cx="1666807" cy="88575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>
            <a:stCxn id="80" idx="6"/>
            <a:endCxn id="92" idx="3"/>
          </p:cNvCxnSpPr>
          <p:nvPr/>
        </p:nvCxnSpPr>
        <p:spPr>
          <a:xfrm flipV="1">
            <a:off x="6878419" y="1478429"/>
            <a:ext cx="1134567" cy="29034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/>
          <p:cNvCxnSpPr>
            <a:stCxn id="89" idx="6"/>
            <a:endCxn id="80" idx="2"/>
          </p:cNvCxnSpPr>
          <p:nvPr/>
        </p:nvCxnSpPr>
        <p:spPr>
          <a:xfrm>
            <a:off x="6149322" y="1641757"/>
            <a:ext cx="616336" cy="127019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>
            <a:stCxn id="88" idx="5"/>
            <a:endCxn id="80" idx="1"/>
          </p:cNvCxnSpPr>
          <p:nvPr/>
        </p:nvCxnSpPr>
        <p:spPr>
          <a:xfrm>
            <a:off x="6242985" y="1397249"/>
            <a:ext cx="539186" cy="33165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/>
          <p:cNvCxnSpPr>
            <a:stCxn id="90" idx="5"/>
            <a:endCxn id="80" idx="1"/>
          </p:cNvCxnSpPr>
          <p:nvPr/>
        </p:nvCxnSpPr>
        <p:spPr>
          <a:xfrm>
            <a:off x="6512175" y="1488389"/>
            <a:ext cx="269996" cy="240517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6775618" y="5022212"/>
            <a:ext cx="112761" cy="112767"/>
          </a:xfrm>
          <a:prstGeom prst="ellipse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>
            <a:endCxn id="58" idx="1"/>
          </p:cNvCxnSpPr>
          <p:nvPr/>
        </p:nvCxnSpPr>
        <p:spPr>
          <a:xfrm>
            <a:off x="6349193" y="4883494"/>
            <a:ext cx="442938" cy="155232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6385444" y="5159283"/>
            <a:ext cx="434401" cy="80888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69" name="Object 6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320260"/>
              </p:ext>
            </p:extLst>
          </p:nvPr>
        </p:nvGraphicFramePr>
        <p:xfrm>
          <a:off x="489905" y="775357"/>
          <a:ext cx="2586735" cy="780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292100" progId="Equation.3">
                  <p:embed/>
                </p:oleObj>
              </mc:Choice>
              <mc:Fallback>
                <p:oleObj name="Equation" r:id="rId2" imgW="965200" imgH="292100" progId="Equation.3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89905" y="775357"/>
                        <a:ext cx="2586735" cy="7802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4962855"/>
              </p:ext>
            </p:extLst>
          </p:nvPr>
        </p:nvGraphicFramePr>
        <p:xfrm>
          <a:off x="3252255" y="1145294"/>
          <a:ext cx="1790232" cy="608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55700" imgH="393700" progId="Equation.3">
                  <p:embed/>
                </p:oleObj>
              </mc:Choice>
              <mc:Fallback>
                <p:oleObj name="Equation" r:id="rId4" imgW="1155700" imgH="393700" progId="Equation.3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52255" y="1145294"/>
                        <a:ext cx="1790232" cy="6081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3432169"/>
              </p:ext>
            </p:extLst>
          </p:nvPr>
        </p:nvGraphicFramePr>
        <p:xfrm>
          <a:off x="473075" y="1433341"/>
          <a:ext cx="2620963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77900" imgH="292100" progId="Equation.3">
                  <p:embed/>
                </p:oleObj>
              </mc:Choice>
              <mc:Fallback>
                <p:oleObj name="Equation" r:id="rId6" imgW="977900" imgH="292100" progId="Equation.3">
                  <p:embed/>
                  <p:pic>
                    <p:nvPicPr>
                      <p:cNvPr id="71" name="Object 7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3075" y="1433341"/>
                        <a:ext cx="2620963" cy="779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309542"/>
              </p:ext>
            </p:extLst>
          </p:nvPr>
        </p:nvGraphicFramePr>
        <p:xfrm>
          <a:off x="516518" y="3095490"/>
          <a:ext cx="2084387" cy="292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346200" imgH="1892300" progId="Equation.3">
                  <p:embed/>
                </p:oleObj>
              </mc:Choice>
              <mc:Fallback>
                <p:oleObj name="Equation" r:id="rId8" imgW="1346200" imgH="1892300" progId="Equation.3">
                  <p:embed/>
                  <p:pic>
                    <p:nvPicPr>
                      <p:cNvPr id="73" name="Object 7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16518" y="3095490"/>
                        <a:ext cx="2084387" cy="292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001008"/>
              </p:ext>
            </p:extLst>
          </p:nvPr>
        </p:nvGraphicFramePr>
        <p:xfrm>
          <a:off x="7405688" y="5781503"/>
          <a:ext cx="1273175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63600" imgH="457200" progId="Equation.3">
                  <p:embed/>
                </p:oleObj>
              </mc:Choice>
              <mc:Fallback>
                <p:oleObj name="Equation" r:id="rId10" imgW="863600" imgH="457200" progId="Equation.3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05688" y="5781503"/>
                        <a:ext cx="1273175" cy="674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3" name="Straight Arrow Connector 62"/>
          <p:cNvCxnSpPr/>
          <p:nvPr/>
        </p:nvCxnSpPr>
        <p:spPr>
          <a:xfrm flipV="1">
            <a:off x="6888889" y="4360250"/>
            <a:ext cx="1192326" cy="692168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0" y="6563507"/>
            <a:ext cx="558234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Anderson MJ (2001).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Austral Ecology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26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32-46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57096" y="4077004"/>
            <a:ext cx="2712074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75000"/>
                    <a:lumOff val="25000"/>
                  </a:schemeClr>
                </a:solidFill>
              </a:rPr>
              <a:t>* If 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reduced model is different, the coefficient of determination is evaluated using a null model</a:t>
            </a:r>
          </a:p>
        </p:txBody>
      </p:sp>
    </p:spTree>
    <p:extLst>
      <p:ext uri="{BB962C8B-B14F-4D97-AF65-F5344CB8AC3E}">
        <p14:creationId xmlns:p14="http://schemas.microsoft.com/office/powerpoint/2010/main" val="1038006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52399" y="352924"/>
            <a:ext cx="6549189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However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 there is no multivariate F distribution! Solutions:</a:t>
            </a:r>
          </a:p>
          <a:p>
            <a:pPr marL="285750" indent="-285750">
              <a:buFontTx/>
              <a:buChar char="-"/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Use multivariate approximations and then apply a conversion to an approximate F-value</a:t>
            </a:r>
          </a:p>
          <a:p>
            <a:pPr marL="285750" indent="-285750">
              <a:buFontTx/>
              <a:buChar char="-"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Use randomizations 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to obtain an empirical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370574" y="2334124"/>
                <a:ext cx="4800600" cy="3280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Wilks’ lambda </a:t>
                </a:r>
                <a14:m>
                  <m:oMath xmlns:m="http://schemas.openxmlformats.org/officeDocument/2006/math">
                    <m:r>
                      <a:rPr lang="el-GR" sz="24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𝛬</m:t>
                    </m:r>
                    <m:r>
                      <a:rPr lang="el-GR" sz="2400" b="1" i="0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= </m:t>
                    </m:r>
                    <m:f>
                      <m:fPr>
                        <m:ctrlPr>
                          <a:rPr lang="el-GR" sz="2400" b="1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l-GR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𝐅</m:t>
                                </m:r>
                              </m:sub>
                            </m:sSub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l-GR" sz="24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pt-PT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</a:rPr>
                                      <m:t>𝐍</m:t>
                                    </m:r>
                                  </m:sub>
                                </m:sSub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</a:rPr>
                                      <m:t>𝐒</m:t>
                                    </m:r>
                                  </m:e>
                                  <m:sub>
                                    <m:r>
                                      <a:rPr lang="pt-PT" sz="2400" b="1" i="0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"/>
                                      </a:rPr>
                                      <m:t>𝐅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4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4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4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𝐅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Pillai’s trace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𝑡𝑟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sSubPr>
                          <m:e>
                            <m:r>
                              <a:rPr lang="en-US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𝐑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𝐅</m:t>
                            </m:r>
                          </m:sub>
                        </m:sSub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000" b="1" i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𝐑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Hotelling’s</a:t>
                </a: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 trace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𝑡𝑟</m:t>
                    </m:r>
                    <m:d>
                      <m:dPr>
                        <m:ctrlP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𝐑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sSubPr>
                          <m:e>
                            <m:r>
                              <a:rPr lang="en-US" sz="2000" b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𝐒</m:t>
                            </m:r>
                          </m:e>
                          <m:sub>
                            <m:r>
                              <a:rPr lang="pt-PT" sz="2000" b="1" i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𝐅</m:t>
                            </m:r>
                          </m:sub>
                        </m:sSub>
                        <m:r>
                          <a:rPr lang="en-US" sz="2000" i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  <m:t>)</m:t>
                        </m:r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𝐒</m:t>
                                </m:r>
                              </m:e>
                              <m:sub>
                                <m:r>
                                  <a:rPr lang="pt-PT" sz="2000" b="1" i="1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"/>
                                  </a:rPr>
                                  <m:t>𝐅</m:t>
                                </m:r>
                              </m:sub>
                            </m:sSub>
                          </m:e>
                          <m:sup>
                            <m: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−1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"/>
                  </a:rPr>
                  <a:t>Converted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𝐹</m:t>
                    </m:r>
                    <m:r>
                      <a:rPr lang="en-US" sz="2000" b="0" i="1" smtClean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1−</m:t>
                            </m:r>
                            <m:r>
                              <a:rPr lang="el-GR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𝛬</m:t>
                            </m:r>
                          </m:num>
                          <m:den>
                            <m:r>
                              <a:rPr lang="el-GR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𝛬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𝑛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𝑠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−</m:t>
                            </m:r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𝑝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endParaRPr lang="en-US" sz="20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"/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74" y="2334124"/>
                <a:ext cx="4800600" cy="3280963"/>
              </a:xfrm>
              <a:prstGeom prst="rect">
                <a:avLst/>
              </a:prstGeom>
              <a:blipFill>
                <a:blip r:embed="rId2"/>
                <a:stretch>
                  <a:fillRect l="-131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1371600" y="5482241"/>
            <a:ext cx="32993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n: total sample size, s: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ncol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(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Xr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),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ncol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(Y)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5068" y="2941677"/>
            <a:ext cx="2971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“Traditional” test statistics</a:t>
            </a:r>
          </a:p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Require </a:t>
            </a:r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n</a:t>
            </a: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&gt;&gt; </a:t>
            </a:r>
            <a:r>
              <a:rPr lang="en-US" sz="2000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p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982" y="2910216"/>
            <a:ext cx="766355" cy="76635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05975" y="4203249"/>
            <a:ext cx="3809425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762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Use randomization procedures, which are more powerful for </a:t>
            </a:r>
            <a:r>
              <a:rPr 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high-dimensional data</a:t>
            </a: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0" y="633478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Anderson MJ,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Ter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</a:t>
            </a:r>
            <a:r>
              <a:rPr lang="en-US" sz="14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Braak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CJF (2003). 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Journal of Statistical Computation and Simulation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73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: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rPr>
              <a:t> 85-113</a:t>
            </a:r>
            <a:endParaRPr lang="en-US" sz="1400" dirty="0">
              <a:latin typeface=""/>
            </a:endParaRPr>
          </a:p>
        </p:txBody>
      </p:sp>
      <p:sp>
        <p:nvSpPr>
          <p:cNvPr id="6" name="Right Brace 5"/>
          <p:cNvSpPr/>
          <p:nvPr/>
        </p:nvSpPr>
        <p:spPr>
          <a:xfrm>
            <a:off x="4495800" y="2562724"/>
            <a:ext cx="319268" cy="2919517"/>
          </a:xfrm>
          <a:prstGeom prst="rightBrace">
            <a:avLst>
              <a:gd name="adj1" fmla="val 8333"/>
              <a:gd name="adj2" fmla="val 23834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18679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animBg="1"/>
      <p:bldP spid="5" grpId="0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244</Words>
  <Application>Microsoft Macintosh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Antigoni Kaliontzopoulou</dc:creator>
  <cp:lastModifiedBy>Antigoni Kaliontzopoulou</cp:lastModifiedBy>
  <cp:revision>3</cp:revision>
  <dcterms:created xsi:type="dcterms:W3CDTF">2026-05-18T18:15:27Z</dcterms:created>
  <dcterms:modified xsi:type="dcterms:W3CDTF">2026-05-18T18:22:04Z</dcterms:modified>
</cp:coreProperties>
</file>