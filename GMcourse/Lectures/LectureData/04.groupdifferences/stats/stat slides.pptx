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305" r:id="rId3"/>
    <p:sldId id="315" r:id="rId4"/>
    <p:sldId id="306" r:id="rId5"/>
    <p:sldId id="314" r:id="rId6"/>
    <p:sldId id="310" r:id="rId7"/>
    <p:sldId id="292" r:id="rId8"/>
    <p:sldId id="317" r:id="rId9"/>
    <p:sldId id="316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32"/>
  </p:normalViewPr>
  <p:slideViewPr>
    <p:cSldViewPr snapToGrid="0">
      <p:cViewPr varScale="1">
        <p:scale>
          <a:sx n="106" d="100"/>
          <a:sy n="106" d="100"/>
        </p:scale>
        <p:origin x="1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FEC42-DE82-D548-887A-A0A1819A413F}" type="datetimeFigureOut">
              <a:rPr lang="es-ES_tradnl" smtClean="0"/>
              <a:t>20/5/26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9772-611F-CB4E-A7CE-C6292FCB88F8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771116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FEC42-DE82-D548-887A-A0A1819A413F}" type="datetimeFigureOut">
              <a:rPr lang="es-ES_tradnl" smtClean="0"/>
              <a:t>20/5/26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9772-611F-CB4E-A7CE-C6292FCB88F8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35947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FEC42-DE82-D548-887A-A0A1819A413F}" type="datetimeFigureOut">
              <a:rPr lang="es-ES_tradnl" smtClean="0"/>
              <a:t>20/5/26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9772-611F-CB4E-A7CE-C6292FCB88F8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07334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FEC42-DE82-D548-887A-A0A1819A413F}" type="datetimeFigureOut">
              <a:rPr lang="es-ES_tradnl" smtClean="0"/>
              <a:t>20/5/26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9772-611F-CB4E-A7CE-C6292FCB88F8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525472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FEC42-DE82-D548-887A-A0A1819A413F}" type="datetimeFigureOut">
              <a:rPr lang="es-ES_tradnl" smtClean="0"/>
              <a:t>20/5/26</a:t>
            </a:fld>
            <a:endParaRPr lang="es-ES_trad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9772-611F-CB4E-A7CE-C6292FCB88F8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34583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FEC42-DE82-D548-887A-A0A1819A413F}" type="datetimeFigureOut">
              <a:rPr lang="es-ES_tradnl" smtClean="0"/>
              <a:t>20/5/26</a:t>
            </a:fld>
            <a:endParaRPr lang="es-ES_trad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9772-611F-CB4E-A7CE-C6292FCB88F8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93876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FEC42-DE82-D548-887A-A0A1819A413F}" type="datetimeFigureOut">
              <a:rPr lang="es-ES_tradnl" smtClean="0"/>
              <a:t>20/5/26</a:t>
            </a:fld>
            <a:endParaRPr lang="es-ES_trad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9772-611F-CB4E-A7CE-C6292FCB88F8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28323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FEC42-DE82-D548-887A-A0A1819A413F}" type="datetimeFigureOut">
              <a:rPr lang="es-ES_tradnl" smtClean="0"/>
              <a:t>20/5/26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9772-611F-CB4E-A7CE-C6292FCB88F8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05197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FEC42-DE82-D548-887A-A0A1819A413F}" type="datetimeFigureOut">
              <a:rPr lang="es-ES_tradnl" smtClean="0"/>
              <a:t>20/5/26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9772-611F-CB4E-A7CE-C6292FCB88F8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1544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FEC42-DE82-D548-887A-A0A1819A413F}" type="datetimeFigureOut">
              <a:rPr lang="es-ES_tradnl" smtClean="0"/>
              <a:t>20/5/26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9772-611F-CB4E-A7CE-C6292FCB88F8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45400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FEC42-DE82-D548-887A-A0A1819A413F}" type="datetimeFigureOut">
              <a:rPr lang="es-ES_tradnl" smtClean="0"/>
              <a:t>20/5/26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E89772-611F-CB4E-A7CE-C6292FCB88F8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78003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1FEC42-DE82-D548-887A-A0A1819A413F}" type="datetimeFigureOut">
              <a:rPr lang="es-ES_tradnl" smtClean="0"/>
              <a:t>20/5/26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E89772-611F-CB4E-A7CE-C6292FCB88F8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503338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image" Target="../media/image1.emf"/><Relationship Id="rId7" Type="http://schemas.openxmlformats.org/officeDocument/2006/relationships/image" Target="../media/image3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4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image" Target="../media/image6.emf"/><Relationship Id="rId3" Type="http://schemas.openxmlformats.org/officeDocument/2006/relationships/image" Target="../media/image1.emf"/><Relationship Id="rId7" Type="http://schemas.openxmlformats.org/officeDocument/2006/relationships/image" Target="../media/image3.emf"/><Relationship Id="rId12" Type="http://schemas.openxmlformats.org/officeDocument/2006/relationships/oleObject" Target="../embeddings/oleObject10.bin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7.bin"/><Relationship Id="rId11" Type="http://schemas.openxmlformats.org/officeDocument/2006/relationships/image" Target="../media/image5.emf"/><Relationship Id="rId5" Type="http://schemas.openxmlformats.org/officeDocument/2006/relationships/image" Target="../media/image2.emf"/><Relationship Id="rId10" Type="http://schemas.openxmlformats.org/officeDocument/2006/relationships/oleObject" Target="../embeddings/oleObject9.bin"/><Relationship Id="rId4" Type="http://schemas.openxmlformats.org/officeDocument/2006/relationships/oleObject" Target="../embeddings/oleObject6.bin"/><Relationship Id="rId9" Type="http://schemas.openxmlformats.org/officeDocument/2006/relationships/image" Target="../media/image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.bin"/><Relationship Id="rId13" Type="http://schemas.openxmlformats.org/officeDocument/2006/relationships/image" Target="../media/image12.emf"/><Relationship Id="rId3" Type="http://schemas.openxmlformats.org/officeDocument/2006/relationships/image" Target="../media/image7.emf"/><Relationship Id="rId7" Type="http://schemas.openxmlformats.org/officeDocument/2006/relationships/image" Target="../media/image9.emf"/><Relationship Id="rId12" Type="http://schemas.openxmlformats.org/officeDocument/2006/relationships/oleObject" Target="../embeddings/oleObject16.bin"/><Relationship Id="rId17" Type="http://schemas.openxmlformats.org/officeDocument/2006/relationships/image" Target="../media/image14.emf"/><Relationship Id="rId2" Type="http://schemas.openxmlformats.org/officeDocument/2006/relationships/oleObject" Target="../embeddings/oleObject11.bin"/><Relationship Id="rId16" Type="http://schemas.openxmlformats.org/officeDocument/2006/relationships/oleObject" Target="../embeddings/oleObject18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3.bin"/><Relationship Id="rId11" Type="http://schemas.openxmlformats.org/officeDocument/2006/relationships/image" Target="../media/image11.emf"/><Relationship Id="rId5" Type="http://schemas.openxmlformats.org/officeDocument/2006/relationships/image" Target="../media/image8.emf"/><Relationship Id="rId15" Type="http://schemas.openxmlformats.org/officeDocument/2006/relationships/image" Target="../media/image13.emf"/><Relationship Id="rId10" Type="http://schemas.openxmlformats.org/officeDocument/2006/relationships/oleObject" Target="../embeddings/oleObject15.bin"/><Relationship Id="rId4" Type="http://schemas.openxmlformats.org/officeDocument/2006/relationships/oleObject" Target="../embeddings/oleObject12.bin"/><Relationship Id="rId9" Type="http://schemas.openxmlformats.org/officeDocument/2006/relationships/image" Target="../media/image10.emf"/><Relationship Id="rId14" Type="http://schemas.openxmlformats.org/officeDocument/2006/relationships/oleObject" Target="../embeddings/oleObject17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2.bin"/><Relationship Id="rId3" Type="http://schemas.openxmlformats.org/officeDocument/2006/relationships/image" Target="../media/image15.emf"/><Relationship Id="rId7" Type="http://schemas.openxmlformats.org/officeDocument/2006/relationships/image" Target="../media/image17.emf"/><Relationship Id="rId2" Type="http://schemas.openxmlformats.org/officeDocument/2006/relationships/oleObject" Target="../embeddings/oleObject19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21.bin"/><Relationship Id="rId11" Type="http://schemas.openxmlformats.org/officeDocument/2006/relationships/image" Target="../media/image14.emf"/><Relationship Id="rId5" Type="http://schemas.openxmlformats.org/officeDocument/2006/relationships/image" Target="../media/image16.emf"/><Relationship Id="rId10" Type="http://schemas.openxmlformats.org/officeDocument/2006/relationships/oleObject" Target="../embeddings/oleObject18.bin"/><Relationship Id="rId4" Type="http://schemas.openxmlformats.org/officeDocument/2006/relationships/oleObject" Target="../embeddings/oleObject20.bin"/><Relationship Id="rId9" Type="http://schemas.openxmlformats.org/officeDocument/2006/relationships/image" Target="../media/image18.e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2446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249259" y="234338"/>
            <a:ext cx="862915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When there is only a column of ones, the vector of coefficients is the mean vector.</a:t>
            </a: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</a:t>
            </a: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0834678"/>
              </p:ext>
            </p:extLst>
          </p:nvPr>
        </p:nvGraphicFramePr>
        <p:xfrm>
          <a:off x="1158855" y="1475480"/>
          <a:ext cx="732806" cy="932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98500" imgH="889000" progId="Equation.3">
                  <p:embed/>
                </p:oleObj>
              </mc:Choice>
              <mc:Fallback>
                <p:oleObj name="Equation" r:id="rId2" imgW="698500" imgH="889000" progId="Equation.3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58855" y="1475480"/>
                        <a:ext cx="732806" cy="9326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316137"/>
              </p:ext>
            </p:extLst>
          </p:nvPr>
        </p:nvGraphicFramePr>
        <p:xfrm>
          <a:off x="2546219" y="1682196"/>
          <a:ext cx="2359025" cy="468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600200" imgH="317500" progId="Equation.3">
                  <p:embed/>
                </p:oleObj>
              </mc:Choice>
              <mc:Fallback>
                <p:oleObj name="Equation" r:id="rId4" imgW="1600200" imgH="31750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546219" y="1682196"/>
                        <a:ext cx="2359025" cy="4683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5353163" y="708561"/>
            <a:ext cx="3525255" cy="2510544"/>
            <a:chOff x="5353163" y="937163"/>
            <a:chExt cx="3525255" cy="2510544"/>
          </a:xfrm>
        </p:grpSpPr>
        <p:sp>
          <p:nvSpPr>
            <p:cNvPr id="37" name="Rectangle 36"/>
            <p:cNvSpPr/>
            <p:nvPr/>
          </p:nvSpPr>
          <p:spPr>
            <a:xfrm>
              <a:off x="5353163" y="937163"/>
              <a:ext cx="3525255" cy="2510544"/>
            </a:xfrm>
            <a:prstGeom prst="rect">
              <a:avLst/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/>
            <p:cNvSpPr/>
            <p:nvPr/>
          </p:nvSpPr>
          <p:spPr>
            <a:xfrm>
              <a:off x="6765658" y="1880839"/>
              <a:ext cx="112761" cy="112767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Connector 38"/>
            <p:cNvCxnSpPr>
              <a:stCxn id="37" idx="0"/>
              <a:endCxn id="37" idx="2"/>
            </p:cNvCxnSpPr>
            <p:nvPr/>
          </p:nvCxnSpPr>
          <p:spPr>
            <a:xfrm>
              <a:off x="7115791" y="937163"/>
              <a:ext cx="0" cy="2510544"/>
            </a:xfrm>
            <a:prstGeom prst="line">
              <a:avLst/>
            </a:prstGeom>
            <a:ln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>
              <a:stCxn id="37" idx="1"/>
              <a:endCxn id="37" idx="3"/>
            </p:cNvCxnSpPr>
            <p:nvPr/>
          </p:nvCxnSpPr>
          <p:spPr>
            <a:xfrm>
              <a:off x="5353163" y="2192435"/>
              <a:ext cx="3525255" cy="0"/>
            </a:xfrm>
            <a:prstGeom prst="line">
              <a:avLst/>
            </a:prstGeom>
            <a:ln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/>
            <p:cNvCxnSpPr/>
            <p:nvPr/>
          </p:nvCxnSpPr>
          <p:spPr>
            <a:xfrm flipH="1" flipV="1">
              <a:off x="6860596" y="1982321"/>
              <a:ext cx="249560" cy="206359"/>
            </a:xfrm>
            <a:prstGeom prst="straightConnector1">
              <a:avLst/>
            </a:prstGeom>
            <a:ln>
              <a:solidFill>
                <a:srgbClr val="00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23305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734F3-22DD-62F3-1E50-CB1DE70D0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B7F6D8A-62FB-0A38-D6EC-F162007B4F55}"/>
              </a:ext>
            </a:extLst>
          </p:cNvPr>
          <p:cNvSpPr txBox="1"/>
          <p:nvPr/>
        </p:nvSpPr>
        <p:spPr>
          <a:xfrm>
            <a:off x="249259" y="234338"/>
            <a:ext cx="8629159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When there is only a column of ones, the vector of coefficients is the mean vector.</a:t>
            </a: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</a:t>
            </a: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When there are additional columns of dummy variables, the first column vector of coefficients is the mean for group 1; the rest are change vectors to describe other group means.</a:t>
            </a:r>
          </a:p>
        </p:txBody>
      </p:sp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C76871D-668D-BB07-55E0-38B637A0169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58855" y="1475480"/>
          <a:ext cx="732806" cy="932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98500" imgH="889000" progId="Equation.3">
                  <p:embed/>
                </p:oleObj>
              </mc:Choice>
              <mc:Fallback>
                <p:oleObj name="Equation" r:id="rId2" imgW="698500" imgH="889000" progId="Equation.3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58855" y="1475480"/>
                        <a:ext cx="732806" cy="9326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B836B9D6-56D2-D9F3-A0DF-6BE8D2677C1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546219" y="1682196"/>
          <a:ext cx="2359025" cy="468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600200" imgH="317500" progId="Equation.3">
                  <p:embed/>
                </p:oleObj>
              </mc:Choice>
              <mc:Fallback>
                <p:oleObj name="Equation" r:id="rId4" imgW="1600200" imgH="31750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546219" y="1682196"/>
                        <a:ext cx="2359025" cy="4683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2">
            <a:extLst>
              <a:ext uri="{FF2B5EF4-FFF2-40B4-BE49-F238E27FC236}">
                <a16:creationId xmlns:a16="http://schemas.microsoft.com/office/drawing/2014/main" id="{B70D3941-78DC-66F8-6DA7-C7FAB5B429C1}"/>
              </a:ext>
            </a:extLst>
          </p:cNvPr>
          <p:cNvGrpSpPr>
            <a:grpSpLocks noChangeAspect="1"/>
          </p:cNvGrpSpPr>
          <p:nvPr/>
        </p:nvGrpSpPr>
        <p:grpSpPr>
          <a:xfrm>
            <a:off x="5359398" y="4008940"/>
            <a:ext cx="3525255" cy="2510544"/>
            <a:chOff x="1068858" y="2184115"/>
            <a:chExt cx="7050509" cy="5021088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4715848-0459-7B69-FC95-2207FB3F849D}"/>
                </a:ext>
              </a:extLst>
            </p:cNvPr>
            <p:cNvSpPr/>
            <p:nvPr/>
          </p:nvSpPr>
          <p:spPr>
            <a:xfrm>
              <a:off x="1068858" y="2184115"/>
              <a:ext cx="7050509" cy="5021088"/>
            </a:xfrm>
            <a:prstGeom prst="rect">
              <a:avLst/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72669BE-E4D0-1DC2-A814-D858FF16BB24}"/>
                </a:ext>
              </a:extLst>
            </p:cNvPr>
            <p:cNvSpPr/>
            <p:nvPr/>
          </p:nvSpPr>
          <p:spPr>
            <a:xfrm>
              <a:off x="2873028" y="3620407"/>
              <a:ext cx="225522" cy="225534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4D4FC22-FA3C-A59E-A1BB-04762DFE13C2}"/>
                </a:ext>
              </a:extLst>
            </p:cNvPr>
            <p:cNvCxnSpPr>
              <a:stCxn id="19" idx="0"/>
              <a:endCxn id="19" idx="2"/>
            </p:cNvCxnSpPr>
            <p:nvPr/>
          </p:nvCxnSpPr>
          <p:spPr>
            <a:xfrm>
              <a:off x="4594113" y="2184115"/>
              <a:ext cx="0" cy="5021088"/>
            </a:xfrm>
            <a:prstGeom prst="line">
              <a:avLst/>
            </a:prstGeom>
            <a:ln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9EA5039-9524-2784-7E32-D9C725B41F27}"/>
                </a:ext>
              </a:extLst>
            </p:cNvPr>
            <p:cNvCxnSpPr>
              <a:stCxn id="19" idx="1"/>
              <a:endCxn id="19" idx="3"/>
            </p:cNvCxnSpPr>
            <p:nvPr/>
          </p:nvCxnSpPr>
          <p:spPr>
            <a:xfrm>
              <a:off x="1068858" y="4694659"/>
              <a:ext cx="7050509" cy="0"/>
            </a:xfrm>
            <a:prstGeom prst="line">
              <a:avLst/>
            </a:prstGeom>
            <a:ln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9377C7D-F692-F8FC-E453-303E051862D8}"/>
                </a:ext>
              </a:extLst>
            </p:cNvPr>
            <p:cNvCxnSpPr>
              <a:endCxn id="20" idx="5"/>
            </p:cNvCxnSpPr>
            <p:nvPr/>
          </p:nvCxnSpPr>
          <p:spPr>
            <a:xfrm flipH="1" flipV="1">
              <a:off x="3065523" y="3812912"/>
              <a:ext cx="1517319" cy="874234"/>
            </a:xfrm>
            <a:prstGeom prst="straightConnector1">
              <a:avLst/>
            </a:prstGeom>
            <a:ln>
              <a:solidFill>
                <a:srgbClr val="00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92032C8-097A-E73C-0BD7-D8E393C2DA2D}"/>
                </a:ext>
              </a:extLst>
            </p:cNvPr>
            <p:cNvSpPr/>
            <p:nvPr/>
          </p:nvSpPr>
          <p:spPr>
            <a:xfrm>
              <a:off x="6479465" y="2573918"/>
              <a:ext cx="225522" cy="225534"/>
            </a:xfrm>
            <a:prstGeom prst="ellipse">
              <a:avLst/>
            </a:prstGeom>
            <a:solidFill>
              <a:srgbClr val="CCFFCC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C2B76E0-2748-60A4-72DB-904F1417E41A}"/>
                </a:ext>
              </a:extLst>
            </p:cNvPr>
            <p:cNvCxnSpPr/>
            <p:nvPr/>
          </p:nvCxnSpPr>
          <p:spPr>
            <a:xfrm flipV="1">
              <a:off x="3098550" y="2730813"/>
              <a:ext cx="3413942" cy="966751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5A8C2FF-8514-4684-8483-3F7CE1EA9476}"/>
                </a:ext>
              </a:extLst>
            </p:cNvPr>
            <p:cNvSpPr/>
            <p:nvPr/>
          </p:nvSpPr>
          <p:spPr>
            <a:xfrm>
              <a:off x="2952762" y="6004874"/>
              <a:ext cx="225522" cy="22553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383C200-E16D-0784-2D33-E0DB0D6B1B66}"/>
                </a:ext>
              </a:extLst>
            </p:cNvPr>
            <p:cNvCxnSpPr>
              <a:stCxn id="20" idx="4"/>
              <a:endCxn id="27" idx="0"/>
            </p:cNvCxnSpPr>
            <p:nvPr/>
          </p:nvCxnSpPr>
          <p:spPr>
            <a:xfrm>
              <a:off x="2985789" y="3845941"/>
              <a:ext cx="79734" cy="2158933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9" name="Object 28">
            <a:extLst>
              <a:ext uri="{FF2B5EF4-FFF2-40B4-BE49-F238E27FC236}">
                <a16:creationId xmlns:a16="http://schemas.microsoft.com/office/drawing/2014/main" id="{28E834FE-4D7E-B48B-A89E-1230DCB779E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19288" y="4282289"/>
          <a:ext cx="1016234" cy="22371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30300" imgH="2489200" progId="Equation.3">
                  <p:embed/>
                </p:oleObj>
              </mc:Choice>
              <mc:Fallback>
                <p:oleObj name="Equation" r:id="rId6" imgW="1130300" imgH="2489200" progId="Equation.3">
                  <p:embed/>
                  <p:pic>
                    <p:nvPicPr>
                      <p:cNvPr id="29" name="Object 28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819288" y="4282289"/>
                        <a:ext cx="1016234" cy="22371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Object 34">
            <a:extLst>
              <a:ext uri="{FF2B5EF4-FFF2-40B4-BE49-F238E27FC236}">
                <a16:creationId xmlns:a16="http://schemas.microsoft.com/office/drawing/2014/main" id="{0A9BFD41-AA28-D570-85DF-24C1E8870ED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208938" y="4605336"/>
          <a:ext cx="2865437" cy="1311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943100" imgH="889000" progId="Equation.3">
                  <p:embed/>
                </p:oleObj>
              </mc:Choice>
              <mc:Fallback>
                <p:oleObj name="Equation" r:id="rId8" imgW="1943100" imgH="889000" progId="Equation.3">
                  <p:embed/>
                  <p:pic>
                    <p:nvPicPr>
                      <p:cNvPr id="35" name="Object 3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208938" y="4605336"/>
                        <a:ext cx="2865437" cy="13112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>
            <a:extLst>
              <a:ext uri="{FF2B5EF4-FFF2-40B4-BE49-F238E27FC236}">
                <a16:creationId xmlns:a16="http://schemas.microsoft.com/office/drawing/2014/main" id="{21A9EC92-3E5F-E644-1F1F-9160F01D4235}"/>
              </a:ext>
            </a:extLst>
          </p:cNvPr>
          <p:cNvGrpSpPr/>
          <p:nvPr/>
        </p:nvGrpSpPr>
        <p:grpSpPr>
          <a:xfrm>
            <a:off x="5353163" y="708561"/>
            <a:ext cx="3525255" cy="2510544"/>
            <a:chOff x="5353163" y="937163"/>
            <a:chExt cx="3525255" cy="2510544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6C75702-8630-E650-AB18-3CD3578C2FBD}"/>
                </a:ext>
              </a:extLst>
            </p:cNvPr>
            <p:cNvSpPr/>
            <p:nvPr/>
          </p:nvSpPr>
          <p:spPr>
            <a:xfrm>
              <a:off x="5353163" y="937163"/>
              <a:ext cx="3525255" cy="2510544"/>
            </a:xfrm>
            <a:prstGeom prst="rect">
              <a:avLst/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8430D969-F826-989E-61EB-7E1CBFC89893}"/>
                </a:ext>
              </a:extLst>
            </p:cNvPr>
            <p:cNvSpPr/>
            <p:nvPr/>
          </p:nvSpPr>
          <p:spPr>
            <a:xfrm>
              <a:off x="6765658" y="1880839"/>
              <a:ext cx="112761" cy="112767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57EFBE1-6193-2C4B-06E9-CF1B62622C31}"/>
                </a:ext>
              </a:extLst>
            </p:cNvPr>
            <p:cNvCxnSpPr>
              <a:stCxn id="37" idx="0"/>
              <a:endCxn id="37" idx="2"/>
            </p:cNvCxnSpPr>
            <p:nvPr/>
          </p:nvCxnSpPr>
          <p:spPr>
            <a:xfrm>
              <a:off x="7115791" y="937163"/>
              <a:ext cx="0" cy="2510544"/>
            </a:xfrm>
            <a:prstGeom prst="line">
              <a:avLst/>
            </a:prstGeom>
            <a:ln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73ECA03-BB8E-6B17-8BDE-0A6D5B7BA4E5}"/>
                </a:ext>
              </a:extLst>
            </p:cNvPr>
            <p:cNvCxnSpPr>
              <a:stCxn id="37" idx="1"/>
              <a:endCxn id="37" idx="3"/>
            </p:cNvCxnSpPr>
            <p:nvPr/>
          </p:nvCxnSpPr>
          <p:spPr>
            <a:xfrm>
              <a:off x="5353163" y="2192435"/>
              <a:ext cx="3525255" cy="0"/>
            </a:xfrm>
            <a:prstGeom prst="line">
              <a:avLst/>
            </a:prstGeom>
            <a:ln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24F792AD-7278-BAD6-61A7-5FEC5D7F2945}"/>
                </a:ext>
              </a:extLst>
            </p:cNvPr>
            <p:cNvCxnSpPr/>
            <p:nvPr/>
          </p:nvCxnSpPr>
          <p:spPr>
            <a:xfrm flipH="1" flipV="1">
              <a:off x="6860596" y="1982321"/>
              <a:ext cx="249560" cy="206359"/>
            </a:xfrm>
            <a:prstGeom prst="straightConnector1">
              <a:avLst/>
            </a:prstGeom>
            <a:ln>
              <a:solidFill>
                <a:srgbClr val="00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19572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249259" y="246364"/>
            <a:ext cx="86291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Predicted values are group means, whether there is one group or more.</a:t>
            </a: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</p:txBody>
      </p:sp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39616986"/>
              </p:ext>
            </p:extLst>
          </p:nvPr>
        </p:nvGraphicFramePr>
        <p:xfrm>
          <a:off x="1130859" y="935863"/>
          <a:ext cx="732806" cy="932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98500" imgH="889000" progId="Equation.3">
                  <p:embed/>
                </p:oleObj>
              </mc:Choice>
              <mc:Fallback>
                <p:oleObj name="Equation" r:id="rId2" imgW="698500" imgH="889000" progId="Equation.3">
                  <p:embed/>
                  <p:pic>
                    <p:nvPicPr>
                      <p:cNvPr id="2" name="Object 1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30859" y="935863"/>
                        <a:ext cx="732806" cy="9326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4091093"/>
              </p:ext>
            </p:extLst>
          </p:nvPr>
        </p:nvGraphicFramePr>
        <p:xfrm>
          <a:off x="2208938" y="1126616"/>
          <a:ext cx="2359025" cy="468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600200" imgH="317500" progId="Equation.3">
                  <p:embed/>
                </p:oleObj>
              </mc:Choice>
              <mc:Fallback>
                <p:oleObj name="Equation" r:id="rId4" imgW="1600200" imgH="31750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208938" y="1126616"/>
                        <a:ext cx="2359025" cy="4683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2"/>
          <p:cNvGrpSpPr>
            <a:grpSpLocks noChangeAspect="1"/>
          </p:cNvGrpSpPr>
          <p:nvPr/>
        </p:nvGrpSpPr>
        <p:grpSpPr>
          <a:xfrm>
            <a:off x="5359398" y="4020966"/>
            <a:ext cx="3525255" cy="2510544"/>
            <a:chOff x="1068858" y="2184115"/>
            <a:chExt cx="7050509" cy="5021088"/>
          </a:xfrm>
        </p:grpSpPr>
        <p:sp>
          <p:nvSpPr>
            <p:cNvPr id="19" name="Rectangle 18"/>
            <p:cNvSpPr/>
            <p:nvPr/>
          </p:nvSpPr>
          <p:spPr>
            <a:xfrm>
              <a:off x="1068858" y="2184115"/>
              <a:ext cx="7050509" cy="5021088"/>
            </a:xfrm>
            <a:prstGeom prst="rect">
              <a:avLst/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73028" y="3620407"/>
              <a:ext cx="225522" cy="225534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22" name="Straight Connector 21"/>
            <p:cNvCxnSpPr>
              <a:stCxn id="19" idx="0"/>
              <a:endCxn id="19" idx="2"/>
            </p:cNvCxnSpPr>
            <p:nvPr/>
          </p:nvCxnSpPr>
          <p:spPr>
            <a:xfrm>
              <a:off x="4594113" y="2184115"/>
              <a:ext cx="0" cy="5021088"/>
            </a:xfrm>
            <a:prstGeom prst="line">
              <a:avLst/>
            </a:prstGeom>
            <a:ln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19" idx="1"/>
              <a:endCxn id="19" idx="3"/>
            </p:cNvCxnSpPr>
            <p:nvPr/>
          </p:nvCxnSpPr>
          <p:spPr>
            <a:xfrm>
              <a:off x="1068858" y="4694659"/>
              <a:ext cx="7050509" cy="0"/>
            </a:xfrm>
            <a:prstGeom prst="line">
              <a:avLst/>
            </a:prstGeom>
            <a:ln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>
              <a:endCxn id="20" idx="5"/>
            </p:cNvCxnSpPr>
            <p:nvPr/>
          </p:nvCxnSpPr>
          <p:spPr>
            <a:xfrm flipH="1" flipV="1">
              <a:off x="3065523" y="3812912"/>
              <a:ext cx="1517319" cy="874234"/>
            </a:xfrm>
            <a:prstGeom prst="straightConnector1">
              <a:avLst/>
            </a:prstGeom>
            <a:ln>
              <a:solidFill>
                <a:srgbClr val="00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Oval 24"/>
            <p:cNvSpPr/>
            <p:nvPr/>
          </p:nvSpPr>
          <p:spPr>
            <a:xfrm>
              <a:off x="6479465" y="2573918"/>
              <a:ext cx="225522" cy="225534"/>
            </a:xfrm>
            <a:prstGeom prst="ellipse">
              <a:avLst/>
            </a:prstGeom>
            <a:solidFill>
              <a:srgbClr val="CCFFCC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26" name="Straight Arrow Connector 25"/>
            <p:cNvCxnSpPr/>
            <p:nvPr/>
          </p:nvCxnSpPr>
          <p:spPr>
            <a:xfrm flipV="1">
              <a:off x="3098550" y="2730813"/>
              <a:ext cx="3413942" cy="966751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26"/>
            <p:cNvSpPr/>
            <p:nvPr/>
          </p:nvSpPr>
          <p:spPr>
            <a:xfrm>
              <a:off x="2952762" y="6004874"/>
              <a:ext cx="225522" cy="22553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28" name="Straight Arrow Connector 27"/>
            <p:cNvCxnSpPr>
              <a:stCxn id="20" idx="4"/>
              <a:endCxn id="27" idx="0"/>
            </p:cNvCxnSpPr>
            <p:nvPr/>
          </p:nvCxnSpPr>
          <p:spPr>
            <a:xfrm>
              <a:off x="2985789" y="3845941"/>
              <a:ext cx="79734" cy="2158933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9" name="Object 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295098"/>
              </p:ext>
            </p:extLst>
          </p:nvPr>
        </p:nvGraphicFramePr>
        <p:xfrm>
          <a:off x="311171" y="3368441"/>
          <a:ext cx="1016234" cy="22371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30300" imgH="2489200" progId="Equation.3">
                  <p:embed/>
                </p:oleObj>
              </mc:Choice>
              <mc:Fallback>
                <p:oleObj name="Equation" r:id="rId6" imgW="1130300" imgH="2489200" progId="Equation.3">
                  <p:embed/>
                  <p:pic>
                    <p:nvPicPr>
                      <p:cNvPr id="29" name="Object 28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311171" y="3368441"/>
                        <a:ext cx="1016234" cy="22371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Object 3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36344634"/>
              </p:ext>
            </p:extLst>
          </p:nvPr>
        </p:nvGraphicFramePr>
        <p:xfrm>
          <a:off x="1943233" y="3466416"/>
          <a:ext cx="2865437" cy="1311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943100" imgH="889000" progId="Equation.3">
                  <p:embed/>
                </p:oleObj>
              </mc:Choice>
              <mc:Fallback>
                <p:oleObj name="Equation" r:id="rId8" imgW="1943100" imgH="889000" progId="Equation.3">
                  <p:embed/>
                  <p:pic>
                    <p:nvPicPr>
                      <p:cNvPr id="35" name="Object 3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943233" y="3466416"/>
                        <a:ext cx="2865437" cy="13112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Object 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9155017"/>
              </p:ext>
            </p:extLst>
          </p:nvPr>
        </p:nvGraphicFramePr>
        <p:xfrm>
          <a:off x="2322682" y="1643310"/>
          <a:ext cx="1462088" cy="1535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990600" imgH="1041400" progId="Equation.3">
                  <p:embed/>
                </p:oleObj>
              </mc:Choice>
              <mc:Fallback>
                <p:oleObj name="Equation" r:id="rId10" imgW="990600" imgH="1041400" progId="Equation.3">
                  <p:embed/>
                  <p:pic>
                    <p:nvPicPr>
                      <p:cNvPr id="36" name="Object 35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2322682" y="1643310"/>
                        <a:ext cx="1462088" cy="15351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" name="Object 3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3097659"/>
              </p:ext>
            </p:extLst>
          </p:nvPr>
        </p:nvGraphicFramePr>
        <p:xfrm>
          <a:off x="2208938" y="4406599"/>
          <a:ext cx="1423987" cy="2173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965200" imgH="1473200" progId="Equation.3">
                  <p:embed/>
                </p:oleObj>
              </mc:Choice>
              <mc:Fallback>
                <p:oleObj name="Equation" r:id="rId12" imgW="965200" imgH="1473200" progId="Equation.3">
                  <p:embed/>
                  <p:pic>
                    <p:nvPicPr>
                      <p:cNvPr id="37" name="Object 36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2208938" y="4406599"/>
                        <a:ext cx="1423987" cy="21732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" name="Group 37"/>
          <p:cNvGrpSpPr/>
          <p:nvPr/>
        </p:nvGrpSpPr>
        <p:grpSpPr>
          <a:xfrm>
            <a:off x="5353163" y="720587"/>
            <a:ext cx="3525255" cy="2510544"/>
            <a:chOff x="5353163" y="937163"/>
            <a:chExt cx="3525255" cy="2510544"/>
          </a:xfrm>
        </p:grpSpPr>
        <p:sp>
          <p:nvSpPr>
            <p:cNvPr id="39" name="Rectangle 38"/>
            <p:cNvSpPr/>
            <p:nvPr/>
          </p:nvSpPr>
          <p:spPr>
            <a:xfrm>
              <a:off x="5353163" y="937163"/>
              <a:ext cx="3525255" cy="2510544"/>
            </a:xfrm>
            <a:prstGeom prst="rect">
              <a:avLst/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6765658" y="1880839"/>
              <a:ext cx="112761" cy="112767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cxnSp>
          <p:nvCxnSpPr>
            <p:cNvPr id="41" name="Straight Connector 40"/>
            <p:cNvCxnSpPr>
              <a:stCxn id="39" idx="0"/>
              <a:endCxn id="39" idx="2"/>
            </p:cNvCxnSpPr>
            <p:nvPr/>
          </p:nvCxnSpPr>
          <p:spPr>
            <a:xfrm>
              <a:off x="7115791" y="937163"/>
              <a:ext cx="0" cy="2510544"/>
            </a:xfrm>
            <a:prstGeom prst="line">
              <a:avLst/>
            </a:prstGeom>
            <a:ln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>
              <a:stCxn id="39" idx="1"/>
              <a:endCxn id="39" idx="3"/>
            </p:cNvCxnSpPr>
            <p:nvPr/>
          </p:nvCxnSpPr>
          <p:spPr>
            <a:xfrm>
              <a:off x="5353163" y="2192435"/>
              <a:ext cx="3525255" cy="0"/>
            </a:xfrm>
            <a:prstGeom prst="line">
              <a:avLst/>
            </a:prstGeom>
            <a:ln>
              <a:prstDash val="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H="1" flipV="1">
              <a:off x="6860596" y="1982321"/>
              <a:ext cx="249560" cy="206359"/>
            </a:xfrm>
            <a:prstGeom prst="straightConnector1">
              <a:avLst/>
            </a:prstGeom>
            <a:ln>
              <a:solidFill>
                <a:srgbClr val="00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47888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249260" y="306524"/>
            <a:ext cx="510390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Residuals describe within-group dispersion.</a:t>
            </a:r>
          </a:p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Diagonal of outer-product of error represents distances from the mean.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59398" y="4081126"/>
            <a:ext cx="3525255" cy="2510544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6261483" y="4799272"/>
            <a:ext cx="112761" cy="112767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>
            <a:stCxn id="19" idx="0"/>
            <a:endCxn id="19" idx="2"/>
          </p:cNvCxnSpPr>
          <p:nvPr/>
        </p:nvCxnSpPr>
        <p:spPr>
          <a:xfrm>
            <a:off x="7122026" y="4081126"/>
            <a:ext cx="0" cy="2510544"/>
          </a:xfrm>
          <a:prstGeom prst="line">
            <a:avLst/>
          </a:prstGeom>
          <a:ln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19" idx="1"/>
            <a:endCxn id="19" idx="3"/>
          </p:cNvCxnSpPr>
          <p:nvPr/>
        </p:nvCxnSpPr>
        <p:spPr>
          <a:xfrm>
            <a:off x="5359398" y="5336398"/>
            <a:ext cx="3525255" cy="0"/>
          </a:xfrm>
          <a:prstGeom prst="line">
            <a:avLst/>
          </a:prstGeom>
          <a:ln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064702" y="4276028"/>
            <a:ext cx="112761" cy="112767"/>
          </a:xfrm>
          <a:prstGeom prst="ellipse">
            <a:avLst/>
          </a:prstGeom>
          <a:solidFill>
            <a:srgbClr val="CCFF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6301350" y="5991506"/>
            <a:ext cx="112761" cy="112767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6" name="Object 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30703845"/>
              </p:ext>
            </p:extLst>
          </p:nvPr>
        </p:nvGraphicFramePr>
        <p:xfrm>
          <a:off x="804001" y="1858219"/>
          <a:ext cx="1404937" cy="35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52500" imgH="241300" progId="Equation.3">
                  <p:embed/>
                </p:oleObj>
              </mc:Choice>
              <mc:Fallback>
                <p:oleObj name="Equation" r:id="rId2" imgW="952500" imgH="241300" progId="Equation.3">
                  <p:embed/>
                  <p:pic>
                    <p:nvPicPr>
                      <p:cNvPr id="36" name="Object 3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04001" y="1858219"/>
                        <a:ext cx="1404937" cy="355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" name="Rectangle 38"/>
          <p:cNvSpPr/>
          <p:nvPr/>
        </p:nvSpPr>
        <p:spPr>
          <a:xfrm>
            <a:off x="5353163" y="780747"/>
            <a:ext cx="3525255" cy="2510544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6765658" y="1724423"/>
            <a:ext cx="112761" cy="112767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/>
          <p:cNvCxnSpPr>
            <a:stCxn id="39" idx="0"/>
            <a:endCxn id="39" idx="2"/>
          </p:cNvCxnSpPr>
          <p:nvPr/>
        </p:nvCxnSpPr>
        <p:spPr>
          <a:xfrm>
            <a:off x="7115791" y="780747"/>
            <a:ext cx="0" cy="2510544"/>
          </a:xfrm>
          <a:prstGeom prst="line">
            <a:avLst/>
          </a:prstGeom>
          <a:ln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39" idx="1"/>
            <a:endCxn id="39" idx="3"/>
          </p:cNvCxnSpPr>
          <p:nvPr/>
        </p:nvCxnSpPr>
        <p:spPr>
          <a:xfrm>
            <a:off x="5353163" y="2036019"/>
            <a:ext cx="3525255" cy="0"/>
          </a:xfrm>
          <a:prstGeom prst="line">
            <a:avLst/>
          </a:prstGeom>
          <a:ln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0" name="Object 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49859506"/>
              </p:ext>
            </p:extLst>
          </p:nvPr>
        </p:nvGraphicFramePr>
        <p:xfrm>
          <a:off x="3124200" y="1824784"/>
          <a:ext cx="1611312" cy="468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92200" imgH="317500" progId="Equation.3">
                  <p:embed/>
                </p:oleObj>
              </mc:Choice>
              <mc:Fallback>
                <p:oleObj name="Equation" r:id="rId4" imgW="1092200" imgH="317500" progId="Equation.3">
                  <p:embed/>
                  <p:pic>
                    <p:nvPicPr>
                      <p:cNvPr id="30" name="Object 29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124200" y="1824784"/>
                        <a:ext cx="1611312" cy="4683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Oval 3"/>
          <p:cNvSpPr/>
          <p:nvPr/>
        </p:nvSpPr>
        <p:spPr>
          <a:xfrm>
            <a:off x="6065341" y="595589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6645061" y="610829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6334531" y="604703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6217741" y="466015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6117383" y="492082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6486931" y="475129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8020071" y="474133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8552311" y="414592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7790721" y="412027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6051561" y="266599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6631281" y="281839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6320751" y="275713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6203961" y="137025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6103603" y="163092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6473151" y="146139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8006291" y="145143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8538531" y="85602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7776941" y="830376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>
            <a:stCxn id="58" idx="0"/>
            <a:endCxn id="40" idx="3"/>
          </p:cNvCxnSpPr>
          <p:nvPr/>
        </p:nvCxnSpPr>
        <p:spPr>
          <a:xfrm flipV="1">
            <a:off x="6074421" y="1820676"/>
            <a:ext cx="707750" cy="84532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>
            <a:stCxn id="60" idx="7"/>
            <a:endCxn id="40" idx="4"/>
          </p:cNvCxnSpPr>
          <p:nvPr/>
        </p:nvCxnSpPr>
        <p:spPr>
          <a:xfrm flipV="1">
            <a:off x="6359775" y="1837190"/>
            <a:ext cx="462264" cy="926641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59" idx="0"/>
            <a:endCxn id="40" idx="4"/>
          </p:cNvCxnSpPr>
          <p:nvPr/>
        </p:nvCxnSpPr>
        <p:spPr>
          <a:xfrm flipV="1">
            <a:off x="6654141" y="1837190"/>
            <a:ext cx="167898" cy="981206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>
            <a:stCxn id="40" idx="7"/>
            <a:endCxn id="66" idx="3"/>
          </p:cNvCxnSpPr>
          <p:nvPr/>
        </p:nvCxnSpPr>
        <p:spPr>
          <a:xfrm flipV="1">
            <a:off x="6861906" y="869400"/>
            <a:ext cx="921730" cy="871537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>
            <a:stCxn id="40" idx="6"/>
            <a:endCxn id="65" idx="3"/>
          </p:cNvCxnSpPr>
          <p:nvPr/>
        </p:nvCxnSpPr>
        <p:spPr>
          <a:xfrm flipV="1">
            <a:off x="6878419" y="895050"/>
            <a:ext cx="1666807" cy="885757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40" idx="6"/>
            <a:endCxn id="64" idx="3"/>
          </p:cNvCxnSpPr>
          <p:nvPr/>
        </p:nvCxnSpPr>
        <p:spPr>
          <a:xfrm flipV="1">
            <a:off x="6878419" y="1490460"/>
            <a:ext cx="1134567" cy="290347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>
            <a:stCxn id="62" idx="6"/>
            <a:endCxn id="40" idx="2"/>
          </p:cNvCxnSpPr>
          <p:nvPr/>
        </p:nvCxnSpPr>
        <p:spPr>
          <a:xfrm>
            <a:off x="6149322" y="1653788"/>
            <a:ext cx="616336" cy="12701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61" idx="5"/>
            <a:endCxn id="40" idx="1"/>
          </p:cNvCxnSpPr>
          <p:nvPr/>
        </p:nvCxnSpPr>
        <p:spPr>
          <a:xfrm>
            <a:off x="6242985" y="1409280"/>
            <a:ext cx="539186" cy="331657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63" idx="5"/>
            <a:endCxn id="40" idx="1"/>
          </p:cNvCxnSpPr>
          <p:nvPr/>
        </p:nvCxnSpPr>
        <p:spPr>
          <a:xfrm>
            <a:off x="6512175" y="1500420"/>
            <a:ext cx="269996" cy="240517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5" name="Object 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1444267"/>
              </p:ext>
            </p:extLst>
          </p:nvPr>
        </p:nvGraphicFramePr>
        <p:xfrm>
          <a:off x="982663" y="5006134"/>
          <a:ext cx="1349375" cy="35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14400" imgH="241300" progId="Equation.3">
                  <p:embed/>
                </p:oleObj>
              </mc:Choice>
              <mc:Fallback>
                <p:oleObj name="Equation" r:id="rId6" imgW="914400" imgH="241300" progId="Equation.3">
                  <p:embed/>
                  <p:pic>
                    <p:nvPicPr>
                      <p:cNvPr id="75" name="Object 74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982663" y="5006134"/>
                        <a:ext cx="1349375" cy="355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6" name="Object 7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81996733"/>
              </p:ext>
            </p:extLst>
          </p:nvPr>
        </p:nvGraphicFramePr>
        <p:xfrm>
          <a:off x="3476625" y="4969622"/>
          <a:ext cx="1592263" cy="468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79500" imgH="317500" progId="Equation.3">
                  <p:embed/>
                </p:oleObj>
              </mc:Choice>
              <mc:Fallback>
                <p:oleObj name="Equation" r:id="rId8" imgW="1079500" imgH="317500" progId="Equation.3">
                  <p:embed/>
                  <p:pic>
                    <p:nvPicPr>
                      <p:cNvPr id="76" name="Object 7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476625" y="4969622"/>
                        <a:ext cx="1592263" cy="4683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77" name="Straight Arrow Connector 76"/>
          <p:cNvCxnSpPr>
            <a:stCxn id="4" idx="6"/>
            <a:endCxn id="27" idx="2"/>
          </p:cNvCxnSpPr>
          <p:nvPr/>
        </p:nvCxnSpPr>
        <p:spPr>
          <a:xfrm>
            <a:off x="6111060" y="5978756"/>
            <a:ext cx="190290" cy="69134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endCxn id="31" idx="6"/>
          </p:cNvCxnSpPr>
          <p:nvPr/>
        </p:nvCxnSpPr>
        <p:spPr>
          <a:xfrm>
            <a:off x="6414111" y="6051303"/>
            <a:ext cx="276669" cy="79853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>
            <a:endCxn id="25" idx="1"/>
          </p:cNvCxnSpPr>
          <p:nvPr/>
        </p:nvCxnSpPr>
        <p:spPr>
          <a:xfrm>
            <a:off x="7818657" y="4145926"/>
            <a:ext cx="262558" cy="146616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/>
          <p:cNvCxnSpPr>
            <a:stCxn id="55" idx="0"/>
            <a:endCxn id="25" idx="4"/>
          </p:cNvCxnSpPr>
          <p:nvPr/>
        </p:nvCxnSpPr>
        <p:spPr>
          <a:xfrm flipV="1">
            <a:off x="8042931" y="4388795"/>
            <a:ext cx="78152" cy="352541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/>
          <p:cNvCxnSpPr>
            <a:stCxn id="25" idx="6"/>
            <a:endCxn id="56" idx="3"/>
          </p:cNvCxnSpPr>
          <p:nvPr/>
        </p:nvCxnSpPr>
        <p:spPr>
          <a:xfrm flipV="1">
            <a:off x="8177463" y="4184950"/>
            <a:ext cx="381543" cy="147462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/>
          <p:cNvCxnSpPr>
            <a:stCxn id="20" idx="1"/>
          </p:cNvCxnSpPr>
          <p:nvPr/>
        </p:nvCxnSpPr>
        <p:spPr>
          <a:xfrm flipH="1" flipV="1">
            <a:off x="6241254" y="4678305"/>
            <a:ext cx="36742" cy="137481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/>
          <p:cNvCxnSpPr>
            <a:stCxn id="20" idx="3"/>
          </p:cNvCxnSpPr>
          <p:nvPr/>
        </p:nvCxnSpPr>
        <p:spPr>
          <a:xfrm flipH="1">
            <a:off x="6144355" y="4895525"/>
            <a:ext cx="133641" cy="41869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/>
          <p:cNvCxnSpPr/>
          <p:nvPr/>
        </p:nvCxnSpPr>
        <p:spPr>
          <a:xfrm flipH="1">
            <a:off x="6365174" y="4787055"/>
            <a:ext cx="133641" cy="41869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3" name="Object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16948489"/>
              </p:ext>
            </p:extLst>
          </p:nvPr>
        </p:nvGraphicFramePr>
        <p:xfrm>
          <a:off x="774700" y="2712197"/>
          <a:ext cx="4119563" cy="468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794000" imgH="317500" progId="Equation.3">
                  <p:embed/>
                </p:oleObj>
              </mc:Choice>
              <mc:Fallback>
                <p:oleObj name="Equation" r:id="rId10" imgW="2794000" imgH="317500" progId="Equation.3">
                  <p:embed/>
                  <p:pic>
                    <p:nvPicPr>
                      <p:cNvPr id="133" name="Object 132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774700" y="2712197"/>
                        <a:ext cx="4119563" cy="4683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Object 1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7721862"/>
              </p:ext>
            </p:extLst>
          </p:nvPr>
        </p:nvGraphicFramePr>
        <p:xfrm>
          <a:off x="879475" y="5622084"/>
          <a:ext cx="4044950" cy="468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743200" imgH="317500" progId="Equation.3">
                  <p:embed/>
                </p:oleObj>
              </mc:Choice>
              <mc:Fallback>
                <p:oleObj name="Equation" r:id="rId12" imgW="2743200" imgH="317500" progId="Equation.3">
                  <p:embed/>
                  <p:pic>
                    <p:nvPicPr>
                      <p:cNvPr id="134" name="Object 133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879475" y="5622084"/>
                        <a:ext cx="4044950" cy="4683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" name="Object 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4512053"/>
              </p:ext>
            </p:extLst>
          </p:nvPr>
        </p:nvGraphicFramePr>
        <p:xfrm>
          <a:off x="225520" y="3422936"/>
          <a:ext cx="5079978" cy="5745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806700" imgH="317500" progId="Equation.3">
                  <p:embed/>
                </p:oleObj>
              </mc:Choice>
              <mc:Fallback>
                <p:oleObj name="Equation" r:id="rId14" imgW="2806700" imgH="317500" progId="Equation.3">
                  <p:embed/>
                  <p:pic>
                    <p:nvPicPr>
                      <p:cNvPr id="79" name="Object 78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225520" y="3422936"/>
                        <a:ext cx="5079978" cy="574596"/>
                      </a:xfrm>
                      <a:prstGeom prst="rect">
                        <a:avLst/>
                      </a:prstGeom>
                      <a:solidFill>
                        <a:srgbClr val="CCFFCC"/>
                      </a:solidFill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80" name="Straight Arrow Connector 79"/>
          <p:cNvCxnSpPr/>
          <p:nvPr/>
        </p:nvCxnSpPr>
        <p:spPr>
          <a:xfrm>
            <a:off x="6349193" y="4895525"/>
            <a:ext cx="442938" cy="155232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1" name="Straight Arrow Connector 80"/>
          <p:cNvCxnSpPr/>
          <p:nvPr/>
        </p:nvCxnSpPr>
        <p:spPr>
          <a:xfrm flipV="1">
            <a:off x="6385444" y="5171314"/>
            <a:ext cx="434401" cy="808886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V="1">
            <a:off x="6888889" y="4372281"/>
            <a:ext cx="1192326" cy="69216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aphicFrame>
        <p:nvGraphicFramePr>
          <p:cNvPr id="84" name="Object 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25229180"/>
              </p:ext>
            </p:extLst>
          </p:nvPr>
        </p:nvGraphicFramePr>
        <p:xfrm>
          <a:off x="7405688" y="5793534"/>
          <a:ext cx="1273175" cy="674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863600" imgH="457200" progId="Equation.3">
                  <p:embed/>
                </p:oleObj>
              </mc:Choice>
              <mc:Fallback>
                <p:oleObj name="Equation" r:id="rId16" imgW="863600" imgH="457200" progId="Equation.3">
                  <p:embed/>
                  <p:pic>
                    <p:nvPicPr>
                      <p:cNvPr id="84" name="Object 83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7405688" y="5793534"/>
                        <a:ext cx="1273175" cy="6746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6" name="Oval 85"/>
          <p:cNvSpPr/>
          <p:nvPr/>
        </p:nvSpPr>
        <p:spPr>
          <a:xfrm>
            <a:off x="6775618" y="5034243"/>
            <a:ext cx="112761" cy="112767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-25665" y="6539317"/>
            <a:ext cx="558234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Anderson MJ (2001). </a:t>
            </a:r>
            <a:r>
              <a:rPr lang="en-US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Austral Ecology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26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32-46 </a:t>
            </a:r>
          </a:p>
        </p:txBody>
      </p:sp>
    </p:spTree>
    <p:extLst>
      <p:ext uri="{BB962C8B-B14F-4D97-AF65-F5344CB8AC3E}">
        <p14:creationId xmlns:p14="http://schemas.microsoft.com/office/powerpoint/2010/main" val="1175471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249260" y="294493"/>
            <a:ext cx="510390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Null Hypothesis</a:t>
            </a:r>
          </a:p>
          <a:p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Viable test statistics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59398" y="4069095"/>
            <a:ext cx="3525255" cy="2510544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6261483" y="4787241"/>
            <a:ext cx="112761" cy="112767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>
            <a:stCxn id="19" idx="0"/>
            <a:endCxn id="19" idx="2"/>
          </p:cNvCxnSpPr>
          <p:nvPr/>
        </p:nvCxnSpPr>
        <p:spPr>
          <a:xfrm>
            <a:off x="7122026" y="4069095"/>
            <a:ext cx="0" cy="2510544"/>
          </a:xfrm>
          <a:prstGeom prst="line">
            <a:avLst/>
          </a:prstGeom>
          <a:ln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19" idx="1"/>
            <a:endCxn id="19" idx="3"/>
          </p:cNvCxnSpPr>
          <p:nvPr/>
        </p:nvCxnSpPr>
        <p:spPr>
          <a:xfrm>
            <a:off x="5359398" y="5324367"/>
            <a:ext cx="3525255" cy="0"/>
          </a:xfrm>
          <a:prstGeom prst="line">
            <a:avLst/>
          </a:prstGeom>
          <a:ln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064702" y="4263997"/>
            <a:ext cx="112761" cy="112767"/>
          </a:xfrm>
          <a:prstGeom prst="ellipse">
            <a:avLst/>
          </a:prstGeom>
          <a:solidFill>
            <a:srgbClr val="CCFF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6301350" y="5979475"/>
            <a:ext cx="112761" cy="112767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6065341" y="594386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6645061" y="609626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6334531" y="603500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6217741" y="464812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6117383" y="490879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6486931" y="473926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8020071" y="472930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8552311" y="413389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7790721" y="410824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Arrow Connector 76"/>
          <p:cNvCxnSpPr>
            <a:stCxn id="4" idx="6"/>
            <a:endCxn id="27" idx="2"/>
          </p:cNvCxnSpPr>
          <p:nvPr/>
        </p:nvCxnSpPr>
        <p:spPr>
          <a:xfrm>
            <a:off x="6111060" y="5966725"/>
            <a:ext cx="190290" cy="69134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endCxn id="31" idx="6"/>
          </p:cNvCxnSpPr>
          <p:nvPr/>
        </p:nvCxnSpPr>
        <p:spPr>
          <a:xfrm>
            <a:off x="6414111" y="6039272"/>
            <a:ext cx="276669" cy="79853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>
            <a:endCxn id="25" idx="1"/>
          </p:cNvCxnSpPr>
          <p:nvPr/>
        </p:nvCxnSpPr>
        <p:spPr>
          <a:xfrm>
            <a:off x="7818657" y="4133895"/>
            <a:ext cx="262558" cy="146616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/>
          <p:cNvCxnSpPr>
            <a:stCxn id="55" idx="0"/>
            <a:endCxn id="25" idx="4"/>
          </p:cNvCxnSpPr>
          <p:nvPr/>
        </p:nvCxnSpPr>
        <p:spPr>
          <a:xfrm flipV="1">
            <a:off x="8042931" y="4376764"/>
            <a:ext cx="78152" cy="352541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/>
          <p:cNvCxnSpPr>
            <a:stCxn id="25" idx="6"/>
            <a:endCxn id="56" idx="3"/>
          </p:cNvCxnSpPr>
          <p:nvPr/>
        </p:nvCxnSpPr>
        <p:spPr>
          <a:xfrm flipV="1">
            <a:off x="8177463" y="4172919"/>
            <a:ext cx="381543" cy="147462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/>
          <p:cNvCxnSpPr>
            <a:stCxn id="20" idx="1"/>
          </p:cNvCxnSpPr>
          <p:nvPr/>
        </p:nvCxnSpPr>
        <p:spPr>
          <a:xfrm flipH="1" flipV="1">
            <a:off x="6241254" y="4666274"/>
            <a:ext cx="36742" cy="137481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/>
          <p:cNvCxnSpPr>
            <a:stCxn id="20" idx="3"/>
          </p:cNvCxnSpPr>
          <p:nvPr/>
        </p:nvCxnSpPr>
        <p:spPr>
          <a:xfrm flipH="1">
            <a:off x="6144355" y="4883494"/>
            <a:ext cx="133641" cy="41869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/>
          <p:cNvCxnSpPr/>
          <p:nvPr/>
        </p:nvCxnSpPr>
        <p:spPr>
          <a:xfrm flipH="1">
            <a:off x="6365174" y="4775024"/>
            <a:ext cx="133641" cy="41869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5353163" y="768716"/>
            <a:ext cx="3525255" cy="2510544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/>
          <p:cNvSpPr/>
          <p:nvPr/>
        </p:nvSpPr>
        <p:spPr>
          <a:xfrm>
            <a:off x="6765658" y="1712392"/>
            <a:ext cx="112761" cy="112767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/>
          <p:cNvCxnSpPr>
            <a:stCxn id="79" idx="0"/>
            <a:endCxn id="79" idx="2"/>
          </p:cNvCxnSpPr>
          <p:nvPr/>
        </p:nvCxnSpPr>
        <p:spPr>
          <a:xfrm>
            <a:off x="7115791" y="768716"/>
            <a:ext cx="0" cy="2510544"/>
          </a:xfrm>
          <a:prstGeom prst="line">
            <a:avLst/>
          </a:prstGeom>
          <a:ln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79" idx="1"/>
            <a:endCxn id="79" idx="3"/>
          </p:cNvCxnSpPr>
          <p:nvPr/>
        </p:nvCxnSpPr>
        <p:spPr>
          <a:xfrm>
            <a:off x="5353163" y="2023988"/>
            <a:ext cx="3525255" cy="0"/>
          </a:xfrm>
          <a:prstGeom prst="line">
            <a:avLst/>
          </a:prstGeom>
          <a:ln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6051561" y="265396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6631281" y="280636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6320751" y="274510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203961" y="135822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6103603" y="161889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/>
          <p:cNvSpPr/>
          <p:nvPr/>
        </p:nvSpPr>
        <p:spPr>
          <a:xfrm>
            <a:off x="6473151" y="144936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/>
          <p:cNvSpPr/>
          <p:nvPr/>
        </p:nvSpPr>
        <p:spPr>
          <a:xfrm>
            <a:off x="8006291" y="143940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/>
          <p:cNvSpPr/>
          <p:nvPr/>
        </p:nvSpPr>
        <p:spPr>
          <a:xfrm>
            <a:off x="8538531" y="84399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/>
          <p:cNvSpPr/>
          <p:nvPr/>
        </p:nvSpPr>
        <p:spPr>
          <a:xfrm>
            <a:off x="7776941" y="81834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6" name="Straight Arrow Connector 95"/>
          <p:cNvCxnSpPr>
            <a:stCxn id="84" idx="0"/>
            <a:endCxn id="80" idx="3"/>
          </p:cNvCxnSpPr>
          <p:nvPr/>
        </p:nvCxnSpPr>
        <p:spPr>
          <a:xfrm flipV="1">
            <a:off x="6074421" y="1808645"/>
            <a:ext cx="707750" cy="845320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/>
          <p:cNvCxnSpPr>
            <a:stCxn id="87" idx="7"/>
            <a:endCxn id="80" idx="4"/>
          </p:cNvCxnSpPr>
          <p:nvPr/>
        </p:nvCxnSpPr>
        <p:spPr>
          <a:xfrm flipV="1">
            <a:off x="6359775" y="1825159"/>
            <a:ext cx="462264" cy="926641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/>
          <p:cNvCxnSpPr>
            <a:stCxn id="86" idx="0"/>
            <a:endCxn id="80" idx="4"/>
          </p:cNvCxnSpPr>
          <p:nvPr/>
        </p:nvCxnSpPr>
        <p:spPr>
          <a:xfrm flipV="1">
            <a:off x="6654141" y="1825159"/>
            <a:ext cx="167898" cy="981206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/>
          <p:cNvCxnSpPr>
            <a:stCxn id="80" idx="7"/>
            <a:endCxn id="95" idx="3"/>
          </p:cNvCxnSpPr>
          <p:nvPr/>
        </p:nvCxnSpPr>
        <p:spPr>
          <a:xfrm flipV="1">
            <a:off x="6861906" y="857369"/>
            <a:ext cx="921730" cy="871537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/>
          <p:cNvCxnSpPr>
            <a:stCxn id="80" idx="6"/>
            <a:endCxn id="93" idx="3"/>
          </p:cNvCxnSpPr>
          <p:nvPr/>
        </p:nvCxnSpPr>
        <p:spPr>
          <a:xfrm flipV="1">
            <a:off x="6878419" y="883019"/>
            <a:ext cx="1666807" cy="885757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/>
          <p:cNvCxnSpPr>
            <a:stCxn id="80" idx="6"/>
            <a:endCxn id="92" idx="3"/>
          </p:cNvCxnSpPr>
          <p:nvPr/>
        </p:nvCxnSpPr>
        <p:spPr>
          <a:xfrm flipV="1">
            <a:off x="6878419" y="1478429"/>
            <a:ext cx="1134567" cy="290347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/>
          <p:cNvCxnSpPr>
            <a:stCxn id="89" idx="6"/>
            <a:endCxn id="80" idx="2"/>
          </p:cNvCxnSpPr>
          <p:nvPr/>
        </p:nvCxnSpPr>
        <p:spPr>
          <a:xfrm>
            <a:off x="6149322" y="1641757"/>
            <a:ext cx="616336" cy="127019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/>
          <p:cNvCxnSpPr>
            <a:stCxn id="88" idx="5"/>
            <a:endCxn id="80" idx="1"/>
          </p:cNvCxnSpPr>
          <p:nvPr/>
        </p:nvCxnSpPr>
        <p:spPr>
          <a:xfrm>
            <a:off x="6242985" y="1397249"/>
            <a:ext cx="539186" cy="331657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/>
          <p:cNvCxnSpPr>
            <a:stCxn id="90" idx="5"/>
            <a:endCxn id="80" idx="1"/>
          </p:cNvCxnSpPr>
          <p:nvPr/>
        </p:nvCxnSpPr>
        <p:spPr>
          <a:xfrm>
            <a:off x="6512175" y="1488389"/>
            <a:ext cx="269996" cy="240517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6775618" y="5022212"/>
            <a:ext cx="112761" cy="112767"/>
          </a:xfrm>
          <a:prstGeom prst="ellipse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Arrow Connector 58"/>
          <p:cNvCxnSpPr>
            <a:endCxn id="58" idx="1"/>
          </p:cNvCxnSpPr>
          <p:nvPr/>
        </p:nvCxnSpPr>
        <p:spPr>
          <a:xfrm>
            <a:off x="6349193" y="4883494"/>
            <a:ext cx="442938" cy="155232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flipV="1">
            <a:off x="6385444" y="5159283"/>
            <a:ext cx="434401" cy="808886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aphicFrame>
        <p:nvGraphicFramePr>
          <p:cNvPr id="69" name="Object 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5320260"/>
              </p:ext>
            </p:extLst>
          </p:nvPr>
        </p:nvGraphicFramePr>
        <p:xfrm>
          <a:off x="489905" y="775357"/>
          <a:ext cx="2586735" cy="7802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65200" imgH="292100" progId="Equation.3">
                  <p:embed/>
                </p:oleObj>
              </mc:Choice>
              <mc:Fallback>
                <p:oleObj name="Equation" r:id="rId2" imgW="965200" imgH="292100" progId="Equation.3">
                  <p:embed/>
                  <p:pic>
                    <p:nvPicPr>
                      <p:cNvPr id="69" name="Object 68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89905" y="775357"/>
                        <a:ext cx="2586735" cy="78024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Object 6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24962855"/>
              </p:ext>
            </p:extLst>
          </p:nvPr>
        </p:nvGraphicFramePr>
        <p:xfrm>
          <a:off x="3252255" y="1145294"/>
          <a:ext cx="1790232" cy="60814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55700" imgH="393700" progId="Equation.3">
                  <p:embed/>
                </p:oleObj>
              </mc:Choice>
              <mc:Fallback>
                <p:oleObj name="Equation" r:id="rId4" imgW="1155700" imgH="393700" progId="Equation.3">
                  <p:embed/>
                  <p:pic>
                    <p:nvPicPr>
                      <p:cNvPr id="70" name="Object 69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252255" y="1145294"/>
                        <a:ext cx="1790232" cy="60814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Object 7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3432169"/>
              </p:ext>
            </p:extLst>
          </p:nvPr>
        </p:nvGraphicFramePr>
        <p:xfrm>
          <a:off x="473075" y="1433341"/>
          <a:ext cx="2620963" cy="7794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77900" imgH="292100" progId="Equation.3">
                  <p:embed/>
                </p:oleObj>
              </mc:Choice>
              <mc:Fallback>
                <p:oleObj name="Equation" r:id="rId6" imgW="977900" imgH="292100" progId="Equation.3">
                  <p:embed/>
                  <p:pic>
                    <p:nvPicPr>
                      <p:cNvPr id="71" name="Object 70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473075" y="1433341"/>
                        <a:ext cx="2620963" cy="7794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Object 7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2309542"/>
              </p:ext>
            </p:extLst>
          </p:nvPr>
        </p:nvGraphicFramePr>
        <p:xfrm>
          <a:off x="516518" y="3095490"/>
          <a:ext cx="2084387" cy="292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46200" imgH="1892300" progId="Equation.3">
                  <p:embed/>
                </p:oleObj>
              </mc:Choice>
              <mc:Fallback>
                <p:oleObj name="Equation" r:id="rId8" imgW="1346200" imgH="1892300" progId="Equation.3">
                  <p:embed/>
                  <p:pic>
                    <p:nvPicPr>
                      <p:cNvPr id="73" name="Object 7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16518" y="3095490"/>
                        <a:ext cx="2084387" cy="2921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" name="Object 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6001008"/>
              </p:ext>
            </p:extLst>
          </p:nvPr>
        </p:nvGraphicFramePr>
        <p:xfrm>
          <a:off x="7405688" y="5781503"/>
          <a:ext cx="1273175" cy="674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63600" imgH="457200" progId="Equation.3">
                  <p:embed/>
                </p:oleObj>
              </mc:Choice>
              <mc:Fallback>
                <p:oleObj name="Equation" r:id="rId10" imgW="863600" imgH="457200" progId="Equation.3">
                  <p:embed/>
                  <p:pic>
                    <p:nvPicPr>
                      <p:cNvPr id="61" name="Object 60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7405688" y="5781503"/>
                        <a:ext cx="1273175" cy="6746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3" name="Straight Arrow Connector 62"/>
          <p:cNvCxnSpPr/>
          <p:nvPr/>
        </p:nvCxnSpPr>
        <p:spPr>
          <a:xfrm flipV="1">
            <a:off x="6888889" y="4360250"/>
            <a:ext cx="1192326" cy="69216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0" y="6563507"/>
            <a:ext cx="558234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Anderson MJ (2001). </a:t>
            </a:r>
            <a:r>
              <a:rPr lang="en-US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Austral Ecology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26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32-46 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357096" y="4077004"/>
            <a:ext cx="2812432" cy="73866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* If the reduced model is different, the coefficient of determination is evaluated using a null model</a:t>
            </a:r>
          </a:p>
        </p:txBody>
      </p:sp>
    </p:spTree>
    <p:extLst>
      <p:ext uri="{BB962C8B-B14F-4D97-AF65-F5344CB8AC3E}">
        <p14:creationId xmlns:p14="http://schemas.microsoft.com/office/powerpoint/2010/main" val="1038006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52399" y="352924"/>
            <a:ext cx="6549189" cy="19389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However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: there is no multivariate F distribution! Solutions: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Use multivariate approximations and then apply a conversion to an approximate F-value</a:t>
            </a:r>
          </a:p>
          <a:p>
            <a:pPr marL="285750" indent="-285750">
              <a:buFontTx/>
              <a:buChar char="-"/>
            </a:pP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pPr marL="285750" indent="-285750">
              <a:buFontTx/>
              <a:buChar char="-"/>
            </a:pP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370574" y="2334124"/>
                <a:ext cx="4800600" cy="3280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"/>
                  </a:rPr>
                  <a:t>Wilks’ lambda </a:t>
                </a:r>
                <a14:m>
                  <m:oMath xmlns:m="http://schemas.openxmlformats.org/officeDocument/2006/math">
                    <m:r>
                      <a:rPr lang="el-GR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𝛬</m:t>
                    </m:r>
                    <m:r>
                      <a:rPr lang="el-GR" sz="2400" b="1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l-GR" sz="2400" b="1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l-GR" sz="2400" b="1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l-GR" sz="2400" b="1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pt-PT" sz="24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sub>
                            </m:sSub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l-GR" sz="2400" b="1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US" sz="2400" b="1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0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pt-PT" sz="2400" b="1" i="0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𝐍</m:t>
                                    </m:r>
                                  </m:sub>
                                </m:sSub>
                                <m:r>
                                  <a:rPr lang="en-US" sz="24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0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pt-PT" sz="2400" b="1" i="0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4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2400" b="1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pt-PT" sz="24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sub>
                            </m:sSub>
                          </m:e>
                        </m:d>
                      </m:den>
                    </m:f>
                  </m:oMath>
                </a14:m>
                <a:endPara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"/>
                  </a:rPr>
                  <a:t>Pillai’s trace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𝑡𝑟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1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pt-PT" sz="20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𝐑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b="1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pt-PT" sz="20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𝐅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2000" b="1" i="1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pt-PT" sz="20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sub>
                            </m:sSub>
                          </m:e>
                          <m:sup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0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"/>
                  </a:rPr>
                  <a:t>Hotelling’s</a:t>
                </a: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"/>
                  </a:rPr>
                  <a:t> trace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𝑡𝑟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1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pt-PT" sz="20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𝐑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b="1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pt-PT" sz="20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𝐅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2000" b="1" i="1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pt-PT" sz="2000" b="1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sub>
                            </m:sSub>
                          </m:e>
                          <m:sup>
                            <m:r>
                              <a:rPr lang="en-US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"/>
                  </a:rPr>
                  <a:t>Converted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l-GR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𝛬</m:t>
                            </m:r>
                          </m:num>
                          <m:den>
                            <m:r>
                              <a:rPr lang="el-GR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𝛬</m:t>
                            </m:r>
                          </m:den>
                        </m:f>
                      </m:e>
                    </m:d>
                    <m:d>
                      <m:dPr>
                        <m:ctrlP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num>
                          <m:den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den>
                        </m:f>
                      </m:e>
                    </m:d>
                  </m:oMath>
                </a14:m>
                <a:endParaRPr lang="en-US" sz="20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574" y="2334124"/>
                <a:ext cx="4800600" cy="3280963"/>
              </a:xfrm>
              <a:prstGeom prst="rect">
                <a:avLst/>
              </a:prstGeom>
              <a:blipFill>
                <a:blip r:embed="rId2"/>
                <a:stretch>
                  <a:fillRect l="-1319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/>
          <p:cNvSpPr txBox="1"/>
          <p:nvPr/>
        </p:nvSpPr>
        <p:spPr>
          <a:xfrm>
            <a:off x="1371600" y="5482241"/>
            <a:ext cx="32993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n: total sample size, s: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ncol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(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Xr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),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ncol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(Y)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6334780"/>
            <a:ext cx="4572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pPr algn="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Anderson MJ,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Ter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Braak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CJF (2003). </a:t>
            </a:r>
            <a:r>
              <a:rPr lang="en-US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Journal of Statistical Computation and Simulation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73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85-113</a:t>
            </a:r>
            <a:endParaRPr lang="en-US" sz="1400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186799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6616B-8A7E-8CE5-934B-EDF8ADB72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F2C13F36-2564-28A1-3EDD-66909C3348C0}"/>
              </a:ext>
            </a:extLst>
          </p:cNvPr>
          <p:cNvSpPr txBox="1"/>
          <p:nvPr/>
        </p:nvSpPr>
        <p:spPr>
          <a:xfrm>
            <a:off x="152399" y="352924"/>
            <a:ext cx="6549189" cy="19389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However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: there is no multivariate F distribution! Solutions: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Use multivariate approximations and then apply a conversion to an approximate F-value</a:t>
            </a:r>
          </a:p>
          <a:p>
            <a:pPr marL="285750" indent="-285750">
              <a:buFontTx/>
              <a:buChar char="-"/>
            </a:pP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  <a:p>
            <a:pPr marL="285750" indent="-285750">
              <a:buFontTx/>
              <a:buChar char="-"/>
            </a:pP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6D547B-6877-1DB7-487F-C9D86DA596B5}"/>
                  </a:ext>
                </a:extLst>
              </p:cNvPr>
              <p:cNvSpPr txBox="1"/>
              <p:nvPr/>
            </p:nvSpPr>
            <p:spPr>
              <a:xfrm>
                <a:off x="370574" y="2334124"/>
                <a:ext cx="4800600" cy="3280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"/>
                  </a:rPr>
                  <a:t>Wilks’ lambda </a:t>
                </a:r>
                <a14:m>
                  <m:oMath xmlns:m="http://schemas.openxmlformats.org/officeDocument/2006/math">
                    <m:r>
                      <a:rPr lang="el-GR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𝛬</m:t>
                    </m:r>
                    <m:r>
                      <a:rPr lang="el-GR" sz="2400" b="1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l-GR" sz="2400" b="1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l-GR" sz="2400" b="1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l-GR" sz="2400" b="1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pt-PT" sz="24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sub>
                            </m:sSub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l-GR" sz="2400" b="1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US" sz="2400" b="1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0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pt-PT" sz="2400" b="1" i="0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𝐍</m:t>
                                    </m:r>
                                  </m:sub>
                                </m:sSub>
                                <m:r>
                                  <a:rPr lang="en-US" sz="24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0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pt-PT" sz="2400" b="1" i="0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4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2400" b="1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pt-PT" sz="24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sub>
                            </m:sSub>
                          </m:e>
                        </m:d>
                      </m:den>
                    </m:f>
                  </m:oMath>
                </a14:m>
                <a:endPara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"/>
                  </a:rPr>
                  <a:t>Pillai’s trace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𝑡𝑟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1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pt-PT" sz="20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𝐑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b="1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pt-PT" sz="20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𝐅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2000" b="1" i="1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pt-PT" sz="20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sub>
                            </m:sSub>
                          </m:e>
                          <m:sup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0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"/>
                  </a:rPr>
                  <a:t>Hotelling’s</a:t>
                </a: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"/>
                  </a:rPr>
                  <a:t> trace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𝑡𝑟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1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pt-PT" sz="20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𝐑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b="1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pt-PT" sz="20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𝐅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2000" b="1" i="1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pt-PT" sz="2000" b="1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sub>
                            </m:sSub>
                          </m:e>
                          <m:sup>
                            <m:r>
                              <a:rPr lang="en-US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"/>
                  </a:rPr>
                  <a:t>Converted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l-GR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𝛬</m:t>
                            </m:r>
                          </m:num>
                          <m:den>
                            <m:r>
                              <a:rPr lang="el-GR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𝛬</m:t>
                            </m:r>
                          </m:den>
                        </m:f>
                      </m:e>
                    </m:d>
                    <m:d>
                      <m:dPr>
                        <m:ctrlP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num>
                          <m:den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den>
                        </m:f>
                      </m:e>
                    </m:d>
                  </m:oMath>
                </a14:m>
                <a:endParaRPr lang="en-US" sz="20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574" y="2334124"/>
                <a:ext cx="4800600" cy="3280963"/>
              </a:xfrm>
              <a:prstGeom prst="rect">
                <a:avLst/>
              </a:prstGeom>
              <a:blipFill>
                <a:blip r:embed="rId2"/>
                <a:stretch>
                  <a:fillRect l="-1319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112F117-722C-5F71-A9D2-E80FC9A75B0B}"/>
              </a:ext>
            </a:extLst>
          </p:cNvPr>
          <p:cNvSpPr txBox="1"/>
          <p:nvPr/>
        </p:nvSpPr>
        <p:spPr>
          <a:xfrm>
            <a:off x="1371600" y="5482241"/>
            <a:ext cx="32993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n: total sample size, s: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ncol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(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Xr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),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ncol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(Y)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CC903A-59C5-4852-E3B3-F9C748603845}"/>
              </a:ext>
            </a:extLst>
          </p:cNvPr>
          <p:cNvSpPr txBox="1"/>
          <p:nvPr/>
        </p:nvSpPr>
        <p:spPr>
          <a:xfrm>
            <a:off x="4815068" y="2941677"/>
            <a:ext cx="2971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“Traditional” test statistics</a:t>
            </a:r>
          </a:p>
          <a:p>
            <a:pPr algn="ct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Require </a:t>
            </a:r>
            <a:r>
              <a:rPr lang="en-US" sz="20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n</a:t>
            </a: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&gt;&gt; </a:t>
            </a:r>
            <a:r>
              <a:rPr lang="en-US" sz="20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p</a:t>
            </a:r>
            <a:endParaRPr 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51D9485-66E7-0E66-2432-ECDB1E943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982" y="2910216"/>
            <a:ext cx="766355" cy="76635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DE5EEC4-A120-FC5C-2972-1748B9449CC3}"/>
              </a:ext>
            </a:extLst>
          </p:cNvPr>
          <p:cNvSpPr/>
          <p:nvPr/>
        </p:nvSpPr>
        <p:spPr>
          <a:xfrm>
            <a:off x="4572000" y="6334780"/>
            <a:ext cx="4572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pPr algn="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Anderson MJ,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Ter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Braak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CJF (2003). </a:t>
            </a:r>
            <a:r>
              <a:rPr lang="en-US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Journal of Statistical Computation and Simulation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73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85-113</a:t>
            </a:r>
            <a:endParaRPr lang="en-US" sz="1400" dirty="0">
              <a:latin typeface=""/>
            </a:endParaRP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BB9FC6F4-2627-780F-5F11-648761BE6EC2}"/>
              </a:ext>
            </a:extLst>
          </p:cNvPr>
          <p:cNvSpPr/>
          <p:nvPr/>
        </p:nvSpPr>
        <p:spPr>
          <a:xfrm>
            <a:off x="4495800" y="2562724"/>
            <a:ext cx="319268" cy="2919517"/>
          </a:xfrm>
          <a:prstGeom prst="rightBrace">
            <a:avLst>
              <a:gd name="adj1" fmla="val 8333"/>
              <a:gd name="adj2" fmla="val 23834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615790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5" grpId="0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003A1-A63A-7BD1-9A7D-23AA41D13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FBAEAF19-56BC-C80D-7DF7-DEE4427791CB}"/>
              </a:ext>
            </a:extLst>
          </p:cNvPr>
          <p:cNvSpPr txBox="1"/>
          <p:nvPr/>
        </p:nvSpPr>
        <p:spPr>
          <a:xfrm>
            <a:off x="152399" y="352924"/>
            <a:ext cx="6549189" cy="19389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However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: there is no multivariate F distribution! Solutions: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Use multivariate approximations and then apply a conversion to an approximate F-value</a:t>
            </a:r>
          </a:p>
          <a:p>
            <a:pPr marL="285750" indent="-285750">
              <a:buFontTx/>
              <a:buChar char="-"/>
            </a:pP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Use randomizations 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to obtain an empirical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E879D53-0B96-9E40-889C-F537CE86B260}"/>
                  </a:ext>
                </a:extLst>
              </p:cNvPr>
              <p:cNvSpPr txBox="1"/>
              <p:nvPr/>
            </p:nvSpPr>
            <p:spPr>
              <a:xfrm>
                <a:off x="370574" y="2334124"/>
                <a:ext cx="4800600" cy="3280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"/>
                  </a:rPr>
                  <a:t>Wilks’ lambda </a:t>
                </a:r>
                <a14:m>
                  <m:oMath xmlns:m="http://schemas.openxmlformats.org/officeDocument/2006/math">
                    <m:r>
                      <a:rPr lang="el-GR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𝛬</m:t>
                    </m:r>
                    <m:r>
                      <a:rPr lang="el-GR" sz="2400" b="1" i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l-GR" sz="2400" b="1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l-GR" sz="2400" b="1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l-GR" sz="2400" b="1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pt-PT" sz="24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sub>
                            </m:sSub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l-GR" sz="2400" b="1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US" sz="2400" b="1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0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pt-PT" sz="2400" b="1" i="0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𝐍</m:t>
                                    </m:r>
                                  </m:sub>
                                </m:sSub>
                                <m:r>
                                  <a:rPr lang="en-US" sz="24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0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pt-PT" sz="2400" b="1" i="0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4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2400" b="1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pt-PT" sz="24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sub>
                            </m:sSub>
                          </m:e>
                        </m:d>
                      </m:den>
                    </m:f>
                  </m:oMath>
                </a14:m>
                <a:endPara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"/>
                  </a:rPr>
                  <a:t>Pillai’s trace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𝑡𝑟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1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pt-PT" sz="20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𝐑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b="1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pt-PT" sz="20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𝐅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2000" b="1" i="1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pt-PT" sz="2000" b="1" i="0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sub>
                            </m:sSub>
                          </m:e>
                          <m:sup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0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"/>
                  </a:rPr>
                  <a:t>Hotelling’s</a:t>
                </a: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"/>
                  </a:rPr>
                  <a:t> trace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𝑡𝑟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1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pt-PT" sz="20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𝐑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b="1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pt-PT" sz="2000" b="1" i="0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𝐅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2000" b="1" i="1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pt-PT" sz="2000" b="1" i="1" smtClean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sub>
                            </m:sSub>
                          </m:e>
                          <m:sup>
                            <m:r>
                              <a:rPr lang="en-US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"/>
                  </a:rPr>
                  <a:t>Converted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0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l-GR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𝛬</m:t>
                            </m:r>
                          </m:num>
                          <m:den>
                            <m:r>
                              <a:rPr lang="el-GR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𝛬</m:t>
                            </m:r>
                          </m:den>
                        </m:f>
                      </m:e>
                    </m:d>
                    <m:d>
                      <m:dPr>
                        <m:ctrlPr>
                          <a:rPr lang="en-US" sz="20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num>
                          <m:den>
                            <m:r>
                              <a:rPr lang="en-US" sz="2000" b="0" i="1" smtClean="0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den>
                        </m:f>
                      </m:e>
                    </m:d>
                  </m:oMath>
                </a14:m>
                <a:endParaRPr lang="en-US" sz="20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574" y="2334124"/>
                <a:ext cx="4800600" cy="3280963"/>
              </a:xfrm>
              <a:prstGeom prst="rect">
                <a:avLst/>
              </a:prstGeom>
              <a:blipFill>
                <a:blip r:embed="rId2"/>
                <a:stretch>
                  <a:fillRect l="-1319"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E0C60D1C-159E-8E76-62E6-920C8DD11414}"/>
              </a:ext>
            </a:extLst>
          </p:cNvPr>
          <p:cNvSpPr txBox="1"/>
          <p:nvPr/>
        </p:nvSpPr>
        <p:spPr>
          <a:xfrm>
            <a:off x="1371600" y="5482241"/>
            <a:ext cx="32993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n: total sample size, s: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ncol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(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Xr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),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ncol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(Y)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48C682-111D-6AF8-973E-0C7AC25E367C}"/>
              </a:ext>
            </a:extLst>
          </p:cNvPr>
          <p:cNvSpPr txBox="1"/>
          <p:nvPr/>
        </p:nvSpPr>
        <p:spPr>
          <a:xfrm>
            <a:off x="4815068" y="2941677"/>
            <a:ext cx="2971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“Traditional” test statistics</a:t>
            </a:r>
          </a:p>
          <a:p>
            <a:pPr algn="ct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Require </a:t>
            </a:r>
            <a:r>
              <a:rPr lang="en-US" sz="20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n</a:t>
            </a: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&gt;&gt; </a:t>
            </a:r>
            <a:r>
              <a:rPr lang="en-US" sz="2000" b="1" i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p</a:t>
            </a:r>
            <a:endParaRPr 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A0C2BD8-6CA9-2108-2D32-6E1F5AA90D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982" y="2910216"/>
            <a:ext cx="766355" cy="76635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4C7B755-E85A-C42D-BE19-E1A81808E3E8}"/>
              </a:ext>
            </a:extLst>
          </p:cNvPr>
          <p:cNvSpPr txBox="1"/>
          <p:nvPr/>
        </p:nvSpPr>
        <p:spPr>
          <a:xfrm>
            <a:off x="5105975" y="4203249"/>
            <a:ext cx="3809425" cy="10156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76200" dir="18900000" algn="b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Use randomization procedures, which are more powerful for </a:t>
            </a:r>
            <a:r>
              <a:rPr 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high-dimensional data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C8E609-3B6B-3CD6-3B87-5BAF11D5D914}"/>
              </a:ext>
            </a:extLst>
          </p:cNvPr>
          <p:cNvSpPr/>
          <p:nvPr/>
        </p:nvSpPr>
        <p:spPr>
          <a:xfrm>
            <a:off x="4572000" y="6334780"/>
            <a:ext cx="4572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pPr algn="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Anderson MJ,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Ter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Braak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CJF (2003). </a:t>
            </a:r>
            <a:r>
              <a:rPr lang="en-US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Journal of Statistical Computation and Simulation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73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"/>
              </a:rPr>
              <a:t> 85-113</a:t>
            </a:r>
            <a:endParaRPr lang="en-US" sz="1400" dirty="0">
              <a:latin typeface=""/>
            </a:endParaRP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17C58962-0DE0-017E-433C-15E64773288B}"/>
              </a:ext>
            </a:extLst>
          </p:cNvPr>
          <p:cNvSpPr/>
          <p:nvPr/>
        </p:nvSpPr>
        <p:spPr>
          <a:xfrm>
            <a:off x="4495800" y="2562724"/>
            <a:ext cx="319268" cy="2919517"/>
          </a:xfrm>
          <a:prstGeom prst="rightBrace">
            <a:avLst>
              <a:gd name="adj1" fmla="val 8333"/>
              <a:gd name="adj2" fmla="val 23834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4060840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0" grpId="0" animBg="1"/>
      <p:bldP spid="5" grpId="0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</TotalTime>
  <Words>411</Words>
  <Application>Microsoft Macintosh PowerPoint</Application>
  <PresentationFormat>On-screen Show (4:3)</PresentationFormat>
  <Paragraphs>63</Paragraphs>
  <Slides>9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Antigoni Kaliontzopoulou</dc:creator>
  <cp:lastModifiedBy>Antigoni Kaliontzopoulou</cp:lastModifiedBy>
  <cp:revision>4</cp:revision>
  <dcterms:created xsi:type="dcterms:W3CDTF">2026-05-18T18:15:27Z</dcterms:created>
  <dcterms:modified xsi:type="dcterms:W3CDTF">2026-05-20T17:12:35Z</dcterms:modified>
</cp:coreProperties>
</file>